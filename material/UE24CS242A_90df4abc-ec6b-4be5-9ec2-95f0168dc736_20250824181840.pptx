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12192000"/>
  <p:notesSz cx="6858000" cy="9144000"/>
  <p:embeddedFontLst>
    <p:embeddedFont>
      <p:font typeface="Libre Baskerville"/>
      <p:regular r:id="rId39"/>
      <p:bold r:id="rId40"/>
      <p: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2" roundtripDataSignature="AMtx7miKsmJnyBGd1oeKog0uYVOWef5H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AD94CE-8CC6-404E-9803-B38ED172AF5C}">
  <a:tblStyle styleId="{6AAD94CE-8CC6-404E-9803-B38ED172AF5C}" styleName="Table_0">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1">
              <a:alpha val="40000"/>
            </a:schemeClr>
          </a:solidFill>
        </a:fill>
      </a:tcStyle>
    </a:band1H>
    <a:band2H>
      <a:tcTxStyle b="off" i="off"/>
    </a:band2H>
    <a:band1V>
      <a:tcTxStyle b="off" i="off"/>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b="off" i="off"/>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Calibri"/>
          <a:ea typeface="Calibri"/>
          <a:cs typeface="Calibri"/>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Baskerville-bold.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LibreBaskerville-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LibreBaskerville-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7b8055ef9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7b8055ef9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Touch </a:t>
            </a:r>
            <a:endParaRPr/>
          </a:p>
        </p:txBody>
      </p:sp>
      <p:sp>
        <p:nvSpPr>
          <p:cNvPr id="104" name="Google Shape;10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Touch </a:t>
            </a:r>
            <a:endParaRPr/>
          </a:p>
        </p:txBody>
      </p:sp>
      <p:sp>
        <p:nvSpPr>
          <p:cNvPr id="114" name="Google Shape;11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Touch </a:t>
            </a:r>
            <a:endParaRPr/>
          </a:p>
        </p:txBody>
      </p:sp>
      <p:sp>
        <p:nvSpPr>
          <p:cNvPr id="124" name="Google Shape;12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134" name="Google Shape;13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Touch </a:t>
            </a:r>
            <a:endParaRPr/>
          </a:p>
        </p:txBody>
      </p:sp>
      <p:sp>
        <p:nvSpPr>
          <p:cNvPr id="257" name="Google Shape;25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268" name="Google Shape;26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Touch </a:t>
            </a:r>
            <a:endParaRPr/>
          </a:p>
        </p:txBody>
      </p:sp>
      <p:sp>
        <p:nvSpPr>
          <p:cNvPr id="278" name="Google Shape;27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Touch </a:t>
            </a:r>
            <a:endParaRPr/>
          </a:p>
        </p:txBody>
      </p:sp>
      <p:sp>
        <p:nvSpPr>
          <p:cNvPr id="289" name="Google Shape;2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00" name="Google Shape;30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a:p>
            <a:pPr indent="0" lvl="0" marL="0" rtl="0" algn="l">
              <a:lnSpc>
                <a:spcPct val="100000"/>
              </a:lnSpc>
              <a:spcBef>
                <a:spcPts val="0"/>
              </a:spcBef>
              <a:spcAft>
                <a:spcPts val="0"/>
              </a:spcAft>
              <a:buSzPts val="1400"/>
              <a:buNone/>
            </a:pPr>
            <a:r>
              <a:rPr lang="en-US"/>
              <a:t>To generate a random number between a and b </a:t>
            </a:r>
            <a:endParaRPr/>
          </a:p>
          <a:p>
            <a:pPr indent="0" lvl="0" marL="0" rtl="0" algn="l">
              <a:lnSpc>
                <a:spcPct val="100000"/>
              </a:lnSpc>
              <a:spcBef>
                <a:spcPts val="0"/>
              </a:spcBef>
              <a:spcAft>
                <a:spcPts val="0"/>
              </a:spcAft>
              <a:buSzPts val="1400"/>
              <a:buNone/>
            </a:pPr>
            <a:r>
              <a:rPr lang="en-US"/>
              <a:t>rand=a+Math.floor(Math.random()*(b-a))</a:t>
            </a:r>
            <a:endParaRPr/>
          </a:p>
        </p:txBody>
      </p:sp>
      <p:sp>
        <p:nvSpPr>
          <p:cNvPr id="311" name="Google Shape;31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22" name="Google Shape;32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33" name="Google Shape;33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43" name="Google Shape;343;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53" name="Google Shape;353;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63" name="Google Shape;363;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73" name="Google Shape;373;p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83" name="Google Shape;383;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93" name="Google Shape;393;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7b809729b5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2" name="Google Shape;402;g37b809729b5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2"/>
          <p:cNvSpPr/>
          <p:nvPr>
            <p:ph idx="2" type="pic"/>
          </p:nvPr>
        </p:nvSpPr>
        <p:spPr>
          <a:xfrm>
            <a:off x="5183188" y="987425"/>
            <a:ext cx="6172200" cy="4873625"/>
          </a:xfrm>
          <a:prstGeom prst="rect">
            <a:avLst/>
          </a:prstGeom>
          <a:noFill/>
          <a:ln>
            <a:noFill/>
          </a:ln>
        </p:spPr>
      </p:sp>
      <p:sp>
        <p:nvSpPr>
          <p:cNvPr id="68" name="Google Shape;68;p4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en.wikipedia.org/wiki/In-place_algorithm" TargetMode="Externa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7b8055ef92_0_0"/>
          <p:cNvSpPr/>
          <p:nvPr/>
        </p:nvSpPr>
        <p:spPr>
          <a:xfrm>
            <a:off x="4793761" y="1688267"/>
            <a:ext cx="74973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WEB TECHNOLOGIES</a:t>
            </a:r>
            <a:endParaRPr b="1" i="0" sz="3600" u="none" cap="none" strike="noStrike">
              <a:solidFill>
                <a:srgbClr val="C55A11"/>
              </a:solidFill>
              <a:latin typeface="Calibri"/>
              <a:ea typeface="Calibri"/>
              <a:cs typeface="Calibri"/>
              <a:sym typeface="Calibri"/>
            </a:endParaRPr>
          </a:p>
        </p:txBody>
      </p:sp>
      <p:sp>
        <p:nvSpPr>
          <p:cNvPr id="89" name="Google Shape;89;g37b8055ef92_0_0"/>
          <p:cNvSpPr/>
          <p:nvPr/>
        </p:nvSpPr>
        <p:spPr>
          <a:xfrm>
            <a:off x="4781916" y="2841955"/>
            <a:ext cx="6994500" cy="12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600"/>
              <a:buFont typeface="Arial"/>
              <a:buNone/>
            </a:pPr>
            <a:r>
              <a:rPr b="1" lang="en-US" sz="3600">
                <a:solidFill>
                  <a:srgbClr val="2F5496"/>
                </a:solidFill>
                <a:latin typeface="Calibri"/>
                <a:ea typeface="Calibri"/>
                <a:cs typeface="Calibri"/>
                <a:sym typeface="Calibri"/>
              </a:rPr>
              <a:t>JavaScript –Built in Objects</a:t>
            </a:r>
            <a:endParaRPr>
              <a:solidFill>
                <a:schemeClr val="dk1"/>
              </a:solidFill>
            </a:endParaRPr>
          </a:p>
          <a:p>
            <a:pPr indent="0" lvl="0" marL="0" rtl="0" algn="l">
              <a:spcBef>
                <a:spcPts val="0"/>
              </a:spcBef>
              <a:spcAft>
                <a:spcPts val="0"/>
              </a:spcAft>
              <a:buClr>
                <a:schemeClr val="dk1"/>
              </a:buClr>
              <a:buSzPts val="3600"/>
              <a:buFont typeface="Arial"/>
              <a:buNone/>
            </a:pPr>
            <a:r>
              <a:t/>
            </a:r>
            <a:endParaRPr b="1" sz="3600">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sz="3600">
              <a:solidFill>
                <a:srgbClr val="2F5496"/>
              </a:solidFill>
              <a:latin typeface="Calibri"/>
              <a:ea typeface="Calibri"/>
              <a:cs typeface="Calibri"/>
              <a:sym typeface="Calibri"/>
            </a:endParaRPr>
          </a:p>
        </p:txBody>
      </p:sp>
      <p:sp>
        <p:nvSpPr>
          <p:cNvPr id="90" name="Google Shape;90;g37b8055ef92_0_0"/>
          <p:cNvSpPr/>
          <p:nvPr/>
        </p:nvSpPr>
        <p:spPr>
          <a:xfrm>
            <a:off x="4781916" y="4415503"/>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Prof.</a:t>
            </a:r>
            <a:r>
              <a:rPr b="1" lang="en-US" sz="2400">
                <a:solidFill>
                  <a:schemeClr val="dk1"/>
                </a:solidFill>
                <a:latin typeface="Calibri"/>
                <a:ea typeface="Calibri"/>
                <a:cs typeface="Calibri"/>
                <a:sym typeface="Calibri"/>
              </a:rPr>
              <a:t> Pavan A C</a:t>
            </a:r>
            <a:endParaRPr b="1" i="0" sz="2400" u="none" cap="none" strike="noStrike">
              <a:solidFill>
                <a:schemeClr val="dk1"/>
              </a:solidFill>
              <a:latin typeface="Calibri"/>
              <a:ea typeface="Calibri"/>
              <a:cs typeface="Calibri"/>
              <a:sym typeface="Calibri"/>
            </a:endParaRPr>
          </a:p>
        </p:txBody>
      </p:sp>
      <p:sp>
        <p:nvSpPr>
          <p:cNvPr id="91" name="Google Shape;91;g37b8055ef92_0_0"/>
          <p:cNvSpPr/>
          <p:nvPr/>
        </p:nvSpPr>
        <p:spPr>
          <a:xfrm>
            <a:off x="4781916" y="4813108"/>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cxnSp>
        <p:nvCxnSpPr>
          <p:cNvPr id="92" name="Google Shape;92;g37b8055ef92_0_0"/>
          <p:cNvCxnSpPr/>
          <p:nvPr/>
        </p:nvCxnSpPr>
        <p:spPr>
          <a:xfrm>
            <a:off x="4781916" y="4112437"/>
            <a:ext cx="4581300" cy="0"/>
          </a:xfrm>
          <a:prstGeom prst="straightConnector1">
            <a:avLst/>
          </a:prstGeom>
          <a:noFill/>
          <a:ln cap="flat" cmpd="sng" w="38100">
            <a:solidFill>
              <a:srgbClr val="C55A11"/>
            </a:solidFill>
            <a:prstDash val="solid"/>
            <a:miter lim="800000"/>
            <a:headEnd len="sm" w="sm" type="none"/>
            <a:tailEnd len="sm" w="sm" type="none"/>
          </a:ln>
        </p:spPr>
      </p:cxnSp>
      <p:pic>
        <p:nvPicPr>
          <p:cNvPr id="93" name="Google Shape;93;g37b8055ef92_0_0"/>
          <p:cNvPicPr preferRelativeResize="0"/>
          <p:nvPr/>
        </p:nvPicPr>
        <p:blipFill rotWithShape="1">
          <a:blip r:embed="rId3">
            <a:alphaModFix/>
          </a:blip>
          <a:srcRect b="0" l="0" r="0" t="0"/>
          <a:stretch/>
        </p:blipFill>
        <p:spPr>
          <a:xfrm>
            <a:off x="1767840" y="1606241"/>
            <a:ext cx="2121177" cy="3550188"/>
          </a:xfrm>
          <a:prstGeom prst="rect">
            <a:avLst/>
          </a:prstGeom>
          <a:noFill/>
          <a:ln>
            <a:noFill/>
          </a:ln>
        </p:spPr>
      </p:pic>
      <p:sp>
        <p:nvSpPr>
          <p:cNvPr id="94" name="Google Shape;94;g37b8055ef92_0_0"/>
          <p:cNvSpPr/>
          <p:nvPr/>
        </p:nvSpPr>
        <p:spPr>
          <a:xfrm>
            <a:off x="10184524" y="0"/>
            <a:ext cx="2007600" cy="1606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95" name="Google Shape;95;g37b8055ef92_0_0"/>
          <p:cNvGrpSpPr/>
          <p:nvPr/>
        </p:nvGrpSpPr>
        <p:grpSpPr>
          <a:xfrm>
            <a:off x="259292" y="349466"/>
            <a:ext cx="11518312" cy="6218269"/>
            <a:chOff x="313939" y="349466"/>
            <a:chExt cx="11518312" cy="6218269"/>
          </a:xfrm>
        </p:grpSpPr>
        <p:sp>
          <p:nvSpPr>
            <p:cNvPr id="96" name="Google Shape;96;g37b8055ef92_0_0"/>
            <p:cNvSpPr/>
            <p:nvPr/>
          </p:nvSpPr>
          <p:spPr>
            <a:xfrm>
              <a:off x="11786532" y="360726"/>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g37b8055ef92_0_0"/>
            <p:cNvSpPr/>
            <p:nvPr/>
          </p:nvSpPr>
          <p:spPr>
            <a:xfrm rot="5400000">
              <a:off x="11276051" y="-161134"/>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g37b8055ef92_0_0"/>
            <p:cNvSpPr/>
            <p:nvPr/>
          </p:nvSpPr>
          <p:spPr>
            <a:xfrm rot="5400000">
              <a:off x="824539" y="6011535"/>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g37b8055ef92_0_0"/>
            <p:cNvSpPr/>
            <p:nvPr/>
          </p:nvSpPr>
          <p:spPr>
            <a:xfrm rot="10800000">
              <a:off x="313963" y="5489794"/>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00" name="Google Shape;100;g37b8055ef92_0_0"/>
          <p:cNvSpPr txBox="1"/>
          <p:nvPr/>
        </p:nvSpPr>
        <p:spPr>
          <a:xfrm>
            <a:off x="1767850" y="5470625"/>
            <a:ext cx="7085100" cy="9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Calibri"/>
                <a:ea typeface="Calibri"/>
                <a:cs typeface="Calibri"/>
                <a:sym typeface="Calibri"/>
              </a:rPr>
              <a:t>Acknowledgement:</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Teaching Assistants(Samved Suresh Jain and Sathyajit P)</a:t>
            </a:r>
            <a:endParaRPr sz="24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idx="1" type="body"/>
          </p:nvPr>
        </p:nvSpPr>
        <p:spPr>
          <a:xfrm>
            <a:off x="266600" y="1519325"/>
            <a:ext cx="11520000" cy="5092500"/>
          </a:xfrm>
          <a:prstGeom prst="rect">
            <a:avLst/>
          </a:prstGeom>
          <a:noFill/>
          <a:ln>
            <a:noFill/>
          </a:ln>
        </p:spPr>
        <p:txBody>
          <a:bodyPr anchorCtr="0" anchor="t" bIns="45700" lIns="91425" spcFirstLastPara="1" rIns="91425" wrap="square" tIns="45700">
            <a:normAutofit fontScale="77500" lnSpcReduction="10000"/>
          </a:bodyPr>
          <a:lstStyle/>
          <a:p>
            <a:pPr indent="-217170" lvl="0" marL="228600" rtl="0" algn="l">
              <a:lnSpc>
                <a:spcPct val="150000"/>
              </a:lnSpc>
              <a:spcBef>
                <a:spcPts val="0"/>
              </a:spcBef>
              <a:spcAft>
                <a:spcPts val="0"/>
              </a:spcAft>
              <a:buClr>
                <a:schemeClr val="dk1"/>
              </a:buClr>
              <a:buSzPct val="100000"/>
              <a:buChar char="•"/>
            </a:pPr>
            <a:r>
              <a:rPr lang="en-US" sz="2400"/>
              <a:t>When the JavaScript interpreter starts up, there is always a single global object instance created called window. All other objects are properties of this object. </a:t>
            </a:r>
            <a:endParaRPr/>
          </a:p>
          <a:p>
            <a:pPr indent="-217170" lvl="0" marL="228600" rtl="0" algn="l">
              <a:lnSpc>
                <a:spcPct val="150000"/>
              </a:lnSpc>
              <a:spcBef>
                <a:spcPts val="1000"/>
              </a:spcBef>
              <a:spcAft>
                <a:spcPts val="0"/>
              </a:spcAft>
              <a:buClr>
                <a:schemeClr val="dk1"/>
              </a:buClr>
              <a:buSzPct val="100000"/>
              <a:buChar char="•"/>
            </a:pPr>
            <a:r>
              <a:rPr lang="en-US" sz="2400"/>
              <a:t>Also, all other variables and functions are properties of this global object.</a:t>
            </a:r>
            <a:endParaRPr/>
          </a:p>
          <a:p>
            <a:pPr indent="-217170" lvl="0" marL="228600" rtl="0" algn="l">
              <a:lnSpc>
                <a:spcPct val="150000"/>
              </a:lnSpc>
              <a:spcBef>
                <a:spcPts val="1000"/>
              </a:spcBef>
              <a:spcAft>
                <a:spcPts val="0"/>
              </a:spcAft>
              <a:buClr>
                <a:schemeClr val="dk1"/>
              </a:buClr>
              <a:buSzPct val="100000"/>
              <a:buChar char="•"/>
            </a:pPr>
            <a:r>
              <a:rPr lang="en-US" sz="2400"/>
              <a:t>For client-side JavaScript, this object is the instance </a:t>
            </a:r>
            <a:r>
              <a:rPr b="1" lang="en-US" sz="2400"/>
              <a:t>window</a:t>
            </a:r>
            <a:r>
              <a:rPr lang="en-US" sz="2400"/>
              <a:t> of the constructor Window.</a:t>
            </a:r>
            <a:endParaRPr/>
          </a:p>
          <a:p>
            <a:pPr indent="-217170" lvl="0" marL="228600" rtl="0" algn="l">
              <a:lnSpc>
                <a:spcPct val="150000"/>
              </a:lnSpc>
              <a:spcBef>
                <a:spcPts val="1000"/>
              </a:spcBef>
              <a:spcAft>
                <a:spcPts val="0"/>
              </a:spcAft>
              <a:buClr>
                <a:schemeClr val="dk1"/>
              </a:buClr>
              <a:buSzPct val="100000"/>
              <a:buChar char="•"/>
            </a:pPr>
            <a:r>
              <a:rPr lang="en-US" sz="2400"/>
              <a:t>Since everything is a property of the window object, there is a relaxation of the dot notation when referring to properties. Thus, each reference to a variable, function or object is not required to start with "window.“</a:t>
            </a:r>
            <a:endParaRPr/>
          </a:p>
          <a:p>
            <a:pPr indent="-217170" lvl="0" marL="228600" rtl="0" algn="l">
              <a:lnSpc>
                <a:spcPct val="150000"/>
              </a:lnSpc>
              <a:spcBef>
                <a:spcPts val="1000"/>
              </a:spcBef>
              <a:spcAft>
                <a:spcPts val="0"/>
              </a:spcAft>
              <a:buClr>
                <a:schemeClr val="dk1"/>
              </a:buClr>
              <a:buSzPct val="100000"/>
              <a:buChar char="•"/>
            </a:pPr>
            <a:r>
              <a:rPr lang="en-US" sz="2400"/>
              <a:t>Both these lines have the same effect:</a:t>
            </a:r>
            <a:endParaRPr sz="2400"/>
          </a:p>
          <a:p>
            <a:pPr indent="0" lvl="0" marL="0" rtl="0" algn="l">
              <a:lnSpc>
                <a:spcPct val="150000"/>
              </a:lnSpc>
              <a:spcBef>
                <a:spcPts val="1000"/>
              </a:spcBef>
              <a:spcAft>
                <a:spcPts val="0"/>
              </a:spcAft>
              <a:buSzPct val="96774"/>
              <a:buNone/>
            </a:pPr>
            <a:r>
              <a:rPr lang="en-US" sz="2400"/>
              <a:t>	window.status = "this is a test";</a:t>
            </a:r>
            <a:r>
              <a:rPr lang="en-US"/>
              <a:t>   					</a:t>
            </a:r>
            <a:r>
              <a:rPr lang="en-US" sz="2400"/>
              <a:t>status = "this is a test";</a:t>
            </a:r>
            <a:endParaRPr sz="2400"/>
          </a:p>
          <a:p>
            <a:pPr indent="-214724" lvl="0" marL="228600" rtl="0" algn="l">
              <a:lnSpc>
                <a:spcPct val="150000"/>
              </a:lnSpc>
              <a:spcBef>
                <a:spcPts val="1000"/>
              </a:spcBef>
              <a:spcAft>
                <a:spcPts val="0"/>
              </a:spcAft>
              <a:buSzPct val="100000"/>
              <a:buChar char="•"/>
            </a:pPr>
            <a:r>
              <a:rPr lang="en-US" sz="2350"/>
              <a:t>Supported global objects are : Math, Number, String, Array, Date, window, document</a:t>
            </a:r>
            <a:endParaRPr sz="2350"/>
          </a:p>
          <a:p>
            <a:pPr indent="-99060" lvl="0" marL="228600" rtl="0" algn="l">
              <a:lnSpc>
                <a:spcPct val="150000"/>
              </a:lnSpc>
              <a:spcBef>
                <a:spcPts val="1000"/>
              </a:spcBef>
              <a:spcAft>
                <a:spcPts val="0"/>
              </a:spcAft>
              <a:buClr>
                <a:schemeClr val="dk1"/>
              </a:buClr>
              <a:buSzPct val="100000"/>
              <a:buNone/>
            </a:pPr>
            <a:r>
              <a:t/>
            </a:r>
            <a:endParaRPr sz="2400"/>
          </a:p>
        </p:txBody>
      </p:sp>
      <p:sp>
        <p:nvSpPr>
          <p:cNvPr id="107" name="Google Shape;107;p2"/>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Global Object</a:t>
            </a:r>
            <a:endParaRPr b="0" i="0" sz="1400" u="none" cap="none" strike="noStrike">
              <a:solidFill>
                <a:srgbClr val="000000"/>
              </a:solidFill>
              <a:latin typeface="Arial"/>
              <a:ea typeface="Arial"/>
              <a:cs typeface="Arial"/>
              <a:sym typeface="Arial"/>
            </a:endParaRPr>
          </a:p>
        </p:txBody>
      </p:sp>
      <p:cxnSp>
        <p:nvCxnSpPr>
          <p:cNvPr id="108" name="Google Shape;108;p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09" name="Google Shape;109;p2"/>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10" name="Google Shape;110;p2"/>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idx="1" type="body"/>
          </p:nvPr>
        </p:nvSpPr>
        <p:spPr>
          <a:xfrm>
            <a:off x="640100" y="1614475"/>
            <a:ext cx="8836800" cy="47973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50000"/>
              </a:lnSpc>
              <a:spcBef>
                <a:spcPts val="0"/>
              </a:spcBef>
              <a:spcAft>
                <a:spcPts val="0"/>
              </a:spcAft>
              <a:buClr>
                <a:schemeClr val="dk1"/>
              </a:buClr>
              <a:buSzPts val="2400"/>
              <a:buFont typeface="Calibri"/>
              <a:buChar char="-"/>
            </a:pPr>
            <a:r>
              <a:rPr lang="en-US" sz="2400"/>
              <a:t>Arrays are lists of elements indexed by a numerical value starting with 0 to length - 1.</a:t>
            </a:r>
            <a:endParaRPr/>
          </a:p>
          <a:p>
            <a:pPr indent="-228600" lvl="0" marL="228600" rtl="0" algn="l">
              <a:lnSpc>
                <a:spcPct val="150000"/>
              </a:lnSpc>
              <a:spcBef>
                <a:spcPts val="1000"/>
              </a:spcBef>
              <a:spcAft>
                <a:spcPts val="0"/>
              </a:spcAft>
              <a:buClr>
                <a:schemeClr val="dk1"/>
              </a:buClr>
              <a:buSzPts val="2400"/>
              <a:buFont typeface="Calibri"/>
              <a:buChar char="-"/>
            </a:pPr>
            <a:r>
              <a:rPr lang="en-US" sz="2400"/>
              <a:t>Arrays can be created using</a:t>
            </a:r>
            <a:endParaRPr/>
          </a:p>
          <a:p>
            <a:pPr indent="-228600" lvl="1" marL="685800" rtl="0" algn="l">
              <a:lnSpc>
                <a:spcPct val="150000"/>
              </a:lnSpc>
              <a:spcBef>
                <a:spcPts val="500"/>
              </a:spcBef>
              <a:spcAft>
                <a:spcPts val="0"/>
              </a:spcAft>
              <a:buClr>
                <a:schemeClr val="dk1"/>
              </a:buClr>
              <a:buSzPts val="2000"/>
              <a:buFont typeface="Calibri"/>
              <a:buChar char="-"/>
            </a:pPr>
            <a:r>
              <a:rPr lang="en-US" sz="2000"/>
              <a:t> </a:t>
            </a:r>
            <a:r>
              <a:rPr lang="en-US"/>
              <a:t>The new Array method:</a:t>
            </a:r>
            <a:endParaRPr/>
          </a:p>
          <a:p>
            <a:pPr indent="457200" lvl="0" marL="457200" rtl="0" algn="l">
              <a:lnSpc>
                <a:spcPct val="150000"/>
              </a:lnSpc>
              <a:spcBef>
                <a:spcPts val="500"/>
              </a:spcBef>
              <a:spcAft>
                <a:spcPts val="0"/>
              </a:spcAft>
              <a:buSzPts val="1800"/>
              <a:buNone/>
            </a:pPr>
            <a:r>
              <a:rPr lang="en-US" sz="1800"/>
              <a:t>let arr = new Array(100) – creates an array of 100 elements all undefined</a:t>
            </a:r>
            <a:endParaRPr/>
          </a:p>
          <a:p>
            <a:pPr indent="457200" lvl="0" marL="457200" rtl="0" algn="l">
              <a:lnSpc>
                <a:spcPct val="150000"/>
              </a:lnSpc>
              <a:spcBef>
                <a:spcPts val="500"/>
              </a:spcBef>
              <a:spcAft>
                <a:spcPts val="0"/>
              </a:spcAft>
              <a:buSzPts val="1800"/>
              <a:buNone/>
            </a:pPr>
            <a:r>
              <a:rPr lang="en-US" sz="1800"/>
              <a:t>let arr = new Array(10, 20) – creates an array of 2 elements - 10 &amp; 20</a:t>
            </a:r>
            <a:endParaRPr/>
          </a:p>
          <a:p>
            <a:pPr indent="-228600" lvl="1" marL="685800" rtl="0" algn="l">
              <a:lnSpc>
                <a:spcPct val="150000"/>
              </a:lnSpc>
              <a:spcBef>
                <a:spcPts val="500"/>
              </a:spcBef>
              <a:spcAft>
                <a:spcPts val="0"/>
              </a:spcAft>
              <a:buClr>
                <a:schemeClr val="dk1"/>
              </a:buClr>
              <a:buSzPts val="2400"/>
              <a:buFont typeface="Calibri"/>
              <a:buChar char="-"/>
            </a:pPr>
            <a:r>
              <a:rPr lang="en-US"/>
              <a:t>Literal arrays using square brackets:</a:t>
            </a:r>
            <a:endParaRPr/>
          </a:p>
          <a:p>
            <a:pPr indent="457200" lvl="0" marL="457200" rtl="0" algn="l">
              <a:lnSpc>
                <a:spcPct val="150000"/>
              </a:lnSpc>
              <a:spcBef>
                <a:spcPts val="500"/>
              </a:spcBef>
              <a:spcAft>
                <a:spcPts val="0"/>
              </a:spcAft>
              <a:buSzPts val="1800"/>
              <a:buNone/>
            </a:pPr>
            <a:r>
              <a:rPr lang="en-US" sz="1800"/>
              <a:t>var alist = [1, “ii”, “gamma”, “4”];</a:t>
            </a:r>
            <a:endParaRPr sz="1800"/>
          </a:p>
          <a:p>
            <a:pPr indent="-76200" lvl="1" marL="685800" rtl="0" algn="l">
              <a:lnSpc>
                <a:spcPct val="150000"/>
              </a:lnSpc>
              <a:spcBef>
                <a:spcPts val="500"/>
              </a:spcBef>
              <a:spcAft>
                <a:spcPts val="0"/>
              </a:spcAft>
              <a:buClr>
                <a:schemeClr val="dk1"/>
              </a:buClr>
              <a:buSzPts val="2400"/>
              <a:buFont typeface="Calibri"/>
              <a:buNone/>
            </a:pPr>
            <a:r>
              <a:t/>
            </a:r>
            <a:endParaRPr/>
          </a:p>
        </p:txBody>
      </p:sp>
      <p:sp>
        <p:nvSpPr>
          <p:cNvPr id="117" name="Google Shape;117;p3"/>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a:t>
            </a:r>
            <a:endParaRPr b="0" i="0" sz="1400" u="none" cap="none" strike="noStrike">
              <a:solidFill>
                <a:srgbClr val="000000"/>
              </a:solidFill>
              <a:latin typeface="Arial"/>
              <a:ea typeface="Arial"/>
              <a:cs typeface="Arial"/>
              <a:sym typeface="Arial"/>
            </a:endParaRPr>
          </a:p>
        </p:txBody>
      </p:sp>
      <p:cxnSp>
        <p:nvCxnSpPr>
          <p:cNvPr id="118" name="Google Shape;118;p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19" name="Google Shape;119;p3"/>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20" name="Google Shape;120;p3"/>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ph idx="1" type="body"/>
          </p:nvPr>
        </p:nvSpPr>
        <p:spPr>
          <a:xfrm>
            <a:off x="581200" y="1409550"/>
            <a:ext cx="8883900" cy="52164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100000"/>
              </a:lnSpc>
              <a:spcBef>
                <a:spcPts val="0"/>
              </a:spcBef>
              <a:spcAft>
                <a:spcPts val="0"/>
              </a:spcAft>
              <a:buClr>
                <a:schemeClr val="dk1"/>
              </a:buClr>
              <a:buSzPts val="2400"/>
              <a:buFont typeface="Calibri"/>
              <a:buChar char="-"/>
            </a:pPr>
            <a:r>
              <a:rPr lang="en-US" sz="2400"/>
              <a:t>Array length property can be modified at runtime</a:t>
            </a:r>
            <a:endParaRPr/>
          </a:p>
          <a:p>
            <a:pPr indent="-228600" lvl="0" marL="228600" rtl="0" algn="l">
              <a:lnSpc>
                <a:spcPct val="100000"/>
              </a:lnSpc>
              <a:spcBef>
                <a:spcPts val="0"/>
              </a:spcBef>
              <a:spcAft>
                <a:spcPts val="0"/>
              </a:spcAft>
              <a:buClr>
                <a:schemeClr val="dk1"/>
              </a:buClr>
              <a:buSzPts val="2400"/>
              <a:buFont typeface="Calibri"/>
              <a:buChar char="-"/>
            </a:pPr>
            <a:r>
              <a:rPr lang="en-US" sz="2400"/>
              <a:t>Hence, the length property does not necessarily indicate the number of defined values in the array</a:t>
            </a:r>
            <a:endParaRPr/>
          </a:p>
          <a:p>
            <a:pPr indent="-228600" lvl="0" marL="228600" rtl="0" algn="l">
              <a:lnSpc>
                <a:spcPct val="100000"/>
              </a:lnSpc>
              <a:spcBef>
                <a:spcPts val="0"/>
              </a:spcBef>
              <a:spcAft>
                <a:spcPts val="0"/>
              </a:spcAft>
              <a:buClr>
                <a:schemeClr val="dk1"/>
              </a:buClr>
              <a:buSzPts val="2400"/>
              <a:buNone/>
            </a:pPr>
            <a:r>
              <a:t/>
            </a:r>
            <a:endParaRPr sz="2400"/>
          </a:p>
          <a:p>
            <a:pPr indent="-228600" lvl="0" marL="228600" rtl="0" algn="l">
              <a:lnSpc>
                <a:spcPct val="100000"/>
              </a:lnSpc>
              <a:spcBef>
                <a:spcPts val="0"/>
              </a:spcBef>
              <a:spcAft>
                <a:spcPts val="0"/>
              </a:spcAft>
              <a:buClr>
                <a:schemeClr val="dk1"/>
              </a:buClr>
              <a:buSzPts val="2400"/>
              <a:buNone/>
            </a:pPr>
            <a:r>
              <a:rPr lang="en-US" sz="2400"/>
              <a:t>const arr = [1, 2];  //Array definition</a:t>
            </a:r>
            <a:endParaRPr/>
          </a:p>
          <a:p>
            <a:pPr indent="-228600" lvl="0" marL="228600" rtl="0" algn="l">
              <a:lnSpc>
                <a:spcPct val="100000"/>
              </a:lnSpc>
              <a:spcBef>
                <a:spcPts val="0"/>
              </a:spcBef>
              <a:spcAft>
                <a:spcPts val="0"/>
              </a:spcAft>
              <a:buClr>
                <a:schemeClr val="dk1"/>
              </a:buClr>
              <a:buSzPts val="2400"/>
              <a:buNone/>
            </a:pPr>
            <a:r>
              <a:rPr lang="en-US" sz="2400"/>
              <a:t>console.log(arr);  </a:t>
            </a:r>
            <a:endParaRPr sz="2400"/>
          </a:p>
          <a:p>
            <a:pPr indent="-228600" lvl="0" marL="228600" rtl="0" algn="l">
              <a:lnSpc>
                <a:spcPct val="100000"/>
              </a:lnSpc>
              <a:spcBef>
                <a:spcPts val="0"/>
              </a:spcBef>
              <a:spcAft>
                <a:spcPts val="0"/>
              </a:spcAft>
              <a:buClr>
                <a:schemeClr val="dk1"/>
              </a:buClr>
              <a:buSzPts val="2400"/>
              <a:buNone/>
            </a:pPr>
            <a:r>
              <a:rPr lang="en-US" sz="2400"/>
              <a:t>// </a:t>
            </a:r>
            <a:r>
              <a:rPr b="1" lang="en-US" sz="2400"/>
              <a:t>Output:</a:t>
            </a:r>
            <a:r>
              <a:rPr lang="en-US" sz="2400"/>
              <a:t> [ 1, 2 ]</a:t>
            </a:r>
            <a:endParaRPr sz="2400"/>
          </a:p>
          <a:p>
            <a:pPr indent="-228600" lvl="0" marL="228600" rtl="0" algn="l">
              <a:lnSpc>
                <a:spcPct val="100000"/>
              </a:lnSpc>
              <a:spcBef>
                <a:spcPts val="0"/>
              </a:spcBef>
              <a:spcAft>
                <a:spcPts val="0"/>
              </a:spcAft>
              <a:buClr>
                <a:schemeClr val="dk1"/>
              </a:buClr>
              <a:buSzPts val="2400"/>
              <a:buNone/>
            </a:pPr>
            <a:r>
              <a:t/>
            </a:r>
            <a:endParaRPr sz="2400"/>
          </a:p>
          <a:p>
            <a:pPr indent="-228600" lvl="0" marL="228600" rtl="0" algn="l">
              <a:lnSpc>
                <a:spcPct val="100000"/>
              </a:lnSpc>
              <a:spcBef>
                <a:spcPts val="0"/>
              </a:spcBef>
              <a:spcAft>
                <a:spcPts val="0"/>
              </a:spcAft>
              <a:buClr>
                <a:schemeClr val="dk1"/>
              </a:buClr>
              <a:buSzPts val="2400"/>
              <a:buNone/>
            </a:pPr>
            <a:r>
              <a:rPr lang="en-US" sz="2400"/>
              <a:t>arr.length = 7; // set array length to 5 while currently 2. </a:t>
            </a:r>
            <a:endParaRPr/>
          </a:p>
          <a:p>
            <a:pPr indent="-228600" lvl="0" marL="228600" rtl="0" algn="l">
              <a:lnSpc>
                <a:spcPct val="100000"/>
              </a:lnSpc>
              <a:spcBef>
                <a:spcPts val="0"/>
              </a:spcBef>
              <a:spcAft>
                <a:spcPts val="0"/>
              </a:spcAft>
              <a:buClr>
                <a:schemeClr val="dk1"/>
              </a:buClr>
              <a:buSzPts val="2400"/>
              <a:buNone/>
            </a:pPr>
            <a:r>
              <a:rPr lang="en-US" sz="2400"/>
              <a:t>console.log(arr);  </a:t>
            </a:r>
            <a:endParaRPr sz="2400"/>
          </a:p>
          <a:p>
            <a:pPr indent="-228600" lvl="0" marL="228600" rtl="0" algn="l">
              <a:lnSpc>
                <a:spcPct val="100000"/>
              </a:lnSpc>
              <a:spcBef>
                <a:spcPts val="0"/>
              </a:spcBef>
              <a:spcAft>
                <a:spcPts val="0"/>
              </a:spcAft>
              <a:buClr>
                <a:schemeClr val="dk1"/>
              </a:buClr>
              <a:buSzPts val="2400"/>
              <a:buNone/>
            </a:pPr>
            <a:r>
              <a:rPr lang="en-US" sz="2400"/>
              <a:t>// </a:t>
            </a:r>
            <a:r>
              <a:rPr b="1" lang="en-US" sz="2400"/>
              <a:t>Output: </a:t>
            </a:r>
            <a:r>
              <a:rPr lang="en-US" sz="2400"/>
              <a:t> [ 1, 2, &lt;5 empty items&gt; ] </a:t>
            </a:r>
            <a:endParaRPr/>
          </a:p>
          <a:p>
            <a:pPr indent="-228600" lvl="0" marL="228600" rtl="0" algn="l">
              <a:lnSpc>
                <a:spcPct val="100000"/>
              </a:lnSpc>
              <a:spcBef>
                <a:spcPts val="0"/>
              </a:spcBef>
              <a:spcAft>
                <a:spcPts val="0"/>
              </a:spcAft>
              <a:buClr>
                <a:schemeClr val="dk1"/>
              </a:buClr>
              <a:buSzPts val="2400"/>
              <a:buNone/>
            </a:pPr>
            <a:r>
              <a:t/>
            </a:r>
            <a:endParaRPr/>
          </a:p>
          <a:p>
            <a:pPr indent="-228600" lvl="0" marL="228600" rtl="0" algn="l">
              <a:lnSpc>
                <a:spcPct val="100000"/>
              </a:lnSpc>
              <a:spcBef>
                <a:spcPts val="0"/>
              </a:spcBef>
              <a:spcAft>
                <a:spcPts val="0"/>
              </a:spcAft>
              <a:buClr>
                <a:schemeClr val="dk1"/>
              </a:buClr>
              <a:buSzPts val="2400"/>
              <a:buNone/>
            </a:pPr>
            <a:r>
              <a:rPr lang="en-US" sz="2400"/>
              <a:t>for (i in arr)</a:t>
            </a:r>
            <a:endParaRPr/>
          </a:p>
          <a:p>
            <a:pPr indent="-228600" lvl="0" marL="228600" rtl="0" algn="l">
              <a:lnSpc>
                <a:spcPct val="100000"/>
              </a:lnSpc>
              <a:spcBef>
                <a:spcPts val="0"/>
              </a:spcBef>
              <a:spcAft>
                <a:spcPts val="0"/>
              </a:spcAft>
              <a:buClr>
                <a:schemeClr val="dk1"/>
              </a:buClr>
              <a:buSzPts val="2400"/>
              <a:buNone/>
            </a:pPr>
            <a:r>
              <a:rPr lang="en-US" sz="2400"/>
              <a:t>	console.log(typeof(i) + i)); </a:t>
            </a:r>
            <a:endParaRPr sz="2400"/>
          </a:p>
          <a:p>
            <a:pPr indent="-228600" lvl="0" marL="228600" rtl="0" algn="l">
              <a:lnSpc>
                <a:spcPct val="100000"/>
              </a:lnSpc>
              <a:spcBef>
                <a:spcPts val="0"/>
              </a:spcBef>
              <a:spcAft>
                <a:spcPts val="0"/>
              </a:spcAft>
              <a:buClr>
                <a:schemeClr val="dk1"/>
              </a:buClr>
              <a:buSzPts val="2400"/>
              <a:buNone/>
            </a:pPr>
            <a:r>
              <a:rPr lang="en-US" sz="2400"/>
              <a:t>// </a:t>
            </a:r>
            <a:r>
              <a:rPr b="1" lang="en-US" sz="2400"/>
              <a:t>Output: </a:t>
            </a:r>
            <a:r>
              <a:rPr lang="en-US" sz="2400"/>
              <a:t>string0</a:t>
            </a:r>
            <a:endParaRPr sz="2400"/>
          </a:p>
          <a:p>
            <a:pPr indent="-228600" lvl="0" marL="228600" rtl="0" algn="l">
              <a:lnSpc>
                <a:spcPct val="100000"/>
              </a:lnSpc>
              <a:spcBef>
                <a:spcPts val="0"/>
              </a:spcBef>
              <a:spcAft>
                <a:spcPts val="0"/>
              </a:spcAft>
              <a:buClr>
                <a:schemeClr val="dk1"/>
              </a:buClr>
              <a:buSzPts val="2400"/>
              <a:buNone/>
            </a:pPr>
            <a:r>
              <a:rPr lang="en-US" sz="2400"/>
              <a:t>				string1</a:t>
            </a:r>
            <a:endParaRPr sz="2400"/>
          </a:p>
          <a:p>
            <a:pPr indent="-228600" lvl="0" marL="228600" rtl="0" algn="l">
              <a:lnSpc>
                <a:spcPct val="100000"/>
              </a:lnSpc>
              <a:spcBef>
                <a:spcPts val="0"/>
              </a:spcBef>
              <a:spcAft>
                <a:spcPts val="0"/>
              </a:spcAft>
              <a:buClr>
                <a:schemeClr val="dk1"/>
              </a:buClr>
              <a:buSzPts val="2400"/>
              <a:buNone/>
            </a:pPr>
            <a:r>
              <a:t/>
            </a:r>
            <a:endParaRPr sz="2400"/>
          </a:p>
        </p:txBody>
      </p:sp>
      <p:sp>
        <p:nvSpPr>
          <p:cNvPr id="127" name="Google Shape;127;p4"/>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Length</a:t>
            </a:r>
            <a:endParaRPr b="0" i="0" sz="1400" u="none" cap="none" strike="noStrike">
              <a:solidFill>
                <a:srgbClr val="000000"/>
              </a:solidFill>
              <a:latin typeface="Arial"/>
              <a:ea typeface="Arial"/>
              <a:cs typeface="Arial"/>
              <a:sym typeface="Arial"/>
            </a:endParaRPr>
          </a:p>
        </p:txBody>
      </p:sp>
      <p:cxnSp>
        <p:nvCxnSpPr>
          <p:cNvPr id="128" name="Google Shape;128;p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29" name="Google Shape;129;p4"/>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30" name="Google Shape;130;p4"/>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idx="1" type="body"/>
          </p:nvPr>
        </p:nvSpPr>
        <p:spPr>
          <a:xfrm>
            <a:off x="96075" y="1519325"/>
            <a:ext cx="12096000" cy="4797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1" lang="en-US" sz="2400"/>
              <a:t>Array Elements Can Be Objects</a:t>
            </a:r>
            <a:endParaRPr/>
          </a:p>
          <a:p>
            <a:pPr indent="0" lvl="0" marL="0" rtl="0" algn="just">
              <a:lnSpc>
                <a:spcPct val="90000"/>
              </a:lnSpc>
              <a:spcBef>
                <a:spcPts val="1000"/>
              </a:spcBef>
              <a:spcAft>
                <a:spcPts val="0"/>
              </a:spcAft>
              <a:buClr>
                <a:schemeClr val="dk1"/>
              </a:buClr>
              <a:buSzPts val="2400"/>
              <a:buNone/>
            </a:pPr>
            <a:r>
              <a:rPr lang="en-US" sz="2400"/>
              <a:t>JavaScript variables can be objects. Arrays are special kinds of objects. We can have objects in an Array, we can have functions in an Array, we can also have other arrays in an Array.</a:t>
            </a:r>
            <a:endParaRPr sz="2400"/>
          </a:p>
          <a:p>
            <a:pPr indent="0" lvl="0" marL="0" rtl="0" algn="just">
              <a:lnSpc>
                <a:spcPct val="90000"/>
              </a:lnSpc>
              <a:spcBef>
                <a:spcPts val="1000"/>
              </a:spcBef>
              <a:spcAft>
                <a:spcPts val="0"/>
              </a:spcAft>
              <a:buClr>
                <a:schemeClr val="dk1"/>
              </a:buClr>
              <a:buSzPts val="2400"/>
              <a:buNone/>
            </a:pPr>
            <a:r>
              <a:rPr b="1" lang="en-US" sz="2400"/>
              <a:t>Example:</a:t>
            </a:r>
            <a:endParaRPr b="1" sz="2400"/>
          </a:p>
          <a:p>
            <a:pPr indent="0" lvl="0" marL="0" rtl="0" algn="l">
              <a:lnSpc>
                <a:spcPct val="90000"/>
              </a:lnSpc>
              <a:spcBef>
                <a:spcPts val="1000"/>
              </a:spcBef>
              <a:spcAft>
                <a:spcPts val="0"/>
              </a:spcAft>
              <a:buClr>
                <a:schemeClr val="dk1"/>
              </a:buClr>
              <a:buSzPts val="2400"/>
              <a:buNone/>
            </a:pPr>
            <a:r>
              <a:rPr lang="en-US" sz="2400"/>
              <a:t>myArray[0] = Date.now; //Array element stores date</a:t>
            </a:r>
            <a:br>
              <a:rPr lang="en-US" sz="2400"/>
            </a:br>
            <a:r>
              <a:rPr lang="en-US" sz="2400"/>
              <a:t>myArray[1] = myFunction; //Element stores a function reference, it has not been executed yet.</a:t>
            </a:r>
            <a:br>
              <a:rPr lang="en-US" sz="2400"/>
            </a:br>
            <a:r>
              <a:rPr lang="en-US" sz="2400"/>
              <a:t>myArray[2] = myCars; //Element has a another object.</a:t>
            </a:r>
            <a:endParaRPr/>
          </a:p>
          <a:p>
            <a:pPr indent="-76200" lvl="0" marL="228600" rtl="0" algn="l">
              <a:lnSpc>
                <a:spcPct val="100000"/>
              </a:lnSpc>
              <a:spcBef>
                <a:spcPts val="0"/>
              </a:spcBef>
              <a:spcAft>
                <a:spcPts val="0"/>
              </a:spcAft>
              <a:buClr>
                <a:schemeClr val="dk1"/>
              </a:buClr>
              <a:buSzPts val="2400"/>
              <a:buFont typeface="Calibri"/>
              <a:buNone/>
            </a:pPr>
            <a:r>
              <a:t/>
            </a:r>
            <a:endParaRPr sz="2400"/>
          </a:p>
        </p:txBody>
      </p:sp>
      <p:sp>
        <p:nvSpPr>
          <p:cNvPr id="137" name="Google Shape;137;p5"/>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a:t>
            </a:r>
            <a:endParaRPr b="0" i="0" sz="1400" u="none" cap="none" strike="noStrike">
              <a:solidFill>
                <a:srgbClr val="000000"/>
              </a:solidFill>
              <a:latin typeface="Arial"/>
              <a:ea typeface="Arial"/>
              <a:cs typeface="Arial"/>
              <a:sym typeface="Arial"/>
            </a:endParaRPr>
          </a:p>
        </p:txBody>
      </p:sp>
      <p:cxnSp>
        <p:nvCxnSpPr>
          <p:cNvPr id="138" name="Google Shape;138;p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39" name="Google Shape;139;p5"/>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40" name="Google Shape;140;p5"/>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ph idx="1" type="body"/>
          </p:nvPr>
        </p:nvSpPr>
        <p:spPr>
          <a:xfrm>
            <a:off x="581201" y="1828800"/>
            <a:ext cx="8300100" cy="479730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Font typeface="Calibri"/>
              <a:buChar char="-"/>
            </a:pPr>
            <a:r>
              <a:rPr lang="en-US" sz="2400"/>
              <a:t>push– Add an element to the end of the array.</a:t>
            </a:r>
            <a:endParaRPr/>
          </a:p>
          <a:p>
            <a:pPr indent="-228600" lvl="0" marL="228600" rtl="0" algn="l">
              <a:lnSpc>
                <a:spcPct val="100000"/>
              </a:lnSpc>
              <a:spcBef>
                <a:spcPts val="0"/>
              </a:spcBef>
              <a:spcAft>
                <a:spcPts val="0"/>
              </a:spcAft>
              <a:buClr>
                <a:schemeClr val="dk1"/>
              </a:buClr>
              <a:buSzPts val="2400"/>
              <a:buFont typeface="Calibri"/>
              <a:buChar char="-"/>
            </a:pPr>
            <a:r>
              <a:rPr lang="en-US" sz="2400"/>
              <a:t>pop – Remove an element from the end of the array.</a:t>
            </a:r>
            <a:endParaRPr/>
          </a:p>
          <a:p>
            <a:pPr indent="-228600" lvl="0" marL="228600" rtl="0" algn="l">
              <a:lnSpc>
                <a:spcPct val="100000"/>
              </a:lnSpc>
              <a:spcBef>
                <a:spcPts val="0"/>
              </a:spcBef>
              <a:spcAft>
                <a:spcPts val="0"/>
              </a:spcAft>
              <a:buClr>
                <a:schemeClr val="dk1"/>
              </a:buClr>
              <a:buSzPts val="2400"/>
              <a:buFont typeface="Calibri"/>
              <a:buChar char="-"/>
            </a:pPr>
            <a:r>
              <a:rPr lang="en-US" sz="2400"/>
              <a:t>shift – Remove an element from the front of the array.</a:t>
            </a:r>
            <a:endParaRPr/>
          </a:p>
          <a:p>
            <a:pPr indent="-228600" lvl="0" marL="228600" rtl="0" algn="l">
              <a:lnSpc>
                <a:spcPct val="100000"/>
              </a:lnSpc>
              <a:spcBef>
                <a:spcPts val="0"/>
              </a:spcBef>
              <a:spcAft>
                <a:spcPts val="0"/>
              </a:spcAft>
              <a:buClr>
                <a:schemeClr val="dk1"/>
              </a:buClr>
              <a:buSzPts val="2400"/>
              <a:buFont typeface="Calibri"/>
              <a:buChar char="-"/>
            </a:pPr>
            <a:r>
              <a:rPr lang="en-US" sz="2400"/>
              <a:t>unshift – Add an element to the front of the array.</a:t>
            </a:r>
            <a:endParaRPr/>
          </a:p>
          <a:p>
            <a:pPr indent="-228600" lvl="0" marL="228600" rtl="0" algn="l">
              <a:lnSpc>
                <a:spcPct val="100000"/>
              </a:lnSpc>
              <a:spcBef>
                <a:spcPts val="0"/>
              </a:spcBef>
              <a:spcAft>
                <a:spcPts val="0"/>
              </a:spcAft>
              <a:buClr>
                <a:schemeClr val="dk1"/>
              </a:buClr>
              <a:buSzPts val="2400"/>
              <a:buFont typeface="Calibri"/>
              <a:buChar char="-"/>
            </a:pPr>
            <a:r>
              <a:rPr lang="en-US" sz="2400"/>
              <a:t>join – Return a string with array elements.</a:t>
            </a:r>
            <a:endParaRPr/>
          </a:p>
          <a:p>
            <a:pPr indent="-228600" lvl="0" marL="228600" rtl="0" algn="l">
              <a:lnSpc>
                <a:spcPct val="100000"/>
              </a:lnSpc>
              <a:spcBef>
                <a:spcPts val="0"/>
              </a:spcBef>
              <a:spcAft>
                <a:spcPts val="0"/>
              </a:spcAft>
              <a:buClr>
                <a:schemeClr val="dk1"/>
              </a:buClr>
              <a:buSzPts val="2400"/>
              <a:buFont typeface="Calibri"/>
              <a:buChar char="-"/>
            </a:pPr>
            <a:r>
              <a:rPr lang="en-US" sz="2400"/>
              <a:t>indexOf – Returns the index of an array element.</a:t>
            </a:r>
            <a:endParaRPr/>
          </a:p>
          <a:p>
            <a:pPr indent="-228600" lvl="0" marL="228600" rtl="0" algn="l">
              <a:lnSpc>
                <a:spcPct val="100000"/>
              </a:lnSpc>
              <a:spcBef>
                <a:spcPts val="0"/>
              </a:spcBef>
              <a:spcAft>
                <a:spcPts val="0"/>
              </a:spcAft>
              <a:buClr>
                <a:schemeClr val="dk1"/>
              </a:buClr>
              <a:buSzPts val="2400"/>
              <a:buFont typeface="Calibri"/>
              <a:buChar char="-"/>
            </a:pPr>
            <a:r>
              <a:rPr lang="en-US" sz="2400"/>
              <a:t>sort – Sort an array in ascending order (by default).</a:t>
            </a:r>
            <a:endParaRPr/>
          </a:p>
          <a:p>
            <a:pPr indent="-228600" lvl="0" marL="228600" rtl="0" algn="l">
              <a:lnSpc>
                <a:spcPct val="100000"/>
              </a:lnSpc>
              <a:spcBef>
                <a:spcPts val="0"/>
              </a:spcBef>
              <a:spcAft>
                <a:spcPts val="0"/>
              </a:spcAft>
              <a:buClr>
                <a:schemeClr val="dk1"/>
              </a:buClr>
              <a:buSzPts val="2400"/>
              <a:buFont typeface="Calibri"/>
              <a:buChar char="-"/>
            </a:pPr>
            <a:r>
              <a:rPr lang="en-US" sz="2400"/>
              <a:t>concat – Concatenate two arrays.</a:t>
            </a:r>
            <a:endParaRPr/>
          </a:p>
          <a:p>
            <a:pPr indent="-228600" lvl="0" marL="228600" rtl="0" algn="l">
              <a:lnSpc>
                <a:spcPct val="100000"/>
              </a:lnSpc>
              <a:spcBef>
                <a:spcPts val="0"/>
              </a:spcBef>
              <a:spcAft>
                <a:spcPts val="0"/>
              </a:spcAft>
              <a:buClr>
                <a:schemeClr val="dk1"/>
              </a:buClr>
              <a:buSzPts val="2400"/>
              <a:buFont typeface="Calibri"/>
              <a:buChar char="-"/>
            </a:pPr>
            <a:r>
              <a:rPr lang="en-US" sz="2400"/>
              <a:t>slice – Returns a subset of the array.</a:t>
            </a:r>
            <a:endParaRPr/>
          </a:p>
          <a:p>
            <a:pPr indent="-76200" lvl="0" marL="228600" rtl="0" algn="l">
              <a:lnSpc>
                <a:spcPct val="100000"/>
              </a:lnSpc>
              <a:spcBef>
                <a:spcPts val="0"/>
              </a:spcBef>
              <a:spcAft>
                <a:spcPts val="0"/>
              </a:spcAft>
              <a:buClr>
                <a:schemeClr val="dk1"/>
              </a:buClr>
              <a:buSzPts val="2400"/>
              <a:buFont typeface="Calibri"/>
              <a:buNone/>
            </a:pPr>
            <a:r>
              <a:t/>
            </a:r>
            <a:endParaRPr sz="2400"/>
          </a:p>
          <a:p>
            <a:pPr indent="-76200" lvl="0" marL="228600" rtl="0" algn="l">
              <a:lnSpc>
                <a:spcPct val="100000"/>
              </a:lnSpc>
              <a:spcBef>
                <a:spcPts val="0"/>
              </a:spcBef>
              <a:spcAft>
                <a:spcPts val="0"/>
              </a:spcAft>
              <a:buClr>
                <a:schemeClr val="dk1"/>
              </a:buClr>
              <a:buSzPts val="2400"/>
              <a:buFont typeface="Calibri"/>
              <a:buNone/>
            </a:pPr>
            <a:r>
              <a:t/>
            </a:r>
            <a:endParaRPr sz="2400"/>
          </a:p>
        </p:txBody>
      </p:sp>
      <p:sp>
        <p:nvSpPr>
          <p:cNvPr id="147" name="Google Shape;147;p6"/>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Methods</a:t>
            </a:r>
            <a:endParaRPr b="0" i="0" sz="1400" u="none" cap="none" strike="noStrike">
              <a:solidFill>
                <a:srgbClr val="000000"/>
              </a:solidFill>
              <a:latin typeface="Arial"/>
              <a:ea typeface="Arial"/>
              <a:cs typeface="Arial"/>
              <a:sym typeface="Arial"/>
            </a:endParaRPr>
          </a:p>
        </p:txBody>
      </p:sp>
      <p:cxnSp>
        <p:nvCxnSpPr>
          <p:cNvPr id="148" name="Google Shape;148;p6"/>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49" name="Google Shape;149;p6"/>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50" name="Google Shape;150;p6"/>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Methods</a:t>
            </a:r>
            <a:endParaRPr b="0" i="0" sz="1400" u="none" cap="none" strike="noStrike">
              <a:solidFill>
                <a:srgbClr val="000000"/>
              </a:solidFill>
              <a:latin typeface="Arial"/>
              <a:ea typeface="Arial"/>
              <a:cs typeface="Arial"/>
              <a:sym typeface="Arial"/>
            </a:endParaRPr>
          </a:p>
        </p:txBody>
      </p:sp>
      <p:cxnSp>
        <p:nvCxnSpPr>
          <p:cNvPr id="156" name="Google Shape;156;p7"/>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57" name="Google Shape;157;p7"/>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158" name="Google Shape;158;p7"/>
          <p:cNvSpPr txBox="1"/>
          <p:nvPr/>
        </p:nvSpPr>
        <p:spPr>
          <a:xfrm>
            <a:off x="371880" y="1519325"/>
            <a:ext cx="9945900" cy="55266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1000"/>
              </a:spcBef>
              <a:spcAft>
                <a:spcPts val="0"/>
              </a:spcAft>
              <a:buClr>
                <a:schemeClr val="dk1"/>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Adding Array Elements</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Both the below methods add new element (WT) to the end of Courses array.</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var courses=['HTML’ , 'CSS’, 'Javascript’, 'React’];</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courses.push('WT');</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90000"/>
              </a:lnSpc>
              <a:spcBef>
                <a:spcPts val="1000"/>
              </a:spcBef>
              <a:spcAft>
                <a:spcPts val="0"/>
              </a:spcAft>
              <a:buClr>
                <a:schemeClr val="dk1"/>
              </a:buClr>
              <a:buSzPts val="2400"/>
              <a:buFont typeface="Arial"/>
              <a:buNone/>
            </a:pPr>
            <a:r>
              <a:rPr b="1" i="0" lang="en-US" sz="2400" u="none" cap="none" strike="noStrike">
                <a:solidFill>
                  <a:schemeClr val="dk1"/>
                </a:solidFill>
                <a:latin typeface="Libre Baskerville"/>
                <a:ea typeface="Libre Baskerville"/>
                <a:cs typeface="Libre Baskerville"/>
                <a:sym typeface="Libre Baskerville"/>
              </a:rPr>
              <a:t>Or </a:t>
            </a:r>
            <a:endParaRPr b="1"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courses[Courses.length] = “WT”;</a:t>
            </a:r>
            <a:endParaRPr b="0" i="0" sz="2400" u="none" cap="none" strike="noStrike">
              <a:solidFill>
                <a:schemeClr val="dk1"/>
              </a:solidFill>
              <a:latin typeface="Calibri"/>
              <a:ea typeface="Calibri"/>
              <a:cs typeface="Calibri"/>
              <a:sym typeface="Calibri"/>
            </a:endParaRPr>
          </a:p>
        </p:txBody>
      </p:sp>
      <p:pic>
        <p:nvPicPr>
          <p:cNvPr id="159" name="Google Shape;159;p7"/>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methods</a:t>
            </a:r>
            <a:endParaRPr b="0" i="0" sz="1400" u="none" cap="none" strike="noStrike">
              <a:solidFill>
                <a:srgbClr val="000000"/>
              </a:solidFill>
              <a:latin typeface="Arial"/>
              <a:ea typeface="Arial"/>
              <a:cs typeface="Arial"/>
              <a:sym typeface="Arial"/>
            </a:endParaRPr>
          </a:p>
        </p:txBody>
      </p:sp>
      <p:cxnSp>
        <p:nvCxnSpPr>
          <p:cNvPr id="165" name="Google Shape;165;p8"/>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66" name="Google Shape;166;p8"/>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167" name="Google Shape;167;p8"/>
          <p:cNvSpPr txBox="1"/>
          <p:nvPr/>
        </p:nvSpPr>
        <p:spPr>
          <a:xfrm>
            <a:off x="179217" y="1282969"/>
            <a:ext cx="9945827" cy="55266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chemeClr val="dk1"/>
              </a:buClr>
              <a:buSzPts val="2400"/>
              <a:buFont typeface="Arial"/>
              <a:buNone/>
            </a:pPr>
            <a:r>
              <a:rPr b="1" i="0" lang="en-US" sz="2200" u="none" cap="none" strike="noStrike">
                <a:solidFill>
                  <a:schemeClr val="dk1"/>
                </a:solidFill>
                <a:latin typeface="Calibri"/>
                <a:ea typeface="Calibri"/>
                <a:cs typeface="Calibri"/>
                <a:sym typeface="Calibri"/>
              </a:rPr>
              <a:t>1) Converting Arrays to Strings:</a:t>
            </a:r>
            <a:r>
              <a:rPr b="0" i="0" lang="en-US" sz="2200" u="none" cap="none" strike="noStrike">
                <a:solidFill>
                  <a:schemeClr val="dk1"/>
                </a:solidFill>
                <a:latin typeface="Calibri"/>
                <a:ea typeface="Calibri"/>
                <a:cs typeface="Calibri"/>
                <a:sym typeface="Calibri"/>
              </a:rPr>
              <a:t> Can be done using arr_name.toString().</a:t>
            </a:r>
            <a:endParaRPr b="0" i="0" sz="22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b="1" i="0" lang="en-US" sz="2000" u="none" cap="none" strike="noStrike">
                <a:solidFill>
                  <a:schemeClr val="dk1"/>
                </a:solidFill>
                <a:latin typeface="Libre Baskerville"/>
                <a:ea typeface="Libre Baskerville"/>
                <a:cs typeface="Libre Baskerville"/>
                <a:sym typeface="Libre Baskerville"/>
              </a:rPr>
              <a:t>Example: </a:t>
            </a:r>
            <a:r>
              <a:rPr b="1" i="0" lang="en-US" sz="2200" u="none" cap="none" strike="noStrike">
                <a:solidFill>
                  <a:schemeClr val="dk1"/>
                </a:solidFill>
                <a:latin typeface="Libre Baskerville"/>
                <a:ea typeface="Libre Baskerville"/>
                <a:cs typeface="Libre Baskerville"/>
                <a:sym typeface="Libre Baskerville"/>
              </a:rPr>
              <a:t>  </a:t>
            </a:r>
            <a:endParaRPr b="1" i="0" sz="2200" u="none" cap="none" strike="noStrike">
              <a:solidFill>
                <a:schemeClr val="dk1"/>
              </a:solidFill>
              <a:latin typeface="Libre Baskerville"/>
              <a:ea typeface="Libre Baskerville"/>
              <a:cs typeface="Libre Baskerville"/>
              <a:sym typeface="Libre Baskerville"/>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arr_1 = [1, 'a', true];</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str = arr.toString();   // comma-separated by default</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console.log(str);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 "1,a,true"</a:t>
            </a:r>
            <a:endParaRPr b="1"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rgbClr val="000000"/>
              </a:buClr>
              <a:buSzPts val="2000"/>
              <a:buFont typeface="Arial"/>
              <a:buNone/>
            </a:pPr>
            <a:r>
              <a:rPr b="1" i="0" lang="en-US" sz="2200" u="none" cap="none" strike="noStrike">
                <a:solidFill>
                  <a:schemeClr val="dk1"/>
                </a:solidFill>
                <a:latin typeface="Calibri"/>
                <a:ea typeface="Calibri"/>
                <a:cs typeface="Calibri"/>
                <a:sym typeface="Calibri"/>
              </a:rPr>
              <a:t>2) </a:t>
            </a:r>
            <a:r>
              <a:rPr b="0" i="0" lang="en-US" sz="2200" u="none" cap="none" strike="noStrike">
                <a:solidFill>
                  <a:schemeClr val="dk1"/>
                </a:solidFill>
                <a:latin typeface="Calibri"/>
                <a:ea typeface="Calibri"/>
                <a:cs typeface="Calibri"/>
                <a:sym typeface="Calibri"/>
              </a:rPr>
              <a:t>The </a:t>
            </a:r>
            <a:r>
              <a:rPr b="1" i="0" lang="en-US" sz="2200" u="none" cap="none" strike="noStrike">
                <a:solidFill>
                  <a:schemeClr val="dk1"/>
                </a:solidFill>
                <a:latin typeface="Calibri"/>
                <a:ea typeface="Calibri"/>
                <a:cs typeface="Calibri"/>
                <a:sym typeface="Calibri"/>
              </a:rPr>
              <a:t>join()</a:t>
            </a:r>
            <a:r>
              <a:rPr b="0" i="0" lang="en-US" sz="2200" u="none" cap="none" strike="noStrike">
                <a:solidFill>
                  <a:schemeClr val="dk1"/>
                </a:solidFill>
                <a:latin typeface="Calibri"/>
                <a:ea typeface="Calibri"/>
                <a:cs typeface="Calibri"/>
                <a:sym typeface="Calibri"/>
              </a:rPr>
              <a:t> method also joins all array elements into a string.</a:t>
            </a:r>
            <a:endParaRPr b="0" i="0" sz="2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Libre Baskerville"/>
                <a:ea typeface="Libre Baskerville"/>
                <a:cs typeface="Libre Baskerville"/>
                <a:sym typeface="Libre Baskerville"/>
              </a:rPr>
              <a:t>Example: </a:t>
            </a:r>
            <a:endParaRPr b="1" i="0" sz="2000" u="none" cap="none" strike="noStrike">
              <a:solidFill>
                <a:schemeClr val="dk1"/>
              </a:solidFill>
              <a:latin typeface="Libre Baskerville"/>
              <a:ea typeface="Libre Baskerville"/>
              <a:cs typeface="Libre Baskerville"/>
              <a:sym typeface="Libre Baskerville"/>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arr_2 = ['a', 'b', 'c'];</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console.log(arr.join());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 "a,b,c"</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console.log(arr.join(' - '));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"a - b - c"</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console.log(arr.join(''));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 "abc"</a:t>
            </a:r>
            <a:endParaRPr b="0" i="0" sz="2200" u="none" cap="none" strike="noStrike">
              <a:solidFill>
                <a:schemeClr val="dk1"/>
              </a:solidFill>
              <a:latin typeface="Calibri"/>
              <a:ea typeface="Calibri"/>
              <a:cs typeface="Calibri"/>
              <a:sym typeface="Calibri"/>
            </a:endParaRPr>
          </a:p>
        </p:txBody>
      </p:sp>
      <p:pic>
        <p:nvPicPr>
          <p:cNvPr id="168" name="Google Shape;168;p8"/>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methods</a:t>
            </a:r>
            <a:endParaRPr b="0" i="0" sz="1400" u="none" cap="none" strike="noStrike">
              <a:solidFill>
                <a:srgbClr val="000000"/>
              </a:solidFill>
              <a:latin typeface="Arial"/>
              <a:ea typeface="Arial"/>
              <a:cs typeface="Arial"/>
              <a:sym typeface="Arial"/>
            </a:endParaRPr>
          </a:p>
        </p:txBody>
      </p:sp>
      <p:cxnSp>
        <p:nvCxnSpPr>
          <p:cNvPr id="174" name="Google Shape;174;p9"/>
          <p:cNvCxnSpPr/>
          <p:nvPr/>
        </p:nvCxnSpPr>
        <p:spPr>
          <a:xfrm>
            <a:off x="-8308" y="1316458"/>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175" name="Google Shape;175;p9"/>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176" name="Google Shape;176;p9"/>
          <p:cNvSpPr txBox="1"/>
          <p:nvPr/>
        </p:nvSpPr>
        <p:spPr>
          <a:xfrm>
            <a:off x="250292" y="1602769"/>
            <a:ext cx="9945900" cy="5526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chemeClr val="dk1"/>
              </a:buClr>
              <a:buSzPts val="2400"/>
              <a:buFont typeface="Arial"/>
              <a:buNone/>
            </a:pPr>
            <a:r>
              <a:rPr b="1" i="0" lang="en-US" sz="2200" u="none" cap="none" strike="noStrike">
                <a:solidFill>
                  <a:schemeClr val="dk1"/>
                </a:solidFill>
                <a:latin typeface="Calibri"/>
                <a:ea typeface="Calibri"/>
                <a:cs typeface="Calibri"/>
                <a:sym typeface="Calibri"/>
              </a:rPr>
              <a:t>3) Push and Pop:</a:t>
            </a:r>
            <a:r>
              <a:rPr b="0" i="0" lang="en-US" sz="2200" u="none" cap="none" strike="noStrike">
                <a:solidFill>
                  <a:schemeClr val="dk1"/>
                </a:solidFill>
                <a:latin typeface="Calibri"/>
                <a:ea typeface="Calibri"/>
                <a:cs typeface="Calibri"/>
                <a:sym typeface="Calibri"/>
              </a:rPr>
              <a:t> Used to add and remove elements, respectively from the end of the array.</a:t>
            </a:r>
            <a:endParaRPr b="0" i="0" sz="22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t/>
            </a:r>
            <a:endParaRPr b="0" i="0" sz="2000" u="none" cap="none" strike="noStrike">
              <a:solidFill>
                <a:schemeClr val="dk1"/>
              </a:solidFill>
              <a:latin typeface="Libre Baskerville"/>
              <a:ea typeface="Libre Baskerville"/>
              <a:cs typeface="Libre Baskerville"/>
              <a:sym typeface="Libre Baskerville"/>
            </a:endParaRPr>
          </a:p>
          <a:p>
            <a:pPr indent="0" lvl="0" marL="0" marR="0" rtl="0" algn="l">
              <a:lnSpc>
                <a:spcPct val="90000"/>
              </a:lnSpc>
              <a:spcBef>
                <a:spcPts val="1000"/>
              </a:spcBef>
              <a:spcAft>
                <a:spcPts val="0"/>
              </a:spcAft>
              <a:buClr>
                <a:schemeClr val="dk1"/>
              </a:buClr>
              <a:buSzPts val="2400"/>
              <a:buFont typeface="Arial"/>
              <a:buNone/>
            </a:pPr>
            <a:r>
              <a:rPr b="1" i="0" lang="en-US" sz="2000" u="none" cap="none" strike="noStrike">
                <a:solidFill>
                  <a:schemeClr val="dk1"/>
                </a:solidFill>
                <a:latin typeface="Libre Baskerville"/>
                <a:ea typeface="Libre Baskerville"/>
                <a:cs typeface="Libre Baskerville"/>
                <a:sym typeface="Libre Baskerville"/>
              </a:rPr>
              <a:t>Example: </a:t>
            </a:r>
            <a:r>
              <a:rPr b="1" i="0" lang="en-US" sz="2200" u="none" cap="none" strike="noStrike">
                <a:solidFill>
                  <a:schemeClr val="dk1"/>
                </a:solidFill>
                <a:latin typeface="Libre Baskerville"/>
                <a:ea typeface="Libre Baskerville"/>
                <a:cs typeface="Libre Baskerville"/>
                <a:sym typeface="Libre Baskerville"/>
              </a:rPr>
              <a:t>  </a:t>
            </a:r>
            <a:endParaRPr b="1" i="0" sz="2200" u="none" cap="none" strike="noStrike">
              <a:solidFill>
                <a:schemeClr val="dk1"/>
              </a:solidFill>
              <a:latin typeface="Libre Baskerville"/>
              <a:ea typeface="Libre Baskerville"/>
              <a:cs typeface="Libre Baskerville"/>
              <a:sym typeface="Libre Baskerville"/>
            </a:endParaRPr>
          </a:p>
          <a:p>
            <a:pPr indent="0" lvl="0" marL="0" marR="0" rtl="0" algn="l">
              <a:lnSpc>
                <a:spcPct val="135714"/>
              </a:lnSpc>
              <a:spcBef>
                <a:spcPts val="0"/>
              </a:spcBef>
              <a:spcAft>
                <a:spcPts val="0"/>
              </a:spcAft>
              <a:buClr>
                <a:schemeClr val="dk1"/>
              </a:buClr>
              <a:buSzPts val="1100"/>
              <a:buFont typeface="Arial"/>
              <a:buNone/>
            </a:pPr>
            <a:r>
              <a:rPr b="0" i="0" lang="en-US" sz="1900" u="none" cap="none" strike="noStrike">
                <a:solidFill>
                  <a:schemeClr val="dk1"/>
                </a:solidFill>
                <a:highlight>
                  <a:schemeClr val="lt1"/>
                </a:highlight>
                <a:latin typeface="Calibri"/>
                <a:ea typeface="Calibri"/>
                <a:cs typeface="Calibri"/>
                <a:sym typeface="Calibri"/>
              </a:rPr>
              <a:t>const arr = [1, 2];</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900" u="none" cap="none" strike="noStrike">
                <a:solidFill>
                  <a:schemeClr val="dk1"/>
                </a:solidFill>
                <a:highlight>
                  <a:schemeClr val="lt1"/>
                </a:highlight>
                <a:latin typeface="Calibri"/>
                <a:ea typeface="Calibri"/>
                <a:cs typeface="Calibri"/>
                <a:sym typeface="Calibri"/>
              </a:rPr>
              <a:t>const ret_push = arr.push(3, 4);   // returns new length</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900" u="none" cap="none" strike="noStrike">
                <a:solidFill>
                  <a:schemeClr val="dk1"/>
                </a:solidFill>
                <a:highlight>
                  <a:schemeClr val="lt1"/>
                </a:highlight>
                <a:latin typeface="Calibri"/>
                <a:ea typeface="Calibri"/>
                <a:cs typeface="Calibri"/>
                <a:sym typeface="Calibri"/>
              </a:rPr>
              <a:t>console.log(arr); // </a:t>
            </a:r>
            <a:r>
              <a:rPr b="1" i="0" lang="en-US" sz="1900" u="none" cap="none" strike="noStrike">
                <a:solidFill>
                  <a:schemeClr val="dk1"/>
                </a:solidFill>
                <a:highlight>
                  <a:schemeClr val="lt1"/>
                </a:highlight>
                <a:latin typeface="Calibri"/>
                <a:ea typeface="Calibri"/>
                <a:cs typeface="Calibri"/>
                <a:sym typeface="Calibri"/>
              </a:rPr>
              <a:t>Output:</a:t>
            </a:r>
            <a:r>
              <a:rPr b="0" i="0" lang="en-US" sz="1900" u="none" cap="none" strike="noStrike">
                <a:solidFill>
                  <a:schemeClr val="dk1"/>
                </a:solidFill>
                <a:highlight>
                  <a:schemeClr val="lt1"/>
                </a:highlight>
                <a:latin typeface="Calibri"/>
                <a:ea typeface="Calibri"/>
                <a:cs typeface="Calibri"/>
                <a:sym typeface="Calibri"/>
              </a:rPr>
              <a:t>[1, 2, 3, 4]</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900" u="none" cap="none" strike="noStrike">
                <a:solidFill>
                  <a:schemeClr val="dk1"/>
                </a:solidFill>
                <a:highlight>
                  <a:schemeClr val="lt1"/>
                </a:highlight>
                <a:latin typeface="Calibri"/>
                <a:ea typeface="Calibri"/>
                <a:cs typeface="Calibri"/>
                <a:sym typeface="Calibri"/>
              </a:rPr>
              <a:t>console.log(ret_push); //</a:t>
            </a:r>
            <a:r>
              <a:rPr b="1" i="0" lang="en-US" sz="1900" u="none" cap="none" strike="noStrike">
                <a:solidFill>
                  <a:schemeClr val="dk1"/>
                </a:solidFill>
                <a:highlight>
                  <a:schemeClr val="lt1"/>
                </a:highlight>
                <a:latin typeface="Calibri"/>
                <a:ea typeface="Calibri"/>
                <a:cs typeface="Calibri"/>
                <a:sym typeface="Calibri"/>
              </a:rPr>
              <a:t>Output:</a:t>
            </a:r>
            <a:r>
              <a:rPr b="0" i="0" lang="en-US" sz="1900" u="none" cap="none" strike="noStrike">
                <a:solidFill>
                  <a:schemeClr val="dk1"/>
                </a:solidFill>
                <a:highlight>
                  <a:schemeClr val="lt1"/>
                </a:highlight>
                <a:latin typeface="Calibri"/>
                <a:ea typeface="Calibri"/>
                <a:cs typeface="Calibri"/>
                <a:sym typeface="Calibri"/>
              </a:rPr>
              <a:t> 4</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900" u="none" cap="none" strike="noStrike">
                <a:solidFill>
                  <a:schemeClr val="dk1"/>
                </a:solidFill>
                <a:highlight>
                  <a:schemeClr val="lt1"/>
                </a:highlight>
                <a:latin typeface="Calibri"/>
                <a:ea typeface="Calibri"/>
                <a:cs typeface="Calibri"/>
                <a:sym typeface="Calibri"/>
              </a:rPr>
              <a:t>const ret_pop = arr.pop();       // returns removed item</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900" u="none" cap="none" strike="noStrike">
                <a:solidFill>
                  <a:schemeClr val="dk1"/>
                </a:solidFill>
                <a:highlight>
                  <a:schemeClr val="lt1"/>
                </a:highlight>
                <a:latin typeface="Calibri"/>
                <a:ea typeface="Calibri"/>
                <a:cs typeface="Calibri"/>
                <a:sym typeface="Calibri"/>
              </a:rPr>
              <a:t>console.log(arr); // </a:t>
            </a:r>
            <a:r>
              <a:rPr b="1" i="0" lang="en-US" sz="1900" u="none" cap="none" strike="noStrike">
                <a:solidFill>
                  <a:schemeClr val="dk1"/>
                </a:solidFill>
                <a:highlight>
                  <a:schemeClr val="lt1"/>
                </a:highlight>
                <a:latin typeface="Calibri"/>
                <a:ea typeface="Calibri"/>
                <a:cs typeface="Calibri"/>
                <a:sym typeface="Calibri"/>
              </a:rPr>
              <a:t>Output:</a:t>
            </a:r>
            <a:r>
              <a:rPr b="0" i="0" lang="en-US" sz="1900" u="none" cap="none" strike="noStrike">
                <a:solidFill>
                  <a:schemeClr val="dk1"/>
                </a:solidFill>
                <a:highlight>
                  <a:schemeClr val="lt1"/>
                </a:highlight>
                <a:latin typeface="Calibri"/>
                <a:ea typeface="Calibri"/>
                <a:cs typeface="Calibri"/>
                <a:sym typeface="Calibri"/>
              </a:rPr>
              <a:t>[1, 2, 3]</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900" u="none" cap="none" strike="noStrike">
                <a:solidFill>
                  <a:schemeClr val="dk1"/>
                </a:solidFill>
                <a:highlight>
                  <a:schemeClr val="lt1"/>
                </a:highlight>
                <a:latin typeface="Calibri"/>
                <a:ea typeface="Calibri"/>
                <a:cs typeface="Calibri"/>
                <a:sym typeface="Calibri"/>
              </a:rPr>
              <a:t>console.log(ret_pop); // </a:t>
            </a:r>
            <a:r>
              <a:rPr b="1" i="0" lang="en-US" sz="1900" u="none" cap="none" strike="noStrike">
                <a:solidFill>
                  <a:schemeClr val="dk1"/>
                </a:solidFill>
                <a:highlight>
                  <a:schemeClr val="lt1"/>
                </a:highlight>
                <a:latin typeface="Calibri"/>
                <a:ea typeface="Calibri"/>
                <a:cs typeface="Calibri"/>
                <a:sym typeface="Calibri"/>
              </a:rPr>
              <a:t>Output: </a:t>
            </a:r>
            <a:r>
              <a:rPr b="0" i="0" lang="en-US" sz="1900" u="none" cap="none" strike="noStrike">
                <a:solidFill>
                  <a:schemeClr val="dk1"/>
                </a:solidFill>
                <a:highlight>
                  <a:schemeClr val="lt1"/>
                </a:highlight>
                <a:latin typeface="Calibri"/>
                <a:ea typeface="Calibri"/>
                <a:cs typeface="Calibri"/>
                <a:sym typeface="Calibri"/>
              </a:rPr>
              <a:t>4</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t/>
            </a:r>
            <a:endParaRPr b="1"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ibre Baskerville"/>
              <a:ea typeface="Libre Baskerville"/>
              <a:cs typeface="Libre Baskerville"/>
              <a:sym typeface="Libre Baskerville"/>
            </a:endParaRPr>
          </a:p>
          <a:p>
            <a:pPr indent="0" lvl="0" marL="0" marR="0" rtl="0" algn="l">
              <a:lnSpc>
                <a:spcPct val="135714"/>
              </a:lnSpc>
              <a:spcBef>
                <a:spcPts val="0"/>
              </a:spcBef>
              <a:spcAft>
                <a:spcPts val="0"/>
              </a:spcAft>
              <a:buClr>
                <a:schemeClr val="dk1"/>
              </a:buClr>
              <a:buSzPts val="1100"/>
              <a:buFont typeface="Arial"/>
              <a:buNone/>
            </a:pPr>
            <a:r>
              <a:t/>
            </a:r>
            <a:endParaRPr b="0" i="0" sz="2200" u="none" cap="none" strike="noStrike">
              <a:solidFill>
                <a:schemeClr val="dk1"/>
              </a:solidFill>
              <a:latin typeface="Calibri"/>
              <a:ea typeface="Calibri"/>
              <a:cs typeface="Calibri"/>
              <a:sym typeface="Calibri"/>
            </a:endParaRPr>
          </a:p>
        </p:txBody>
      </p:sp>
      <p:pic>
        <p:nvPicPr>
          <p:cNvPr id="177" name="Google Shape;177;p9"/>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methods</a:t>
            </a:r>
            <a:endParaRPr b="0" i="0" sz="1400" u="none" cap="none" strike="noStrike">
              <a:solidFill>
                <a:srgbClr val="000000"/>
              </a:solidFill>
              <a:latin typeface="Arial"/>
              <a:ea typeface="Arial"/>
              <a:cs typeface="Arial"/>
              <a:sym typeface="Arial"/>
            </a:endParaRPr>
          </a:p>
        </p:txBody>
      </p:sp>
      <p:cxnSp>
        <p:nvCxnSpPr>
          <p:cNvPr id="183" name="Google Shape;183;p10"/>
          <p:cNvCxnSpPr/>
          <p:nvPr/>
        </p:nvCxnSpPr>
        <p:spPr>
          <a:xfrm>
            <a:off x="-8308" y="1316458"/>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184" name="Google Shape;184;p10"/>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185" name="Google Shape;185;p10"/>
          <p:cNvSpPr txBox="1"/>
          <p:nvPr/>
        </p:nvSpPr>
        <p:spPr>
          <a:xfrm>
            <a:off x="191076" y="1626475"/>
            <a:ext cx="10647900" cy="5526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chemeClr val="dk1"/>
              </a:buClr>
              <a:buSzPts val="2400"/>
              <a:buFont typeface="Arial"/>
              <a:buNone/>
            </a:pPr>
            <a:r>
              <a:rPr b="1" i="0" lang="en-US" sz="2200" u="none" cap="none" strike="noStrike">
                <a:solidFill>
                  <a:schemeClr val="dk1"/>
                </a:solidFill>
                <a:latin typeface="Calibri"/>
                <a:ea typeface="Calibri"/>
                <a:cs typeface="Calibri"/>
                <a:sym typeface="Calibri"/>
              </a:rPr>
              <a:t>4) Shifting Methods:</a:t>
            </a:r>
            <a:r>
              <a:rPr b="0" i="0" lang="en-US" sz="2200" u="none" cap="none" strike="noStrike">
                <a:solidFill>
                  <a:schemeClr val="dk1"/>
                </a:solidFill>
                <a:latin typeface="Calibri"/>
                <a:ea typeface="Calibri"/>
                <a:cs typeface="Calibri"/>
                <a:sym typeface="Calibri"/>
              </a:rPr>
              <a:t> Similar to the Push and Pop but works on the front end of the array instead.  Shift - Remove element and unshift - Add element</a:t>
            </a:r>
            <a:endParaRPr b="0" i="0" sz="2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Libre Baskerville"/>
                <a:ea typeface="Libre Baskerville"/>
                <a:cs typeface="Libre Baskerville"/>
                <a:sym typeface="Libre Baskerville"/>
              </a:rPr>
              <a:t>Example: </a:t>
            </a:r>
            <a:endParaRPr b="0" i="0" sz="2000" u="none" cap="none" strike="noStrike">
              <a:solidFill>
                <a:schemeClr val="dk1"/>
              </a:solidFill>
              <a:latin typeface="Libre Baskerville"/>
              <a:ea typeface="Libre Baskerville"/>
              <a:cs typeface="Libre Baskerville"/>
              <a:sym typeface="Libre Baskerville"/>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arr_3 = [10, 20, 30];</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ret_shift = arr.shift();   // returns removed item</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 [20, 30]</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console.log(ret_shift);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 10</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arr_4 = [10, 20];</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ret_ushift = arr.unshift(5, 7); // returns new length</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 [5, 7, 10, 20]</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console.log(ret_ushift);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 4</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t/>
            </a:r>
            <a:endParaRPr b="0" i="0" sz="19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t/>
            </a:r>
            <a:endParaRPr b="1"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ibre Baskerville"/>
              <a:ea typeface="Libre Baskerville"/>
              <a:cs typeface="Libre Baskerville"/>
              <a:sym typeface="Libre Baskerville"/>
            </a:endParaRPr>
          </a:p>
          <a:p>
            <a:pPr indent="0" lvl="0" marL="0" marR="0" rtl="0" algn="l">
              <a:lnSpc>
                <a:spcPct val="135714"/>
              </a:lnSpc>
              <a:spcBef>
                <a:spcPts val="0"/>
              </a:spcBef>
              <a:spcAft>
                <a:spcPts val="0"/>
              </a:spcAft>
              <a:buClr>
                <a:schemeClr val="dk1"/>
              </a:buClr>
              <a:buSzPts val="1100"/>
              <a:buFont typeface="Arial"/>
              <a:buNone/>
            </a:pPr>
            <a:r>
              <a:t/>
            </a:r>
            <a:endParaRPr b="0" i="0" sz="2200" u="none" cap="none" strike="noStrike">
              <a:solidFill>
                <a:schemeClr val="dk1"/>
              </a:solidFill>
              <a:latin typeface="Calibri"/>
              <a:ea typeface="Calibri"/>
              <a:cs typeface="Calibri"/>
              <a:sym typeface="Calibri"/>
            </a:endParaRPr>
          </a:p>
        </p:txBody>
      </p:sp>
      <p:pic>
        <p:nvPicPr>
          <p:cNvPr id="186" name="Google Shape;186;p10"/>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Methods</a:t>
            </a:r>
            <a:endParaRPr b="0" i="0" sz="1400" u="none" cap="none" strike="noStrike">
              <a:solidFill>
                <a:srgbClr val="000000"/>
              </a:solidFill>
              <a:latin typeface="Arial"/>
              <a:ea typeface="Arial"/>
              <a:cs typeface="Arial"/>
              <a:sym typeface="Arial"/>
            </a:endParaRPr>
          </a:p>
        </p:txBody>
      </p:sp>
      <p:cxnSp>
        <p:nvCxnSpPr>
          <p:cNvPr id="193" name="Google Shape;193;p11"/>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94" name="Google Shape;194;p11"/>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195" name="Google Shape;195;p11"/>
          <p:cNvSpPr txBox="1"/>
          <p:nvPr/>
        </p:nvSpPr>
        <p:spPr>
          <a:xfrm>
            <a:off x="179217" y="1316458"/>
            <a:ext cx="11722271" cy="552662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5) </a:t>
            </a:r>
            <a:r>
              <a:rPr b="1" i="0" lang="en-US" sz="2400" u="none" cap="none" strike="noStrike">
                <a:solidFill>
                  <a:schemeClr val="dk1"/>
                </a:solidFill>
                <a:latin typeface="Calibri"/>
                <a:ea typeface="Calibri"/>
                <a:cs typeface="Calibri"/>
                <a:sym typeface="Calibri"/>
              </a:rPr>
              <a:t>Deleting Elements: </a:t>
            </a:r>
            <a:r>
              <a:rPr b="0" i="0" lang="en-US" sz="2400" u="none" cap="none" strike="noStrike">
                <a:solidFill>
                  <a:schemeClr val="dk1"/>
                </a:solidFill>
                <a:latin typeface="Calibri"/>
                <a:ea typeface="Calibri"/>
                <a:cs typeface="Calibri"/>
                <a:sym typeface="Calibri"/>
              </a:rPr>
              <a:t>Done using delete keyword</a:t>
            </a:r>
            <a:endParaRPr b="0" i="0" sz="1400" u="none" cap="none" strike="noStrike">
              <a:solidFill>
                <a:srgbClr val="000000"/>
              </a:solidFill>
              <a:latin typeface="Calibri"/>
              <a:ea typeface="Calibri"/>
              <a:cs typeface="Calibri"/>
              <a:sym typeface="Calibri"/>
            </a:endParaRPr>
          </a:p>
          <a:p>
            <a:pPr indent="0" lvl="0" marL="0" marR="0" rtl="0" algn="l">
              <a:lnSpc>
                <a:spcPct val="50000"/>
              </a:lnSpc>
              <a:spcBef>
                <a:spcPts val="1000"/>
              </a:spcBef>
              <a:spcAft>
                <a:spcPts val="0"/>
              </a:spcAft>
              <a:buClr>
                <a:schemeClr val="dk1"/>
              </a:buClr>
              <a:buSzPts val="2400"/>
              <a:buFont typeface="Arial"/>
              <a:buNone/>
            </a:pPr>
            <a:r>
              <a:rPr b="1" i="0" lang="en-US" sz="2400" u="none" cap="none" strike="noStrike">
                <a:solidFill>
                  <a:schemeClr val="dk1"/>
                </a:solidFill>
                <a:latin typeface="Calibri"/>
                <a:ea typeface="Calibri"/>
                <a:cs typeface="Calibri"/>
                <a:sym typeface="Calibri"/>
              </a:rPr>
              <a:t>Example: </a:t>
            </a:r>
            <a:r>
              <a:rPr b="0" i="0" lang="en-US" sz="2400" u="none" cap="none" strike="noStrike">
                <a:solidFill>
                  <a:schemeClr val="dk1"/>
                </a:solidFill>
                <a:latin typeface="Calibri"/>
                <a:ea typeface="Calibri"/>
                <a:cs typeface="Calibri"/>
                <a:sym typeface="Calibri"/>
              </a:rPr>
              <a:t>   </a:t>
            </a:r>
            <a:endParaRPr b="0" i="0" sz="2000" u="none" cap="none" strike="noStrike">
              <a:solidFill>
                <a:schemeClr val="dk1"/>
              </a:solidFill>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arr_5 = ['x', 'y', 'z'];</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delete arr[1];</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['x', &lt;1 empty item&gt;, 'z']</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console.log(arr.length);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 3 (length unchanged)</a:t>
            </a:r>
            <a:endParaRPr b="0" i="0" sz="2000" u="none" cap="none" strike="noStrike">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rgbClr val="000000"/>
                </a:solidFill>
                <a:latin typeface="Calibri"/>
                <a:ea typeface="Calibri"/>
                <a:cs typeface="Calibri"/>
                <a:sym typeface="Calibri"/>
              </a:rPr>
              <a:t>6) </a:t>
            </a:r>
            <a:r>
              <a:rPr b="1" i="0" lang="en-US" sz="2400" u="none" cap="none" strike="noStrike">
                <a:solidFill>
                  <a:srgbClr val="000000"/>
                </a:solidFill>
                <a:latin typeface="Calibri"/>
                <a:ea typeface="Calibri"/>
                <a:cs typeface="Calibri"/>
                <a:sym typeface="Calibri"/>
              </a:rPr>
              <a:t>Slicing the Array: </a:t>
            </a:r>
            <a:r>
              <a:rPr b="0" i="0" lang="en-US" sz="2400" u="none" cap="none" strike="noStrike">
                <a:solidFill>
                  <a:srgbClr val="000000"/>
                </a:solidFill>
                <a:latin typeface="Calibri"/>
                <a:ea typeface="Calibri"/>
                <a:cs typeface="Calibri"/>
                <a:sym typeface="Calibri"/>
              </a:rPr>
              <a:t>Used to extract a subset of the array.</a:t>
            </a:r>
            <a:endParaRPr b="0" i="0" sz="2400" u="none" cap="none" strike="noStrike">
              <a:solidFill>
                <a:srgbClr val="000000"/>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b="1" i="0" lang="en-US" sz="2400" u="none" cap="none" strike="noStrike">
                <a:solidFill>
                  <a:srgbClr val="000000"/>
                </a:solidFill>
                <a:latin typeface="Calibri"/>
                <a:ea typeface="Calibri"/>
                <a:cs typeface="Calibri"/>
                <a:sym typeface="Calibri"/>
              </a:rPr>
              <a:t>Example: </a:t>
            </a:r>
            <a:endParaRPr b="1" i="0" sz="2400" u="none" cap="none" strike="noStrike">
              <a:solidFill>
                <a:srgbClr val="000000"/>
              </a:solidFill>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const arr_6 = ['a', 'b', 'c', 'd', 'e'];</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console.log(arr.slice(1, 3));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['b', 'c'] (indices 1 and 2)</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console.log(arr.slice(2));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['c', 'd', 'e'] (to end)</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console.log(arr.slice(-2));   // </a:t>
            </a:r>
            <a:r>
              <a:rPr b="1" i="0" lang="en-US" sz="2000" u="none" cap="none" strike="noStrike">
                <a:solidFill>
                  <a:schemeClr val="dk1"/>
                </a:solidFill>
                <a:highlight>
                  <a:schemeClr val="lt1"/>
                </a:highlight>
                <a:latin typeface="Calibri"/>
                <a:ea typeface="Calibri"/>
                <a:cs typeface="Calibri"/>
                <a:sym typeface="Calibri"/>
              </a:rPr>
              <a:t>Output:</a:t>
            </a:r>
            <a:r>
              <a:rPr b="0" i="0" lang="en-US" sz="2000" u="none" cap="none" strike="noStrike">
                <a:solidFill>
                  <a:schemeClr val="dk1"/>
                </a:solidFill>
                <a:highlight>
                  <a:schemeClr val="lt1"/>
                </a:highlight>
                <a:latin typeface="Calibri"/>
                <a:ea typeface="Calibri"/>
                <a:cs typeface="Calibri"/>
                <a:sym typeface="Calibri"/>
              </a:rPr>
              <a:t>['d', 'e'] (negative indices from end)</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2000" u="none" cap="none" strike="noStrike">
                <a:solidFill>
                  <a:schemeClr val="dk1"/>
                </a:solidFill>
                <a:highlight>
                  <a:schemeClr val="lt1"/>
                </a:highlight>
                <a:latin typeface="Calibri"/>
                <a:ea typeface="Calibri"/>
                <a:cs typeface="Calibri"/>
                <a:sym typeface="Calibri"/>
              </a:rPr>
              <a:t>console.log(arr);             // original unchanged</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just">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196" name="Google Shape;196;p11"/>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Methods</a:t>
            </a:r>
            <a:endParaRPr b="0" i="0" sz="1400" u="none" cap="none" strike="noStrike">
              <a:solidFill>
                <a:srgbClr val="000000"/>
              </a:solidFill>
              <a:latin typeface="Arial"/>
              <a:ea typeface="Arial"/>
              <a:cs typeface="Arial"/>
              <a:sym typeface="Arial"/>
            </a:endParaRPr>
          </a:p>
        </p:txBody>
      </p:sp>
      <p:cxnSp>
        <p:nvCxnSpPr>
          <p:cNvPr id="203" name="Google Shape;203;p12"/>
          <p:cNvCxnSpPr/>
          <p:nvPr/>
        </p:nvCxnSpPr>
        <p:spPr>
          <a:xfrm>
            <a:off x="-8308" y="1316458"/>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204" name="Google Shape;204;p12"/>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205" name="Google Shape;205;p12"/>
          <p:cNvSpPr txBox="1"/>
          <p:nvPr/>
        </p:nvSpPr>
        <p:spPr>
          <a:xfrm>
            <a:off x="179217" y="1316458"/>
            <a:ext cx="11722200" cy="55266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7) </a:t>
            </a:r>
            <a:r>
              <a:rPr b="1" i="0" lang="en-US" sz="2400" u="none" cap="none" strike="noStrike">
                <a:solidFill>
                  <a:schemeClr val="dk1"/>
                </a:solidFill>
                <a:latin typeface="Calibri"/>
                <a:ea typeface="Calibri"/>
                <a:cs typeface="Calibri"/>
                <a:sym typeface="Calibri"/>
              </a:rPr>
              <a:t>Splicing an Array</a:t>
            </a:r>
            <a:endParaRPr b="0" i="0" sz="1400" u="none" cap="none" strike="noStrike">
              <a:solidFill>
                <a:schemeClr val="dk1"/>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The splice() method changes the contents of an array by removing or replacing existing elements and/or adding new elements </a:t>
            </a:r>
            <a:r>
              <a:rPr b="0" i="0" lang="en-US" sz="2400" u="sng" cap="none" strike="noStrike">
                <a:solidFill>
                  <a:schemeClr val="hlink"/>
                </a:solidFill>
                <a:latin typeface="Calibri"/>
                <a:ea typeface="Calibri"/>
                <a:cs typeface="Calibri"/>
                <a:sym typeface="Calibri"/>
                <a:hlinkClick r:id="rId3"/>
              </a:rPr>
              <a:t>in place</a:t>
            </a:r>
            <a:r>
              <a:rPr b="0" i="0" lang="en-US" sz="2400" u="none" cap="none" strike="noStrike">
                <a:solidFill>
                  <a:schemeClr val="dk1"/>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000"/>
              <a:buFont typeface="Arial"/>
              <a:buNone/>
            </a:pPr>
            <a:r>
              <a:rPr b="1" i="0" lang="en-US" sz="2400" u="none" cap="none" strike="noStrike">
                <a:solidFill>
                  <a:schemeClr val="dk1"/>
                </a:solidFill>
                <a:latin typeface="Calibri"/>
                <a:ea typeface="Calibri"/>
                <a:cs typeface="Calibri"/>
                <a:sym typeface="Calibri"/>
              </a:rPr>
              <a:t>Example:</a:t>
            </a:r>
            <a:endParaRPr b="1" i="0" sz="2400" u="none" cap="none" strike="noStrike">
              <a:solidFill>
                <a:schemeClr val="dk1"/>
              </a:solidFill>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1" i="0" lang="en-US" sz="2000" u="none" cap="none" strike="noStrike">
                <a:solidFill>
                  <a:schemeClr val="dk1"/>
                </a:solidFill>
                <a:highlight>
                  <a:schemeClr val="lt1"/>
                </a:highlight>
                <a:latin typeface="Calibri"/>
                <a:ea typeface="Calibri"/>
                <a:cs typeface="Calibri"/>
                <a:sym typeface="Calibri"/>
              </a:rPr>
              <a:t>// Remove</a:t>
            </a:r>
            <a:r>
              <a:rPr b="0" i="0" lang="en-US" sz="1800" u="none" cap="none" strike="noStrike">
                <a:solidFill>
                  <a:schemeClr val="dk1"/>
                </a:solidFill>
                <a:highlight>
                  <a:schemeClr val="lt1"/>
                </a:highlight>
                <a:latin typeface="Calibri"/>
                <a:ea typeface="Calibri"/>
                <a:cs typeface="Calibri"/>
                <a:sym typeface="Calibri"/>
              </a:rPr>
              <a:t>	</a:t>
            </a:r>
            <a:r>
              <a:rPr b="0" i="0" lang="en-US" sz="1700" u="none" cap="none" strike="noStrike">
                <a:solidFill>
                  <a:schemeClr val="dk1"/>
                </a:solidFill>
                <a:highlight>
                  <a:schemeClr val="lt1"/>
                </a:highlight>
                <a:latin typeface="Calibri"/>
                <a:ea typeface="Calibri"/>
                <a:cs typeface="Calibri"/>
                <a:sym typeface="Calibri"/>
              </a:rPr>
              <a:t>													</a:t>
            </a:r>
            <a:r>
              <a:rPr b="1" i="0" lang="en-US" sz="2000" u="none" cap="none" strike="noStrike">
                <a:solidFill>
                  <a:schemeClr val="dk1"/>
                </a:solidFill>
                <a:highlight>
                  <a:schemeClr val="lt1"/>
                </a:highlight>
                <a:latin typeface="Calibri"/>
                <a:ea typeface="Calibri"/>
                <a:cs typeface="Calibri"/>
                <a:sym typeface="Calibri"/>
              </a:rPr>
              <a:t>// Replace</a:t>
            </a:r>
            <a:endParaRPr b="1"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700" u="none" cap="none" strike="noStrike">
                <a:solidFill>
                  <a:schemeClr val="dk1"/>
                </a:solidFill>
                <a:highlight>
                  <a:schemeClr val="lt1"/>
                </a:highlight>
                <a:latin typeface="Calibri"/>
                <a:ea typeface="Calibri"/>
                <a:cs typeface="Calibri"/>
                <a:sym typeface="Calibri"/>
              </a:rPr>
              <a:t>const a1 = [1, 2, 3, 4];												const a3 = ['a', 'b', 'c'];</a:t>
            </a:r>
            <a:endParaRPr b="0" i="0" sz="17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700" u="none" cap="none" strike="noStrike">
                <a:solidFill>
                  <a:schemeClr val="dk1"/>
                </a:solidFill>
                <a:highlight>
                  <a:schemeClr val="lt1"/>
                </a:highlight>
                <a:latin typeface="Calibri"/>
                <a:ea typeface="Calibri"/>
                <a:cs typeface="Calibri"/>
                <a:sym typeface="Calibri"/>
              </a:rPr>
              <a:t>const removed = a1.splice(1, 2);  // remove 2 items starting at index 1    			a3.splice(1, 1, 'B');  // replace 'b' with 'B'</a:t>
            </a:r>
            <a:endParaRPr b="0" i="0" sz="17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700" u="none" cap="none" strike="noStrike">
                <a:solidFill>
                  <a:schemeClr val="dk1"/>
                </a:solidFill>
                <a:highlight>
                  <a:schemeClr val="lt1"/>
                </a:highlight>
                <a:latin typeface="Calibri"/>
                <a:ea typeface="Calibri"/>
                <a:cs typeface="Calibri"/>
                <a:sym typeface="Calibri"/>
              </a:rPr>
              <a:t>console.log(a1);     //</a:t>
            </a:r>
            <a:r>
              <a:rPr b="1" i="0" lang="en-US" sz="1700" u="none" cap="none" strike="noStrike">
                <a:solidFill>
                  <a:schemeClr val="dk1"/>
                </a:solidFill>
                <a:highlight>
                  <a:schemeClr val="lt1"/>
                </a:highlight>
                <a:latin typeface="Calibri"/>
                <a:ea typeface="Calibri"/>
                <a:cs typeface="Calibri"/>
                <a:sym typeface="Calibri"/>
              </a:rPr>
              <a:t>Output:</a:t>
            </a:r>
            <a:r>
              <a:rPr b="0" i="0" lang="en-US" sz="1700" u="none" cap="none" strike="noStrike">
                <a:solidFill>
                  <a:schemeClr val="dk1"/>
                </a:solidFill>
                <a:highlight>
                  <a:schemeClr val="lt1"/>
                </a:highlight>
                <a:latin typeface="Calibri"/>
                <a:ea typeface="Calibri"/>
                <a:cs typeface="Calibri"/>
                <a:sym typeface="Calibri"/>
              </a:rPr>
              <a:t> [1, 4]											console.log(a3);</a:t>
            </a:r>
            <a:r>
              <a:rPr b="1" i="0" lang="en-US" sz="1700" u="none" cap="none" strike="noStrike">
                <a:solidFill>
                  <a:schemeClr val="dk1"/>
                </a:solidFill>
                <a:highlight>
                  <a:schemeClr val="lt1"/>
                </a:highlight>
                <a:latin typeface="Calibri"/>
                <a:ea typeface="Calibri"/>
                <a:cs typeface="Calibri"/>
                <a:sym typeface="Calibri"/>
              </a:rPr>
              <a:t> </a:t>
            </a:r>
            <a:r>
              <a:rPr b="0" i="0" lang="en-US" sz="1700" u="none" cap="none" strike="noStrike">
                <a:solidFill>
                  <a:schemeClr val="dk1"/>
                </a:solidFill>
                <a:highlight>
                  <a:schemeClr val="lt1"/>
                </a:highlight>
                <a:latin typeface="Calibri"/>
                <a:ea typeface="Calibri"/>
                <a:cs typeface="Calibri"/>
                <a:sym typeface="Calibri"/>
              </a:rPr>
              <a:t>// </a:t>
            </a:r>
            <a:r>
              <a:rPr b="1" i="0" lang="en-US" sz="1700" u="none" cap="none" strike="noStrike">
                <a:solidFill>
                  <a:schemeClr val="dk1"/>
                </a:solidFill>
                <a:highlight>
                  <a:schemeClr val="lt1"/>
                </a:highlight>
                <a:latin typeface="Calibri"/>
                <a:ea typeface="Calibri"/>
                <a:cs typeface="Calibri"/>
                <a:sym typeface="Calibri"/>
              </a:rPr>
              <a:t>Output:</a:t>
            </a:r>
            <a:r>
              <a:rPr b="0" i="0" lang="en-US" sz="1700" u="none" cap="none" strike="noStrike">
                <a:solidFill>
                  <a:schemeClr val="dk1"/>
                </a:solidFill>
                <a:highlight>
                  <a:schemeClr val="lt1"/>
                </a:highlight>
                <a:latin typeface="Calibri"/>
                <a:ea typeface="Calibri"/>
                <a:cs typeface="Calibri"/>
                <a:sym typeface="Calibri"/>
              </a:rPr>
              <a:t> ['a', 'B', 'c']</a:t>
            </a:r>
            <a:endParaRPr b="0" i="0" sz="17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700" u="none" cap="none" strike="noStrike">
                <a:solidFill>
                  <a:schemeClr val="dk1"/>
                </a:solidFill>
                <a:highlight>
                  <a:schemeClr val="lt1"/>
                </a:highlight>
                <a:latin typeface="Calibri"/>
                <a:ea typeface="Calibri"/>
                <a:cs typeface="Calibri"/>
                <a:sym typeface="Calibri"/>
              </a:rPr>
              <a:t>console.log(removed); // </a:t>
            </a:r>
            <a:r>
              <a:rPr b="1" i="0" lang="en-US" sz="1700" u="none" cap="none" strike="noStrike">
                <a:solidFill>
                  <a:schemeClr val="dk1"/>
                </a:solidFill>
                <a:highlight>
                  <a:schemeClr val="lt1"/>
                </a:highlight>
                <a:latin typeface="Calibri"/>
                <a:ea typeface="Calibri"/>
                <a:cs typeface="Calibri"/>
                <a:sym typeface="Calibri"/>
              </a:rPr>
              <a:t>Output: </a:t>
            </a:r>
            <a:r>
              <a:rPr b="0" i="0" lang="en-US" sz="1700" u="none" cap="none" strike="noStrike">
                <a:solidFill>
                  <a:schemeClr val="dk1"/>
                </a:solidFill>
                <a:highlight>
                  <a:schemeClr val="lt1"/>
                </a:highlight>
                <a:latin typeface="Calibri"/>
                <a:ea typeface="Calibri"/>
                <a:cs typeface="Calibri"/>
                <a:sym typeface="Calibri"/>
              </a:rPr>
              <a:t>[2, 3]</a:t>
            </a:r>
            <a:endParaRPr b="0" i="0" sz="17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t/>
            </a:r>
            <a:endParaRPr b="0" i="0" sz="17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1" i="0" lang="en-US" sz="2000" u="none" cap="none" strike="noStrike">
                <a:solidFill>
                  <a:schemeClr val="dk1"/>
                </a:solidFill>
                <a:highlight>
                  <a:schemeClr val="lt1"/>
                </a:highlight>
                <a:latin typeface="Calibri"/>
                <a:ea typeface="Calibri"/>
                <a:cs typeface="Calibri"/>
                <a:sym typeface="Calibri"/>
              </a:rPr>
              <a:t>// Insert</a:t>
            </a:r>
            <a:endParaRPr b="1"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700" u="none" cap="none" strike="noStrike">
                <a:solidFill>
                  <a:schemeClr val="dk1"/>
                </a:solidFill>
                <a:highlight>
                  <a:schemeClr val="lt1"/>
                </a:highlight>
                <a:latin typeface="Calibri"/>
                <a:ea typeface="Calibri"/>
                <a:cs typeface="Calibri"/>
                <a:sym typeface="Calibri"/>
              </a:rPr>
              <a:t>const a2 = [1, 4];</a:t>
            </a:r>
            <a:endParaRPr b="0" i="0" sz="17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700" u="none" cap="none" strike="noStrike">
                <a:solidFill>
                  <a:schemeClr val="dk1"/>
                </a:solidFill>
                <a:highlight>
                  <a:schemeClr val="lt1"/>
                </a:highlight>
                <a:latin typeface="Calibri"/>
                <a:ea typeface="Calibri"/>
                <a:cs typeface="Calibri"/>
                <a:sym typeface="Calibri"/>
              </a:rPr>
              <a:t>a2.splice(1, 0, 2, 3); // insert 2,3 at index 1 (deleteCount=0)</a:t>
            </a:r>
            <a:endParaRPr b="0" i="0" sz="1700" u="none" cap="none" strike="noStrike">
              <a:solidFill>
                <a:schemeClr val="dk1"/>
              </a:solidFill>
              <a:highlight>
                <a:schemeClr val="lt1"/>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700" u="none" cap="none" strike="noStrike">
                <a:solidFill>
                  <a:schemeClr val="dk1"/>
                </a:solidFill>
                <a:highlight>
                  <a:schemeClr val="lt1"/>
                </a:highlight>
                <a:latin typeface="Calibri"/>
                <a:ea typeface="Calibri"/>
                <a:cs typeface="Calibri"/>
                <a:sym typeface="Calibri"/>
              </a:rPr>
              <a:t>console.log(a2); // </a:t>
            </a:r>
            <a:r>
              <a:rPr b="1" i="0" lang="en-US" sz="1700" u="none" cap="none" strike="noStrike">
                <a:solidFill>
                  <a:schemeClr val="dk1"/>
                </a:solidFill>
                <a:highlight>
                  <a:schemeClr val="lt1"/>
                </a:highlight>
                <a:latin typeface="Calibri"/>
                <a:ea typeface="Calibri"/>
                <a:cs typeface="Calibri"/>
                <a:sym typeface="Calibri"/>
              </a:rPr>
              <a:t>Output:</a:t>
            </a:r>
            <a:r>
              <a:rPr b="0" i="0" lang="en-US" sz="1700" u="none" cap="none" strike="noStrike">
                <a:solidFill>
                  <a:schemeClr val="dk1"/>
                </a:solidFill>
                <a:highlight>
                  <a:schemeClr val="lt1"/>
                </a:highlight>
                <a:latin typeface="Calibri"/>
                <a:ea typeface="Calibri"/>
                <a:cs typeface="Calibri"/>
                <a:sym typeface="Calibri"/>
              </a:rPr>
              <a:t>[1, 2, 3, 4]</a:t>
            </a:r>
            <a:endParaRPr b="0" i="0" sz="1700" u="none" cap="none" strike="noStrike">
              <a:solidFill>
                <a:schemeClr val="dk1"/>
              </a:solidFill>
              <a:highlight>
                <a:schemeClr val="lt1"/>
              </a:highlight>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000"/>
              <a:buFont typeface="Arial"/>
              <a:buNone/>
            </a:pPr>
            <a:r>
              <a:t/>
            </a:r>
            <a:endParaRPr b="1" i="0" sz="24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0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206" name="Google Shape;206;p12"/>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3"/>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splice</a:t>
            </a:r>
            <a:endParaRPr b="0" i="0" sz="1400" u="none" cap="none" strike="noStrike">
              <a:solidFill>
                <a:srgbClr val="000000"/>
              </a:solidFill>
              <a:latin typeface="Arial"/>
              <a:ea typeface="Arial"/>
              <a:cs typeface="Arial"/>
              <a:sym typeface="Arial"/>
            </a:endParaRPr>
          </a:p>
        </p:txBody>
      </p:sp>
      <p:cxnSp>
        <p:nvCxnSpPr>
          <p:cNvPr id="212" name="Google Shape;212;p1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13" name="Google Shape;213;p13"/>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214" name="Google Shape;214;p13"/>
          <p:cNvSpPr txBox="1"/>
          <p:nvPr/>
        </p:nvSpPr>
        <p:spPr>
          <a:xfrm>
            <a:off x="371875" y="1301950"/>
            <a:ext cx="11269200" cy="55266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400"/>
              <a:buFont typeface="Arial"/>
              <a:buNone/>
            </a:pPr>
            <a:r>
              <a:t/>
            </a:r>
            <a:endParaRPr b="0" i="0" sz="21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The splice method changes an array in place by removing, inserting, or replacing elements. Its general signature is:</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rPr b="0" i="0" lang="en-US" sz="2000" u="none" cap="none" strike="noStrike">
                <a:solidFill>
                  <a:schemeClr val="dk1"/>
                </a:solidFill>
                <a:latin typeface="Calibri"/>
                <a:ea typeface="Calibri"/>
                <a:cs typeface="Calibri"/>
                <a:sym typeface="Calibri"/>
              </a:rPr>
              <a:t>splice(start, deleteCount, ...itemsToInsert)</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start: Zero-based index to begin changes; negative counts from end; beyond length appends insertions and removes nothing.</a:t>
            </a:r>
            <a:endParaRPr b="0" i="0" sz="2000" u="none" cap="none" strike="noStrike">
              <a:solidFill>
                <a:schemeClr val="dk1"/>
              </a:solidFill>
              <a:latin typeface="Calibri"/>
              <a:ea typeface="Calibri"/>
              <a:cs typeface="Calibri"/>
              <a:sym typeface="Calibri"/>
            </a:endParaRPr>
          </a:p>
          <a:p>
            <a:pPr indent="-355600" lvl="0" marL="457200" marR="0" rtl="0" algn="l">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deleteCount: Number of elements to remove from start; omit to remove to end; 0 or negative removes nothing.</a:t>
            </a:r>
            <a:endParaRPr b="0" i="0" sz="2000" u="none" cap="none" strike="noStrike">
              <a:solidFill>
                <a:schemeClr val="dk1"/>
              </a:solidFill>
              <a:latin typeface="Calibri"/>
              <a:ea typeface="Calibri"/>
              <a:cs typeface="Calibri"/>
              <a:sym typeface="Calibri"/>
            </a:endParaRPr>
          </a:p>
          <a:p>
            <a:pPr indent="-355600" lvl="0" marL="457200" marR="0" rtl="0" algn="l">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...itemsToInsert: Elements to insert at start in given order; none means only removal; with deleteCount&gt;0 it performs replacement.</a:t>
            </a:r>
            <a:endParaRPr b="0" i="0" sz="2000" u="none" cap="none" strike="noStrike">
              <a:solidFill>
                <a:schemeClr val="dk1"/>
              </a:solidFill>
              <a:latin typeface="Calibri"/>
              <a:ea typeface="Calibri"/>
              <a:cs typeface="Calibri"/>
              <a:sym typeface="Calibri"/>
            </a:endParaRPr>
          </a:p>
          <a:p>
            <a:pPr indent="-355600" lvl="0" marL="457200" marR="0" rtl="0" algn="l">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Return value: An array of removed elements (empty array if nothing was removed).</a:t>
            </a:r>
            <a:endParaRPr b="0" i="0" sz="2000" u="none" cap="none" strike="noStrike">
              <a:solidFill>
                <a:schemeClr val="dk1"/>
              </a:solidFill>
              <a:latin typeface="Calibri"/>
              <a:ea typeface="Calibri"/>
              <a:cs typeface="Calibri"/>
              <a:sym typeface="Calibri"/>
            </a:endParaRPr>
          </a:p>
          <a:p>
            <a:pPr indent="-355600" lvl="0" marL="457200" marR="0" rtl="0" algn="l">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Mutation: Modifies the original array (length and indices can change).</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t/>
            </a:r>
            <a:endParaRPr b="0" i="0" sz="21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chemeClr val="dk1"/>
              </a:buClr>
              <a:buSzPts val="2400"/>
              <a:buFont typeface="Arial"/>
              <a:buNone/>
            </a:pPr>
            <a:r>
              <a:t/>
            </a:r>
            <a:endParaRPr b="0" i="0" sz="2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215" name="Google Shape;215;p13"/>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4"/>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Merging and Reversing Arrays</a:t>
            </a:r>
            <a:endParaRPr b="0" i="0" sz="1400" u="none" cap="none" strike="noStrike">
              <a:solidFill>
                <a:srgbClr val="000000"/>
              </a:solidFill>
              <a:latin typeface="Arial"/>
              <a:ea typeface="Arial"/>
              <a:cs typeface="Arial"/>
              <a:sym typeface="Arial"/>
            </a:endParaRPr>
          </a:p>
        </p:txBody>
      </p:sp>
      <p:cxnSp>
        <p:nvCxnSpPr>
          <p:cNvPr id="221" name="Google Shape;221;p1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22" name="Google Shape;222;p14"/>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223" name="Google Shape;223;p14"/>
          <p:cNvSpPr txBox="1"/>
          <p:nvPr/>
        </p:nvSpPr>
        <p:spPr>
          <a:xfrm>
            <a:off x="371880" y="1519325"/>
            <a:ext cx="9945900" cy="55266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400"/>
              <a:buFont typeface="Arial"/>
              <a:buNone/>
            </a:pPr>
            <a:r>
              <a:rPr b="0" i="0" lang="en-US" sz="2100" u="none" cap="none" strike="noStrike">
                <a:solidFill>
                  <a:schemeClr val="dk1"/>
                </a:solidFill>
                <a:latin typeface="Calibri"/>
                <a:ea typeface="Calibri"/>
                <a:cs typeface="Calibri"/>
                <a:sym typeface="Calibri"/>
              </a:rPr>
              <a:t>7) </a:t>
            </a:r>
            <a:r>
              <a:rPr b="1" i="0" lang="en-US" sz="2100" u="none" cap="none" strike="noStrike">
                <a:solidFill>
                  <a:schemeClr val="dk1"/>
                </a:solidFill>
                <a:latin typeface="Calibri"/>
                <a:ea typeface="Calibri"/>
                <a:cs typeface="Calibri"/>
                <a:sym typeface="Calibri"/>
              </a:rPr>
              <a:t>Merging (Concatenating) Arrays</a:t>
            </a:r>
            <a:endParaRPr b="0" i="0" sz="21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rPr b="0" i="0" lang="en-US" sz="2100" u="none" cap="none" strike="noStrike">
                <a:solidFill>
                  <a:schemeClr val="dk1"/>
                </a:solidFill>
                <a:latin typeface="Calibri"/>
                <a:ea typeface="Calibri"/>
                <a:cs typeface="Calibri"/>
                <a:sym typeface="Calibri"/>
              </a:rPr>
              <a:t>The concat() method creates a new array by merging (concatenating) existing arrays</a:t>
            </a:r>
            <a:endParaRPr b="0" i="0" sz="21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rPr b="1" i="0" lang="en-US" sz="2100" u="none" cap="none" strike="noStrike">
                <a:solidFill>
                  <a:schemeClr val="dk1"/>
                </a:solidFill>
                <a:latin typeface="Calibri"/>
                <a:ea typeface="Calibri"/>
                <a:cs typeface="Calibri"/>
                <a:sym typeface="Calibri"/>
              </a:rPr>
              <a:t>Example:</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rPr b="0" i="0" lang="en-US" sz="2000" u="none" cap="none" strike="noStrike">
                <a:solidFill>
                  <a:schemeClr val="dk1"/>
                </a:solidFill>
                <a:highlight>
                  <a:schemeClr val="lt1"/>
                </a:highlight>
                <a:latin typeface="Calibri"/>
                <a:ea typeface="Calibri"/>
                <a:cs typeface="Calibri"/>
                <a:sym typeface="Calibri"/>
              </a:rPr>
              <a:t>const a = [1, 2], b = [3, 4];</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rPr b="0" i="0" lang="en-US" sz="2000" u="none" cap="none" strike="noStrike">
                <a:solidFill>
                  <a:schemeClr val="dk1"/>
                </a:solidFill>
                <a:highlight>
                  <a:schemeClr val="lt1"/>
                </a:highlight>
                <a:latin typeface="Calibri"/>
                <a:ea typeface="Calibri"/>
                <a:cs typeface="Calibri"/>
                <a:sym typeface="Calibri"/>
              </a:rPr>
              <a:t>const merged1 = a.concat(b);</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rPr b="0" i="0" lang="en-US" sz="2000" u="none" cap="none" strike="noStrike">
                <a:solidFill>
                  <a:schemeClr val="dk1"/>
                </a:solidFill>
                <a:highlight>
                  <a:schemeClr val="lt1"/>
                </a:highlight>
                <a:latin typeface="Calibri"/>
                <a:ea typeface="Calibri"/>
                <a:cs typeface="Calibri"/>
                <a:sym typeface="Calibri"/>
              </a:rPr>
              <a:t>console.log(merged1);     // </a:t>
            </a:r>
            <a:r>
              <a:rPr b="1" i="0" lang="en-US" sz="2000" u="none" cap="none" strike="noStrike">
                <a:solidFill>
                  <a:schemeClr val="dk1"/>
                </a:solidFill>
                <a:highlight>
                  <a:schemeClr val="lt1"/>
                </a:highlight>
                <a:latin typeface="Calibri"/>
                <a:ea typeface="Calibri"/>
                <a:cs typeface="Calibri"/>
                <a:sym typeface="Calibri"/>
              </a:rPr>
              <a:t>Output: </a:t>
            </a:r>
            <a:r>
              <a:rPr b="0" i="0" lang="en-US" sz="2000" u="none" cap="none" strike="noStrike">
                <a:solidFill>
                  <a:schemeClr val="dk1"/>
                </a:solidFill>
                <a:highlight>
                  <a:schemeClr val="lt1"/>
                </a:highlight>
                <a:latin typeface="Calibri"/>
                <a:ea typeface="Calibri"/>
                <a:cs typeface="Calibri"/>
                <a:sym typeface="Calibri"/>
              </a:rPr>
              <a:t>[1, 2, 3, 4]</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0" i="0" sz="2000" u="none" cap="none" strike="noStrike">
              <a:solidFill>
                <a:schemeClr val="dk1"/>
              </a:solidFill>
              <a:highlight>
                <a:schemeClr val="lt1"/>
              </a:highlight>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rPr b="0" i="0" lang="en-US" sz="2100" u="none" cap="none" strike="noStrike">
                <a:solidFill>
                  <a:schemeClr val="dk1"/>
                </a:solidFill>
                <a:latin typeface="Calibri"/>
                <a:ea typeface="Calibri"/>
                <a:cs typeface="Calibri"/>
                <a:sym typeface="Calibri"/>
              </a:rPr>
              <a:t>8) The </a:t>
            </a:r>
            <a:r>
              <a:rPr b="1" i="0" lang="en-US" sz="2100" u="none" cap="none" strike="noStrike">
                <a:solidFill>
                  <a:schemeClr val="dk1"/>
                </a:solidFill>
                <a:latin typeface="Calibri"/>
                <a:ea typeface="Calibri"/>
                <a:cs typeface="Calibri"/>
                <a:sym typeface="Calibri"/>
              </a:rPr>
              <a:t>reverse() </a:t>
            </a:r>
            <a:r>
              <a:rPr b="0" i="0" lang="en-US" sz="2100" u="none" cap="none" strike="noStrike">
                <a:solidFill>
                  <a:schemeClr val="dk1"/>
                </a:solidFill>
                <a:latin typeface="Calibri"/>
                <a:ea typeface="Calibri"/>
                <a:cs typeface="Calibri"/>
                <a:sym typeface="Calibri"/>
              </a:rPr>
              <a:t>method reverses the elements in an array.</a:t>
            </a:r>
            <a:endParaRPr b="0" i="0" sz="21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rPr b="1" i="0" lang="en-US" sz="2100" u="none" cap="none" strike="noStrike">
                <a:solidFill>
                  <a:schemeClr val="dk1"/>
                </a:solidFill>
                <a:latin typeface="Calibri"/>
                <a:ea typeface="Calibri"/>
                <a:cs typeface="Calibri"/>
                <a:sym typeface="Calibri"/>
              </a:rPr>
              <a:t>Example:</a:t>
            </a:r>
            <a:endParaRPr b="1" i="0" sz="21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latin typeface="Calibri"/>
                <a:ea typeface="Calibri"/>
                <a:cs typeface="Calibri"/>
                <a:sym typeface="Calibri"/>
              </a:rPr>
              <a:t>const arr = [1, 2, 3];</a:t>
            </a:r>
            <a:endParaRPr b="0" i="0" sz="21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latin typeface="Calibri"/>
                <a:ea typeface="Calibri"/>
                <a:cs typeface="Calibri"/>
                <a:sym typeface="Calibri"/>
              </a:rPr>
              <a:t>arr.reverse();              </a:t>
            </a:r>
            <a:endParaRPr b="0" i="0" sz="21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latin typeface="Calibri"/>
                <a:ea typeface="Calibri"/>
                <a:cs typeface="Calibri"/>
                <a:sym typeface="Calibri"/>
              </a:rPr>
              <a:t>console.log(arr);        //</a:t>
            </a:r>
            <a:r>
              <a:rPr b="1" i="0" lang="en-US" sz="2100" u="none" cap="none" strike="noStrike">
                <a:solidFill>
                  <a:schemeClr val="dk1"/>
                </a:solidFill>
                <a:latin typeface="Calibri"/>
                <a:ea typeface="Calibri"/>
                <a:cs typeface="Calibri"/>
                <a:sym typeface="Calibri"/>
              </a:rPr>
              <a:t> Output:</a:t>
            </a:r>
            <a:r>
              <a:rPr b="0" i="0" lang="en-US" sz="2100" u="none" cap="none" strike="noStrike">
                <a:solidFill>
                  <a:schemeClr val="dk1"/>
                </a:solidFill>
                <a:latin typeface="Calibri"/>
                <a:ea typeface="Calibri"/>
                <a:cs typeface="Calibri"/>
                <a:sym typeface="Calibri"/>
              </a:rPr>
              <a:t> [3, 2, 1] (mutates)</a:t>
            </a:r>
            <a:endParaRPr b="0" i="0" sz="2100" u="none" cap="none" strike="noStrike">
              <a:solidFill>
                <a:schemeClr val="dk1"/>
              </a:solidFill>
              <a:latin typeface="Calibri"/>
              <a:ea typeface="Calibri"/>
              <a:cs typeface="Calibri"/>
              <a:sym typeface="Calibri"/>
            </a:endParaRPr>
          </a:p>
        </p:txBody>
      </p:sp>
      <p:pic>
        <p:nvPicPr>
          <p:cNvPr id="224" name="Google Shape;224;p14"/>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Sort Method</a:t>
            </a:r>
            <a:endParaRPr b="0" i="0" sz="1400" u="none" cap="none" strike="noStrike">
              <a:solidFill>
                <a:srgbClr val="000000"/>
              </a:solidFill>
              <a:latin typeface="Arial"/>
              <a:ea typeface="Arial"/>
              <a:cs typeface="Arial"/>
              <a:sym typeface="Arial"/>
            </a:endParaRPr>
          </a:p>
        </p:txBody>
      </p:sp>
      <p:cxnSp>
        <p:nvCxnSpPr>
          <p:cNvPr id="230" name="Google Shape;230;p1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31" name="Google Shape;231;p15"/>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232" name="Google Shape;232;p15"/>
          <p:cNvSpPr txBox="1"/>
          <p:nvPr/>
        </p:nvSpPr>
        <p:spPr>
          <a:xfrm>
            <a:off x="393099" y="1409550"/>
            <a:ext cx="10540800" cy="55266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1000"/>
              </a:spcBef>
              <a:spcAft>
                <a:spcPts val="0"/>
              </a:spcAft>
              <a:buClr>
                <a:schemeClr val="dk1"/>
              </a:buClr>
              <a:buSzPts val="2400"/>
              <a:buFont typeface="Arial"/>
              <a:buNone/>
            </a:pPr>
            <a:r>
              <a:rPr b="0" i="0" lang="en-US" sz="2200" u="none" cap="none" strike="noStrike">
                <a:solidFill>
                  <a:schemeClr val="dk1"/>
                </a:solidFill>
                <a:latin typeface="Calibri"/>
                <a:ea typeface="Calibri"/>
                <a:cs typeface="Calibri"/>
                <a:sym typeface="Calibri"/>
              </a:rPr>
              <a:t>8)</a:t>
            </a:r>
            <a:r>
              <a:rPr b="1" i="0" lang="en-US" sz="2200" u="none" cap="none" strike="noStrike">
                <a:solidFill>
                  <a:schemeClr val="dk1"/>
                </a:solidFill>
                <a:latin typeface="Calibri"/>
                <a:ea typeface="Calibri"/>
                <a:cs typeface="Calibri"/>
                <a:sym typeface="Calibri"/>
              </a:rPr>
              <a:t> Sorting an Array:</a:t>
            </a:r>
            <a:endParaRPr b="0" i="0" sz="2200" u="none" cap="none" strike="noStrike">
              <a:solidFill>
                <a:srgbClr val="000000"/>
              </a:solidFill>
              <a:latin typeface="Calibri"/>
              <a:ea typeface="Calibri"/>
              <a:cs typeface="Calibri"/>
              <a:sym typeface="Calibri"/>
            </a:endParaRPr>
          </a:p>
          <a:p>
            <a:pPr indent="0" lvl="0" marL="0" marR="0" rtl="0" algn="just">
              <a:lnSpc>
                <a:spcPct val="90000"/>
              </a:lnSpc>
              <a:spcBef>
                <a:spcPts val="1000"/>
              </a:spcBef>
              <a:spcAft>
                <a:spcPts val="0"/>
              </a:spcAft>
              <a:buClr>
                <a:schemeClr val="dk1"/>
              </a:buClr>
              <a:buSzPts val="2400"/>
              <a:buFont typeface="Arial"/>
              <a:buNone/>
            </a:pPr>
            <a:r>
              <a:rPr b="0" i="0" lang="en-US" sz="2200" u="none" cap="none" strike="noStrike">
                <a:solidFill>
                  <a:schemeClr val="dk1"/>
                </a:solidFill>
                <a:latin typeface="Calibri"/>
                <a:ea typeface="Calibri"/>
                <a:cs typeface="Calibri"/>
                <a:sym typeface="Calibri"/>
              </a:rPr>
              <a:t>The sort() method sorts an array alphabetically.</a:t>
            </a:r>
            <a:endParaRPr b="0" i="0" sz="2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rPr b="1" i="0" lang="en-US" sz="2200" u="none" cap="none" strike="noStrike">
                <a:solidFill>
                  <a:schemeClr val="dk1"/>
                </a:solidFill>
                <a:latin typeface="Calibri"/>
                <a:ea typeface="Calibri"/>
                <a:cs typeface="Calibri"/>
                <a:sym typeface="Calibri"/>
              </a:rPr>
              <a:t>Example:</a:t>
            </a:r>
            <a:endParaRPr b="1" i="0" sz="2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const nums = [10, 2, 1];</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nums.sort();                </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console.log(nums)  //</a:t>
            </a:r>
            <a:r>
              <a:rPr b="1" i="0" lang="en-US" sz="2000" u="none" cap="none" strike="noStrike">
                <a:solidFill>
                  <a:schemeClr val="dk1"/>
                </a:solidFill>
                <a:latin typeface="Calibri"/>
                <a:ea typeface="Calibri"/>
                <a:cs typeface="Calibri"/>
                <a:sym typeface="Calibri"/>
              </a:rPr>
              <a:t>Output:</a:t>
            </a:r>
            <a:r>
              <a:rPr b="0" i="0" lang="en-US" sz="2000" u="none" cap="none" strike="noStrike">
                <a:solidFill>
                  <a:schemeClr val="dk1"/>
                </a:solidFill>
                <a:latin typeface="Calibri"/>
                <a:ea typeface="Calibri"/>
                <a:cs typeface="Calibri"/>
                <a:sym typeface="Calibri"/>
              </a:rPr>
              <a:t> ['1','10','2'] → as numbers: [1, 10, 2] (mutates)</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const words = ['banana', 'Apple', 'cherry'];</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words.sort();                </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console.log(words) //</a:t>
            </a:r>
            <a:r>
              <a:rPr b="1" i="0" lang="en-US" sz="2000" u="none" cap="none" strike="noStrike">
                <a:solidFill>
                  <a:schemeClr val="dk1"/>
                </a:solidFill>
                <a:latin typeface="Calibri"/>
                <a:ea typeface="Calibri"/>
                <a:cs typeface="Calibri"/>
                <a:sym typeface="Calibri"/>
              </a:rPr>
              <a:t>Output:</a:t>
            </a:r>
            <a:r>
              <a:rPr b="0" i="0" lang="en-US" sz="2000" u="none" cap="none" strike="noStrike">
                <a:solidFill>
                  <a:schemeClr val="dk1"/>
                </a:solidFill>
                <a:latin typeface="Calibri"/>
                <a:ea typeface="Calibri"/>
                <a:cs typeface="Calibri"/>
                <a:sym typeface="Calibri"/>
              </a:rPr>
              <a:t> ['Apple', 'banana', 'cherry'] (mutates)</a:t>
            </a:r>
            <a:endParaRPr b="0" i="0" sz="2400" u="none" cap="none" strike="noStrike">
              <a:solidFill>
                <a:schemeClr val="dk1"/>
              </a:solidFill>
              <a:latin typeface="Calibri"/>
              <a:ea typeface="Calibri"/>
              <a:cs typeface="Calibri"/>
              <a:sym typeface="Calibri"/>
            </a:endParaRPr>
          </a:p>
        </p:txBody>
      </p:sp>
      <p:pic>
        <p:nvPicPr>
          <p:cNvPr id="233" name="Google Shape;233;p15"/>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6"/>
          <p:cNvSpPr txBox="1"/>
          <p:nvPr>
            <p:ph idx="1" type="body"/>
          </p:nvPr>
        </p:nvSpPr>
        <p:spPr>
          <a:xfrm>
            <a:off x="581192" y="1487114"/>
            <a:ext cx="11389135" cy="5138973"/>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Font typeface="Calibri"/>
              <a:buChar char="-"/>
            </a:pPr>
            <a:r>
              <a:rPr i="1" lang="en-US" sz="2400"/>
              <a:t>arr</a:t>
            </a:r>
            <a:r>
              <a:rPr lang="en-US" sz="2400"/>
              <a:t>.sort(</a:t>
            </a:r>
            <a:r>
              <a:rPr i="1" lang="en-US" sz="2400"/>
              <a:t>[compareFunction]</a:t>
            </a:r>
            <a:r>
              <a:rPr lang="en-US" sz="2400"/>
              <a:t>)</a:t>
            </a:r>
            <a:endParaRPr/>
          </a:p>
          <a:p>
            <a:pPr indent="-228600" lvl="0" marL="228600" rtl="0" algn="l">
              <a:lnSpc>
                <a:spcPct val="100000"/>
              </a:lnSpc>
              <a:spcBef>
                <a:spcPts val="0"/>
              </a:spcBef>
              <a:spcAft>
                <a:spcPts val="0"/>
              </a:spcAft>
              <a:buClr>
                <a:schemeClr val="dk1"/>
              </a:buClr>
              <a:buSzPts val="2400"/>
              <a:buFont typeface="Calibri"/>
              <a:buChar char="-"/>
            </a:pPr>
            <a:r>
              <a:rPr lang="en-US" sz="2400"/>
              <a:t>If compareFunction is not specified, array is sorted as strings in ascending order</a:t>
            </a:r>
            <a:endParaRPr/>
          </a:p>
          <a:p>
            <a:pPr indent="0" lvl="0" marL="0" rtl="0" algn="l">
              <a:lnSpc>
                <a:spcPct val="100000"/>
              </a:lnSpc>
              <a:spcBef>
                <a:spcPts val="0"/>
              </a:spcBef>
              <a:spcAft>
                <a:spcPts val="0"/>
              </a:spcAft>
              <a:buSzPts val="1800"/>
              <a:buNone/>
            </a:pPr>
            <a:r>
              <a:rPr b="1" lang="en-US" sz="2400"/>
              <a:t>Example:</a:t>
            </a:r>
            <a:endParaRPr b="1" sz="2400"/>
          </a:p>
          <a:p>
            <a:pPr indent="0" lvl="0" marL="0" rtl="0" algn="l">
              <a:lnSpc>
                <a:spcPct val="100000"/>
              </a:lnSpc>
              <a:spcBef>
                <a:spcPts val="0"/>
              </a:spcBef>
              <a:spcAft>
                <a:spcPts val="0"/>
              </a:spcAft>
              <a:buSzPts val="1800"/>
              <a:buNone/>
            </a:pPr>
            <a:r>
              <a:rPr lang="en-US" sz="2400"/>
              <a:t>const nums = [10, 2, 1, 20];</a:t>
            </a:r>
            <a:endParaRPr sz="2400"/>
          </a:p>
          <a:p>
            <a:pPr indent="0" lvl="0" marL="0" rtl="0" algn="l">
              <a:lnSpc>
                <a:spcPct val="100000"/>
              </a:lnSpc>
              <a:spcBef>
                <a:spcPts val="0"/>
              </a:spcBef>
              <a:spcAft>
                <a:spcPts val="0"/>
              </a:spcAft>
              <a:buClr>
                <a:schemeClr val="dk1"/>
              </a:buClr>
              <a:buSzPts val="1100"/>
              <a:buFont typeface="Arial"/>
              <a:buNone/>
            </a:pPr>
            <a:r>
              <a:rPr lang="en-US" sz="2400"/>
              <a:t>//Arrow function used</a:t>
            </a:r>
            <a:endParaRPr sz="2400"/>
          </a:p>
          <a:p>
            <a:pPr indent="0" lvl="0" marL="0" rtl="0" algn="l">
              <a:lnSpc>
                <a:spcPct val="100000"/>
              </a:lnSpc>
              <a:spcBef>
                <a:spcPts val="0"/>
              </a:spcBef>
              <a:spcAft>
                <a:spcPts val="0"/>
              </a:spcAft>
              <a:buClr>
                <a:schemeClr val="dk1"/>
              </a:buClr>
              <a:buSzPts val="1100"/>
              <a:buFont typeface="Arial"/>
              <a:buNone/>
            </a:pPr>
            <a:r>
              <a:rPr lang="en-US" sz="2400"/>
              <a:t>nums.sort((a, b) =&gt; a - b);  // nums contains: ascending order: [1, 2, 10, 20]</a:t>
            </a:r>
            <a:endParaRPr sz="2400"/>
          </a:p>
          <a:p>
            <a:pPr indent="0" lvl="0" marL="0" rtl="0" algn="l">
              <a:lnSpc>
                <a:spcPct val="100000"/>
              </a:lnSpc>
              <a:spcBef>
                <a:spcPts val="0"/>
              </a:spcBef>
              <a:spcAft>
                <a:spcPts val="0"/>
              </a:spcAft>
              <a:buClr>
                <a:schemeClr val="dk1"/>
              </a:buClr>
              <a:buSzPts val="1100"/>
              <a:buFont typeface="Arial"/>
              <a:buNone/>
            </a:pPr>
            <a:r>
              <a:rPr lang="en-US" sz="2400"/>
              <a:t>nums.sort((a, b) =&gt; b - a);  // nums contains: descending order: [20, 10, 2, 1]</a:t>
            </a:r>
            <a:endParaRPr sz="2400"/>
          </a:p>
          <a:p>
            <a:pPr indent="0" lvl="0" marL="0" rtl="0" algn="l">
              <a:lnSpc>
                <a:spcPct val="100000"/>
              </a:lnSpc>
              <a:spcBef>
                <a:spcPts val="0"/>
              </a:spcBef>
              <a:spcAft>
                <a:spcPts val="0"/>
              </a:spcAft>
              <a:buSzPts val="1800"/>
              <a:buNone/>
            </a:pPr>
            <a:r>
              <a:t/>
            </a:r>
            <a:endParaRPr sz="2400"/>
          </a:p>
          <a:p>
            <a:pPr indent="-228600" lvl="0" marL="228600" rtl="0" algn="l">
              <a:lnSpc>
                <a:spcPct val="100000"/>
              </a:lnSpc>
              <a:spcBef>
                <a:spcPts val="0"/>
              </a:spcBef>
              <a:spcAft>
                <a:spcPts val="0"/>
              </a:spcAft>
              <a:buClr>
                <a:schemeClr val="dk1"/>
              </a:buClr>
              <a:buSzPts val="2400"/>
              <a:buFont typeface="Calibri"/>
              <a:buChar char="-"/>
            </a:pPr>
            <a:r>
              <a:rPr lang="en-US" sz="2400"/>
              <a:t>compareFunction takes two parameters say a and b and returns</a:t>
            </a:r>
            <a:endParaRPr/>
          </a:p>
          <a:p>
            <a:pPr indent="-228600" lvl="1" marL="685800" rtl="0" algn="l">
              <a:lnSpc>
                <a:spcPct val="100000"/>
              </a:lnSpc>
              <a:spcBef>
                <a:spcPts val="0"/>
              </a:spcBef>
              <a:spcAft>
                <a:spcPts val="0"/>
              </a:spcAft>
              <a:buClr>
                <a:schemeClr val="dk1"/>
              </a:buClr>
              <a:buSzPts val="2400"/>
              <a:buFont typeface="Calibri"/>
              <a:buChar char="-"/>
            </a:pPr>
            <a:r>
              <a:rPr lang="en-US"/>
              <a:t>1 if a &gt; b</a:t>
            </a:r>
            <a:endParaRPr/>
          </a:p>
          <a:p>
            <a:pPr indent="-228600" lvl="1" marL="685800" rtl="0" algn="l">
              <a:lnSpc>
                <a:spcPct val="100000"/>
              </a:lnSpc>
              <a:spcBef>
                <a:spcPts val="0"/>
              </a:spcBef>
              <a:spcAft>
                <a:spcPts val="0"/>
              </a:spcAft>
              <a:buClr>
                <a:schemeClr val="dk1"/>
              </a:buClr>
              <a:buSzPts val="2400"/>
              <a:buFont typeface="Calibri"/>
              <a:buChar char="-"/>
            </a:pPr>
            <a:r>
              <a:rPr lang="en-US"/>
              <a:t>0 if a = b</a:t>
            </a:r>
            <a:endParaRPr/>
          </a:p>
          <a:p>
            <a:pPr indent="-228600" lvl="1" marL="685800" rtl="0" algn="l">
              <a:lnSpc>
                <a:spcPct val="100000"/>
              </a:lnSpc>
              <a:spcBef>
                <a:spcPts val="0"/>
              </a:spcBef>
              <a:spcAft>
                <a:spcPts val="0"/>
              </a:spcAft>
              <a:buClr>
                <a:schemeClr val="dk1"/>
              </a:buClr>
              <a:buSzPts val="2400"/>
              <a:buFont typeface="Calibri"/>
              <a:buChar char="-"/>
            </a:pPr>
            <a:r>
              <a:rPr lang="en-US"/>
              <a:t>-1 if a &lt; b</a:t>
            </a:r>
            <a:endParaRPr/>
          </a:p>
          <a:p>
            <a:pPr indent="-228600" lvl="0" marL="228600" rtl="0" algn="l">
              <a:lnSpc>
                <a:spcPct val="100000"/>
              </a:lnSpc>
              <a:spcBef>
                <a:spcPts val="0"/>
              </a:spcBef>
              <a:spcAft>
                <a:spcPts val="0"/>
              </a:spcAft>
              <a:buClr>
                <a:schemeClr val="dk1"/>
              </a:buClr>
              <a:buSzPts val="2400"/>
              <a:buFont typeface="Calibri"/>
              <a:buChar char="-"/>
            </a:pPr>
            <a:r>
              <a:rPr lang="en-US" sz="2400"/>
              <a:t>To reverse the order modify the condition for returning 1, 0 and -1</a:t>
            </a:r>
            <a:endParaRPr/>
          </a:p>
        </p:txBody>
      </p:sp>
      <p:sp>
        <p:nvSpPr>
          <p:cNvPr id="240" name="Google Shape;240;p16"/>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 Sort</a:t>
            </a:r>
            <a:endParaRPr b="0" i="0" sz="1400" u="none" cap="none" strike="noStrike">
              <a:solidFill>
                <a:srgbClr val="000000"/>
              </a:solidFill>
              <a:latin typeface="Arial"/>
              <a:ea typeface="Arial"/>
              <a:cs typeface="Arial"/>
              <a:sym typeface="Arial"/>
            </a:endParaRPr>
          </a:p>
        </p:txBody>
      </p:sp>
      <p:cxnSp>
        <p:nvCxnSpPr>
          <p:cNvPr id="241" name="Google Shape;241;p16"/>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42" name="Google Shape;242;p16"/>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243" name="Google Shape;243;p16"/>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idx="1" type="body"/>
          </p:nvPr>
        </p:nvSpPr>
        <p:spPr>
          <a:xfrm>
            <a:off x="581192" y="1487114"/>
            <a:ext cx="11389200" cy="51390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400"/>
              <a:buChar char="•"/>
            </a:pPr>
            <a:r>
              <a:rPr b="1" lang="en-US" sz="2400"/>
              <a:t>compareFunction(Optional):  </a:t>
            </a:r>
            <a:r>
              <a:rPr lang="en-US" sz="2400"/>
              <a:t>A function that defines an alternative sort order. The function should return a negative, zero, or positive value, depending on the arguments, like:</a:t>
            </a:r>
            <a:endParaRPr/>
          </a:p>
          <a:p>
            <a:pPr indent="0" lvl="1" marL="457200" rtl="0" algn="l">
              <a:lnSpc>
                <a:spcPct val="90000"/>
              </a:lnSpc>
              <a:spcBef>
                <a:spcPts val="500"/>
              </a:spcBef>
              <a:spcAft>
                <a:spcPts val="0"/>
              </a:spcAft>
              <a:buClr>
                <a:schemeClr val="dk1"/>
              </a:buClr>
              <a:buSzPts val="2400"/>
              <a:buFont typeface="Arial"/>
              <a:buNone/>
            </a:pPr>
            <a:r>
              <a:rPr b="1" lang="en-US"/>
              <a:t>function(a, b)</a:t>
            </a:r>
            <a:endParaRPr/>
          </a:p>
          <a:p>
            <a:pPr indent="0" lvl="1" marL="457200" rtl="0" algn="l">
              <a:lnSpc>
                <a:spcPct val="90000"/>
              </a:lnSpc>
              <a:spcBef>
                <a:spcPts val="500"/>
              </a:spcBef>
              <a:spcAft>
                <a:spcPts val="0"/>
              </a:spcAft>
              <a:buClr>
                <a:schemeClr val="dk1"/>
              </a:buClr>
              <a:buSzPts val="2400"/>
              <a:buFont typeface="Arial"/>
              <a:buNone/>
            </a:pPr>
            <a:r>
              <a:rPr b="1" lang="en-US"/>
              <a:t>{return a-b}</a:t>
            </a:r>
            <a:endParaRPr/>
          </a:p>
          <a:p>
            <a:pPr indent="-228600" lvl="0" marL="228600" rtl="0" algn="l">
              <a:lnSpc>
                <a:spcPct val="90000"/>
              </a:lnSpc>
              <a:spcBef>
                <a:spcPts val="1000"/>
              </a:spcBef>
              <a:spcAft>
                <a:spcPts val="0"/>
              </a:spcAft>
              <a:buSzPts val="2400"/>
              <a:buChar char="•"/>
            </a:pPr>
            <a:r>
              <a:rPr lang="en-US" sz="2400"/>
              <a:t>When the sort() method compares two values, it sends the values to the compare function, and sorts the values according to the returned (negative, zero, positive) value.</a:t>
            </a:r>
            <a:endParaRPr/>
          </a:p>
          <a:p>
            <a:pPr indent="-228600" lvl="0" marL="228600" rtl="0" algn="l">
              <a:lnSpc>
                <a:spcPct val="90000"/>
              </a:lnSpc>
              <a:spcBef>
                <a:spcPts val="1000"/>
              </a:spcBef>
              <a:spcAft>
                <a:spcPts val="0"/>
              </a:spcAft>
              <a:buSzPts val="2400"/>
              <a:buChar char="•"/>
            </a:pPr>
            <a:r>
              <a:rPr lang="en-US" sz="2400"/>
              <a:t>Example:</a:t>
            </a:r>
            <a:endParaRPr/>
          </a:p>
          <a:p>
            <a:pPr indent="-228600" lvl="0" marL="228600" rtl="0" algn="l">
              <a:lnSpc>
                <a:spcPct val="90000"/>
              </a:lnSpc>
              <a:spcBef>
                <a:spcPts val="1000"/>
              </a:spcBef>
              <a:spcAft>
                <a:spcPts val="0"/>
              </a:spcAft>
              <a:buSzPts val="2400"/>
              <a:buChar char="•"/>
            </a:pPr>
            <a:r>
              <a:rPr lang="en-US" sz="2400"/>
              <a:t>When comparing 40 and 100, the sort() method calls the compare function(40,100).</a:t>
            </a:r>
            <a:endParaRPr/>
          </a:p>
          <a:p>
            <a:pPr indent="-228600" lvl="0" marL="228600" rtl="0" algn="l">
              <a:lnSpc>
                <a:spcPct val="90000"/>
              </a:lnSpc>
              <a:spcBef>
                <a:spcPts val="1000"/>
              </a:spcBef>
              <a:spcAft>
                <a:spcPts val="0"/>
              </a:spcAft>
              <a:buSzPts val="2400"/>
              <a:buChar char="•"/>
            </a:pPr>
            <a:r>
              <a:rPr lang="en-US" sz="2400"/>
              <a:t>The function calculates 40-100, and returns -60 (a negative value).</a:t>
            </a:r>
            <a:endParaRPr/>
          </a:p>
          <a:p>
            <a:pPr indent="-228600" lvl="0" marL="228600" rtl="0" algn="l">
              <a:lnSpc>
                <a:spcPct val="90000"/>
              </a:lnSpc>
              <a:spcBef>
                <a:spcPts val="1000"/>
              </a:spcBef>
              <a:spcAft>
                <a:spcPts val="0"/>
              </a:spcAft>
              <a:buSzPts val="2400"/>
              <a:buChar char="•"/>
            </a:pPr>
            <a:r>
              <a:rPr lang="en-US" sz="2400"/>
              <a:t>The sort function will sort 40 as a value lower than 100.</a:t>
            </a:r>
            <a:endParaRPr sz="2400"/>
          </a:p>
        </p:txBody>
      </p:sp>
      <p:sp>
        <p:nvSpPr>
          <p:cNvPr id="250" name="Google Shape;250;p17"/>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 Sort compare function</a:t>
            </a:r>
            <a:endParaRPr b="0" i="0" sz="1400" u="none" cap="none" strike="noStrike">
              <a:solidFill>
                <a:srgbClr val="000000"/>
              </a:solidFill>
              <a:latin typeface="Arial"/>
              <a:ea typeface="Arial"/>
              <a:cs typeface="Arial"/>
              <a:sym typeface="Arial"/>
            </a:endParaRPr>
          </a:p>
        </p:txBody>
      </p:sp>
      <p:cxnSp>
        <p:nvCxnSpPr>
          <p:cNvPr id="251" name="Google Shape;251;p17"/>
          <p:cNvCxnSpPr/>
          <p:nvPr/>
        </p:nvCxnSpPr>
        <p:spPr>
          <a:xfrm>
            <a:off x="-8308" y="1316458"/>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252" name="Google Shape;252;p17"/>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253" name="Google Shape;253;p17"/>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8"/>
          <p:cNvSpPr txBox="1"/>
          <p:nvPr>
            <p:ph idx="1" type="body"/>
          </p:nvPr>
        </p:nvSpPr>
        <p:spPr>
          <a:xfrm>
            <a:off x="179225" y="710075"/>
            <a:ext cx="11418000" cy="6067800"/>
          </a:xfrm>
          <a:prstGeom prst="rect">
            <a:avLst/>
          </a:prstGeom>
          <a:noFill/>
          <a:ln>
            <a:noFill/>
          </a:ln>
        </p:spPr>
        <p:txBody>
          <a:bodyPr anchorCtr="0" anchor="t" bIns="45700" lIns="91425" spcFirstLastPara="1" rIns="91425" wrap="square" tIns="45700">
            <a:noAutofit/>
          </a:bodyPr>
          <a:lstStyle/>
          <a:p>
            <a:pPr indent="-228600" lvl="1" marL="685800" rtl="0" algn="l">
              <a:lnSpc>
                <a:spcPct val="150000"/>
              </a:lnSpc>
              <a:spcBef>
                <a:spcPts val="0"/>
              </a:spcBef>
              <a:spcAft>
                <a:spcPts val="0"/>
              </a:spcAft>
              <a:buClr>
                <a:schemeClr val="dk1"/>
              </a:buClr>
              <a:buSzPts val="2400"/>
              <a:buNone/>
            </a:pPr>
            <a:r>
              <a:rPr lang="en-US"/>
              <a:t> </a:t>
            </a:r>
            <a:endParaRPr/>
          </a:p>
          <a:p>
            <a:pPr indent="-228600" lvl="1" marL="685800" rtl="0" algn="l">
              <a:lnSpc>
                <a:spcPct val="150000"/>
              </a:lnSpc>
              <a:spcBef>
                <a:spcPts val="500"/>
              </a:spcBef>
              <a:spcAft>
                <a:spcPts val="0"/>
              </a:spcAft>
              <a:buClr>
                <a:schemeClr val="dk1"/>
              </a:buClr>
              <a:buSzPts val="2400"/>
              <a:buNone/>
            </a:pPr>
            <a:r>
              <a:rPr lang="en-US"/>
              <a:t>• MAX_VALUE : </a:t>
            </a:r>
            <a:r>
              <a:rPr b="0" i="0" lang="en-US" sz="2000">
                <a:solidFill>
                  <a:srgbClr val="1B1B1B"/>
                </a:solidFill>
                <a:latin typeface="arial"/>
                <a:ea typeface="arial"/>
                <a:cs typeface="arial"/>
                <a:sym typeface="arial"/>
              </a:rPr>
              <a:t>represents the maximum numeric value representable in JavaScript.</a:t>
            </a:r>
            <a:endParaRPr sz="2000"/>
          </a:p>
          <a:p>
            <a:pPr indent="-228600" lvl="1" marL="685800" rtl="0" algn="l">
              <a:lnSpc>
                <a:spcPct val="150000"/>
              </a:lnSpc>
              <a:spcBef>
                <a:spcPts val="500"/>
              </a:spcBef>
              <a:spcAft>
                <a:spcPts val="0"/>
              </a:spcAft>
              <a:buClr>
                <a:schemeClr val="dk1"/>
              </a:buClr>
              <a:buSzPts val="2400"/>
              <a:buNone/>
            </a:pPr>
            <a:r>
              <a:rPr lang="en-US"/>
              <a:t>• MIN_VALUE: </a:t>
            </a:r>
            <a:r>
              <a:rPr lang="en-US" sz="2000">
                <a:solidFill>
                  <a:srgbClr val="1B1B1B"/>
                </a:solidFill>
                <a:latin typeface="arial"/>
                <a:ea typeface="arial"/>
                <a:cs typeface="arial"/>
                <a:sym typeface="arial"/>
              </a:rPr>
              <a:t>represents the maximum numeric value representable in JavaScript.</a:t>
            </a:r>
            <a:endParaRPr/>
          </a:p>
          <a:p>
            <a:pPr indent="-228600" lvl="1" marL="685800" rtl="0" algn="l">
              <a:lnSpc>
                <a:spcPct val="150000"/>
              </a:lnSpc>
              <a:spcBef>
                <a:spcPts val="500"/>
              </a:spcBef>
              <a:spcAft>
                <a:spcPts val="0"/>
              </a:spcAft>
              <a:buClr>
                <a:schemeClr val="dk1"/>
              </a:buClr>
              <a:buSzPts val="2400"/>
              <a:buNone/>
            </a:pPr>
            <a:r>
              <a:rPr lang="en-US"/>
              <a:t>• NaN – Not a Number</a:t>
            </a:r>
            <a:endParaRPr/>
          </a:p>
          <a:p>
            <a:pPr indent="-228600" lvl="1" marL="685800" rtl="0" algn="l">
              <a:lnSpc>
                <a:spcPct val="150000"/>
              </a:lnSpc>
              <a:spcBef>
                <a:spcPts val="500"/>
              </a:spcBef>
              <a:spcAft>
                <a:spcPts val="0"/>
              </a:spcAft>
              <a:buClr>
                <a:schemeClr val="dk1"/>
              </a:buClr>
              <a:buSzPts val="2400"/>
              <a:buNone/>
            </a:pPr>
            <a:r>
              <a:rPr lang="en-US"/>
              <a:t>• POSITIVE_INFINITY </a:t>
            </a:r>
            <a:endParaRPr/>
          </a:p>
          <a:p>
            <a:pPr indent="-228600" lvl="1" marL="685800" rtl="0" algn="l">
              <a:lnSpc>
                <a:spcPct val="150000"/>
              </a:lnSpc>
              <a:spcBef>
                <a:spcPts val="500"/>
              </a:spcBef>
              <a:spcAft>
                <a:spcPts val="0"/>
              </a:spcAft>
              <a:buClr>
                <a:schemeClr val="dk1"/>
              </a:buClr>
              <a:buSzPts val="2400"/>
              <a:buNone/>
            </a:pPr>
            <a:r>
              <a:rPr lang="en-US"/>
              <a:t>• NEGATIVE_INFINITY </a:t>
            </a:r>
            <a:endParaRPr/>
          </a:p>
          <a:p>
            <a:pPr indent="-228600" lvl="1" marL="685800" rtl="0" algn="l">
              <a:lnSpc>
                <a:spcPct val="150000"/>
              </a:lnSpc>
              <a:spcBef>
                <a:spcPts val="500"/>
              </a:spcBef>
              <a:spcAft>
                <a:spcPts val="0"/>
              </a:spcAft>
              <a:buClr>
                <a:schemeClr val="dk1"/>
              </a:buClr>
              <a:buSzPts val="2400"/>
              <a:buNone/>
            </a:pPr>
            <a:r>
              <a:rPr lang="en-US"/>
              <a:t>• Operations resulting in errors return NaN </a:t>
            </a:r>
            <a:endParaRPr/>
          </a:p>
          <a:p>
            <a:pPr indent="-228600" lvl="2" marL="1143000" rtl="0" algn="l">
              <a:lnSpc>
                <a:spcPct val="150000"/>
              </a:lnSpc>
              <a:spcBef>
                <a:spcPts val="500"/>
              </a:spcBef>
              <a:spcAft>
                <a:spcPts val="0"/>
              </a:spcAft>
              <a:buClr>
                <a:schemeClr val="dk1"/>
              </a:buClr>
              <a:buSzPts val="1800"/>
              <a:buNone/>
            </a:pPr>
            <a:r>
              <a:rPr lang="en-US" sz="1800"/>
              <a:t>• </a:t>
            </a:r>
            <a:r>
              <a:rPr lang="en-US"/>
              <a:t>Use isNaN(a) to test if a is NaN </a:t>
            </a:r>
            <a:endParaRPr sz="2200"/>
          </a:p>
          <a:p>
            <a:pPr indent="-228600" lvl="1" marL="685800" rtl="0" algn="l">
              <a:lnSpc>
                <a:spcPct val="150000"/>
              </a:lnSpc>
              <a:spcBef>
                <a:spcPts val="500"/>
              </a:spcBef>
              <a:spcAft>
                <a:spcPts val="0"/>
              </a:spcAft>
              <a:buClr>
                <a:schemeClr val="dk1"/>
              </a:buClr>
              <a:buSzPts val="2400"/>
              <a:buNone/>
            </a:pPr>
            <a:r>
              <a:rPr lang="en-US"/>
              <a:t>• toString method converts a number to string</a:t>
            </a:r>
            <a:endParaRPr sz="2800"/>
          </a:p>
        </p:txBody>
      </p:sp>
      <p:sp>
        <p:nvSpPr>
          <p:cNvPr id="260" name="Google Shape;260;p18"/>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Number</a:t>
            </a:r>
            <a:endParaRPr b="0" i="0" sz="1400" u="none" cap="none" strike="noStrike">
              <a:solidFill>
                <a:srgbClr val="000000"/>
              </a:solidFill>
              <a:latin typeface="Arial"/>
              <a:ea typeface="Arial"/>
              <a:cs typeface="Arial"/>
              <a:sym typeface="Arial"/>
            </a:endParaRPr>
          </a:p>
        </p:txBody>
      </p:sp>
      <p:cxnSp>
        <p:nvCxnSpPr>
          <p:cNvPr id="261" name="Google Shape;261;p18"/>
          <p:cNvCxnSpPr/>
          <p:nvPr/>
        </p:nvCxnSpPr>
        <p:spPr>
          <a:xfrm>
            <a:off x="-8308" y="1354407"/>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62" name="Google Shape;262;p18"/>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263" name="Google Shape;263;p18"/>
          <p:cNvPicPr preferRelativeResize="0"/>
          <p:nvPr/>
        </p:nvPicPr>
        <p:blipFill rotWithShape="1">
          <a:blip r:embed="rId3">
            <a:alphaModFix/>
          </a:blip>
          <a:srcRect b="0" l="0" r="0" t="0"/>
          <a:stretch/>
        </p:blipFill>
        <p:spPr>
          <a:xfrm>
            <a:off x="5070233" y="2595562"/>
            <a:ext cx="6381750" cy="1666875"/>
          </a:xfrm>
          <a:prstGeom prst="rect">
            <a:avLst/>
          </a:prstGeom>
          <a:noFill/>
          <a:ln>
            <a:noFill/>
          </a:ln>
        </p:spPr>
      </p:pic>
      <p:pic>
        <p:nvPicPr>
          <p:cNvPr id="264" name="Google Shape;264;p18"/>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9"/>
          <p:cNvSpPr/>
          <p:nvPr/>
        </p:nvSpPr>
        <p:spPr>
          <a:xfrm>
            <a:off x="334159" y="685537"/>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NaN- Not a Number</a:t>
            </a:r>
            <a:endParaRPr b="0" i="0" sz="1400" u="none" cap="none" strike="noStrike">
              <a:solidFill>
                <a:srgbClr val="000000"/>
              </a:solidFill>
              <a:latin typeface="Arial"/>
              <a:ea typeface="Arial"/>
              <a:cs typeface="Arial"/>
              <a:sym typeface="Arial"/>
            </a:endParaRPr>
          </a:p>
        </p:txBody>
      </p:sp>
      <p:cxnSp>
        <p:nvCxnSpPr>
          <p:cNvPr id="271" name="Google Shape;271;p19"/>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72" name="Google Shape;272;p19"/>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273" name="Google Shape;273;p19"/>
          <p:cNvPicPr preferRelativeResize="0"/>
          <p:nvPr>
            <p:ph idx="1" type="body"/>
          </p:nvPr>
        </p:nvPicPr>
        <p:blipFill rotWithShape="1">
          <a:blip r:embed="rId3">
            <a:alphaModFix/>
          </a:blip>
          <a:srcRect b="0" l="0" r="0" t="0"/>
          <a:stretch/>
        </p:blipFill>
        <p:spPr>
          <a:xfrm>
            <a:off x="1409408" y="1485715"/>
            <a:ext cx="5849259" cy="4945400"/>
          </a:xfrm>
          <a:prstGeom prst="rect">
            <a:avLst/>
          </a:prstGeom>
          <a:noFill/>
          <a:ln>
            <a:noFill/>
          </a:ln>
        </p:spPr>
      </p:pic>
      <p:pic>
        <p:nvPicPr>
          <p:cNvPr id="274" name="Google Shape;274;p19"/>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0"/>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String Object</a:t>
            </a:r>
            <a:endParaRPr b="1" i="0" sz="2400" u="none" cap="none" strike="noStrike">
              <a:solidFill>
                <a:srgbClr val="C55A11"/>
              </a:solidFill>
              <a:latin typeface="Calibri"/>
              <a:ea typeface="Calibri"/>
              <a:cs typeface="Calibri"/>
              <a:sym typeface="Calibri"/>
            </a:endParaRPr>
          </a:p>
        </p:txBody>
      </p:sp>
      <p:cxnSp>
        <p:nvCxnSpPr>
          <p:cNvPr id="281" name="Google Shape;281;p20"/>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82" name="Google Shape;282;p20"/>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sp>
        <p:nvSpPr>
          <p:cNvPr id="283" name="Google Shape;28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284" name="Google Shape;284;p20"/>
          <p:cNvPicPr preferRelativeResize="0"/>
          <p:nvPr/>
        </p:nvPicPr>
        <p:blipFill rotWithShape="1">
          <a:blip r:embed="rId3">
            <a:alphaModFix/>
          </a:blip>
          <a:srcRect b="0" l="0" r="0" t="0"/>
          <a:stretch/>
        </p:blipFill>
        <p:spPr>
          <a:xfrm>
            <a:off x="606582" y="1611516"/>
            <a:ext cx="10404318" cy="4789283"/>
          </a:xfrm>
          <a:prstGeom prst="rect">
            <a:avLst/>
          </a:prstGeom>
          <a:noFill/>
          <a:ln>
            <a:noFill/>
          </a:ln>
        </p:spPr>
      </p:pic>
      <p:pic>
        <p:nvPicPr>
          <p:cNvPr id="285" name="Google Shape;285;p20"/>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1"/>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String Object</a:t>
            </a:r>
            <a:endParaRPr b="1" i="0" sz="2400" u="none" cap="none" strike="noStrike">
              <a:solidFill>
                <a:srgbClr val="C55A11"/>
              </a:solidFill>
              <a:latin typeface="Calibri"/>
              <a:ea typeface="Calibri"/>
              <a:cs typeface="Calibri"/>
              <a:sym typeface="Calibri"/>
            </a:endParaRPr>
          </a:p>
        </p:txBody>
      </p:sp>
      <p:cxnSp>
        <p:nvCxnSpPr>
          <p:cNvPr id="292" name="Google Shape;292;p21"/>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93" name="Google Shape;293;p21"/>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sp>
        <p:nvSpPr>
          <p:cNvPr id="294" name="Google Shape;294;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295" name="Google Shape;295;p21"/>
          <p:cNvPicPr preferRelativeResize="0"/>
          <p:nvPr/>
        </p:nvPicPr>
        <p:blipFill rotWithShape="1">
          <a:blip r:embed="rId3">
            <a:alphaModFix/>
          </a:blip>
          <a:srcRect b="0" l="0" r="0" t="0"/>
          <a:stretch/>
        </p:blipFill>
        <p:spPr>
          <a:xfrm>
            <a:off x="833721" y="1475715"/>
            <a:ext cx="9782175" cy="4901273"/>
          </a:xfrm>
          <a:prstGeom prst="rect">
            <a:avLst/>
          </a:prstGeom>
          <a:noFill/>
          <a:ln>
            <a:noFill/>
          </a:ln>
        </p:spPr>
      </p:pic>
      <p:pic>
        <p:nvPicPr>
          <p:cNvPr id="296" name="Google Shape;296;p21"/>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2"/>
          <p:cNvSpPr txBox="1"/>
          <p:nvPr>
            <p:ph idx="1" type="body"/>
          </p:nvPr>
        </p:nvSpPr>
        <p:spPr>
          <a:xfrm>
            <a:off x="581192" y="1487114"/>
            <a:ext cx="8330796" cy="4988845"/>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None/>
            </a:pPr>
            <a:r>
              <a:rPr lang="en-US" sz="2400"/>
              <a:t>		var now= new Date();</a:t>
            </a:r>
            <a:endParaRPr/>
          </a:p>
          <a:p>
            <a:pPr indent="-228600" lvl="0" marL="228600" rtl="0" algn="l">
              <a:lnSpc>
                <a:spcPct val="100000"/>
              </a:lnSpc>
              <a:spcBef>
                <a:spcPts val="0"/>
              </a:spcBef>
              <a:spcAft>
                <a:spcPts val="0"/>
              </a:spcAft>
              <a:buClr>
                <a:schemeClr val="dk1"/>
              </a:buClr>
              <a:buSzPts val="2200"/>
              <a:buFont typeface="Calibri"/>
              <a:buChar char="-"/>
            </a:pPr>
            <a:r>
              <a:rPr lang="en-US" sz="2200"/>
              <a:t>This creates a Date object for the time at which it was created (stored as the number of milliseconds since January 1, 1970, UTC - Epoch)</a:t>
            </a:r>
            <a:endParaRPr sz="2200"/>
          </a:p>
          <a:p>
            <a:pPr indent="-76200" lvl="0" marL="228600" rtl="0" algn="l">
              <a:lnSpc>
                <a:spcPct val="100000"/>
              </a:lnSpc>
              <a:spcBef>
                <a:spcPts val="0"/>
              </a:spcBef>
              <a:spcAft>
                <a:spcPts val="0"/>
              </a:spcAft>
              <a:buClr>
                <a:schemeClr val="dk1"/>
              </a:buClr>
              <a:buSzPts val="2400"/>
              <a:buFont typeface="Calibri"/>
              <a:buNone/>
            </a:pPr>
            <a:r>
              <a:t/>
            </a:r>
            <a:endParaRPr sz="2400"/>
          </a:p>
        </p:txBody>
      </p:sp>
      <p:sp>
        <p:nvSpPr>
          <p:cNvPr id="303" name="Google Shape;303;p22"/>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Date Methods</a:t>
            </a:r>
            <a:endParaRPr b="0" i="0" sz="1400" u="none" cap="none" strike="noStrike">
              <a:solidFill>
                <a:srgbClr val="000000"/>
              </a:solidFill>
              <a:latin typeface="Arial"/>
              <a:ea typeface="Arial"/>
              <a:cs typeface="Arial"/>
              <a:sym typeface="Arial"/>
            </a:endParaRPr>
          </a:p>
        </p:txBody>
      </p:sp>
      <p:cxnSp>
        <p:nvCxnSpPr>
          <p:cNvPr id="304" name="Google Shape;304;p2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05" name="Google Shape;305;p22"/>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graphicFrame>
        <p:nvGraphicFramePr>
          <p:cNvPr id="306" name="Google Shape;306;p22"/>
          <p:cNvGraphicFramePr/>
          <p:nvPr/>
        </p:nvGraphicFramePr>
        <p:xfrm>
          <a:off x="573204" y="2719450"/>
          <a:ext cx="3000000" cy="3000000"/>
        </p:xfrm>
        <a:graphic>
          <a:graphicData uri="http://schemas.openxmlformats.org/drawingml/2006/table">
            <a:tbl>
              <a:tblPr>
                <a:gradFill>
                  <a:gsLst>
                    <a:gs pos="0">
                      <a:srgbClr val="A6B6DE"/>
                    </a:gs>
                    <a:gs pos="50000">
                      <a:srgbClr val="98AAD9"/>
                    </a:gs>
                    <a:gs pos="100000">
                      <a:srgbClr val="859CD7"/>
                    </a:gs>
                  </a:gsLst>
                  <a:lin ang="5400000" scaled="0"/>
                </a:gradFill>
                <a:tableStyleId>{6AAD94CE-8CC6-404E-9803-B38ED172AF5C}</a:tableStyleId>
              </a:tblPr>
              <a:tblGrid>
                <a:gridCol w="3056775"/>
                <a:gridCol w="6844075"/>
              </a:tblGrid>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toLocaleString</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A string of the Date information</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(get/set)Date</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day of the month</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(get/set)Month</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month in the range of 0 to 11</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(get/set)Day</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day of the week in the range of 0 to 6</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(get/set)FullYear</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year</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(get/set)Time</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milliseconds since January 1, 1970</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(get/set)Hours</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the hour in the range of 0 to 23</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(get/set)Minutes</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the minute in the range of 0 to 59</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(get/set)Seconds</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the second in the range of 0 to 59</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2650">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(get/set)Milliseconds</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the millisecond in the range of 0 to 999</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307" name="Google Shape;307;p22"/>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3"/>
          <p:cNvSpPr txBox="1"/>
          <p:nvPr>
            <p:ph idx="1" type="body"/>
          </p:nvPr>
        </p:nvSpPr>
        <p:spPr>
          <a:xfrm>
            <a:off x="581192" y="1678672"/>
            <a:ext cx="8330796" cy="4797287"/>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None/>
            </a:pPr>
            <a:r>
              <a:rPr lang="en-US" sz="2400"/>
              <a:t>	Provides </a:t>
            </a:r>
            <a:r>
              <a:rPr b="1" lang="en-US" sz="2400"/>
              <a:t>static</a:t>
            </a:r>
            <a:r>
              <a:rPr lang="en-US" sz="2400"/>
              <a:t> mathematical constants and functions </a:t>
            </a:r>
            <a:endParaRPr sz="2200"/>
          </a:p>
          <a:p>
            <a:pPr indent="-76200" lvl="0" marL="228600" rtl="0" algn="l">
              <a:lnSpc>
                <a:spcPct val="100000"/>
              </a:lnSpc>
              <a:spcBef>
                <a:spcPts val="0"/>
              </a:spcBef>
              <a:spcAft>
                <a:spcPts val="0"/>
              </a:spcAft>
              <a:buClr>
                <a:schemeClr val="dk1"/>
              </a:buClr>
              <a:buSzPts val="2400"/>
              <a:buFont typeface="Calibri"/>
              <a:buNone/>
            </a:pPr>
            <a:r>
              <a:t/>
            </a:r>
            <a:endParaRPr sz="2400"/>
          </a:p>
        </p:txBody>
      </p:sp>
      <p:sp>
        <p:nvSpPr>
          <p:cNvPr id="314" name="Google Shape;314;p23"/>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Math Methods</a:t>
            </a:r>
            <a:endParaRPr b="0" i="0" sz="1400" u="none" cap="none" strike="noStrike">
              <a:solidFill>
                <a:srgbClr val="000000"/>
              </a:solidFill>
              <a:latin typeface="Arial"/>
              <a:ea typeface="Arial"/>
              <a:cs typeface="Arial"/>
              <a:sym typeface="Arial"/>
            </a:endParaRPr>
          </a:p>
        </p:txBody>
      </p:sp>
      <p:cxnSp>
        <p:nvCxnSpPr>
          <p:cNvPr id="315" name="Google Shape;315;p2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16" name="Google Shape;316;p23"/>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graphicFrame>
        <p:nvGraphicFramePr>
          <p:cNvPr id="317" name="Google Shape;317;p23"/>
          <p:cNvGraphicFramePr/>
          <p:nvPr/>
        </p:nvGraphicFramePr>
        <p:xfrm>
          <a:off x="573203" y="2395168"/>
          <a:ext cx="3000000" cy="3000000"/>
        </p:xfrm>
        <a:graphic>
          <a:graphicData uri="http://schemas.openxmlformats.org/drawingml/2006/table">
            <a:tbl>
              <a:tblPr>
                <a:noFill/>
                <a:tableStyleId>{6AAD94CE-8CC6-404E-9803-B38ED172AF5C}</a:tableStyleId>
              </a:tblPr>
              <a:tblGrid>
                <a:gridCol w="3181725"/>
                <a:gridCol w="7550400"/>
              </a:tblGrid>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Math.E</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Euler’s Constant (Approx. 2.718)</a:t>
                      </a:r>
                      <a:endParaRPr b="0" i="0" sz="22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Math.PI</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Value of PI (Approx. 3.1416)</a:t>
                      </a:r>
                      <a:endParaRPr b="0" i="0" sz="22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Math.SQRT2</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Square root of 2 (Approx. 1.414)</a:t>
                      </a:r>
                      <a:endParaRPr b="0" i="0" sz="22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Math.abs(x)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absolute value of x</a:t>
                      </a:r>
                      <a:endParaRPr b="0" i="0" sz="22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Math.ceil(x)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smallest integer greater than or equal to x</a:t>
                      </a:r>
                      <a:endParaRPr b="0" i="0" sz="22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Math.floor(x)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largest integer less than or equal to x.</a:t>
                      </a:r>
                      <a:endParaRPr b="0" i="0" sz="22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Math.max([x[, y[,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largest of zero or more numbers.</a:t>
                      </a:r>
                      <a:endParaRPr b="0" i="0" sz="22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Math.min([x[, y[,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smallest of zero or more numbers.</a:t>
                      </a:r>
                      <a:endParaRPr b="0" i="0" sz="22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Math.pow(x, y)</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base x to the exponent power y (that is, x</a:t>
                      </a:r>
                      <a:r>
                        <a:rPr b="0" baseline="30000" lang="en-US" sz="2200" u="none" cap="none" strike="noStrike">
                          <a:solidFill>
                            <a:schemeClr val="dk1"/>
                          </a:solidFill>
                        </a:rPr>
                        <a:t>y</a:t>
                      </a:r>
                      <a:r>
                        <a:rPr b="0" lang="en-US" sz="2200" u="none" cap="none" strike="noStrike">
                          <a:solidFill>
                            <a:schemeClr val="dk1"/>
                          </a:solidFill>
                        </a:rPr>
                        <a:t>).</a:t>
                      </a:r>
                      <a:endParaRPr b="0" i="0" sz="22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Math.random()</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a pseudo-random number between 0 and 1.</a:t>
                      </a:r>
                      <a:endParaRPr b="0" i="0" sz="2200" u="none" cap="none" strike="noStrike">
                        <a:solidFill>
                          <a:schemeClr val="dk1"/>
                        </a:solidFill>
                        <a:latin typeface="Calibri"/>
                        <a:ea typeface="Calibri"/>
                        <a:cs typeface="Calibri"/>
                        <a:sym typeface="Calibri"/>
                      </a:endParaRPr>
                    </a:p>
                  </a:txBody>
                  <a:tcPr marT="45725" marB="45725" marR="0" marL="45725" anchor="ctr"/>
                </a:tc>
              </a:tr>
            </a:tbl>
          </a:graphicData>
        </a:graphic>
      </p:graphicFrame>
      <p:pic>
        <p:nvPicPr>
          <p:cNvPr id="318" name="Google Shape;318;p23"/>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4"/>
          <p:cNvSpPr txBox="1"/>
          <p:nvPr>
            <p:ph idx="1" type="body"/>
          </p:nvPr>
        </p:nvSpPr>
        <p:spPr>
          <a:xfrm>
            <a:off x="553896" y="1624080"/>
            <a:ext cx="8330796" cy="4797287"/>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Font typeface="Calibri"/>
              <a:buChar char="-"/>
            </a:pPr>
            <a:r>
              <a:rPr lang="en-US" sz="2400"/>
              <a:t>Global object containing global variables and functions declared in the page. For example, </a:t>
            </a:r>
            <a:r>
              <a:rPr i="1" lang="en-US" sz="2400"/>
              <a:t>var x;</a:t>
            </a:r>
            <a:r>
              <a:rPr lang="en-US" sz="2400"/>
              <a:t> can also be accessed as </a:t>
            </a:r>
            <a:r>
              <a:rPr i="1" lang="en-US" sz="2400"/>
              <a:t>window.x</a:t>
            </a:r>
            <a:endParaRPr i="1" sz="2400"/>
          </a:p>
        </p:txBody>
      </p:sp>
      <p:sp>
        <p:nvSpPr>
          <p:cNvPr id="325" name="Google Shape;325;p24"/>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Window – Properties and Methods</a:t>
            </a:r>
            <a:endParaRPr b="0" i="0" sz="1400" u="none" cap="none" strike="noStrike">
              <a:solidFill>
                <a:srgbClr val="000000"/>
              </a:solidFill>
              <a:latin typeface="Arial"/>
              <a:ea typeface="Arial"/>
              <a:cs typeface="Arial"/>
              <a:sym typeface="Arial"/>
            </a:endParaRPr>
          </a:p>
        </p:txBody>
      </p:sp>
      <p:cxnSp>
        <p:nvCxnSpPr>
          <p:cNvPr id="326" name="Google Shape;326;p24"/>
          <p:cNvCxnSpPr/>
          <p:nvPr/>
        </p:nvCxnSpPr>
        <p:spPr>
          <a:xfrm>
            <a:off x="0"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27" name="Google Shape;327;p24"/>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graphicFrame>
        <p:nvGraphicFramePr>
          <p:cNvPr id="328" name="Google Shape;328;p24"/>
          <p:cNvGraphicFramePr/>
          <p:nvPr/>
        </p:nvGraphicFramePr>
        <p:xfrm>
          <a:off x="464020" y="2968362"/>
          <a:ext cx="3000000" cy="3000000"/>
        </p:xfrm>
        <a:graphic>
          <a:graphicData uri="http://schemas.openxmlformats.org/drawingml/2006/table">
            <a:tbl>
              <a:tblPr>
                <a:noFill/>
                <a:tableStyleId>{6AAD94CE-8CC6-404E-9803-B38ED172AF5C}</a:tableStyleId>
              </a:tblPr>
              <a:tblGrid>
                <a:gridCol w="3103625"/>
                <a:gridCol w="6775750"/>
              </a:tblGrid>
              <a:tr h="2037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location</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object containing location details like href, path  etc.</a:t>
                      </a:r>
                      <a:endParaRPr b="0" i="0" sz="20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history</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object containing the browser history </a:t>
                      </a:r>
                      <a:endParaRPr b="0" i="0" sz="20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localStorage</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object containing a local cache for storing user info</a:t>
                      </a:r>
                      <a:endParaRPr b="0" i="0" sz="20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innerHeight, innerWidth</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dimensions of the display area of the browser</a:t>
                      </a:r>
                      <a:endParaRPr b="0" i="0" sz="20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alert(text)</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method to display a dialog box with message</a:t>
                      </a:r>
                      <a:endParaRPr b="0" i="0" sz="20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prompt(text,default)</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method to seek input from user, returns string</a:t>
                      </a:r>
                      <a:endParaRPr b="0" i="0" sz="20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confirm(text)</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method to show a confirmation dialog</a:t>
                      </a:r>
                      <a:endParaRPr b="0" i="0" sz="20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setInterval, clearInterval</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start/stop performing action repeatedly after an interval</a:t>
                      </a:r>
                      <a:endParaRPr b="0" i="0" sz="20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setTimeout, clearTimeout</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start/stop performing action once after a timeout period</a:t>
                      </a:r>
                      <a:endParaRPr b="0" i="0" sz="2000" u="none" cap="none" strike="noStrike">
                        <a:solidFill>
                          <a:schemeClr val="dk1"/>
                        </a:solidFill>
                        <a:latin typeface="Calibri"/>
                        <a:ea typeface="Calibri"/>
                        <a:cs typeface="Calibri"/>
                        <a:sym typeface="Calibri"/>
                      </a:endParaRPr>
                    </a:p>
                  </a:txBody>
                  <a:tcPr marT="45725" marB="45725" marR="0" marL="45725" anchor="ctr"/>
                </a:tc>
              </a:tr>
            </a:tbl>
          </a:graphicData>
        </a:graphic>
      </p:graphicFrame>
      <p:pic>
        <p:nvPicPr>
          <p:cNvPr id="329" name="Google Shape;329;p24"/>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5"/>
          <p:cNvSpPr txBox="1"/>
          <p:nvPr>
            <p:ph idx="1" type="body"/>
          </p:nvPr>
        </p:nvSpPr>
        <p:spPr>
          <a:xfrm>
            <a:off x="88149" y="1409549"/>
            <a:ext cx="11924634" cy="5319861"/>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100000"/>
              </a:lnSpc>
              <a:spcBef>
                <a:spcPts val="0"/>
              </a:spcBef>
              <a:spcAft>
                <a:spcPts val="0"/>
              </a:spcAft>
              <a:buClr>
                <a:schemeClr val="dk1"/>
              </a:buClr>
              <a:buSzPts val="2400"/>
              <a:buChar char="•"/>
            </a:pPr>
            <a:r>
              <a:rPr b="1" lang="en-US" sz="2400"/>
              <a:t>setTimeout</a:t>
            </a:r>
            <a:r>
              <a:rPr lang="en-US" sz="2400"/>
              <a:t> allows us to run a function once after the interval of time.</a:t>
            </a:r>
            <a:endParaRPr/>
          </a:p>
          <a:p>
            <a:pPr indent="-228600" lvl="0" marL="228600" rtl="0" algn="l">
              <a:lnSpc>
                <a:spcPct val="100000"/>
              </a:lnSpc>
              <a:spcBef>
                <a:spcPts val="0"/>
              </a:spcBef>
              <a:spcAft>
                <a:spcPts val="0"/>
              </a:spcAft>
              <a:buClr>
                <a:schemeClr val="dk1"/>
              </a:buClr>
              <a:buSzPts val="2400"/>
              <a:buChar char="•"/>
            </a:pPr>
            <a:r>
              <a:rPr lang="en-US" sz="2400"/>
              <a:t>The syntax:  let timerId = setTimeout(func|code, [delay], [arg1], [arg2], ...) where delay is in milliseconds.</a:t>
            </a:r>
            <a:endParaRPr/>
          </a:p>
          <a:p>
            <a:pPr indent="0" lvl="0" marL="0" rtl="0" algn="l">
              <a:lnSpc>
                <a:spcPct val="100000"/>
              </a:lnSpc>
              <a:spcBef>
                <a:spcPts val="0"/>
              </a:spcBef>
              <a:spcAft>
                <a:spcPts val="0"/>
              </a:spcAft>
              <a:buClr>
                <a:schemeClr val="dk1"/>
              </a:buClr>
              <a:buSzPts val="2400"/>
              <a:buNone/>
            </a:pPr>
            <a:r>
              <a:rPr b="1" lang="en-US" sz="2400"/>
              <a:t>Example:  </a:t>
            </a:r>
            <a:r>
              <a:rPr lang="en-US" sz="2400"/>
              <a:t>   </a:t>
            </a:r>
            <a:r>
              <a:rPr lang="en-US" sz="2200"/>
              <a:t>function sayHi(phrase, who) {</a:t>
            </a:r>
            <a:endParaRPr/>
          </a:p>
          <a:p>
            <a:pPr indent="0" lvl="0" marL="0" rtl="0" algn="l">
              <a:lnSpc>
                <a:spcPct val="100000"/>
              </a:lnSpc>
              <a:spcBef>
                <a:spcPts val="0"/>
              </a:spcBef>
              <a:spcAft>
                <a:spcPts val="0"/>
              </a:spcAft>
              <a:buClr>
                <a:schemeClr val="dk1"/>
              </a:buClr>
              <a:buSzPts val="2200"/>
              <a:buNone/>
            </a:pPr>
            <a:r>
              <a:rPr lang="en-US" sz="2200"/>
              <a:t>	 			alert( phrase + ', ' + who );</a:t>
            </a:r>
            <a:endParaRPr/>
          </a:p>
          <a:p>
            <a:pPr indent="0" lvl="0" marL="0" rtl="0" algn="l">
              <a:lnSpc>
                <a:spcPct val="100000"/>
              </a:lnSpc>
              <a:spcBef>
                <a:spcPts val="0"/>
              </a:spcBef>
              <a:spcAft>
                <a:spcPts val="0"/>
              </a:spcAft>
              <a:buClr>
                <a:schemeClr val="dk1"/>
              </a:buClr>
              <a:buSzPts val="2200"/>
              <a:buNone/>
            </a:pPr>
            <a:r>
              <a:rPr lang="en-US" sz="2200"/>
              <a:t>			}</a:t>
            </a:r>
            <a:endParaRPr/>
          </a:p>
          <a:p>
            <a:pPr indent="0" lvl="0" marL="0" rtl="0" algn="l">
              <a:lnSpc>
                <a:spcPct val="100000"/>
              </a:lnSpc>
              <a:spcBef>
                <a:spcPts val="0"/>
              </a:spcBef>
              <a:spcAft>
                <a:spcPts val="0"/>
              </a:spcAft>
              <a:buClr>
                <a:schemeClr val="dk1"/>
              </a:buClr>
              <a:buSzPts val="2200"/>
              <a:buNone/>
            </a:pPr>
            <a:r>
              <a:rPr lang="en-US" sz="2200"/>
              <a:t>			setTimeout(sayHi, 1000, "Hello", "John"); // </a:t>
            </a:r>
            <a:r>
              <a:rPr b="1" lang="en-US" sz="2200"/>
              <a:t>Output:</a:t>
            </a:r>
            <a:r>
              <a:rPr lang="en-US" sz="2200"/>
              <a:t> Hello, John (after 1 second = 1000ms)</a:t>
            </a:r>
            <a:endParaRPr/>
          </a:p>
          <a:p>
            <a:pPr indent="0" lvl="0" marL="0" rtl="0" algn="l">
              <a:lnSpc>
                <a:spcPct val="100000"/>
              </a:lnSpc>
              <a:spcBef>
                <a:spcPts val="0"/>
              </a:spcBef>
              <a:spcAft>
                <a:spcPts val="0"/>
              </a:spcAft>
              <a:buClr>
                <a:schemeClr val="dk1"/>
              </a:buClr>
              <a:buSzPts val="2000"/>
              <a:buNone/>
            </a:pPr>
            <a:r>
              <a:t/>
            </a:r>
            <a:endParaRPr sz="2000">
              <a:latin typeface="Courier New"/>
              <a:ea typeface="Courier New"/>
              <a:cs typeface="Courier New"/>
              <a:sym typeface="Courier New"/>
            </a:endParaRPr>
          </a:p>
          <a:p>
            <a:pPr indent="-228600" lvl="0" marL="228600" rtl="0" algn="l">
              <a:lnSpc>
                <a:spcPct val="100000"/>
              </a:lnSpc>
              <a:spcBef>
                <a:spcPts val="0"/>
              </a:spcBef>
              <a:spcAft>
                <a:spcPts val="0"/>
              </a:spcAft>
              <a:buClr>
                <a:schemeClr val="dk1"/>
              </a:buClr>
              <a:buSzPts val="2400"/>
              <a:buChar char="•"/>
            </a:pPr>
            <a:r>
              <a:rPr b="1" lang="en-US" sz="2400"/>
              <a:t>setInterval</a:t>
            </a:r>
            <a:r>
              <a:rPr lang="en-US" sz="2400"/>
              <a:t> allows us to run a function repeatedly, starting after the interval of time, then repeating continuously at that interval.</a:t>
            </a:r>
            <a:endParaRPr/>
          </a:p>
          <a:p>
            <a:pPr indent="-228600" lvl="0" marL="228600" rtl="0" algn="l">
              <a:lnSpc>
                <a:spcPct val="100000"/>
              </a:lnSpc>
              <a:spcBef>
                <a:spcPts val="0"/>
              </a:spcBef>
              <a:spcAft>
                <a:spcPts val="0"/>
              </a:spcAft>
              <a:buClr>
                <a:schemeClr val="dk1"/>
              </a:buClr>
              <a:buSzPts val="2400"/>
              <a:buChar char="•"/>
            </a:pPr>
            <a:r>
              <a:rPr lang="en-US" sz="2400"/>
              <a:t>It has the same syntax as setTimeout:</a:t>
            </a:r>
            <a:endParaRPr/>
          </a:p>
          <a:p>
            <a:pPr indent="0" lvl="0" marL="0" rtl="0" algn="l">
              <a:lnSpc>
                <a:spcPct val="100000"/>
              </a:lnSpc>
              <a:spcBef>
                <a:spcPts val="0"/>
              </a:spcBef>
              <a:spcAft>
                <a:spcPts val="0"/>
              </a:spcAft>
              <a:buClr>
                <a:schemeClr val="dk1"/>
              </a:buClr>
              <a:buSzPts val="2400"/>
              <a:buNone/>
            </a:pPr>
            <a:r>
              <a:rPr lang="en-US" sz="2400"/>
              <a:t>	let timerId = setInterval(func|code, [delay], [arg1], [arg2], ...)</a:t>
            </a:r>
            <a:endParaRPr/>
          </a:p>
          <a:p>
            <a:pPr indent="-228600" lvl="0" marL="228600" rtl="0" algn="l">
              <a:lnSpc>
                <a:spcPct val="100000"/>
              </a:lnSpc>
              <a:spcBef>
                <a:spcPts val="0"/>
              </a:spcBef>
              <a:spcAft>
                <a:spcPts val="0"/>
              </a:spcAft>
              <a:buClr>
                <a:schemeClr val="dk1"/>
              </a:buClr>
              <a:buSzPts val="2400"/>
              <a:buChar char="•"/>
            </a:pPr>
            <a:r>
              <a:rPr lang="en-US" sz="2400"/>
              <a:t>Example:     </a:t>
            </a:r>
            <a:endParaRPr sz="2400"/>
          </a:p>
          <a:p>
            <a:pPr indent="0" lvl="0" marL="457200" rtl="0" algn="l">
              <a:lnSpc>
                <a:spcPct val="100000"/>
              </a:lnSpc>
              <a:spcBef>
                <a:spcPts val="0"/>
              </a:spcBef>
              <a:spcAft>
                <a:spcPts val="0"/>
              </a:spcAft>
              <a:buSzPts val="1800"/>
              <a:buNone/>
            </a:pPr>
            <a:r>
              <a:rPr lang="en-US" sz="2400"/>
              <a:t>    // repeat with the interval of 2 seconds</a:t>
            </a:r>
            <a:endParaRPr sz="2400"/>
          </a:p>
          <a:p>
            <a:pPr indent="0" lvl="0" marL="0" rtl="0" algn="l">
              <a:lnSpc>
                <a:spcPct val="100000"/>
              </a:lnSpc>
              <a:spcBef>
                <a:spcPts val="0"/>
              </a:spcBef>
              <a:spcAft>
                <a:spcPts val="0"/>
              </a:spcAft>
              <a:buClr>
                <a:schemeClr val="dk1"/>
              </a:buClr>
              <a:buSzPts val="2200"/>
              <a:buNone/>
            </a:pPr>
            <a:r>
              <a:rPr lang="en-US" sz="2200"/>
              <a:t>	    let timerId = setInterval(() =&gt; alert('tick'), 2000); </a:t>
            </a:r>
            <a:endParaRPr/>
          </a:p>
          <a:p>
            <a:pPr indent="0" lvl="0" marL="0" rtl="0" algn="l">
              <a:lnSpc>
                <a:spcPct val="100000"/>
              </a:lnSpc>
              <a:spcBef>
                <a:spcPts val="0"/>
              </a:spcBef>
              <a:spcAft>
                <a:spcPts val="0"/>
              </a:spcAft>
              <a:buClr>
                <a:schemeClr val="dk1"/>
              </a:buClr>
              <a:buSzPts val="2200"/>
              <a:buNone/>
            </a:pPr>
            <a:r>
              <a:rPr lang="en-US" sz="2200"/>
              <a:t>	    // after 5 seconds stop</a:t>
            </a:r>
            <a:endParaRPr/>
          </a:p>
          <a:p>
            <a:pPr indent="0" lvl="0" marL="0" rtl="0" algn="l">
              <a:lnSpc>
                <a:spcPct val="100000"/>
              </a:lnSpc>
              <a:spcBef>
                <a:spcPts val="0"/>
              </a:spcBef>
              <a:spcAft>
                <a:spcPts val="0"/>
              </a:spcAft>
              <a:buClr>
                <a:schemeClr val="dk1"/>
              </a:buClr>
              <a:buSzPts val="2200"/>
              <a:buNone/>
            </a:pPr>
            <a:r>
              <a:rPr lang="en-US" sz="2200"/>
              <a:t>	    setTimeout(() =&gt; { clearInterval(timerId); alert('stop'); }, 5000);</a:t>
            </a:r>
            <a:endParaRPr/>
          </a:p>
          <a:p>
            <a:pPr indent="-87629" lvl="0" marL="228600" rtl="0" algn="l">
              <a:lnSpc>
                <a:spcPct val="100000"/>
              </a:lnSpc>
              <a:spcBef>
                <a:spcPts val="0"/>
              </a:spcBef>
              <a:spcAft>
                <a:spcPts val="0"/>
              </a:spcAft>
              <a:buClr>
                <a:schemeClr val="dk1"/>
              </a:buClr>
              <a:buSzPts val="2400"/>
              <a:buNone/>
            </a:pPr>
            <a:r>
              <a:t/>
            </a:r>
            <a:endParaRPr sz="2400"/>
          </a:p>
        </p:txBody>
      </p:sp>
      <p:sp>
        <p:nvSpPr>
          <p:cNvPr id="336" name="Google Shape;336;p25"/>
          <p:cNvSpPr/>
          <p:nvPr/>
        </p:nvSpPr>
        <p:spPr>
          <a:xfrm>
            <a:off x="371880" y="651898"/>
            <a:ext cx="7999758"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setTimeout and setInterval</a:t>
            </a:r>
            <a:endParaRPr b="1" i="0" sz="2400" u="none" cap="none" strike="noStrike">
              <a:solidFill>
                <a:srgbClr val="C55A11"/>
              </a:solidFill>
              <a:latin typeface="Calibri"/>
              <a:ea typeface="Calibri"/>
              <a:cs typeface="Calibri"/>
              <a:sym typeface="Calibri"/>
            </a:endParaRPr>
          </a:p>
        </p:txBody>
      </p:sp>
      <p:cxnSp>
        <p:nvCxnSpPr>
          <p:cNvPr id="337" name="Google Shape;337;p25"/>
          <p:cNvCxnSpPr/>
          <p:nvPr/>
        </p:nvCxnSpPr>
        <p:spPr>
          <a:xfrm>
            <a:off x="71586" y="1311544"/>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38" name="Google Shape;338;p25"/>
          <p:cNvSpPr/>
          <p:nvPr/>
        </p:nvSpPr>
        <p:spPr>
          <a:xfrm>
            <a:off x="393111" y="252240"/>
            <a:ext cx="7497214"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339" name="Google Shape;339;p25"/>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6"/>
          <p:cNvSpPr txBox="1"/>
          <p:nvPr>
            <p:ph idx="1" type="body"/>
          </p:nvPr>
        </p:nvSpPr>
        <p:spPr>
          <a:xfrm>
            <a:off x="88149" y="1409549"/>
            <a:ext cx="11924700" cy="5319900"/>
          </a:xfrm>
          <a:prstGeom prst="rect">
            <a:avLst/>
          </a:prstGeom>
          <a:noFill/>
          <a:ln>
            <a:noFill/>
          </a:ln>
        </p:spPr>
        <p:txBody>
          <a:bodyPr anchorCtr="0" anchor="t" bIns="45700" lIns="91425" spcFirstLastPara="1" rIns="91425" wrap="square" tIns="45700">
            <a:normAutofit/>
          </a:bodyPr>
          <a:lstStyle/>
          <a:p>
            <a:pPr indent="-431800" lvl="0" marL="457200" rtl="0" algn="l">
              <a:lnSpc>
                <a:spcPct val="115000"/>
              </a:lnSpc>
              <a:spcBef>
                <a:spcPts val="0"/>
              </a:spcBef>
              <a:spcAft>
                <a:spcPts val="0"/>
              </a:spcAft>
              <a:buSzPts val="3200"/>
              <a:buAutoNum type="arabicPeriod"/>
            </a:pPr>
            <a:r>
              <a:rPr lang="en-US" sz="3200"/>
              <a:t>Which creates an array of length 100 with all elements initially undefined?</a:t>
            </a:r>
            <a:endParaRPr sz="3200"/>
          </a:p>
          <a:p>
            <a:pPr indent="0" lvl="0" marL="0" rtl="0" algn="l">
              <a:lnSpc>
                <a:spcPct val="115000"/>
              </a:lnSpc>
              <a:spcBef>
                <a:spcPts val="0"/>
              </a:spcBef>
              <a:spcAft>
                <a:spcPts val="0"/>
              </a:spcAft>
              <a:buSzPts val="1800"/>
              <a:buNone/>
            </a:pPr>
            <a:r>
              <a:t/>
            </a:r>
            <a:endParaRPr sz="3200"/>
          </a:p>
          <a:p>
            <a:pPr indent="0" lvl="0" marL="0" rtl="0" algn="l">
              <a:lnSpc>
                <a:spcPct val="115000"/>
              </a:lnSpc>
              <a:spcBef>
                <a:spcPts val="0"/>
              </a:spcBef>
              <a:spcAft>
                <a:spcPts val="0"/>
              </a:spcAft>
              <a:buSzPts val="1800"/>
              <a:buNone/>
            </a:pPr>
            <a:r>
              <a:rPr lang="en-US" sz="3200"/>
              <a:t>A. new Array(100)</a:t>
            </a:r>
            <a:endParaRPr sz="3200"/>
          </a:p>
          <a:p>
            <a:pPr indent="0" lvl="0" marL="0" rtl="0" algn="l">
              <a:lnSpc>
                <a:spcPct val="115000"/>
              </a:lnSpc>
              <a:spcBef>
                <a:spcPts val="0"/>
              </a:spcBef>
              <a:spcAft>
                <a:spcPts val="0"/>
              </a:spcAft>
              <a:buSzPts val="1800"/>
              <a:buNone/>
            </a:pPr>
            <a:r>
              <a:rPr lang="en-US" sz="3200"/>
              <a:t>B. Array.make(100)</a:t>
            </a:r>
            <a:endParaRPr sz="3200"/>
          </a:p>
          <a:p>
            <a:pPr indent="0" lvl="0" marL="0" rtl="0" algn="l">
              <a:lnSpc>
                <a:spcPct val="115000"/>
              </a:lnSpc>
              <a:spcBef>
                <a:spcPts val="0"/>
              </a:spcBef>
              <a:spcAft>
                <a:spcPts val="0"/>
              </a:spcAft>
              <a:buSzPts val="1800"/>
              <a:buNone/>
            </a:pPr>
            <a:r>
              <a:rPr lang="en-US" sz="3200"/>
              <a:t>C. []</a:t>
            </a:r>
            <a:endParaRPr sz="3200"/>
          </a:p>
          <a:p>
            <a:pPr indent="0" lvl="0" marL="0" rtl="0" algn="l">
              <a:lnSpc>
                <a:spcPct val="115000"/>
              </a:lnSpc>
              <a:spcBef>
                <a:spcPts val="0"/>
              </a:spcBef>
              <a:spcAft>
                <a:spcPts val="0"/>
              </a:spcAft>
              <a:buSzPts val="1800"/>
              <a:buNone/>
            </a:pPr>
            <a:r>
              <a:rPr lang="en-US" sz="3200"/>
              <a:t>D. Array(1..100)</a:t>
            </a:r>
            <a:endParaRPr sz="3200"/>
          </a:p>
          <a:p>
            <a:pPr indent="-87628" lvl="0" marL="228600" rtl="0" algn="l">
              <a:lnSpc>
                <a:spcPct val="100000"/>
              </a:lnSpc>
              <a:spcBef>
                <a:spcPts val="0"/>
              </a:spcBef>
              <a:spcAft>
                <a:spcPts val="0"/>
              </a:spcAft>
              <a:buClr>
                <a:schemeClr val="dk1"/>
              </a:buClr>
              <a:buSzPts val="2400"/>
              <a:buNone/>
            </a:pPr>
            <a:r>
              <a:t/>
            </a:r>
            <a:endParaRPr sz="2400"/>
          </a:p>
        </p:txBody>
      </p:sp>
      <p:sp>
        <p:nvSpPr>
          <p:cNvPr id="346" name="Google Shape;346;p26"/>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MCQ</a:t>
            </a:r>
            <a:endParaRPr b="1" i="0" sz="2400" u="none" cap="none" strike="noStrike">
              <a:solidFill>
                <a:srgbClr val="C55A11"/>
              </a:solidFill>
              <a:latin typeface="Calibri"/>
              <a:ea typeface="Calibri"/>
              <a:cs typeface="Calibri"/>
              <a:sym typeface="Calibri"/>
            </a:endParaRPr>
          </a:p>
        </p:txBody>
      </p:sp>
      <p:cxnSp>
        <p:nvCxnSpPr>
          <p:cNvPr id="347" name="Google Shape;347;p26"/>
          <p:cNvCxnSpPr/>
          <p:nvPr/>
        </p:nvCxnSpPr>
        <p:spPr>
          <a:xfrm>
            <a:off x="71586" y="1311544"/>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348" name="Google Shape;348;p26"/>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349" name="Google Shape;349;p26"/>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7"/>
          <p:cNvSpPr txBox="1"/>
          <p:nvPr>
            <p:ph idx="1" type="body"/>
          </p:nvPr>
        </p:nvSpPr>
        <p:spPr>
          <a:xfrm>
            <a:off x="88149" y="1409549"/>
            <a:ext cx="11924700" cy="5319900"/>
          </a:xfrm>
          <a:prstGeom prst="rect">
            <a:avLst/>
          </a:prstGeom>
          <a:noFill/>
          <a:ln>
            <a:noFill/>
          </a:ln>
        </p:spPr>
        <p:txBody>
          <a:bodyPr anchorCtr="0" anchor="t" bIns="45700" lIns="91425" spcFirstLastPara="1" rIns="91425" wrap="square" tIns="45700">
            <a:normAutofit/>
          </a:bodyPr>
          <a:lstStyle/>
          <a:p>
            <a:pPr indent="-431800" lvl="0" marL="457200" rtl="0" algn="l">
              <a:lnSpc>
                <a:spcPct val="115000"/>
              </a:lnSpc>
              <a:spcBef>
                <a:spcPts val="0"/>
              </a:spcBef>
              <a:spcAft>
                <a:spcPts val="0"/>
              </a:spcAft>
              <a:buSzPts val="3200"/>
              <a:buAutoNum type="arabicPeriod"/>
            </a:pPr>
            <a:r>
              <a:rPr lang="en-US" sz="3200"/>
              <a:t>Which creates an array of length 100 with all elements initially undefined?</a:t>
            </a:r>
            <a:endParaRPr sz="3200"/>
          </a:p>
          <a:p>
            <a:pPr indent="0" lvl="0" marL="0" rtl="0" algn="l">
              <a:lnSpc>
                <a:spcPct val="115000"/>
              </a:lnSpc>
              <a:spcBef>
                <a:spcPts val="0"/>
              </a:spcBef>
              <a:spcAft>
                <a:spcPts val="0"/>
              </a:spcAft>
              <a:buSzPts val="1800"/>
              <a:buNone/>
            </a:pPr>
            <a:r>
              <a:t/>
            </a:r>
            <a:endParaRPr sz="3200"/>
          </a:p>
          <a:p>
            <a:pPr indent="0" lvl="0" marL="0" rtl="0" algn="l">
              <a:lnSpc>
                <a:spcPct val="115000"/>
              </a:lnSpc>
              <a:spcBef>
                <a:spcPts val="0"/>
              </a:spcBef>
              <a:spcAft>
                <a:spcPts val="0"/>
              </a:spcAft>
              <a:buSzPts val="1800"/>
              <a:buNone/>
            </a:pPr>
            <a:r>
              <a:rPr lang="en-US" sz="3200">
                <a:solidFill>
                  <a:srgbClr val="00FF00"/>
                </a:solidFill>
              </a:rPr>
              <a:t>A. new Array(100)</a:t>
            </a:r>
            <a:endParaRPr sz="3200">
              <a:solidFill>
                <a:srgbClr val="00FF00"/>
              </a:solidFill>
            </a:endParaRPr>
          </a:p>
          <a:p>
            <a:pPr indent="0" lvl="0" marL="0" rtl="0" algn="l">
              <a:lnSpc>
                <a:spcPct val="115000"/>
              </a:lnSpc>
              <a:spcBef>
                <a:spcPts val="0"/>
              </a:spcBef>
              <a:spcAft>
                <a:spcPts val="0"/>
              </a:spcAft>
              <a:buSzPts val="1800"/>
              <a:buNone/>
            </a:pPr>
            <a:r>
              <a:rPr lang="en-US" sz="3200"/>
              <a:t>B. Array.make(100)</a:t>
            </a:r>
            <a:endParaRPr sz="3200"/>
          </a:p>
          <a:p>
            <a:pPr indent="0" lvl="0" marL="0" rtl="0" algn="l">
              <a:lnSpc>
                <a:spcPct val="115000"/>
              </a:lnSpc>
              <a:spcBef>
                <a:spcPts val="0"/>
              </a:spcBef>
              <a:spcAft>
                <a:spcPts val="0"/>
              </a:spcAft>
              <a:buSzPts val="1800"/>
              <a:buNone/>
            </a:pPr>
            <a:r>
              <a:rPr lang="en-US" sz="3200"/>
              <a:t>C. []</a:t>
            </a:r>
            <a:endParaRPr sz="3200"/>
          </a:p>
          <a:p>
            <a:pPr indent="0" lvl="0" marL="0" rtl="0" algn="l">
              <a:lnSpc>
                <a:spcPct val="115000"/>
              </a:lnSpc>
              <a:spcBef>
                <a:spcPts val="0"/>
              </a:spcBef>
              <a:spcAft>
                <a:spcPts val="0"/>
              </a:spcAft>
              <a:buSzPts val="1800"/>
              <a:buNone/>
            </a:pPr>
            <a:r>
              <a:rPr lang="en-US" sz="3200"/>
              <a:t>D. Array(1..100)</a:t>
            </a:r>
            <a:endParaRPr sz="3200"/>
          </a:p>
          <a:p>
            <a:pPr indent="-87628" lvl="0" marL="228600" rtl="0" algn="l">
              <a:lnSpc>
                <a:spcPct val="100000"/>
              </a:lnSpc>
              <a:spcBef>
                <a:spcPts val="0"/>
              </a:spcBef>
              <a:spcAft>
                <a:spcPts val="0"/>
              </a:spcAft>
              <a:buClr>
                <a:schemeClr val="dk1"/>
              </a:buClr>
              <a:buSzPts val="2400"/>
              <a:buNone/>
            </a:pPr>
            <a:r>
              <a:t/>
            </a:r>
            <a:endParaRPr sz="2400"/>
          </a:p>
        </p:txBody>
      </p:sp>
      <p:sp>
        <p:nvSpPr>
          <p:cNvPr id="356" name="Google Shape;356;p27"/>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MCQ</a:t>
            </a:r>
            <a:endParaRPr b="1" i="0" sz="2400" u="none" cap="none" strike="noStrike">
              <a:solidFill>
                <a:srgbClr val="C55A11"/>
              </a:solidFill>
              <a:latin typeface="Calibri"/>
              <a:ea typeface="Calibri"/>
              <a:cs typeface="Calibri"/>
              <a:sym typeface="Calibri"/>
            </a:endParaRPr>
          </a:p>
        </p:txBody>
      </p:sp>
      <p:cxnSp>
        <p:nvCxnSpPr>
          <p:cNvPr id="357" name="Google Shape;357;p27"/>
          <p:cNvCxnSpPr/>
          <p:nvPr/>
        </p:nvCxnSpPr>
        <p:spPr>
          <a:xfrm>
            <a:off x="71586" y="1311544"/>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358" name="Google Shape;358;p27"/>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359" name="Google Shape;359;p27"/>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8"/>
          <p:cNvSpPr txBox="1"/>
          <p:nvPr>
            <p:ph idx="1" type="body"/>
          </p:nvPr>
        </p:nvSpPr>
        <p:spPr>
          <a:xfrm>
            <a:off x="88149" y="1409549"/>
            <a:ext cx="11924700" cy="5319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1800"/>
              <a:buNone/>
            </a:pPr>
            <a:r>
              <a:rPr lang="en-US" sz="3200"/>
              <a:t>2. Which pair adds elements to the end and removes from the front in an array?</a:t>
            </a:r>
            <a:endParaRPr sz="3200"/>
          </a:p>
          <a:p>
            <a:pPr indent="0" lvl="0" marL="0" rtl="0" algn="l">
              <a:lnSpc>
                <a:spcPct val="115000"/>
              </a:lnSpc>
              <a:spcBef>
                <a:spcPts val="0"/>
              </a:spcBef>
              <a:spcAft>
                <a:spcPts val="0"/>
              </a:spcAft>
              <a:buSzPts val="1800"/>
              <a:buNone/>
            </a:pPr>
            <a:r>
              <a:t/>
            </a:r>
            <a:endParaRPr sz="3200"/>
          </a:p>
          <a:p>
            <a:pPr indent="0" lvl="0" marL="0" rtl="0" algn="l">
              <a:lnSpc>
                <a:spcPct val="115000"/>
              </a:lnSpc>
              <a:spcBef>
                <a:spcPts val="0"/>
              </a:spcBef>
              <a:spcAft>
                <a:spcPts val="0"/>
              </a:spcAft>
              <a:buSzPts val="1800"/>
              <a:buNone/>
            </a:pPr>
            <a:r>
              <a:rPr lang="en-US" sz="3200"/>
              <a:t>A. unshift/pop</a:t>
            </a:r>
            <a:endParaRPr sz="3200"/>
          </a:p>
          <a:p>
            <a:pPr indent="0" lvl="0" marL="0" rtl="0" algn="l">
              <a:lnSpc>
                <a:spcPct val="115000"/>
              </a:lnSpc>
              <a:spcBef>
                <a:spcPts val="0"/>
              </a:spcBef>
              <a:spcAft>
                <a:spcPts val="0"/>
              </a:spcAft>
              <a:buSzPts val="1800"/>
              <a:buNone/>
            </a:pPr>
            <a:r>
              <a:rPr lang="en-US" sz="3200"/>
              <a:t>B. push/unshift</a:t>
            </a:r>
            <a:endParaRPr sz="3200"/>
          </a:p>
          <a:p>
            <a:pPr indent="0" lvl="0" marL="0" rtl="0" algn="l">
              <a:lnSpc>
                <a:spcPct val="115000"/>
              </a:lnSpc>
              <a:spcBef>
                <a:spcPts val="0"/>
              </a:spcBef>
              <a:spcAft>
                <a:spcPts val="0"/>
              </a:spcAft>
              <a:buSzPts val="1800"/>
              <a:buNone/>
            </a:pPr>
            <a:r>
              <a:rPr lang="en-US" sz="3200"/>
              <a:t>C. unshift/push</a:t>
            </a:r>
            <a:endParaRPr sz="3200"/>
          </a:p>
          <a:p>
            <a:pPr indent="0" lvl="0" marL="0" rtl="0" algn="l">
              <a:lnSpc>
                <a:spcPct val="115000"/>
              </a:lnSpc>
              <a:spcBef>
                <a:spcPts val="0"/>
              </a:spcBef>
              <a:spcAft>
                <a:spcPts val="0"/>
              </a:spcAft>
              <a:buSzPts val="1800"/>
              <a:buNone/>
            </a:pPr>
            <a:r>
              <a:rPr lang="en-US" sz="3200"/>
              <a:t>D. push/shift</a:t>
            </a:r>
            <a:endParaRPr sz="3200"/>
          </a:p>
          <a:p>
            <a:pPr indent="0" lvl="0" marL="0" rtl="0" algn="l">
              <a:lnSpc>
                <a:spcPct val="115000"/>
              </a:lnSpc>
              <a:spcBef>
                <a:spcPts val="0"/>
              </a:spcBef>
              <a:spcAft>
                <a:spcPts val="0"/>
              </a:spcAft>
              <a:buSzPts val="1800"/>
              <a:buNone/>
            </a:pPr>
            <a:r>
              <a:t/>
            </a:r>
            <a:endParaRPr sz="3200"/>
          </a:p>
          <a:p>
            <a:pPr indent="-87628" lvl="0" marL="228600" rtl="0" algn="l">
              <a:lnSpc>
                <a:spcPct val="100000"/>
              </a:lnSpc>
              <a:spcBef>
                <a:spcPts val="0"/>
              </a:spcBef>
              <a:spcAft>
                <a:spcPts val="0"/>
              </a:spcAft>
              <a:buClr>
                <a:schemeClr val="dk1"/>
              </a:buClr>
              <a:buSzPts val="2400"/>
              <a:buNone/>
            </a:pPr>
            <a:r>
              <a:t/>
            </a:r>
            <a:endParaRPr sz="3200"/>
          </a:p>
        </p:txBody>
      </p:sp>
      <p:sp>
        <p:nvSpPr>
          <p:cNvPr id="366" name="Google Shape;366;p28"/>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MCQ</a:t>
            </a:r>
            <a:endParaRPr b="1" i="0" sz="2400" u="none" cap="none" strike="noStrike">
              <a:solidFill>
                <a:srgbClr val="C55A11"/>
              </a:solidFill>
              <a:latin typeface="Calibri"/>
              <a:ea typeface="Calibri"/>
              <a:cs typeface="Calibri"/>
              <a:sym typeface="Calibri"/>
            </a:endParaRPr>
          </a:p>
        </p:txBody>
      </p:sp>
      <p:cxnSp>
        <p:nvCxnSpPr>
          <p:cNvPr id="367" name="Google Shape;367;p28"/>
          <p:cNvCxnSpPr/>
          <p:nvPr/>
        </p:nvCxnSpPr>
        <p:spPr>
          <a:xfrm>
            <a:off x="71586" y="1311544"/>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368" name="Google Shape;368;p28"/>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369" name="Google Shape;369;p28"/>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9"/>
          <p:cNvSpPr txBox="1"/>
          <p:nvPr>
            <p:ph idx="1" type="body"/>
          </p:nvPr>
        </p:nvSpPr>
        <p:spPr>
          <a:xfrm>
            <a:off x="88149" y="1409549"/>
            <a:ext cx="11924700" cy="5319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1800"/>
              <a:buNone/>
            </a:pPr>
            <a:r>
              <a:rPr lang="en-US" sz="3200"/>
              <a:t>2. Which pair adds elements to the end and removes from the front in an array?</a:t>
            </a:r>
            <a:endParaRPr sz="3200"/>
          </a:p>
          <a:p>
            <a:pPr indent="0" lvl="0" marL="0" rtl="0" algn="l">
              <a:lnSpc>
                <a:spcPct val="115000"/>
              </a:lnSpc>
              <a:spcBef>
                <a:spcPts val="0"/>
              </a:spcBef>
              <a:spcAft>
                <a:spcPts val="0"/>
              </a:spcAft>
              <a:buSzPts val="1800"/>
              <a:buNone/>
            </a:pPr>
            <a:r>
              <a:t/>
            </a:r>
            <a:endParaRPr sz="3200"/>
          </a:p>
          <a:p>
            <a:pPr indent="0" lvl="0" marL="0" rtl="0" algn="l">
              <a:lnSpc>
                <a:spcPct val="115000"/>
              </a:lnSpc>
              <a:spcBef>
                <a:spcPts val="0"/>
              </a:spcBef>
              <a:spcAft>
                <a:spcPts val="0"/>
              </a:spcAft>
              <a:buSzPts val="1800"/>
              <a:buNone/>
            </a:pPr>
            <a:r>
              <a:rPr lang="en-US" sz="3200"/>
              <a:t>A. unshift/pop</a:t>
            </a:r>
            <a:endParaRPr sz="3200"/>
          </a:p>
          <a:p>
            <a:pPr indent="0" lvl="0" marL="0" rtl="0" algn="l">
              <a:lnSpc>
                <a:spcPct val="115000"/>
              </a:lnSpc>
              <a:spcBef>
                <a:spcPts val="0"/>
              </a:spcBef>
              <a:spcAft>
                <a:spcPts val="0"/>
              </a:spcAft>
              <a:buSzPts val="1800"/>
              <a:buNone/>
            </a:pPr>
            <a:r>
              <a:rPr lang="en-US" sz="3200"/>
              <a:t>B. push/unshift</a:t>
            </a:r>
            <a:endParaRPr sz="3200"/>
          </a:p>
          <a:p>
            <a:pPr indent="0" lvl="0" marL="0" rtl="0" algn="l">
              <a:lnSpc>
                <a:spcPct val="115000"/>
              </a:lnSpc>
              <a:spcBef>
                <a:spcPts val="0"/>
              </a:spcBef>
              <a:spcAft>
                <a:spcPts val="0"/>
              </a:spcAft>
              <a:buSzPts val="1800"/>
              <a:buNone/>
            </a:pPr>
            <a:r>
              <a:rPr lang="en-US" sz="3200"/>
              <a:t>C. unshift/push</a:t>
            </a:r>
            <a:endParaRPr sz="3200"/>
          </a:p>
          <a:p>
            <a:pPr indent="0" lvl="0" marL="0" rtl="0" algn="l">
              <a:lnSpc>
                <a:spcPct val="115000"/>
              </a:lnSpc>
              <a:spcBef>
                <a:spcPts val="0"/>
              </a:spcBef>
              <a:spcAft>
                <a:spcPts val="0"/>
              </a:spcAft>
              <a:buSzPts val="1800"/>
              <a:buNone/>
            </a:pPr>
            <a:r>
              <a:rPr lang="en-US" sz="3200">
                <a:solidFill>
                  <a:srgbClr val="00FF00"/>
                </a:solidFill>
              </a:rPr>
              <a:t>D. push/shift</a:t>
            </a:r>
            <a:endParaRPr sz="3200">
              <a:solidFill>
                <a:srgbClr val="00FF00"/>
              </a:solidFill>
            </a:endParaRPr>
          </a:p>
          <a:p>
            <a:pPr indent="0" lvl="0" marL="0" rtl="0" algn="l">
              <a:lnSpc>
                <a:spcPct val="115000"/>
              </a:lnSpc>
              <a:spcBef>
                <a:spcPts val="0"/>
              </a:spcBef>
              <a:spcAft>
                <a:spcPts val="0"/>
              </a:spcAft>
              <a:buSzPts val="1800"/>
              <a:buNone/>
            </a:pPr>
            <a:r>
              <a:t/>
            </a:r>
            <a:endParaRPr sz="3200"/>
          </a:p>
          <a:p>
            <a:pPr indent="-87628" lvl="0" marL="228600" rtl="0" algn="l">
              <a:lnSpc>
                <a:spcPct val="100000"/>
              </a:lnSpc>
              <a:spcBef>
                <a:spcPts val="0"/>
              </a:spcBef>
              <a:spcAft>
                <a:spcPts val="0"/>
              </a:spcAft>
              <a:buClr>
                <a:schemeClr val="dk1"/>
              </a:buClr>
              <a:buSzPts val="2400"/>
              <a:buNone/>
            </a:pPr>
            <a:r>
              <a:t/>
            </a:r>
            <a:endParaRPr sz="3200"/>
          </a:p>
        </p:txBody>
      </p:sp>
      <p:sp>
        <p:nvSpPr>
          <p:cNvPr id="376" name="Google Shape;376;p29"/>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MCQ</a:t>
            </a:r>
            <a:endParaRPr b="1" i="0" sz="2400" u="none" cap="none" strike="noStrike">
              <a:solidFill>
                <a:srgbClr val="C55A11"/>
              </a:solidFill>
              <a:latin typeface="Calibri"/>
              <a:ea typeface="Calibri"/>
              <a:cs typeface="Calibri"/>
              <a:sym typeface="Calibri"/>
            </a:endParaRPr>
          </a:p>
        </p:txBody>
      </p:sp>
      <p:cxnSp>
        <p:nvCxnSpPr>
          <p:cNvPr id="377" name="Google Shape;377;p29"/>
          <p:cNvCxnSpPr/>
          <p:nvPr/>
        </p:nvCxnSpPr>
        <p:spPr>
          <a:xfrm>
            <a:off x="71586" y="1311544"/>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378" name="Google Shape;378;p29"/>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379" name="Google Shape;379;p29"/>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0"/>
          <p:cNvSpPr txBox="1"/>
          <p:nvPr>
            <p:ph idx="1" type="body"/>
          </p:nvPr>
        </p:nvSpPr>
        <p:spPr>
          <a:xfrm>
            <a:off x="88149" y="1409549"/>
            <a:ext cx="11924700" cy="5319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1800"/>
              <a:buNone/>
            </a:pPr>
            <a:r>
              <a:rPr lang="en-US" sz="3200"/>
              <a:t>3. To sort numbers ascending correctly, use:</a:t>
            </a:r>
            <a:endParaRPr sz="3200"/>
          </a:p>
          <a:p>
            <a:pPr indent="0" lvl="0" marL="0" rtl="0" algn="l">
              <a:lnSpc>
                <a:spcPct val="115000"/>
              </a:lnSpc>
              <a:spcBef>
                <a:spcPts val="0"/>
              </a:spcBef>
              <a:spcAft>
                <a:spcPts val="0"/>
              </a:spcAft>
              <a:buSzPts val="1800"/>
              <a:buNone/>
            </a:pPr>
            <a:r>
              <a:t/>
            </a:r>
            <a:endParaRPr sz="3200"/>
          </a:p>
          <a:p>
            <a:pPr indent="0" lvl="0" marL="0" rtl="0" algn="l">
              <a:lnSpc>
                <a:spcPct val="115000"/>
              </a:lnSpc>
              <a:spcBef>
                <a:spcPts val="0"/>
              </a:spcBef>
              <a:spcAft>
                <a:spcPts val="0"/>
              </a:spcAft>
              <a:buSzPts val="1800"/>
              <a:buNone/>
            </a:pPr>
            <a:r>
              <a:rPr lang="en-US" sz="3200"/>
              <a:t>A. arr.sort().reverse()</a:t>
            </a:r>
            <a:endParaRPr sz="3200"/>
          </a:p>
          <a:p>
            <a:pPr indent="0" lvl="0" marL="0" rtl="0" algn="l">
              <a:lnSpc>
                <a:spcPct val="115000"/>
              </a:lnSpc>
              <a:spcBef>
                <a:spcPts val="0"/>
              </a:spcBef>
              <a:spcAft>
                <a:spcPts val="0"/>
              </a:spcAft>
              <a:buSzPts val="1800"/>
              <a:buNone/>
            </a:pPr>
            <a:r>
              <a:rPr lang="en-US" sz="3200"/>
              <a:t>B. arr.sort()</a:t>
            </a:r>
            <a:endParaRPr sz="3200"/>
          </a:p>
          <a:p>
            <a:pPr indent="0" lvl="0" marL="0" rtl="0" algn="l">
              <a:lnSpc>
                <a:spcPct val="115000"/>
              </a:lnSpc>
              <a:spcBef>
                <a:spcPts val="0"/>
              </a:spcBef>
              <a:spcAft>
                <a:spcPts val="0"/>
              </a:spcAft>
              <a:buSzPts val="1800"/>
              <a:buNone/>
            </a:pPr>
            <a:r>
              <a:rPr lang="en-US" sz="3200"/>
              <a:t>C. arr.sort((a,b)=&gt;b-a).reverse()</a:t>
            </a:r>
            <a:endParaRPr sz="3200"/>
          </a:p>
          <a:p>
            <a:pPr indent="0" lvl="0" marL="0" rtl="0" algn="l">
              <a:lnSpc>
                <a:spcPct val="115000"/>
              </a:lnSpc>
              <a:spcBef>
                <a:spcPts val="0"/>
              </a:spcBef>
              <a:spcAft>
                <a:spcPts val="0"/>
              </a:spcAft>
              <a:buSzPts val="1800"/>
              <a:buNone/>
            </a:pPr>
            <a:r>
              <a:rPr lang="en-US" sz="3200"/>
              <a:t>D. arr.reverse().sort()</a:t>
            </a:r>
            <a:endParaRPr sz="3200"/>
          </a:p>
          <a:p>
            <a:pPr indent="0" lvl="0" marL="0" rtl="0" algn="l">
              <a:lnSpc>
                <a:spcPct val="115000"/>
              </a:lnSpc>
              <a:spcBef>
                <a:spcPts val="0"/>
              </a:spcBef>
              <a:spcAft>
                <a:spcPts val="0"/>
              </a:spcAft>
              <a:buSzPts val="1800"/>
              <a:buNone/>
            </a:pPr>
            <a:r>
              <a:t/>
            </a:r>
            <a:endParaRPr sz="3200"/>
          </a:p>
          <a:p>
            <a:pPr indent="0" lvl="0" marL="0" rtl="0" algn="l">
              <a:lnSpc>
                <a:spcPct val="115000"/>
              </a:lnSpc>
              <a:spcBef>
                <a:spcPts val="0"/>
              </a:spcBef>
              <a:spcAft>
                <a:spcPts val="0"/>
              </a:spcAft>
              <a:buSzPts val="1800"/>
              <a:buNone/>
            </a:pPr>
            <a:r>
              <a:t/>
            </a:r>
            <a:endParaRPr sz="3200"/>
          </a:p>
          <a:p>
            <a:pPr indent="-87628" lvl="0" marL="228600" rtl="0" algn="l">
              <a:lnSpc>
                <a:spcPct val="100000"/>
              </a:lnSpc>
              <a:spcBef>
                <a:spcPts val="0"/>
              </a:spcBef>
              <a:spcAft>
                <a:spcPts val="0"/>
              </a:spcAft>
              <a:buClr>
                <a:schemeClr val="dk1"/>
              </a:buClr>
              <a:buSzPts val="2400"/>
              <a:buNone/>
            </a:pPr>
            <a:r>
              <a:t/>
            </a:r>
            <a:endParaRPr sz="3200"/>
          </a:p>
        </p:txBody>
      </p:sp>
      <p:sp>
        <p:nvSpPr>
          <p:cNvPr id="386" name="Google Shape;386;p30"/>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MCQ</a:t>
            </a:r>
            <a:endParaRPr b="1" i="0" sz="2400" u="none" cap="none" strike="noStrike">
              <a:solidFill>
                <a:srgbClr val="C55A11"/>
              </a:solidFill>
              <a:latin typeface="Calibri"/>
              <a:ea typeface="Calibri"/>
              <a:cs typeface="Calibri"/>
              <a:sym typeface="Calibri"/>
            </a:endParaRPr>
          </a:p>
        </p:txBody>
      </p:sp>
      <p:cxnSp>
        <p:nvCxnSpPr>
          <p:cNvPr id="387" name="Google Shape;387;p30"/>
          <p:cNvCxnSpPr/>
          <p:nvPr/>
        </p:nvCxnSpPr>
        <p:spPr>
          <a:xfrm>
            <a:off x="71586" y="1311544"/>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388" name="Google Shape;388;p30"/>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389" name="Google Shape;389;p30"/>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1"/>
          <p:cNvSpPr txBox="1"/>
          <p:nvPr>
            <p:ph idx="1" type="body"/>
          </p:nvPr>
        </p:nvSpPr>
        <p:spPr>
          <a:xfrm>
            <a:off x="88149" y="1409549"/>
            <a:ext cx="11924700" cy="5319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1800"/>
              <a:buNone/>
            </a:pPr>
            <a:r>
              <a:rPr lang="en-US" sz="3200"/>
              <a:t>3. To sort numbers ascending correctly, use:</a:t>
            </a:r>
            <a:endParaRPr sz="3200"/>
          </a:p>
          <a:p>
            <a:pPr indent="0" lvl="0" marL="0" rtl="0" algn="l">
              <a:lnSpc>
                <a:spcPct val="115000"/>
              </a:lnSpc>
              <a:spcBef>
                <a:spcPts val="0"/>
              </a:spcBef>
              <a:spcAft>
                <a:spcPts val="0"/>
              </a:spcAft>
              <a:buSzPts val="1800"/>
              <a:buNone/>
            </a:pPr>
            <a:r>
              <a:t/>
            </a:r>
            <a:endParaRPr sz="3200"/>
          </a:p>
          <a:p>
            <a:pPr indent="0" lvl="0" marL="0" rtl="0" algn="l">
              <a:lnSpc>
                <a:spcPct val="115000"/>
              </a:lnSpc>
              <a:spcBef>
                <a:spcPts val="0"/>
              </a:spcBef>
              <a:spcAft>
                <a:spcPts val="0"/>
              </a:spcAft>
              <a:buSzPts val="1800"/>
              <a:buNone/>
            </a:pPr>
            <a:r>
              <a:rPr lang="en-US" sz="3200"/>
              <a:t>A. arr.sort().reverse()</a:t>
            </a:r>
            <a:endParaRPr sz="3200"/>
          </a:p>
          <a:p>
            <a:pPr indent="0" lvl="0" marL="0" rtl="0" algn="l">
              <a:lnSpc>
                <a:spcPct val="115000"/>
              </a:lnSpc>
              <a:spcBef>
                <a:spcPts val="0"/>
              </a:spcBef>
              <a:spcAft>
                <a:spcPts val="0"/>
              </a:spcAft>
              <a:buSzPts val="1800"/>
              <a:buNone/>
            </a:pPr>
            <a:r>
              <a:rPr lang="en-US" sz="3200"/>
              <a:t>B. arr.sort()</a:t>
            </a:r>
            <a:endParaRPr sz="3200"/>
          </a:p>
          <a:p>
            <a:pPr indent="0" lvl="0" marL="0" rtl="0" algn="l">
              <a:lnSpc>
                <a:spcPct val="115000"/>
              </a:lnSpc>
              <a:spcBef>
                <a:spcPts val="0"/>
              </a:spcBef>
              <a:spcAft>
                <a:spcPts val="0"/>
              </a:spcAft>
              <a:buSzPts val="1800"/>
              <a:buNone/>
            </a:pPr>
            <a:r>
              <a:rPr lang="en-US" sz="3200">
                <a:solidFill>
                  <a:srgbClr val="00FF00"/>
                </a:solidFill>
              </a:rPr>
              <a:t>C. arr.sort((a,b)=&gt;b-a).reverse()</a:t>
            </a:r>
            <a:endParaRPr sz="3200">
              <a:solidFill>
                <a:srgbClr val="00FF00"/>
              </a:solidFill>
            </a:endParaRPr>
          </a:p>
          <a:p>
            <a:pPr indent="0" lvl="0" marL="0" rtl="0" algn="l">
              <a:lnSpc>
                <a:spcPct val="115000"/>
              </a:lnSpc>
              <a:spcBef>
                <a:spcPts val="0"/>
              </a:spcBef>
              <a:spcAft>
                <a:spcPts val="0"/>
              </a:spcAft>
              <a:buSzPts val="1800"/>
              <a:buNone/>
            </a:pPr>
            <a:r>
              <a:rPr lang="en-US" sz="3200"/>
              <a:t>D. arr.reverse().sort()</a:t>
            </a:r>
            <a:endParaRPr sz="3200"/>
          </a:p>
          <a:p>
            <a:pPr indent="0" lvl="0" marL="0" rtl="0" algn="l">
              <a:lnSpc>
                <a:spcPct val="115000"/>
              </a:lnSpc>
              <a:spcBef>
                <a:spcPts val="0"/>
              </a:spcBef>
              <a:spcAft>
                <a:spcPts val="0"/>
              </a:spcAft>
              <a:buSzPts val="1800"/>
              <a:buNone/>
            </a:pPr>
            <a:r>
              <a:t/>
            </a:r>
            <a:endParaRPr sz="3200"/>
          </a:p>
          <a:p>
            <a:pPr indent="0" lvl="0" marL="0" rtl="0" algn="l">
              <a:lnSpc>
                <a:spcPct val="115000"/>
              </a:lnSpc>
              <a:spcBef>
                <a:spcPts val="0"/>
              </a:spcBef>
              <a:spcAft>
                <a:spcPts val="0"/>
              </a:spcAft>
              <a:buSzPts val="1800"/>
              <a:buNone/>
            </a:pPr>
            <a:r>
              <a:t/>
            </a:r>
            <a:endParaRPr sz="3200"/>
          </a:p>
          <a:p>
            <a:pPr indent="-87628" lvl="0" marL="228600" rtl="0" algn="l">
              <a:lnSpc>
                <a:spcPct val="100000"/>
              </a:lnSpc>
              <a:spcBef>
                <a:spcPts val="0"/>
              </a:spcBef>
              <a:spcAft>
                <a:spcPts val="0"/>
              </a:spcAft>
              <a:buClr>
                <a:schemeClr val="dk1"/>
              </a:buClr>
              <a:buSzPts val="2400"/>
              <a:buNone/>
            </a:pPr>
            <a:r>
              <a:t/>
            </a:r>
            <a:endParaRPr sz="3200"/>
          </a:p>
        </p:txBody>
      </p:sp>
      <p:sp>
        <p:nvSpPr>
          <p:cNvPr id="396" name="Google Shape;396;p31"/>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MCQ</a:t>
            </a:r>
            <a:endParaRPr b="1" i="0" sz="2400" u="none" cap="none" strike="noStrike">
              <a:solidFill>
                <a:srgbClr val="C55A11"/>
              </a:solidFill>
              <a:latin typeface="Calibri"/>
              <a:ea typeface="Calibri"/>
              <a:cs typeface="Calibri"/>
              <a:sym typeface="Calibri"/>
            </a:endParaRPr>
          </a:p>
        </p:txBody>
      </p:sp>
      <p:cxnSp>
        <p:nvCxnSpPr>
          <p:cNvPr id="397" name="Google Shape;397;p31"/>
          <p:cNvCxnSpPr/>
          <p:nvPr/>
        </p:nvCxnSpPr>
        <p:spPr>
          <a:xfrm>
            <a:off x="71586" y="1311544"/>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398" name="Google Shape;398;p31"/>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399" name="Google Shape;399;p31"/>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cxnSp>
        <p:nvCxnSpPr>
          <p:cNvPr id="404" name="Google Shape;404;g37b809729b5_1_0"/>
          <p:cNvCxnSpPr/>
          <p:nvPr/>
        </p:nvCxnSpPr>
        <p:spPr>
          <a:xfrm>
            <a:off x="5448168" y="2887308"/>
            <a:ext cx="4581300" cy="0"/>
          </a:xfrm>
          <a:prstGeom prst="straightConnector1">
            <a:avLst/>
          </a:prstGeom>
          <a:noFill/>
          <a:ln cap="flat" cmpd="sng" w="38100">
            <a:solidFill>
              <a:srgbClr val="C55A11"/>
            </a:solidFill>
            <a:prstDash val="solid"/>
            <a:miter lim="800000"/>
            <a:headEnd len="sm" w="sm" type="none"/>
            <a:tailEnd len="sm" w="sm" type="none"/>
          </a:ln>
        </p:spPr>
      </p:cxnSp>
      <p:sp>
        <p:nvSpPr>
          <p:cNvPr id="405" name="Google Shape;405;g37b809729b5_1_0"/>
          <p:cNvSpPr/>
          <p:nvPr/>
        </p:nvSpPr>
        <p:spPr>
          <a:xfrm>
            <a:off x="5460537" y="4049738"/>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Calibri"/>
              <a:ea typeface="Calibri"/>
              <a:cs typeface="Calibri"/>
              <a:sym typeface="Calibri"/>
            </a:endParaRPr>
          </a:p>
        </p:txBody>
      </p:sp>
      <p:sp>
        <p:nvSpPr>
          <p:cNvPr id="406" name="Google Shape;406;g37b809729b5_1_0"/>
          <p:cNvSpPr/>
          <p:nvPr/>
        </p:nvSpPr>
        <p:spPr>
          <a:xfrm>
            <a:off x="5460537" y="4573019"/>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407" name="Google Shape;407;g37b809729b5_1_0"/>
          <p:cNvPicPr preferRelativeResize="0"/>
          <p:nvPr/>
        </p:nvPicPr>
        <p:blipFill rotWithShape="1">
          <a:blip r:embed="rId3">
            <a:alphaModFix/>
          </a:blip>
          <a:srcRect b="0" l="0" r="0" t="0"/>
          <a:stretch/>
        </p:blipFill>
        <p:spPr>
          <a:xfrm>
            <a:off x="2423160" y="1606241"/>
            <a:ext cx="2132109" cy="3550188"/>
          </a:xfrm>
          <a:prstGeom prst="rect">
            <a:avLst/>
          </a:prstGeom>
          <a:noFill/>
          <a:ln>
            <a:noFill/>
          </a:ln>
        </p:spPr>
      </p:pic>
      <p:sp>
        <p:nvSpPr>
          <p:cNvPr id="408" name="Google Shape;408;g37b809729b5_1_0"/>
          <p:cNvSpPr/>
          <p:nvPr/>
        </p:nvSpPr>
        <p:spPr>
          <a:xfrm>
            <a:off x="5448168" y="2049518"/>
            <a:ext cx="4603800" cy="6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
        <p:nvSpPr>
          <p:cNvPr id="409" name="Google Shape;409;g37b809729b5_1_0"/>
          <p:cNvSpPr/>
          <p:nvPr/>
        </p:nvSpPr>
        <p:spPr>
          <a:xfrm>
            <a:off x="5448168" y="3128242"/>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Prof.</a:t>
            </a:r>
            <a:r>
              <a:rPr b="1" lang="en-US" sz="2400">
                <a:solidFill>
                  <a:schemeClr val="dk1"/>
                </a:solidFill>
                <a:latin typeface="Calibri"/>
                <a:ea typeface="Calibri"/>
                <a:cs typeface="Calibri"/>
                <a:sym typeface="Calibri"/>
              </a:rPr>
              <a:t> Pavan A C</a:t>
            </a:r>
            <a:endParaRPr b="1" i="0" sz="2400" u="none" cap="none" strike="noStrike">
              <a:solidFill>
                <a:schemeClr val="dk1"/>
              </a:solidFill>
              <a:latin typeface="Calibri"/>
              <a:ea typeface="Calibri"/>
              <a:cs typeface="Calibri"/>
              <a:sym typeface="Calibri"/>
            </a:endParaRPr>
          </a:p>
        </p:txBody>
      </p:sp>
      <p:sp>
        <p:nvSpPr>
          <p:cNvPr id="410" name="Google Shape;410;g37b809729b5_1_0"/>
          <p:cNvSpPr/>
          <p:nvPr/>
        </p:nvSpPr>
        <p:spPr>
          <a:xfrm>
            <a:off x="5448168" y="3525847"/>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sp>
        <p:nvSpPr>
          <p:cNvPr id="411" name="Google Shape;411;g37b809729b5_1_0"/>
          <p:cNvSpPr/>
          <p:nvPr/>
        </p:nvSpPr>
        <p:spPr>
          <a:xfrm>
            <a:off x="10184524" y="0"/>
            <a:ext cx="2007600" cy="1606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412" name="Google Shape;412;g37b809729b5_1_0"/>
          <p:cNvGrpSpPr/>
          <p:nvPr/>
        </p:nvGrpSpPr>
        <p:grpSpPr>
          <a:xfrm>
            <a:off x="259292" y="349466"/>
            <a:ext cx="11518312" cy="6218269"/>
            <a:chOff x="313939" y="349466"/>
            <a:chExt cx="11518312" cy="6218269"/>
          </a:xfrm>
        </p:grpSpPr>
        <p:sp>
          <p:nvSpPr>
            <p:cNvPr id="413" name="Google Shape;413;g37b809729b5_1_0"/>
            <p:cNvSpPr/>
            <p:nvPr/>
          </p:nvSpPr>
          <p:spPr>
            <a:xfrm>
              <a:off x="11786532" y="360726"/>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4" name="Google Shape;414;g37b809729b5_1_0"/>
            <p:cNvSpPr/>
            <p:nvPr/>
          </p:nvSpPr>
          <p:spPr>
            <a:xfrm rot="5400000">
              <a:off x="11276051" y="-161134"/>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5" name="Google Shape;415;g37b809729b5_1_0"/>
            <p:cNvSpPr/>
            <p:nvPr/>
          </p:nvSpPr>
          <p:spPr>
            <a:xfrm rot="5400000">
              <a:off x="824539" y="6011535"/>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6" name="Google Shape;416;g37b809729b5_1_0"/>
            <p:cNvSpPr/>
            <p:nvPr/>
          </p:nvSpPr>
          <p:spPr>
            <a:xfrm rot="10800000">
              <a:off x="313963" y="5489794"/>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