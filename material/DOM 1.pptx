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6858000" cx="12192000"/>
  <p:notesSz cx="6858000" cy="9144000"/>
  <p:embeddedFontLst>
    <p:embeddedFont>
      <p:font typeface="Roboto"/>
      <p:regular r:id="rId42"/>
      <p:bold r:id="rId43"/>
      <p:italic r:id="rId44"/>
      <p:boldItalic r:id="rId45"/>
    </p:embeddedFont>
    <p:embeddedFont>
      <p:font typeface="Libre Baskerville"/>
      <p:regular r:id="rId46"/>
      <p:bold r:id="rId47"/>
      <p: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9" roundtripDataSignature="AMtx7mgauvQdbvJES2Sl/1tm21ntqTzE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BF700B-717E-4B31-BD9C-922BACC73AFF}">
  <a:tblStyle styleId="{D8BF700B-717E-4B31-BD9C-922BACC73AF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7C1A2C2A-95B9-4524-9A1D-155CFCEF5A1C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254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Roboto-regular.fntdata"/><Relationship Id="rId41" Type="http://schemas.openxmlformats.org/officeDocument/2006/relationships/slide" Target="slides/slide35.xml"/><Relationship Id="rId44" Type="http://schemas.openxmlformats.org/officeDocument/2006/relationships/font" Target="fonts/Roboto-italic.fntdata"/><Relationship Id="rId43" Type="http://schemas.openxmlformats.org/officeDocument/2006/relationships/font" Target="fonts/Roboto-bold.fntdata"/><Relationship Id="rId46" Type="http://schemas.openxmlformats.org/officeDocument/2006/relationships/font" Target="fonts/LibreBaskerville-regular.fntdata"/><Relationship Id="rId45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LibreBaskerville-italic.fntdata"/><Relationship Id="rId47" Type="http://schemas.openxmlformats.org/officeDocument/2006/relationships/font" Target="fonts/LibreBaskerville-bold.fntdata"/><Relationship Id="rId4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6edd0799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76edd0799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0" name="Google Shape;390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76f09bfb0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g376f09bfb0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6edd0799e_0_0"/>
          <p:cNvSpPr/>
          <p:nvPr/>
        </p:nvSpPr>
        <p:spPr>
          <a:xfrm>
            <a:off x="4793761" y="1688267"/>
            <a:ext cx="7497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WEB TECHNOLOGIES</a:t>
            </a:r>
            <a:endParaRPr b="1" i="0" sz="36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76edd0799e_0_0"/>
          <p:cNvSpPr/>
          <p:nvPr/>
        </p:nvSpPr>
        <p:spPr>
          <a:xfrm>
            <a:off x="4781916" y="2841955"/>
            <a:ext cx="69945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2F5496"/>
                </a:solidFill>
              </a:rPr>
              <a:t>Document Object Model</a:t>
            </a:r>
            <a:endParaRPr b="1" sz="36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36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76edd0799e_0_0"/>
          <p:cNvSpPr/>
          <p:nvPr/>
        </p:nvSpPr>
        <p:spPr>
          <a:xfrm>
            <a:off x="4781916" y="4415503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Pavan A C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76edd0799e_0_0"/>
          <p:cNvSpPr/>
          <p:nvPr/>
        </p:nvSpPr>
        <p:spPr>
          <a:xfrm>
            <a:off x="4781916" y="4813108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" name="Google Shape;88;g376edd0799e_0_0"/>
          <p:cNvCxnSpPr/>
          <p:nvPr/>
        </p:nvCxnSpPr>
        <p:spPr>
          <a:xfrm>
            <a:off x="4781916" y="4112437"/>
            <a:ext cx="4581300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89" name="Google Shape;89;g376edd0799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7840" y="1606241"/>
            <a:ext cx="2121177" cy="355018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76edd0799e_0_0"/>
          <p:cNvSpPr/>
          <p:nvPr/>
        </p:nvSpPr>
        <p:spPr>
          <a:xfrm>
            <a:off x="10184524" y="0"/>
            <a:ext cx="2007600" cy="160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g376edd0799e_0_0"/>
          <p:cNvGrpSpPr/>
          <p:nvPr/>
        </p:nvGrpSpPr>
        <p:grpSpPr>
          <a:xfrm>
            <a:off x="259292" y="349466"/>
            <a:ext cx="11518312" cy="6218269"/>
            <a:chOff x="313939" y="349466"/>
            <a:chExt cx="11518312" cy="6218269"/>
          </a:xfrm>
        </p:grpSpPr>
        <p:sp>
          <p:nvSpPr>
            <p:cNvPr id="92" name="Google Shape;92;g376edd0799e_0_0"/>
            <p:cNvSpPr/>
            <p:nvPr/>
          </p:nvSpPr>
          <p:spPr>
            <a:xfrm>
              <a:off x="11786532" y="360726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g376edd0799e_0_0"/>
            <p:cNvSpPr/>
            <p:nvPr/>
          </p:nvSpPr>
          <p:spPr>
            <a:xfrm rot="5400000">
              <a:off x="11276051" y="-161134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g376edd0799e_0_0"/>
            <p:cNvSpPr/>
            <p:nvPr/>
          </p:nvSpPr>
          <p:spPr>
            <a:xfrm rot="5400000">
              <a:off x="824539" y="6011535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g376edd0799e_0_0"/>
            <p:cNvSpPr/>
            <p:nvPr/>
          </p:nvSpPr>
          <p:spPr>
            <a:xfrm rot="10800000">
              <a:off x="313963" y="5489794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g376edd0799e_0_0"/>
          <p:cNvSpPr txBox="1"/>
          <p:nvPr/>
        </p:nvSpPr>
        <p:spPr>
          <a:xfrm>
            <a:off x="1767850" y="5470625"/>
            <a:ext cx="7085100" cy="9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Acknowledgement: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Teaching Assistants(Samved Suresh Jain and Sathyajit P)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DOM – Document Object Model </a:t>
            </a:r>
            <a:endParaRPr b="1" i="0" sz="24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4" name="Google Shape;104;p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HTML5,Jquery and Ajax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81631" y="1313282"/>
            <a:ext cx="9823759" cy="50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web page is loaded, the browser creates 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ocument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bject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odel of the page.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 DOM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 is constructed as a tree of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HTML DOM is a standard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 and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interface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HTML. It defines: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HTML elements as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all HTML elements.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access all HTML elements.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2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all HTML elements.</a:t>
            </a:r>
            <a:endParaRPr b="0" i="0" sz="2400" u="none" cap="none" strike="noStrike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762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DOM – Document Object Model </a:t>
            </a:r>
            <a:endParaRPr b="1" i="0" sz="24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HTML5,Jquery and Ajax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181631" y="1313282"/>
            <a:ext cx="9823759" cy="50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DOM of a page is created -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4733" y="1919000"/>
            <a:ext cx="8017565" cy="45169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291986" y="63958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DOM – Document Object Model </a:t>
            </a:r>
            <a:endParaRPr b="1" i="0" sz="24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-8308" y="1142290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2" name="Google Shape;122;p4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HTML5,Jquery and Ajax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-153450" y="1080375"/>
            <a:ext cx="11134800" cy="50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95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Document Object Model (DOM) represents the web page and it can be manipulated. The DOM is an object-oriented representation of the web page, which can be modified with a scripting language such as JavaScript.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95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 is not a part of the JavaScript language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DOM is constructed from the browser and is globally accessible by JavaScript code using the document object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4953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853" y="3901240"/>
            <a:ext cx="10410432" cy="2872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DOM – Tree Representation </a:t>
            </a:r>
            <a:endParaRPr b="1" i="0" sz="2400" u="none" cap="none" strike="noStrike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5"/>
          <p:cNvCxnSpPr/>
          <p:nvPr/>
        </p:nvCxnSpPr>
        <p:spPr>
          <a:xfrm>
            <a:off x="-8308" y="1316458"/>
            <a:ext cx="8300052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5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HTML5,Jquery and Ajax</a:t>
            </a:r>
            <a:endParaRPr b="1" i="0" sz="24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393111" y="1458400"/>
            <a:ext cx="9930332" cy="5008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&lt;title&gt;JavaScript DOM&lt;/title&gt;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&lt;/head&gt;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&lt;p&gt;Hello DOM!&lt;/p&gt;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&lt;/body&gt;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&lt;/html&gt;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35620" y="1546704"/>
            <a:ext cx="3511600" cy="429369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5" name="Google Shape;135;p5"/>
          <p:cNvCxnSpPr/>
          <p:nvPr/>
        </p:nvCxnSpPr>
        <p:spPr>
          <a:xfrm>
            <a:off x="5102087" y="1347109"/>
            <a:ext cx="0" cy="4692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1280849" y="6070650"/>
            <a:ext cx="904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this DOM tree, the document is the root node. The root node has one child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is the &lt;html&gt; element. The &lt;html&gt; element is called the document element.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/>
        </p:nvSpPr>
        <p:spPr>
          <a:xfrm>
            <a:off x="413421" y="1546700"/>
            <a:ext cx="10635600" cy="4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W3C Document Object Model (DOM) provides a platform- and language‑independent interface that allows programs and scripts to dynamically access and modify a document’s content, structure, and style.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method </a:t>
            </a:r>
            <a:r>
              <a:rPr b="0" i="0" lang="en-US" sz="20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document.write()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behaves differently depending on when it is called: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executed while the page is still loading, it inserts the specified content at the point the script is encountered, effectively appending to the document as it is being parsed.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executed after the page has finished loading, it clears the entire document and replaces it with the new content, effectively overwriting the existing page.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practice, </a:t>
            </a:r>
            <a:r>
              <a:rPr b="0" i="0" lang="en-US" sz="20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document.write()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almost never used for appending to already loaded documents, because after load completion it will not add to the page, but instead overwrite it.</a:t>
            </a:r>
            <a:endParaRPr b="0" i="1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2550" lvl="0" marL="234950" marR="0" rtl="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7950" lvl="0" marL="234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3" name="Google Shape;143;p6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6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Drawbacks of using document.write()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64014" y="2041215"/>
            <a:ext cx="4759181" cy="33422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7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7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Introduction to DOM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413414" y="2166900"/>
            <a:ext cx="61506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4950" lvl="0" marL="234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Web page is a document. This document can be either displayed in the browser window or as the HTML source. But it is the same document in both cases.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8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8"/>
          <p:cNvSpPr txBox="1"/>
          <p:nvPr/>
        </p:nvSpPr>
        <p:spPr>
          <a:xfrm>
            <a:off x="430225" y="1587500"/>
            <a:ext cx="83715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Objects have properties and methods, and respond to events.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Properties are used to specify attributes or characteristics of an object.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are used to specify functions an object can perform.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Events are methods corresponding to user actions.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/>
        </p:nvSpPr>
        <p:spPr>
          <a:xfrm>
            <a:off x="168275" y="1492250"/>
            <a:ext cx="8145463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0513" lvl="0" marL="2905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 document object is the gateway to all the HTML elements and their styling properties that make up what gets shown.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2905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dynamically add elements, remove them, move them around, modify attributes on them.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0513" lvl="0" marL="2905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Any text, graphics or any information displayed on a web page is part of the document object.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9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9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The document Object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371475" y="600075"/>
            <a:ext cx="7999413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DOM Elements Are Objects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10"/>
          <p:cNvCxnSpPr/>
          <p:nvPr/>
        </p:nvCxnSpPr>
        <p:spPr>
          <a:xfrm>
            <a:off x="-7938" y="131603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0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625813" y="1621938"/>
            <a:ext cx="7935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HTML tag, style rule, and other things that go into your page has some sort of a representation in the DOM.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3075" y="2522525"/>
            <a:ext cx="8705850" cy="403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/>
          <p:nvPr/>
        </p:nvSpPr>
        <p:spPr>
          <a:xfrm>
            <a:off x="468950" y="1435125"/>
            <a:ext cx="8501100" cy="4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DOM objects can be accessed using DOM Methods, some are given below: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document.write("string")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writes the given string directly into the document (while loading, not recommended after load).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document.getElementById(id)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returns the element with the specified </a:t>
            </a:r>
            <a:r>
              <a:rPr b="0" i="0" lang="en-US" sz="20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document.getElementsByName(name)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returns a list of all elements with a given </a:t>
            </a:r>
            <a:r>
              <a:rPr b="0" i="0" lang="en-US" sz="20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attribute.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•"/>
            </a:pPr>
            <a:r>
              <a:rPr b="0" i="0" lang="en-US" sz="2000" u="none" cap="none" strike="noStrike">
                <a:solidFill>
                  <a:srgbClr val="188038"/>
                </a:solidFill>
                <a:latin typeface="Calibri"/>
                <a:ea typeface="Calibri"/>
                <a:cs typeface="Calibri"/>
                <a:sym typeface="Calibri"/>
              </a:rPr>
              <a:t>document.getElementsByTagName(tag)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returns a list of all elements with a given tag name.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11"/>
          <p:cNvCxnSpPr/>
          <p:nvPr/>
        </p:nvCxnSpPr>
        <p:spPr>
          <a:xfrm>
            <a:off x="0" y="1074738"/>
            <a:ext cx="8299450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1" name="Google Shape;191;p11"/>
          <p:cNvSpPr/>
          <p:nvPr/>
        </p:nvSpPr>
        <p:spPr>
          <a:xfrm>
            <a:off x="371475" y="600075"/>
            <a:ext cx="799941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Accessing DOM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2"/>
          <p:cNvSpPr/>
          <p:nvPr/>
        </p:nvSpPr>
        <p:spPr>
          <a:xfrm>
            <a:off x="433388" y="1009650"/>
            <a:ext cx="8501062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2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9" name="Google Shape;199;p12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Accessing Elements in DOM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1" name="Google Shape;201;p12"/>
          <p:cNvGraphicFramePr/>
          <p:nvPr/>
        </p:nvGraphicFramePr>
        <p:xfrm>
          <a:off x="549563" y="2077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{D8BF700B-717E-4B31-BD9C-922BACC73AFF}</a:tableStyleId>
              </a:tblPr>
              <a:tblGrid>
                <a:gridCol w="2150650"/>
                <a:gridCol w="2232025"/>
                <a:gridCol w="42395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Access Element By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Equivalent Selector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Method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ID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#demo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getElementByID(“demo”)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Class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.demo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getElementsByClassName(“demo”)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Tag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&lt;tag name&gt; like p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getElementsByTagName(“p”)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Selector (single)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Any CSS Selector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querySelector(“selector”)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Selector (all)</a:t>
                      </a:r>
                      <a:endParaRPr sz="2200" u="none" cap="none" strike="noStrike"/>
                    </a:p>
                  </a:txBody>
                  <a:tcPr marT="45725" marB="45725" marR="91450" marL="91450" anchor="ctr"/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Arial"/>
                        <a:buNone/>
                      </a:pPr>
                      <a:r>
                        <a:rPr lang="en-US" sz="2200" u="none" cap="none" strike="noStrike"/>
                        <a:t>querySelectorAll(“selector”)</a:t>
                      </a:r>
                      <a:endParaRPr sz="22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02" name="Google Shape;2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3"/>
          <p:cNvSpPr/>
          <p:nvPr/>
        </p:nvSpPr>
        <p:spPr>
          <a:xfrm>
            <a:off x="393713" y="616238"/>
            <a:ext cx="74961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getElementById()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393700" y="1613725"/>
            <a:ext cx="10145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document.getElementById()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method returns the element of specified id.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parameter of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getElementById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be any expression that evaluates to a string.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Syntax-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document.getElementById(“#id");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13"/>
          <p:cNvCxnSpPr/>
          <p:nvPr/>
        </p:nvCxnSpPr>
        <p:spPr>
          <a:xfrm>
            <a:off x="-7938" y="1275463"/>
            <a:ext cx="8299500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0" name="Google Shape;21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getElementsByTagName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()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33402" y="1009650"/>
            <a:ext cx="9766200" cy="39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getElementsByTagName()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used to access elements and attributes using tag name.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method will return an array of all the items with the same tag name as a NodeList object.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Syntax-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document.getElementsByTagName(tagname)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" name="Google Shape;217;p14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8" name="Google Shape;2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getElementsByName()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433388" y="1009650"/>
            <a:ext cx="9288462" cy="28622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b="0" i="1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getElementsByName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method returns a collection of all elements in the document with the specified name (the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of the name attribute), as a NodeList object.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Syntax-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document.getElementsByName(name);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15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6" name="Google Shape;2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Document.querySelector()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492625" y="1123250"/>
            <a:ext cx="10299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 Document method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querySelector()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returns the first Element within the document that matches the specified selector, or group of selectors.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no matches are found, null is returned.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Syntax-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document.querySelector(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3" name="Google Shape;233;p16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4" name="Google Shape;2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Document.querySelectorAll()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433388" y="1135063"/>
            <a:ext cx="8478837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 Document method 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querySelectorAll()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returns a static (not live) NodeList representing a list of the document's elements that match the specified group of selectors.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no matches are found, null is returned.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Syntax-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elementList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parentNode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.querySelectorAll(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selectors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1" name="Google Shape;241;p17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2" name="Google Shape;2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Traversing the DOM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18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49" name="Google Shape;2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238" y="1376363"/>
            <a:ext cx="8732837" cy="4687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"/>
          <p:cNvSpPr/>
          <p:nvPr/>
        </p:nvSpPr>
        <p:spPr>
          <a:xfrm>
            <a:off x="393700" y="216863"/>
            <a:ext cx="74961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Traversing the DOM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6" name="Google Shape;256;p19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57" name="Google Shape;25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475" y="1195388"/>
            <a:ext cx="7635875" cy="44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/>
          <p:nvPr/>
        </p:nvSpPr>
        <p:spPr>
          <a:xfrm>
            <a:off x="393700" y="252413"/>
            <a:ext cx="749617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Traversing the DOM - From child node or siblings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20"/>
          <p:cNvCxnSpPr/>
          <p:nvPr/>
        </p:nvCxnSpPr>
        <p:spPr>
          <a:xfrm>
            <a:off x="-7938" y="801688"/>
            <a:ext cx="8299451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65" name="Google Shape;26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546688"/>
            <a:ext cx="5520874" cy="479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30175" y="1749275"/>
            <a:ext cx="5644925" cy="4554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20"/>
          <p:cNvCxnSpPr/>
          <p:nvPr/>
        </p:nvCxnSpPr>
        <p:spPr>
          <a:xfrm>
            <a:off x="5741687" y="801708"/>
            <a:ext cx="16200" cy="6070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4200" y="1546700"/>
            <a:ext cx="6419750" cy="4757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4" name="Google Shape;274;p21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5" name="Google Shape;275;p21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Traversing the DOM - From Parent Node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22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3" name="Google Shape;283;p22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Creating Element Objects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5" name="Google Shape;285;p22"/>
          <p:cNvGraphicFramePr/>
          <p:nvPr/>
        </p:nvGraphicFramePr>
        <p:xfrm>
          <a:off x="479425" y="17314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{7C1A2C2A-95B9-4524-9A1D-155CFCEF5A1C}</a:tableStyleId>
              </a:tblPr>
              <a:tblGrid>
                <a:gridCol w="3829350"/>
                <a:gridCol w="4878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Method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Description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document.createElement()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Create a new element node using tag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document.createTextNode()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Create a new text node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286" name="Google Shape;286;p22"/>
          <p:cNvGraphicFramePr/>
          <p:nvPr/>
        </p:nvGraphicFramePr>
        <p:xfrm>
          <a:off x="493280" y="339401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{7C1A2C2A-95B9-4524-9A1D-155CFCEF5A1C}</a:tableStyleId>
              </a:tblPr>
              <a:tblGrid>
                <a:gridCol w="2790250"/>
                <a:gridCol w="5917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Property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Description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node.textContent or node.innerText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Get or set the text content of an element node  (without HTML tags)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node.innerHTML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Get or set the HTML content enclosed in the element tag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287" name="Google Shape;2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2" name="Google Shape;292;p23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3" name="Google Shape;293;p23"/>
          <p:cNvSpPr/>
          <p:nvPr/>
        </p:nvSpPr>
        <p:spPr>
          <a:xfrm>
            <a:off x="413424" y="651898"/>
            <a:ext cx="799975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Manipulating Nodes in the DOM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393111" y="252240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5" name="Google Shape;295;p23"/>
          <p:cNvGraphicFramePr/>
          <p:nvPr/>
        </p:nvGraphicFramePr>
        <p:xfrm>
          <a:off x="364116" y="1580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{7C1A2C2A-95B9-4524-9A1D-155CFCEF5A1C}</a:tableStyleId>
              </a:tblPr>
              <a:tblGrid>
                <a:gridCol w="3079450"/>
                <a:gridCol w="55575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Method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Description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972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node.appendChild()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Add a node as the last child of the parent element.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node.insertBefore()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Insert a node into the parentbefore a specific sibling node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node.replaceChild()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Replace an existing node with a new node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467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node.removeChild()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Removes child node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node.remove()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cap="none" strike="noStrike"/>
                        <a:t>Removes a node</a:t>
                      </a:r>
                      <a:endParaRPr sz="2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96" name="Google Shape;296;p23"/>
          <p:cNvSpPr txBox="1"/>
          <p:nvPr/>
        </p:nvSpPr>
        <p:spPr>
          <a:xfrm>
            <a:off x="401782" y="5569527"/>
            <a:ext cx="836479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node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here can be document.body or any existing element in the DOM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7" name="Google Shape;29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2" name="Google Shape;302;p24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3" name="Google Shape;303;p24"/>
          <p:cNvSpPr/>
          <p:nvPr/>
        </p:nvSpPr>
        <p:spPr>
          <a:xfrm>
            <a:off x="413424" y="651898"/>
            <a:ext cx="79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Example of using DOM Methods in Code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4"/>
          <p:cNvSpPr/>
          <p:nvPr/>
        </p:nvSpPr>
        <p:spPr>
          <a:xfrm>
            <a:off x="393111" y="252240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100" y="1299948"/>
            <a:ext cx="7040904" cy="543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1" name="Google Shape;311;p25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2" name="Google Shape;312;p25"/>
          <p:cNvSpPr/>
          <p:nvPr/>
        </p:nvSpPr>
        <p:spPr>
          <a:xfrm>
            <a:off x="413424" y="651898"/>
            <a:ext cx="79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Example of using DOM Methods in Code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393111" y="252240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5600" y="1351798"/>
            <a:ext cx="6927937" cy="5439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0" name="Google Shape;320;p26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1" name="Google Shape;321;p26"/>
          <p:cNvSpPr/>
          <p:nvPr/>
        </p:nvSpPr>
        <p:spPr>
          <a:xfrm>
            <a:off x="413424" y="651898"/>
            <a:ext cx="79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Example of using DOM Methods in Code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393111" y="252240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3" name="Google Shape;3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4250" y="1546709"/>
            <a:ext cx="7305675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9" name="Google Shape;329;p27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0" name="Google Shape;330;p27"/>
          <p:cNvSpPr/>
          <p:nvPr/>
        </p:nvSpPr>
        <p:spPr>
          <a:xfrm>
            <a:off x="413424" y="651898"/>
            <a:ext cx="79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Example of using DOM Methods in Code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393111" y="252240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125" y="1462209"/>
            <a:ext cx="7652123" cy="5006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8" name="Google Shape;338;p28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9" name="Google Shape;339;p28"/>
          <p:cNvSpPr/>
          <p:nvPr/>
        </p:nvSpPr>
        <p:spPr>
          <a:xfrm>
            <a:off x="413424" y="651898"/>
            <a:ext cx="79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Example of using DOM Methods in Code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393111" y="252240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00" y="1438534"/>
            <a:ext cx="9098425" cy="5006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7" name="Google Shape;347;p29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8" name="Google Shape;348;p29"/>
          <p:cNvSpPr/>
          <p:nvPr/>
        </p:nvSpPr>
        <p:spPr>
          <a:xfrm>
            <a:off x="413424" y="651898"/>
            <a:ext cx="79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MCQ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9"/>
          <p:cNvSpPr/>
          <p:nvPr/>
        </p:nvSpPr>
        <p:spPr>
          <a:xfrm>
            <a:off x="393111" y="252240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0" name="Google Shape;3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9"/>
          <p:cNvSpPr txBox="1"/>
          <p:nvPr/>
        </p:nvSpPr>
        <p:spPr>
          <a:xfrm>
            <a:off x="393100" y="1649050"/>
            <a:ext cx="9996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is NOT a DOM element access method listed?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getElementById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getElementsByName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getElementsByTagName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getElementsByCss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6" name="Google Shape;356;p30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30"/>
          <p:cNvSpPr/>
          <p:nvPr/>
        </p:nvSpPr>
        <p:spPr>
          <a:xfrm>
            <a:off x="413424" y="651898"/>
            <a:ext cx="79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MCQ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393111" y="252240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9" name="Google Shape;3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0"/>
          <p:cNvSpPr txBox="1"/>
          <p:nvPr/>
        </p:nvSpPr>
        <p:spPr>
          <a:xfrm>
            <a:off x="393100" y="1649050"/>
            <a:ext cx="99960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eriod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is NOT a DOM element access method listed?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getElementById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getElementsByName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getElementsByTagName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D. getElementsByCss</a:t>
            </a:r>
            <a:endParaRPr b="0" i="0" sz="32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p31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413424" y="651898"/>
            <a:ext cx="79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MCQ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393111" y="252240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8" name="Google Shape;36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1"/>
          <p:cNvSpPr txBox="1"/>
          <p:nvPr/>
        </p:nvSpPr>
        <p:spPr>
          <a:xfrm>
            <a:off x="393100" y="1649050"/>
            <a:ext cx="9996000" cy="4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To create a new element node, use: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A. document.createElement()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document.newNode()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element.insertNode()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window.createElement()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4" name="Google Shape;374;p32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5" name="Google Shape;375;p32"/>
          <p:cNvSpPr/>
          <p:nvPr/>
        </p:nvSpPr>
        <p:spPr>
          <a:xfrm>
            <a:off x="413424" y="651898"/>
            <a:ext cx="79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MCQ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2"/>
          <p:cNvSpPr/>
          <p:nvPr/>
        </p:nvSpPr>
        <p:spPr>
          <a:xfrm>
            <a:off x="393111" y="252240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 txBox="1"/>
          <p:nvPr/>
        </p:nvSpPr>
        <p:spPr>
          <a:xfrm>
            <a:off x="393100" y="1649050"/>
            <a:ext cx="9996000" cy="4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To create a new element node, use: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A. document.createElement()</a:t>
            </a:r>
            <a:endParaRPr b="0" i="0" sz="32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document.newNode()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element.insertNode()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window.createElement()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3" name="Google Shape;383;p33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4" name="Google Shape;384;p33"/>
          <p:cNvSpPr/>
          <p:nvPr/>
        </p:nvSpPr>
        <p:spPr>
          <a:xfrm>
            <a:off x="413424" y="651898"/>
            <a:ext cx="79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MCQ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3"/>
          <p:cNvSpPr/>
          <p:nvPr/>
        </p:nvSpPr>
        <p:spPr>
          <a:xfrm>
            <a:off x="393111" y="252240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6" name="Google Shape;3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3"/>
          <p:cNvSpPr txBox="1"/>
          <p:nvPr/>
        </p:nvSpPr>
        <p:spPr>
          <a:xfrm>
            <a:off x="393100" y="1649050"/>
            <a:ext cx="9996000" cy="4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Which method removes a node directly from the DOM?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node.remove()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document.prune()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detachNode()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delete node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2" name="Google Shape;392;p34"/>
          <p:cNvCxnSpPr/>
          <p:nvPr/>
        </p:nvCxnSpPr>
        <p:spPr>
          <a:xfrm>
            <a:off x="0" y="1232703"/>
            <a:ext cx="7924800" cy="0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3" name="Google Shape;393;p34"/>
          <p:cNvSpPr/>
          <p:nvPr/>
        </p:nvSpPr>
        <p:spPr>
          <a:xfrm>
            <a:off x="413424" y="651898"/>
            <a:ext cx="799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MCQ</a:t>
            </a:r>
            <a:endParaRPr b="1" i="0" sz="2400" u="none" cap="none" strike="noStrike">
              <a:solidFill>
                <a:srgbClr val="C55A1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4"/>
          <p:cNvSpPr/>
          <p:nvPr/>
        </p:nvSpPr>
        <p:spPr>
          <a:xfrm>
            <a:off x="393111" y="252240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F5496"/>
                </a:solidFill>
                <a:latin typeface="Arial"/>
                <a:ea typeface="Arial"/>
                <a:cs typeface="Arial"/>
                <a:sym typeface="Arial"/>
              </a:rPr>
              <a:t>Document Object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5795" y="147746"/>
            <a:ext cx="844574" cy="1398963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4"/>
          <p:cNvSpPr txBox="1"/>
          <p:nvPr/>
        </p:nvSpPr>
        <p:spPr>
          <a:xfrm>
            <a:off x="393100" y="1649050"/>
            <a:ext cx="9996000" cy="4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Which method removes a node directly from the DOM?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A. node.remove()</a:t>
            </a:r>
            <a:endParaRPr b="0" i="0" sz="32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document.prune()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detachNode()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delete node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1" name="Google Shape;401;g376f09bfb01_0_0"/>
          <p:cNvCxnSpPr/>
          <p:nvPr/>
        </p:nvCxnSpPr>
        <p:spPr>
          <a:xfrm>
            <a:off x="5448168" y="2887308"/>
            <a:ext cx="4581300" cy="0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2" name="Google Shape;402;g376f09bfb01_0_0"/>
          <p:cNvSpPr/>
          <p:nvPr/>
        </p:nvSpPr>
        <p:spPr>
          <a:xfrm>
            <a:off x="5460537" y="4049738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g376f09bfb01_0_0"/>
          <p:cNvSpPr/>
          <p:nvPr/>
        </p:nvSpPr>
        <p:spPr>
          <a:xfrm>
            <a:off x="5460537" y="4573019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g376f09bfb0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3160" y="1606241"/>
            <a:ext cx="2132109" cy="3550188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76f09bfb01_0_0"/>
          <p:cNvSpPr/>
          <p:nvPr/>
        </p:nvSpPr>
        <p:spPr>
          <a:xfrm>
            <a:off x="5448168" y="2049518"/>
            <a:ext cx="46038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76f09bfb01_0_0"/>
          <p:cNvSpPr/>
          <p:nvPr/>
        </p:nvSpPr>
        <p:spPr>
          <a:xfrm>
            <a:off x="5448168" y="3128242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</a:t>
            </a: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Pavan A C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g376f09bfb01_0_0"/>
          <p:cNvSpPr/>
          <p:nvPr/>
        </p:nvSpPr>
        <p:spPr>
          <a:xfrm>
            <a:off x="5448168" y="3525847"/>
            <a:ext cx="749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g376f09bfb01_0_0"/>
          <p:cNvSpPr/>
          <p:nvPr/>
        </p:nvSpPr>
        <p:spPr>
          <a:xfrm>
            <a:off x="10184524" y="0"/>
            <a:ext cx="2007600" cy="160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9" name="Google Shape;409;g376f09bfb01_0_0"/>
          <p:cNvGrpSpPr/>
          <p:nvPr/>
        </p:nvGrpSpPr>
        <p:grpSpPr>
          <a:xfrm>
            <a:off x="259292" y="349466"/>
            <a:ext cx="11518312" cy="6218269"/>
            <a:chOff x="313939" y="349466"/>
            <a:chExt cx="11518312" cy="6218269"/>
          </a:xfrm>
        </p:grpSpPr>
        <p:sp>
          <p:nvSpPr>
            <p:cNvPr id="410" name="Google Shape;410;g376f09bfb01_0_0"/>
            <p:cNvSpPr/>
            <p:nvPr/>
          </p:nvSpPr>
          <p:spPr>
            <a:xfrm>
              <a:off x="11786532" y="360726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g376f09bfb01_0_0"/>
            <p:cNvSpPr/>
            <p:nvPr/>
          </p:nvSpPr>
          <p:spPr>
            <a:xfrm rot="5400000">
              <a:off x="11276051" y="-161134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g376f09bfb01_0_0"/>
            <p:cNvSpPr/>
            <p:nvPr/>
          </p:nvSpPr>
          <p:spPr>
            <a:xfrm rot="5400000">
              <a:off x="824539" y="6011535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g376f09bfb01_0_0"/>
            <p:cNvSpPr/>
            <p:nvPr/>
          </p:nvSpPr>
          <p:spPr>
            <a:xfrm rot="10800000">
              <a:off x="313963" y="5489794"/>
              <a:ext cx="45600" cy="1066800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