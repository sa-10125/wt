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12192000"/>
  <p:notesSz cx="12192000" cy="6858000"/>
  <p:embeddedFontLst>
    <p:embeddedFont>
      <p:font typeface="Carli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2" roundtripDataSignature="AMtx7mgTIeF1ZfYgNtb+SyJZUjaKbCwo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6D5D5B-F9DE-4C55-8A3E-A4F02829BBAB}">
  <a:tblStyle styleId="{E66D5D5B-F9DE-4C55-8A3E-A4F02829BBAB}"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arlito-italic.fntdata"/><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font" Target="fonts/Carlito-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Carlito-bold.fntdata"/><Relationship Id="rId6" Type="http://schemas.openxmlformats.org/officeDocument/2006/relationships/notesMaster" Target="notesMasters/notesMaster1.xml"/><Relationship Id="rId18" Type="http://schemas.openxmlformats.org/officeDocument/2006/relationships/font" Target="fonts/Carlito-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6905625" y="0"/>
            <a:ext cx="52832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2: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rgbClr val="202124"/>
                </a:solidFill>
                <a:latin typeface="Arial"/>
                <a:ea typeface="Arial"/>
                <a:cs typeface="Arial"/>
                <a:sym typeface="Arial"/>
              </a:rPr>
              <a:t>An object is </a:t>
            </a:r>
            <a:r>
              <a:rPr b="0" i="0" lang="en-US">
                <a:solidFill>
                  <a:srgbClr val="040C28"/>
                </a:solidFill>
                <a:latin typeface="Arial"/>
                <a:ea typeface="Arial"/>
                <a:cs typeface="Arial"/>
                <a:sym typeface="Arial"/>
              </a:rPr>
              <a:t>a collection of properties</a:t>
            </a:r>
            <a:r>
              <a:rPr b="0" i="0" lang="en-US">
                <a:solidFill>
                  <a:srgbClr val="202124"/>
                </a:solidFill>
                <a:latin typeface="Arial"/>
                <a:ea typeface="Arial"/>
                <a:cs typeface="Arial"/>
                <a:sym typeface="Arial"/>
              </a:rPr>
              <a:t>, and a property is an association between a name (or key) and a value. A property's value can be a function, in which case the property is known as a method. </a:t>
            </a:r>
            <a:endParaRPr/>
          </a:p>
        </p:txBody>
      </p:sp>
      <p:sp>
        <p:nvSpPr>
          <p:cNvPr id="57" name="Google Shape;57;p2:notes"/>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3"/>
          <p:cNvSpPr txBox="1"/>
          <p:nvPr>
            <p:ph type="title"/>
          </p:nvPr>
        </p:nvSpPr>
        <p:spPr>
          <a:xfrm>
            <a:off x="4362450" y="2054097"/>
            <a:ext cx="346710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rgbClr val="C55A11"/>
                </a:solidFill>
                <a:latin typeface="Carlito"/>
                <a:ea typeface="Carlito"/>
                <a:cs typeface="Carlito"/>
                <a:sym typeface="Carli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body"/>
          </p:nvPr>
        </p:nvSpPr>
        <p:spPr>
          <a:xfrm>
            <a:off x="318008" y="1616455"/>
            <a:ext cx="11555983" cy="33185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 name="Google Shape;18;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1" name="Shape 21"/>
        <p:cNvGrpSpPr/>
        <p:nvPr/>
      </p:nvGrpSpPr>
      <p:grpSpPr>
        <a:xfrm>
          <a:off x="0" y="0"/>
          <a:ext cx="0" cy="0"/>
          <a:chOff x="0" y="0"/>
          <a:chExt cx="0" cy="0"/>
        </a:xfrm>
      </p:grpSpPr>
      <p:sp>
        <p:nvSpPr>
          <p:cNvPr id="22" name="Google Shape;22;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sp>
        <p:nvSpPr>
          <p:cNvPr id="26" name="Google Shape;26;p15"/>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5"/>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16"/>
          <p:cNvSpPr txBox="1"/>
          <p:nvPr>
            <p:ph type="title"/>
          </p:nvPr>
        </p:nvSpPr>
        <p:spPr>
          <a:xfrm>
            <a:off x="4362450" y="2054097"/>
            <a:ext cx="346710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rgbClr val="C55A11"/>
                </a:solidFill>
                <a:latin typeface="Carlito"/>
                <a:ea typeface="Carlito"/>
                <a:cs typeface="Carlito"/>
                <a:sym typeface="Carli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6"/>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16"/>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17"/>
          <p:cNvSpPr txBox="1"/>
          <p:nvPr>
            <p:ph type="title"/>
          </p:nvPr>
        </p:nvSpPr>
        <p:spPr>
          <a:xfrm>
            <a:off x="4362450" y="2054097"/>
            <a:ext cx="346710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rgbClr val="C55A11"/>
                </a:solidFill>
                <a:latin typeface="Carlito"/>
                <a:ea typeface="Carlito"/>
                <a:cs typeface="Carlito"/>
                <a:sym typeface="Carli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4362450" y="2054097"/>
            <a:ext cx="3467100" cy="57403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600" u="none" cap="none" strike="noStrike">
                <a:solidFill>
                  <a:srgbClr val="C55A11"/>
                </a:solidFill>
                <a:latin typeface="Carlito"/>
                <a:ea typeface="Carlito"/>
                <a:cs typeface="Carlito"/>
                <a:sym typeface="Carli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
          <p:cNvSpPr txBox="1"/>
          <p:nvPr>
            <p:ph idx="1" type="body"/>
          </p:nvPr>
        </p:nvSpPr>
        <p:spPr>
          <a:xfrm>
            <a:off x="318008" y="1616455"/>
            <a:ext cx="11555983" cy="331851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1800" u="none" cap="none" strike="noStrike">
                <a:solidFill>
                  <a:srgbClr val="888888"/>
                </a:solidFill>
                <a:latin typeface="Calibri"/>
                <a:ea typeface="Calibri"/>
                <a:cs typeface="Calibri"/>
                <a:sym typeface="Calibri"/>
              </a:defRPr>
            </a:lvl1pPr>
            <a:lvl2pPr indent="0" lvl="1" marL="0" marR="0" rtl="0" algn="r">
              <a:spcBef>
                <a:spcPts val="0"/>
              </a:spcBef>
              <a:buNone/>
              <a:defRPr b="0" i="0" sz="1800" u="none" cap="none" strike="noStrike">
                <a:solidFill>
                  <a:srgbClr val="888888"/>
                </a:solidFill>
                <a:latin typeface="Calibri"/>
                <a:ea typeface="Calibri"/>
                <a:cs typeface="Calibri"/>
                <a:sym typeface="Calibri"/>
              </a:defRPr>
            </a:lvl2pPr>
            <a:lvl3pPr indent="0" lvl="2" marL="0" marR="0" rtl="0" algn="r">
              <a:spcBef>
                <a:spcPts val="0"/>
              </a:spcBef>
              <a:buNone/>
              <a:defRPr b="0" i="0" sz="1800" u="none" cap="none" strike="noStrike">
                <a:solidFill>
                  <a:srgbClr val="888888"/>
                </a:solidFill>
                <a:latin typeface="Calibri"/>
                <a:ea typeface="Calibri"/>
                <a:cs typeface="Calibri"/>
                <a:sym typeface="Calibri"/>
              </a:defRPr>
            </a:lvl3pPr>
            <a:lvl4pPr indent="0" lvl="3" marL="0" marR="0" rtl="0" algn="r">
              <a:spcBef>
                <a:spcPts val="0"/>
              </a:spcBef>
              <a:buNone/>
              <a:defRPr b="0" i="0" sz="1800" u="none" cap="none" strike="noStrike">
                <a:solidFill>
                  <a:srgbClr val="888888"/>
                </a:solidFill>
                <a:latin typeface="Calibri"/>
                <a:ea typeface="Calibri"/>
                <a:cs typeface="Calibri"/>
                <a:sym typeface="Calibri"/>
              </a:defRPr>
            </a:lvl4pPr>
            <a:lvl5pPr indent="0" lvl="4" marL="0" marR="0" rtl="0" algn="r">
              <a:spcBef>
                <a:spcPts val="0"/>
              </a:spcBef>
              <a:buNone/>
              <a:defRPr b="0" i="0" sz="1800" u="none" cap="none" strike="noStrike">
                <a:solidFill>
                  <a:srgbClr val="888888"/>
                </a:solidFill>
                <a:latin typeface="Calibri"/>
                <a:ea typeface="Calibri"/>
                <a:cs typeface="Calibri"/>
                <a:sym typeface="Calibri"/>
              </a:defRPr>
            </a:lvl5pPr>
            <a:lvl6pPr indent="0" lvl="5" marL="0" marR="0" rtl="0" algn="r">
              <a:spcBef>
                <a:spcPts val="0"/>
              </a:spcBef>
              <a:buNone/>
              <a:defRPr b="0" i="0" sz="1800" u="none" cap="none" strike="noStrike">
                <a:solidFill>
                  <a:srgbClr val="888888"/>
                </a:solidFill>
                <a:latin typeface="Calibri"/>
                <a:ea typeface="Calibri"/>
                <a:cs typeface="Calibri"/>
                <a:sym typeface="Calibri"/>
              </a:defRPr>
            </a:lvl6pPr>
            <a:lvl7pPr indent="0" lvl="6" marL="0" marR="0" rtl="0" algn="r">
              <a:spcBef>
                <a:spcPts val="0"/>
              </a:spcBef>
              <a:buNone/>
              <a:defRPr b="0" i="0" sz="1800" u="none" cap="none" strike="noStrike">
                <a:solidFill>
                  <a:srgbClr val="888888"/>
                </a:solidFill>
                <a:latin typeface="Calibri"/>
                <a:ea typeface="Calibri"/>
                <a:cs typeface="Calibri"/>
                <a:sym typeface="Calibri"/>
              </a:defRPr>
            </a:lvl7pPr>
            <a:lvl8pPr indent="0" lvl="7" marL="0" marR="0" rtl="0" algn="r">
              <a:spcBef>
                <a:spcPts val="0"/>
              </a:spcBef>
              <a:buNone/>
              <a:defRPr b="0" i="0" sz="1800" u="none" cap="none" strike="noStrike">
                <a:solidFill>
                  <a:srgbClr val="888888"/>
                </a:solidFill>
                <a:latin typeface="Calibri"/>
                <a:ea typeface="Calibri"/>
                <a:cs typeface="Calibri"/>
                <a:sym typeface="Calibri"/>
              </a:defRPr>
            </a:lvl8pPr>
            <a:lvl9pPr indent="0" lvl="8" marL="0" marR="0" rtl="0" algn="r">
              <a:spcBef>
                <a:spcPts val="0"/>
              </a:spcBef>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jp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jp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mailto:vinayj@pes.edu" TargetMode="External"/><Relationship Id="rId4" Type="http://schemas.openxmlformats.org/officeDocument/2006/relationships/hyperlink" Target="mailto:yj@pes.edu" TargetMode="External"/><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 name="Shape 46"/>
        <p:cNvGrpSpPr/>
        <p:nvPr/>
      </p:nvGrpSpPr>
      <p:grpSpPr>
        <a:xfrm>
          <a:off x="0" y="0"/>
          <a:ext cx="0" cy="0"/>
          <a:chOff x="0" y="0"/>
          <a:chExt cx="0" cy="0"/>
        </a:xfrm>
      </p:grpSpPr>
      <p:sp>
        <p:nvSpPr>
          <p:cNvPr id="47" name="Google Shape;47;p1"/>
          <p:cNvSpPr txBox="1"/>
          <p:nvPr/>
        </p:nvSpPr>
        <p:spPr>
          <a:xfrm>
            <a:off x="4861305" y="4397755"/>
            <a:ext cx="4337685" cy="1186815"/>
          </a:xfrm>
          <a:prstGeom prst="rect">
            <a:avLst/>
          </a:prstGeom>
          <a:noFill/>
          <a:ln>
            <a:noFill/>
          </a:ln>
        </p:spPr>
        <p:txBody>
          <a:bodyPr anchorCtr="0" anchor="t" bIns="0" lIns="0" spcFirstLastPara="1" rIns="0" wrap="square" tIns="44450">
            <a:spAutoFit/>
          </a:bodyPr>
          <a:lstStyle/>
          <a:p>
            <a:pPr indent="0" lvl="0" marL="12700" marR="0" rtl="0" algn="l">
              <a:lnSpc>
                <a:spcPct val="100000"/>
              </a:lnSpc>
              <a:spcBef>
                <a:spcPts val="0"/>
              </a:spcBef>
              <a:spcAft>
                <a:spcPts val="0"/>
              </a:spcAft>
              <a:buNone/>
            </a:pPr>
            <a:r>
              <a:rPr b="1" i="0" lang="en-US" sz="2400" u="none" cap="none" strike="noStrike">
                <a:solidFill>
                  <a:schemeClr val="dk1"/>
                </a:solidFill>
                <a:latin typeface="Carlito"/>
                <a:ea typeface="Carlito"/>
                <a:cs typeface="Carlito"/>
                <a:sym typeface="Carlito"/>
              </a:rPr>
              <a:t>Vinay Joshi</a:t>
            </a:r>
            <a:endParaRPr b="0" i="0" sz="2400" u="none" cap="none" strike="noStrike">
              <a:solidFill>
                <a:schemeClr val="dk1"/>
              </a:solidFill>
              <a:latin typeface="Carlito"/>
              <a:ea typeface="Carlito"/>
              <a:cs typeface="Carlito"/>
              <a:sym typeface="Carlito"/>
            </a:endParaRPr>
          </a:p>
          <a:p>
            <a:pPr indent="0" lvl="0" marL="12700" marR="0" rtl="0" algn="l">
              <a:lnSpc>
                <a:spcPct val="100000"/>
              </a:lnSpc>
              <a:spcBef>
                <a:spcPts val="250"/>
              </a:spcBef>
              <a:spcAft>
                <a:spcPts val="0"/>
              </a:spcAft>
              <a:buNone/>
            </a:pPr>
            <a:r>
              <a:rPr b="0" i="0" lang="en-US" sz="2400" u="none" cap="none" strike="noStrike">
                <a:solidFill>
                  <a:schemeClr val="dk1"/>
                </a:solidFill>
                <a:latin typeface="Arial"/>
                <a:ea typeface="Arial"/>
                <a:cs typeface="Arial"/>
                <a:sym typeface="Arial"/>
              </a:rPr>
              <a:t>Department of</a:t>
            </a:r>
            <a:endParaRPr b="0" i="0" sz="240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None/>
            </a:pPr>
            <a:r>
              <a:rPr b="0" i="0" lang="en-US" sz="2400" u="none" cap="none" strike="noStrike">
                <a:solidFill>
                  <a:schemeClr val="dk1"/>
                </a:solidFill>
                <a:latin typeface="Arial"/>
                <a:ea typeface="Arial"/>
                <a:cs typeface="Arial"/>
                <a:sym typeface="Arial"/>
              </a:rPr>
              <a:t>Computer Science and Engineering</a:t>
            </a:r>
            <a:endParaRPr b="0" i="0" sz="2400" u="none" cap="none" strike="noStrike">
              <a:solidFill>
                <a:schemeClr val="dk1"/>
              </a:solidFill>
              <a:latin typeface="Arial"/>
              <a:ea typeface="Arial"/>
              <a:cs typeface="Arial"/>
              <a:sym typeface="Arial"/>
            </a:endParaRPr>
          </a:p>
        </p:txBody>
      </p:sp>
      <p:sp>
        <p:nvSpPr>
          <p:cNvPr id="48" name="Google Shape;48;p1"/>
          <p:cNvSpPr/>
          <p:nvPr/>
        </p:nvSpPr>
        <p:spPr>
          <a:xfrm>
            <a:off x="313842" y="5489702"/>
            <a:ext cx="1067435" cy="1078230"/>
          </a:xfrm>
          <a:custGeom>
            <a:rect b="b" l="l" r="r" t="t"/>
            <a:pathLst>
              <a:path extrusionOk="0" h="1078229" w="1067435">
                <a:moveTo>
                  <a:pt x="1066888" y="1032446"/>
                </a:moveTo>
                <a:lnTo>
                  <a:pt x="45707" y="1032446"/>
                </a:lnTo>
                <a:lnTo>
                  <a:pt x="45707" y="0"/>
                </a:lnTo>
                <a:lnTo>
                  <a:pt x="0" y="0"/>
                </a:lnTo>
                <a:lnTo>
                  <a:pt x="0" y="1032446"/>
                </a:lnTo>
                <a:lnTo>
                  <a:pt x="0" y="1066888"/>
                </a:lnTo>
                <a:lnTo>
                  <a:pt x="0" y="1078153"/>
                </a:lnTo>
                <a:lnTo>
                  <a:pt x="1066888" y="1078153"/>
                </a:lnTo>
                <a:lnTo>
                  <a:pt x="1066888" y="1032446"/>
                </a:lnTo>
                <a:close/>
              </a:path>
            </a:pathLst>
          </a:custGeom>
          <a:solidFill>
            <a:srgbClr val="C55A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 name="Google Shape;49;p1"/>
          <p:cNvSpPr/>
          <p:nvPr/>
        </p:nvSpPr>
        <p:spPr>
          <a:xfrm>
            <a:off x="4781930" y="4112386"/>
            <a:ext cx="4581525" cy="0"/>
          </a:xfrm>
          <a:custGeom>
            <a:rect b="b" l="l" r="r" t="t"/>
            <a:pathLst>
              <a:path extrusionOk="0" h="120000" w="4581525">
                <a:moveTo>
                  <a:pt x="0" y="0"/>
                </a:moveTo>
                <a:lnTo>
                  <a:pt x="4581398" y="0"/>
                </a:lnTo>
              </a:path>
            </a:pathLst>
          </a:custGeom>
          <a:noFill/>
          <a:ln cap="flat" cmpd="sng" w="38100">
            <a:solidFill>
              <a:srgbClr val="C55A1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1"/>
          <p:cNvSpPr/>
          <p:nvPr/>
        </p:nvSpPr>
        <p:spPr>
          <a:xfrm>
            <a:off x="10855706" y="266077"/>
            <a:ext cx="1067435" cy="1078230"/>
          </a:xfrm>
          <a:custGeom>
            <a:rect b="b" l="l" r="r" t="t"/>
            <a:pathLst>
              <a:path extrusionOk="0" h="1078230" w="1067434">
                <a:moveTo>
                  <a:pt x="1066914" y="11201"/>
                </a:moveTo>
                <a:lnTo>
                  <a:pt x="1066901" y="0"/>
                </a:lnTo>
                <a:lnTo>
                  <a:pt x="0" y="0"/>
                </a:lnTo>
                <a:lnTo>
                  <a:pt x="0" y="45707"/>
                </a:lnTo>
                <a:lnTo>
                  <a:pt x="1021207" y="45707"/>
                </a:lnTo>
                <a:lnTo>
                  <a:pt x="1021207" y="1078090"/>
                </a:lnTo>
                <a:lnTo>
                  <a:pt x="1066914" y="1078090"/>
                </a:lnTo>
                <a:lnTo>
                  <a:pt x="1066914" y="11201"/>
                </a:lnTo>
                <a:close/>
              </a:path>
            </a:pathLst>
          </a:custGeom>
          <a:solidFill>
            <a:srgbClr val="C55A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1"/>
          <p:cNvSpPr txBox="1"/>
          <p:nvPr>
            <p:ph type="title"/>
          </p:nvPr>
        </p:nvSpPr>
        <p:spPr>
          <a:xfrm>
            <a:off x="4861305" y="1692605"/>
            <a:ext cx="3943985" cy="574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WEB TECHNOLOGIES</a:t>
            </a:r>
            <a:endParaRPr/>
          </a:p>
        </p:txBody>
      </p:sp>
      <p:sp>
        <p:nvSpPr>
          <p:cNvPr id="52" name="Google Shape;52;p1"/>
          <p:cNvSpPr txBox="1"/>
          <p:nvPr/>
        </p:nvSpPr>
        <p:spPr>
          <a:xfrm>
            <a:off x="4861305" y="2846578"/>
            <a:ext cx="3452495" cy="5740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3600">
                <a:solidFill>
                  <a:srgbClr val="2E5496"/>
                </a:solidFill>
                <a:latin typeface="Carlito"/>
                <a:ea typeface="Carlito"/>
                <a:cs typeface="Carlito"/>
                <a:sym typeface="Carlito"/>
              </a:rPr>
              <a:t>JavaScript Objects</a:t>
            </a:r>
            <a:endParaRPr sz="3600">
              <a:solidFill>
                <a:schemeClr val="dk1"/>
              </a:solidFill>
              <a:latin typeface="Carlito"/>
              <a:ea typeface="Carlito"/>
              <a:cs typeface="Carlito"/>
              <a:sym typeface="Carlito"/>
            </a:endParaRPr>
          </a:p>
        </p:txBody>
      </p:sp>
      <p:pic>
        <p:nvPicPr>
          <p:cNvPr id="53" name="Google Shape;53;p1"/>
          <p:cNvPicPr preferRelativeResize="0"/>
          <p:nvPr/>
        </p:nvPicPr>
        <p:blipFill rotWithShape="1">
          <a:blip r:embed="rId3">
            <a:alphaModFix/>
          </a:blip>
          <a:srcRect b="0" l="0" r="0" t="0"/>
          <a:stretch/>
        </p:blipFill>
        <p:spPr>
          <a:xfrm>
            <a:off x="1752600" y="1606241"/>
            <a:ext cx="2136417" cy="355018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8" name="Shape 58"/>
        <p:cNvGrpSpPr/>
        <p:nvPr/>
      </p:nvGrpSpPr>
      <p:grpSpPr>
        <a:xfrm>
          <a:off x="0" y="0"/>
          <a:ext cx="0" cy="0"/>
          <a:chOff x="0" y="0"/>
          <a:chExt cx="0" cy="0"/>
        </a:xfrm>
      </p:grpSpPr>
      <p:sp>
        <p:nvSpPr>
          <p:cNvPr id="59" name="Google Shape;59;p2"/>
          <p:cNvSpPr txBox="1"/>
          <p:nvPr>
            <p:ph type="title"/>
          </p:nvPr>
        </p:nvSpPr>
        <p:spPr>
          <a:xfrm>
            <a:off x="450595" y="231732"/>
            <a:ext cx="3992879" cy="825500"/>
          </a:xfrm>
          <a:prstGeom prst="rect">
            <a:avLst/>
          </a:prstGeom>
          <a:noFill/>
          <a:ln>
            <a:noFill/>
          </a:ln>
        </p:spPr>
        <p:txBody>
          <a:bodyPr anchorCtr="0" anchor="t" bIns="0" lIns="0" spcFirstLastPara="1" rIns="0" wrap="square" tIns="46350">
            <a:spAutoFit/>
          </a:bodyPr>
          <a:lstStyle/>
          <a:p>
            <a:pPr indent="0" lvl="0" marL="33655" rtl="0" algn="l">
              <a:lnSpc>
                <a:spcPct val="100000"/>
              </a:lnSpc>
              <a:spcBef>
                <a:spcPts val="0"/>
              </a:spcBef>
              <a:spcAft>
                <a:spcPts val="0"/>
              </a:spcAft>
              <a:buNone/>
            </a:pPr>
            <a:r>
              <a:rPr lang="en-US" sz="2400">
                <a:solidFill>
                  <a:srgbClr val="2E5496"/>
                </a:solidFill>
              </a:rPr>
              <a:t>Javascript Objects</a:t>
            </a:r>
            <a:endParaRPr sz="2400"/>
          </a:p>
          <a:p>
            <a:pPr indent="0" lvl="0" marL="12700" rtl="0" algn="l">
              <a:lnSpc>
                <a:spcPct val="100000"/>
              </a:lnSpc>
              <a:spcBef>
                <a:spcPts val="270"/>
              </a:spcBef>
              <a:spcAft>
                <a:spcPts val="0"/>
              </a:spcAft>
              <a:buNone/>
            </a:pPr>
            <a:r>
              <a:rPr lang="en-US" sz="2400"/>
              <a:t>Basic Object Oriented Concepts</a:t>
            </a:r>
            <a:endParaRPr sz="2400"/>
          </a:p>
        </p:txBody>
      </p:sp>
      <p:sp>
        <p:nvSpPr>
          <p:cNvPr id="60" name="Google Shape;60;p2"/>
          <p:cNvSpPr/>
          <p:nvPr/>
        </p:nvSpPr>
        <p:spPr>
          <a:xfrm>
            <a:off x="0" y="1297432"/>
            <a:ext cx="8291830" cy="38100"/>
          </a:xfrm>
          <a:custGeom>
            <a:rect b="b" l="l" r="r" t="t"/>
            <a:pathLst>
              <a:path extrusionOk="0" h="38100" w="8291830">
                <a:moveTo>
                  <a:pt x="8291703" y="0"/>
                </a:moveTo>
                <a:lnTo>
                  <a:pt x="0" y="0"/>
                </a:lnTo>
                <a:lnTo>
                  <a:pt x="0" y="38100"/>
                </a:lnTo>
                <a:lnTo>
                  <a:pt x="8291703" y="38100"/>
                </a:lnTo>
                <a:lnTo>
                  <a:pt x="8291703" y="0"/>
                </a:lnTo>
                <a:close/>
              </a:path>
            </a:pathLst>
          </a:custGeom>
          <a:solidFill>
            <a:srgbClr val="C55A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 name="Google Shape;61;p2"/>
          <p:cNvSpPr txBox="1"/>
          <p:nvPr/>
        </p:nvSpPr>
        <p:spPr>
          <a:xfrm>
            <a:off x="297891" y="1302500"/>
            <a:ext cx="9380855" cy="1473835"/>
          </a:xfrm>
          <a:prstGeom prst="rect">
            <a:avLst/>
          </a:prstGeom>
          <a:noFill/>
          <a:ln>
            <a:noFill/>
          </a:ln>
        </p:spPr>
        <p:txBody>
          <a:bodyPr anchorCtr="0" anchor="t" bIns="0" lIns="0" spcFirstLastPara="1" rIns="0" wrap="square" tIns="88900">
            <a:spAutoFit/>
          </a:bodyPr>
          <a:lstStyle/>
          <a:p>
            <a:pPr indent="-445133" lvl="0" marL="457200" marR="0" rtl="0" algn="l">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An object in JavaScript is a reference data type.</a:t>
            </a:r>
            <a:endParaRPr sz="2000">
              <a:solidFill>
                <a:schemeClr val="dk1"/>
              </a:solidFill>
              <a:latin typeface="Arial"/>
              <a:ea typeface="Arial"/>
              <a:cs typeface="Arial"/>
              <a:sym typeface="Arial"/>
            </a:endParaRPr>
          </a:p>
          <a:p>
            <a:pPr indent="-445133" lvl="0" marL="457200" marR="0" rtl="0" algn="l">
              <a:lnSpc>
                <a:spcPct val="100000"/>
              </a:lnSpc>
              <a:spcBef>
                <a:spcPts val="600"/>
              </a:spcBef>
              <a:spcAft>
                <a:spcPts val="0"/>
              </a:spcAft>
              <a:buClr>
                <a:schemeClr val="dk1"/>
              </a:buClr>
              <a:buSzPts val="2000"/>
              <a:buFont typeface="Arial"/>
              <a:buChar char="•"/>
            </a:pPr>
            <a:r>
              <a:rPr lang="en-US" sz="2000">
                <a:solidFill>
                  <a:schemeClr val="dk1"/>
                </a:solidFill>
                <a:latin typeface="Arial"/>
                <a:ea typeface="Arial"/>
                <a:cs typeface="Arial"/>
                <a:sym typeface="Arial"/>
              </a:rPr>
              <a:t>An object can be compared to any real world entities.</a:t>
            </a:r>
            <a:endParaRPr sz="2000">
              <a:solidFill>
                <a:schemeClr val="dk1"/>
              </a:solidFill>
              <a:latin typeface="Arial"/>
              <a:ea typeface="Arial"/>
              <a:cs typeface="Arial"/>
              <a:sym typeface="Arial"/>
            </a:endParaRPr>
          </a:p>
          <a:p>
            <a:pPr indent="-445133" lvl="0" marL="457200" marR="5080" rtl="0" algn="l">
              <a:lnSpc>
                <a:spcPct val="100000"/>
              </a:lnSpc>
              <a:spcBef>
                <a:spcPts val="600"/>
              </a:spcBef>
              <a:spcAft>
                <a:spcPts val="0"/>
              </a:spcAft>
              <a:buClr>
                <a:schemeClr val="dk1"/>
              </a:buClr>
              <a:buSzPts val="2000"/>
              <a:buFont typeface="Arial"/>
              <a:buChar char="•"/>
            </a:pPr>
            <a:r>
              <a:rPr lang="en-US" sz="2000">
                <a:solidFill>
                  <a:schemeClr val="dk1"/>
                </a:solidFill>
                <a:latin typeface="Arial"/>
                <a:ea typeface="Arial"/>
                <a:cs typeface="Arial"/>
                <a:sym typeface="Arial"/>
              </a:rPr>
              <a:t>An object is an unordered list of properties consisting of a name (always a string) and  a value. When the value of a property is a function, it is called a method.</a:t>
            </a:r>
            <a:endParaRPr sz="2000">
              <a:solidFill>
                <a:schemeClr val="dk1"/>
              </a:solidFill>
              <a:latin typeface="Arial"/>
              <a:ea typeface="Arial"/>
              <a:cs typeface="Arial"/>
              <a:sym typeface="Arial"/>
            </a:endParaRPr>
          </a:p>
        </p:txBody>
      </p:sp>
      <p:sp>
        <p:nvSpPr>
          <p:cNvPr id="62" name="Google Shape;62;p2"/>
          <p:cNvSpPr txBox="1"/>
          <p:nvPr/>
        </p:nvSpPr>
        <p:spPr>
          <a:xfrm>
            <a:off x="297891" y="5434380"/>
            <a:ext cx="204660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Arial"/>
                <a:ea typeface="Arial"/>
                <a:cs typeface="Arial"/>
                <a:sym typeface="Arial"/>
              </a:rPr>
              <a:t>Fig 1:Object Structure</a:t>
            </a:r>
            <a:endParaRPr sz="1800">
              <a:solidFill>
                <a:schemeClr val="dk1"/>
              </a:solidFill>
              <a:latin typeface="Arial"/>
              <a:ea typeface="Arial"/>
              <a:cs typeface="Arial"/>
              <a:sym typeface="Arial"/>
            </a:endParaRPr>
          </a:p>
        </p:txBody>
      </p:sp>
      <p:sp>
        <p:nvSpPr>
          <p:cNvPr id="63" name="Google Shape;63;p2"/>
          <p:cNvSpPr txBox="1"/>
          <p:nvPr/>
        </p:nvSpPr>
        <p:spPr>
          <a:xfrm>
            <a:off x="6083553" y="5780328"/>
            <a:ext cx="211391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Arial"/>
                <a:ea typeface="Arial"/>
                <a:cs typeface="Arial"/>
                <a:sym typeface="Arial"/>
              </a:rPr>
              <a:t>Fig 2:Object Reference</a:t>
            </a:r>
            <a:endParaRPr sz="1800">
              <a:solidFill>
                <a:schemeClr val="dk1"/>
              </a:solidFill>
              <a:latin typeface="Arial"/>
              <a:ea typeface="Arial"/>
              <a:cs typeface="Arial"/>
              <a:sym typeface="Arial"/>
            </a:endParaRPr>
          </a:p>
        </p:txBody>
      </p:sp>
      <p:sp>
        <p:nvSpPr>
          <p:cNvPr id="64" name="Google Shape;64;p2"/>
          <p:cNvSpPr txBox="1"/>
          <p:nvPr/>
        </p:nvSpPr>
        <p:spPr>
          <a:xfrm>
            <a:off x="297891" y="6073241"/>
            <a:ext cx="2846705" cy="63563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2000">
                <a:solidFill>
                  <a:srgbClr val="6F2F9F"/>
                </a:solidFill>
                <a:latin typeface="Arial"/>
                <a:ea typeface="Arial"/>
                <a:cs typeface="Arial"/>
                <a:sym typeface="Arial"/>
              </a:rPr>
              <a:t>Var object1= new Object();  Var object2 = object1;</a:t>
            </a:r>
            <a:endParaRPr sz="2000">
              <a:solidFill>
                <a:schemeClr val="dk1"/>
              </a:solidFill>
              <a:latin typeface="Arial"/>
              <a:ea typeface="Arial"/>
              <a:cs typeface="Arial"/>
              <a:sym typeface="Arial"/>
            </a:endParaRPr>
          </a:p>
        </p:txBody>
      </p:sp>
      <p:grpSp>
        <p:nvGrpSpPr>
          <p:cNvPr id="65" name="Google Shape;65;p2"/>
          <p:cNvGrpSpPr/>
          <p:nvPr/>
        </p:nvGrpSpPr>
        <p:grpSpPr>
          <a:xfrm>
            <a:off x="3299205" y="2894964"/>
            <a:ext cx="6531737" cy="2623185"/>
            <a:chOff x="3299205" y="2894964"/>
            <a:chExt cx="6531737" cy="2623185"/>
          </a:xfrm>
        </p:grpSpPr>
        <p:sp>
          <p:nvSpPr>
            <p:cNvPr id="66" name="Google Shape;66;p2"/>
            <p:cNvSpPr/>
            <p:nvPr/>
          </p:nvSpPr>
          <p:spPr>
            <a:xfrm>
              <a:off x="3299205" y="3055746"/>
              <a:ext cx="3366134" cy="198958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2"/>
            <p:cNvSpPr/>
            <p:nvPr/>
          </p:nvSpPr>
          <p:spPr>
            <a:xfrm>
              <a:off x="7159497" y="2894964"/>
              <a:ext cx="2671191" cy="2622677"/>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2"/>
            <p:cNvSpPr/>
            <p:nvPr/>
          </p:nvSpPr>
          <p:spPr>
            <a:xfrm>
              <a:off x="7159497" y="2894964"/>
              <a:ext cx="2671445" cy="2623185"/>
            </a:xfrm>
            <a:custGeom>
              <a:rect b="b" l="l" r="r" t="t"/>
              <a:pathLst>
                <a:path extrusionOk="0" h="2623185" w="2671445">
                  <a:moveTo>
                    <a:pt x="0" y="2622677"/>
                  </a:moveTo>
                  <a:lnTo>
                    <a:pt x="2671191" y="2622677"/>
                  </a:lnTo>
                  <a:lnTo>
                    <a:pt x="2671191" y="0"/>
                  </a:lnTo>
                  <a:lnTo>
                    <a:pt x="0" y="0"/>
                  </a:lnTo>
                  <a:lnTo>
                    <a:pt x="0" y="2622677"/>
                  </a:lnTo>
                  <a:close/>
                </a:path>
              </a:pathLst>
            </a:custGeom>
            <a:noFill/>
            <a:ln cap="flat" cmpd="sng" w="12700">
              <a:solidFill>
                <a:srgbClr val="A4A4A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2"/>
            <p:cNvSpPr/>
            <p:nvPr/>
          </p:nvSpPr>
          <p:spPr>
            <a:xfrm>
              <a:off x="7630033" y="3940047"/>
              <a:ext cx="1919605" cy="824230"/>
            </a:xfrm>
            <a:custGeom>
              <a:rect b="b" l="l" r="r" t="t"/>
              <a:pathLst>
                <a:path extrusionOk="0" h="824229" w="1919604">
                  <a:moveTo>
                    <a:pt x="1781937" y="0"/>
                  </a:moveTo>
                  <a:lnTo>
                    <a:pt x="137287" y="0"/>
                  </a:lnTo>
                  <a:lnTo>
                    <a:pt x="93894" y="6999"/>
                  </a:lnTo>
                  <a:lnTo>
                    <a:pt x="56208" y="26489"/>
                  </a:lnTo>
                  <a:lnTo>
                    <a:pt x="26489" y="56208"/>
                  </a:lnTo>
                  <a:lnTo>
                    <a:pt x="6999" y="93894"/>
                  </a:lnTo>
                  <a:lnTo>
                    <a:pt x="0" y="137287"/>
                  </a:lnTo>
                  <a:lnTo>
                    <a:pt x="0" y="686562"/>
                  </a:lnTo>
                  <a:lnTo>
                    <a:pt x="6999" y="730016"/>
                  </a:lnTo>
                  <a:lnTo>
                    <a:pt x="26489" y="767740"/>
                  </a:lnTo>
                  <a:lnTo>
                    <a:pt x="56208" y="797478"/>
                  </a:lnTo>
                  <a:lnTo>
                    <a:pt x="93894" y="816975"/>
                  </a:lnTo>
                  <a:lnTo>
                    <a:pt x="137287" y="823976"/>
                  </a:lnTo>
                  <a:lnTo>
                    <a:pt x="1781937" y="823976"/>
                  </a:lnTo>
                  <a:lnTo>
                    <a:pt x="1825329" y="816975"/>
                  </a:lnTo>
                  <a:lnTo>
                    <a:pt x="1863015" y="797478"/>
                  </a:lnTo>
                  <a:lnTo>
                    <a:pt x="1892734" y="767740"/>
                  </a:lnTo>
                  <a:lnTo>
                    <a:pt x="1912224" y="730016"/>
                  </a:lnTo>
                  <a:lnTo>
                    <a:pt x="1919224" y="686562"/>
                  </a:lnTo>
                  <a:lnTo>
                    <a:pt x="1919224" y="137287"/>
                  </a:lnTo>
                  <a:lnTo>
                    <a:pt x="1912224" y="93894"/>
                  </a:lnTo>
                  <a:lnTo>
                    <a:pt x="1892734" y="56208"/>
                  </a:lnTo>
                  <a:lnTo>
                    <a:pt x="1863015" y="26489"/>
                  </a:lnTo>
                  <a:lnTo>
                    <a:pt x="1825329" y="6999"/>
                  </a:lnTo>
                  <a:lnTo>
                    <a:pt x="1781937"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2"/>
            <p:cNvSpPr/>
            <p:nvPr/>
          </p:nvSpPr>
          <p:spPr>
            <a:xfrm>
              <a:off x="7630033" y="3940047"/>
              <a:ext cx="1919605" cy="824230"/>
            </a:xfrm>
            <a:custGeom>
              <a:rect b="b" l="l" r="r" t="t"/>
              <a:pathLst>
                <a:path extrusionOk="0" h="824229" w="1919604">
                  <a:moveTo>
                    <a:pt x="0" y="137287"/>
                  </a:moveTo>
                  <a:lnTo>
                    <a:pt x="6999" y="93894"/>
                  </a:lnTo>
                  <a:lnTo>
                    <a:pt x="26489" y="56208"/>
                  </a:lnTo>
                  <a:lnTo>
                    <a:pt x="56208" y="26489"/>
                  </a:lnTo>
                  <a:lnTo>
                    <a:pt x="93894" y="6999"/>
                  </a:lnTo>
                  <a:lnTo>
                    <a:pt x="137287" y="0"/>
                  </a:lnTo>
                  <a:lnTo>
                    <a:pt x="1781937" y="0"/>
                  </a:lnTo>
                  <a:lnTo>
                    <a:pt x="1825329" y="6999"/>
                  </a:lnTo>
                  <a:lnTo>
                    <a:pt x="1863015" y="26489"/>
                  </a:lnTo>
                  <a:lnTo>
                    <a:pt x="1892734" y="56208"/>
                  </a:lnTo>
                  <a:lnTo>
                    <a:pt x="1912224" y="93894"/>
                  </a:lnTo>
                  <a:lnTo>
                    <a:pt x="1919224" y="137287"/>
                  </a:lnTo>
                  <a:lnTo>
                    <a:pt x="1919224" y="686562"/>
                  </a:lnTo>
                  <a:lnTo>
                    <a:pt x="1912224" y="730016"/>
                  </a:lnTo>
                  <a:lnTo>
                    <a:pt x="1892734" y="767740"/>
                  </a:lnTo>
                  <a:lnTo>
                    <a:pt x="1863015" y="797478"/>
                  </a:lnTo>
                  <a:lnTo>
                    <a:pt x="1825329" y="816975"/>
                  </a:lnTo>
                  <a:lnTo>
                    <a:pt x="1781937" y="823976"/>
                  </a:lnTo>
                  <a:lnTo>
                    <a:pt x="137287" y="823976"/>
                  </a:lnTo>
                  <a:lnTo>
                    <a:pt x="93894" y="816975"/>
                  </a:lnTo>
                  <a:lnTo>
                    <a:pt x="56208" y="797478"/>
                  </a:lnTo>
                  <a:lnTo>
                    <a:pt x="26489" y="767740"/>
                  </a:lnTo>
                  <a:lnTo>
                    <a:pt x="6999" y="730016"/>
                  </a:lnTo>
                  <a:lnTo>
                    <a:pt x="0" y="686562"/>
                  </a:lnTo>
                  <a:lnTo>
                    <a:pt x="0" y="137287"/>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1" name="Google Shape;71;p2"/>
          <p:cNvSpPr txBox="1"/>
          <p:nvPr/>
        </p:nvSpPr>
        <p:spPr>
          <a:xfrm>
            <a:off x="8265032" y="4187774"/>
            <a:ext cx="651510"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a:solidFill>
                  <a:schemeClr val="dk1"/>
                </a:solidFill>
                <a:latin typeface="Carlito"/>
                <a:ea typeface="Carlito"/>
                <a:cs typeface="Carlito"/>
                <a:sym typeface="Carlito"/>
              </a:rPr>
              <a:t>Object</a:t>
            </a:r>
            <a:endParaRPr sz="1800">
              <a:solidFill>
                <a:schemeClr val="dk1"/>
              </a:solidFill>
              <a:latin typeface="Carlito"/>
              <a:ea typeface="Carlito"/>
              <a:cs typeface="Carlito"/>
              <a:sym typeface="Carlito"/>
            </a:endParaRPr>
          </a:p>
        </p:txBody>
      </p:sp>
      <p:grpSp>
        <p:nvGrpSpPr>
          <p:cNvPr id="72" name="Google Shape;72;p2"/>
          <p:cNvGrpSpPr/>
          <p:nvPr/>
        </p:nvGrpSpPr>
        <p:grpSpPr>
          <a:xfrm>
            <a:off x="3505200" y="3832847"/>
            <a:ext cx="4114799" cy="1034415"/>
            <a:chOff x="3505200" y="3832847"/>
            <a:chExt cx="4114799" cy="1034415"/>
          </a:xfrm>
        </p:grpSpPr>
        <p:sp>
          <p:nvSpPr>
            <p:cNvPr id="73" name="Google Shape;73;p2"/>
            <p:cNvSpPr/>
            <p:nvPr/>
          </p:nvSpPr>
          <p:spPr>
            <a:xfrm>
              <a:off x="3513581" y="3832847"/>
              <a:ext cx="1366520" cy="369570"/>
            </a:xfrm>
            <a:custGeom>
              <a:rect b="b" l="l" r="r" t="t"/>
              <a:pathLst>
                <a:path extrusionOk="0" h="369570" w="1366520">
                  <a:moveTo>
                    <a:pt x="1366519" y="0"/>
                  </a:moveTo>
                  <a:lnTo>
                    <a:pt x="0" y="0"/>
                  </a:lnTo>
                  <a:lnTo>
                    <a:pt x="0" y="369328"/>
                  </a:lnTo>
                  <a:lnTo>
                    <a:pt x="1366519" y="369328"/>
                  </a:lnTo>
                  <a:lnTo>
                    <a:pt x="1366519"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 name="Google Shape;74;p2"/>
            <p:cNvSpPr/>
            <p:nvPr/>
          </p:nvSpPr>
          <p:spPr>
            <a:xfrm>
              <a:off x="3513581" y="3832847"/>
              <a:ext cx="1366520" cy="369570"/>
            </a:xfrm>
            <a:custGeom>
              <a:rect b="b" l="l" r="r" t="t"/>
              <a:pathLst>
                <a:path extrusionOk="0" h="369570" w="1366520">
                  <a:moveTo>
                    <a:pt x="0" y="369328"/>
                  </a:moveTo>
                  <a:lnTo>
                    <a:pt x="1366519" y="369328"/>
                  </a:lnTo>
                  <a:lnTo>
                    <a:pt x="1366519" y="0"/>
                  </a:lnTo>
                  <a:lnTo>
                    <a:pt x="0" y="0"/>
                  </a:lnTo>
                  <a:lnTo>
                    <a:pt x="0" y="369328"/>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2"/>
            <p:cNvSpPr/>
            <p:nvPr/>
          </p:nvSpPr>
          <p:spPr>
            <a:xfrm>
              <a:off x="3505200" y="4497692"/>
              <a:ext cx="1366520" cy="369570"/>
            </a:xfrm>
            <a:custGeom>
              <a:rect b="b" l="l" r="r" t="t"/>
              <a:pathLst>
                <a:path extrusionOk="0" h="369570" w="1366520">
                  <a:moveTo>
                    <a:pt x="1366520" y="0"/>
                  </a:moveTo>
                  <a:lnTo>
                    <a:pt x="0" y="0"/>
                  </a:lnTo>
                  <a:lnTo>
                    <a:pt x="0" y="369328"/>
                  </a:lnTo>
                  <a:lnTo>
                    <a:pt x="1366520" y="369328"/>
                  </a:lnTo>
                  <a:lnTo>
                    <a:pt x="1366520"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2"/>
            <p:cNvSpPr/>
            <p:nvPr/>
          </p:nvSpPr>
          <p:spPr>
            <a:xfrm>
              <a:off x="3505200" y="4497692"/>
              <a:ext cx="1366520" cy="369570"/>
            </a:xfrm>
            <a:custGeom>
              <a:rect b="b" l="l" r="r" t="t"/>
              <a:pathLst>
                <a:path extrusionOk="0" h="369570" w="1366520">
                  <a:moveTo>
                    <a:pt x="0" y="369328"/>
                  </a:moveTo>
                  <a:lnTo>
                    <a:pt x="1366520" y="369328"/>
                  </a:lnTo>
                  <a:lnTo>
                    <a:pt x="1366520" y="0"/>
                  </a:lnTo>
                  <a:lnTo>
                    <a:pt x="0" y="0"/>
                  </a:lnTo>
                  <a:lnTo>
                    <a:pt x="0" y="369328"/>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 name="Google Shape;77;p2"/>
            <p:cNvSpPr/>
            <p:nvPr/>
          </p:nvSpPr>
          <p:spPr>
            <a:xfrm>
              <a:off x="5712460" y="3985133"/>
              <a:ext cx="1907539" cy="715645"/>
            </a:xfrm>
            <a:custGeom>
              <a:rect b="b" l="l" r="r" t="t"/>
              <a:pathLst>
                <a:path extrusionOk="0" h="715645" w="1907540">
                  <a:moveTo>
                    <a:pt x="1899158" y="659892"/>
                  </a:moveTo>
                  <a:lnTo>
                    <a:pt x="1882787" y="650367"/>
                  </a:lnTo>
                  <a:lnTo>
                    <a:pt x="1808861" y="607314"/>
                  </a:lnTo>
                  <a:lnTo>
                    <a:pt x="1804416" y="604647"/>
                  </a:lnTo>
                  <a:lnTo>
                    <a:pt x="1798574" y="606171"/>
                  </a:lnTo>
                  <a:lnTo>
                    <a:pt x="1795907" y="610743"/>
                  </a:lnTo>
                  <a:lnTo>
                    <a:pt x="1793240" y="615188"/>
                  </a:lnTo>
                  <a:lnTo>
                    <a:pt x="1794764" y="621030"/>
                  </a:lnTo>
                  <a:lnTo>
                    <a:pt x="1845043" y="650367"/>
                  </a:lnTo>
                  <a:lnTo>
                    <a:pt x="0" y="650367"/>
                  </a:lnTo>
                  <a:lnTo>
                    <a:pt x="0" y="669417"/>
                  </a:lnTo>
                  <a:lnTo>
                    <a:pt x="1845259" y="669417"/>
                  </a:lnTo>
                  <a:lnTo>
                    <a:pt x="1799336" y="696214"/>
                  </a:lnTo>
                  <a:lnTo>
                    <a:pt x="1794764" y="698754"/>
                  </a:lnTo>
                  <a:lnTo>
                    <a:pt x="1793240" y="704596"/>
                  </a:lnTo>
                  <a:lnTo>
                    <a:pt x="1798574" y="713740"/>
                  </a:lnTo>
                  <a:lnTo>
                    <a:pt x="1804416" y="715264"/>
                  </a:lnTo>
                  <a:lnTo>
                    <a:pt x="1808861" y="712597"/>
                  </a:lnTo>
                  <a:lnTo>
                    <a:pt x="1882838" y="669417"/>
                  </a:lnTo>
                  <a:lnTo>
                    <a:pt x="1899158" y="659892"/>
                  </a:lnTo>
                  <a:close/>
                </a:path>
                <a:path extrusionOk="0" h="715645" w="1907540">
                  <a:moveTo>
                    <a:pt x="1907540" y="55372"/>
                  </a:moveTo>
                  <a:lnTo>
                    <a:pt x="1891220" y="45847"/>
                  </a:lnTo>
                  <a:lnTo>
                    <a:pt x="1812671" y="0"/>
                  </a:lnTo>
                  <a:lnTo>
                    <a:pt x="1806956" y="1524"/>
                  </a:lnTo>
                  <a:lnTo>
                    <a:pt x="1801622" y="10668"/>
                  </a:lnTo>
                  <a:lnTo>
                    <a:pt x="1803146" y="16510"/>
                  </a:lnTo>
                  <a:lnTo>
                    <a:pt x="1853425" y="45847"/>
                  </a:lnTo>
                  <a:lnTo>
                    <a:pt x="8382" y="45847"/>
                  </a:lnTo>
                  <a:lnTo>
                    <a:pt x="8382" y="64897"/>
                  </a:lnTo>
                  <a:lnTo>
                    <a:pt x="1853425" y="64897"/>
                  </a:lnTo>
                  <a:lnTo>
                    <a:pt x="1803146" y="94234"/>
                  </a:lnTo>
                  <a:lnTo>
                    <a:pt x="1801622" y="100076"/>
                  </a:lnTo>
                  <a:lnTo>
                    <a:pt x="1806956" y="109220"/>
                  </a:lnTo>
                  <a:lnTo>
                    <a:pt x="1812671" y="110744"/>
                  </a:lnTo>
                  <a:lnTo>
                    <a:pt x="1891220" y="64897"/>
                  </a:lnTo>
                  <a:lnTo>
                    <a:pt x="1907540" y="5537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8" name="Google Shape;78;p2"/>
          <p:cNvGrpSpPr/>
          <p:nvPr/>
        </p:nvGrpSpPr>
        <p:grpSpPr>
          <a:xfrm>
            <a:off x="3771519" y="3186417"/>
            <a:ext cx="2582545" cy="369570"/>
            <a:chOff x="3771519" y="3186417"/>
            <a:chExt cx="2582545" cy="369570"/>
          </a:xfrm>
        </p:grpSpPr>
        <p:sp>
          <p:nvSpPr>
            <p:cNvPr id="79" name="Google Shape;79;p2"/>
            <p:cNvSpPr/>
            <p:nvPr/>
          </p:nvSpPr>
          <p:spPr>
            <a:xfrm>
              <a:off x="3771519" y="3186417"/>
              <a:ext cx="2582545" cy="369570"/>
            </a:xfrm>
            <a:custGeom>
              <a:rect b="b" l="l" r="r" t="t"/>
              <a:pathLst>
                <a:path extrusionOk="0" h="369570" w="2582545">
                  <a:moveTo>
                    <a:pt x="2582418" y="0"/>
                  </a:moveTo>
                  <a:lnTo>
                    <a:pt x="0" y="0"/>
                  </a:lnTo>
                  <a:lnTo>
                    <a:pt x="0" y="369328"/>
                  </a:lnTo>
                  <a:lnTo>
                    <a:pt x="2582418" y="369328"/>
                  </a:lnTo>
                  <a:lnTo>
                    <a:pt x="2582418"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2"/>
            <p:cNvSpPr/>
            <p:nvPr/>
          </p:nvSpPr>
          <p:spPr>
            <a:xfrm>
              <a:off x="3771519" y="3186417"/>
              <a:ext cx="2582545" cy="369570"/>
            </a:xfrm>
            <a:custGeom>
              <a:rect b="b" l="l" r="r" t="t"/>
              <a:pathLst>
                <a:path extrusionOk="0" h="369570" w="2582545">
                  <a:moveTo>
                    <a:pt x="0" y="369328"/>
                  </a:moveTo>
                  <a:lnTo>
                    <a:pt x="2582418" y="369328"/>
                  </a:lnTo>
                  <a:lnTo>
                    <a:pt x="2582418" y="0"/>
                  </a:lnTo>
                  <a:lnTo>
                    <a:pt x="0" y="0"/>
                  </a:lnTo>
                  <a:lnTo>
                    <a:pt x="0" y="369328"/>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aphicFrame>
        <p:nvGraphicFramePr>
          <p:cNvPr id="81" name="Google Shape;81;p2"/>
          <p:cNvGraphicFramePr/>
          <p:nvPr/>
        </p:nvGraphicFramePr>
        <p:xfrm>
          <a:off x="3292855" y="3049397"/>
          <a:ext cx="3000000" cy="3000000"/>
        </p:xfrm>
        <a:graphic>
          <a:graphicData uri="http://schemas.openxmlformats.org/drawingml/2006/table">
            <a:tbl>
              <a:tblPr bandRow="1" firstRow="1">
                <a:noFill/>
                <a:tableStyleId>{E66D5D5B-F9DE-4C55-8A3E-A4F02829BBAB}</a:tableStyleId>
              </a:tblPr>
              <a:tblGrid>
                <a:gridCol w="1695450"/>
                <a:gridCol w="1670050"/>
              </a:tblGrid>
              <a:tr h="623050">
                <a:tc gridSpan="2">
                  <a:txBody>
                    <a:bodyPr/>
                    <a:lstStyle/>
                    <a:p>
                      <a:pPr indent="0" lvl="0" marL="1086485" marR="0" rtl="0" algn="l">
                        <a:lnSpc>
                          <a:spcPct val="100000"/>
                        </a:lnSpc>
                        <a:spcBef>
                          <a:spcPts val="0"/>
                        </a:spcBef>
                        <a:spcAft>
                          <a:spcPts val="0"/>
                        </a:spcAft>
                        <a:buNone/>
                      </a:pPr>
                      <a:r>
                        <a:rPr b="1" lang="en-US" sz="1800" u="none" cap="none" strike="noStrike">
                          <a:latin typeface="Carlito"/>
                          <a:ea typeface="Carlito"/>
                          <a:cs typeface="Carlito"/>
                          <a:sym typeface="Carlito"/>
                        </a:rPr>
                        <a:t>Variable Object</a:t>
                      </a:r>
                      <a:endParaRPr sz="1800" u="none" cap="none" strike="noStrike">
                        <a:latin typeface="Carlito"/>
                        <a:ea typeface="Carlito"/>
                        <a:cs typeface="Carlito"/>
                        <a:sym typeface="Carlito"/>
                      </a:endParaRPr>
                    </a:p>
                  </a:txBody>
                  <a:tcPr marT="161925" marB="0" marR="0" marL="0">
                    <a:lnL cap="flat" cmpd="sng" w="12700">
                      <a:solidFill>
                        <a:srgbClr val="A4A4A4"/>
                      </a:solidFill>
                      <a:prstDash val="solid"/>
                      <a:round/>
                      <a:headEnd len="sm" w="sm" type="none"/>
                      <a:tailEnd len="sm" w="sm" type="none"/>
                    </a:lnL>
                    <a:lnR cap="flat" cmpd="sng" w="12700">
                      <a:solidFill>
                        <a:srgbClr val="A4A4A4"/>
                      </a:solidFill>
                      <a:prstDash val="solid"/>
                      <a:round/>
                      <a:headEnd len="sm" w="sm" type="none"/>
                      <a:tailEnd len="sm" w="sm" type="none"/>
                    </a:lnR>
                    <a:lnT cap="flat" cmpd="sng" w="12700">
                      <a:solidFill>
                        <a:srgbClr val="A4A4A4"/>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674875">
                <a:tc>
                  <a:txBody>
                    <a:bodyPr/>
                    <a:lstStyle/>
                    <a:p>
                      <a:pPr indent="0" lvl="0" marL="306070" marR="0" rtl="0" algn="l">
                        <a:lnSpc>
                          <a:spcPct val="100000"/>
                        </a:lnSpc>
                        <a:spcBef>
                          <a:spcPts val="0"/>
                        </a:spcBef>
                        <a:spcAft>
                          <a:spcPts val="0"/>
                        </a:spcAft>
                        <a:buNone/>
                      </a:pPr>
                      <a:r>
                        <a:rPr b="1" lang="en-US" sz="1800" u="none" cap="none" strike="noStrike">
                          <a:latin typeface="Carlito"/>
                          <a:ea typeface="Carlito"/>
                          <a:cs typeface="Carlito"/>
                          <a:sym typeface="Carlito"/>
                        </a:rPr>
                        <a:t>object1</a:t>
                      </a:r>
                      <a:endParaRPr sz="1800" u="none" cap="none" strike="noStrike">
                        <a:latin typeface="Carlito"/>
                        <a:ea typeface="Carlito"/>
                        <a:cs typeface="Carlito"/>
                        <a:sym typeface="Carlito"/>
                      </a:endParaRPr>
                    </a:p>
                  </a:txBody>
                  <a:tcPr marT="185425" marB="0" marR="0" marL="0">
                    <a:lnL cap="flat" cmpd="sng" w="12700">
                      <a:solidFill>
                        <a:srgbClr val="A4A4A4"/>
                      </a:solidFill>
                      <a:prstDash val="solid"/>
                      <a:round/>
                      <a:headEnd len="sm" w="sm" type="none"/>
                      <a:tailEnd len="sm" w="sm" type="none"/>
                    </a:lnL>
                    <a:lnR cap="flat" cmpd="sng" w="381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txBody>
                  <a:tcPr marT="0" marB="0" marR="0" marL="0">
                    <a:lnL cap="flat" cmpd="sng" w="38100">
                      <a:solidFill>
                        <a:srgbClr val="000000"/>
                      </a:solidFill>
                      <a:prstDash val="solid"/>
                      <a:round/>
                      <a:headEnd len="sm" w="sm" type="none"/>
                      <a:tailEnd len="sm" w="sm" type="none"/>
                    </a:lnL>
                    <a:lnR cap="flat" cmpd="sng" w="12700">
                      <a:solidFill>
                        <a:srgbClr val="A4A4A4"/>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91650">
                <a:tc>
                  <a:txBody>
                    <a:bodyPr/>
                    <a:lstStyle/>
                    <a:p>
                      <a:pPr indent="0" lvl="0" marL="297180" marR="0" rtl="0" algn="l">
                        <a:lnSpc>
                          <a:spcPct val="100000"/>
                        </a:lnSpc>
                        <a:spcBef>
                          <a:spcPts val="0"/>
                        </a:spcBef>
                        <a:spcAft>
                          <a:spcPts val="0"/>
                        </a:spcAft>
                        <a:buNone/>
                      </a:pPr>
                      <a:r>
                        <a:rPr b="1" lang="en-US" sz="1800" u="none" cap="none" strike="noStrike">
                          <a:latin typeface="Carlito"/>
                          <a:ea typeface="Carlito"/>
                          <a:cs typeface="Carlito"/>
                          <a:sym typeface="Carlito"/>
                        </a:rPr>
                        <a:t>object2</a:t>
                      </a:r>
                      <a:endParaRPr sz="1800" u="none" cap="none" strike="noStrike">
                        <a:latin typeface="Carlito"/>
                        <a:ea typeface="Carlito"/>
                        <a:cs typeface="Carlito"/>
                        <a:sym typeface="Carlito"/>
                      </a:endParaRPr>
                    </a:p>
                  </a:txBody>
                  <a:tcPr marT="175250" marB="0" marR="0" marL="0">
                    <a:lnL cap="flat" cmpd="sng" w="12700">
                      <a:solidFill>
                        <a:srgbClr val="A4A4A4"/>
                      </a:solidFill>
                      <a:prstDash val="solid"/>
                      <a:round/>
                      <a:headEnd len="sm" w="sm" type="none"/>
                      <a:tailEnd len="sm" w="sm" type="none"/>
                    </a:lnL>
                    <a:lnR cap="flat" cmpd="sng" w="381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A4A4A4"/>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txBody>
                  <a:tcPr marT="0" marB="0" marR="0" marL="0">
                    <a:lnL cap="flat" cmpd="sng" w="38100">
                      <a:solidFill>
                        <a:srgbClr val="000000"/>
                      </a:solidFill>
                      <a:prstDash val="solid"/>
                      <a:round/>
                      <a:headEnd len="sm" w="sm" type="none"/>
                      <a:tailEnd len="sm" w="sm" type="none"/>
                    </a:lnL>
                    <a:lnR cap="flat" cmpd="sng" w="12700">
                      <a:solidFill>
                        <a:srgbClr val="A4A4A4"/>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A4A4A4"/>
                      </a:solidFill>
                      <a:prstDash val="solid"/>
                      <a:round/>
                      <a:headEnd len="sm" w="sm" type="none"/>
                      <a:tailEnd len="sm" w="sm" type="none"/>
                    </a:lnB>
                  </a:tcPr>
                </a:tc>
              </a:tr>
            </a:tbl>
          </a:graphicData>
        </a:graphic>
      </p:graphicFrame>
      <p:grpSp>
        <p:nvGrpSpPr>
          <p:cNvPr id="82" name="Google Shape;82;p2"/>
          <p:cNvGrpSpPr/>
          <p:nvPr/>
        </p:nvGrpSpPr>
        <p:grpSpPr>
          <a:xfrm>
            <a:off x="7742301" y="3178035"/>
            <a:ext cx="1676400" cy="369570"/>
            <a:chOff x="7742301" y="3178035"/>
            <a:chExt cx="1676400" cy="369570"/>
          </a:xfrm>
        </p:grpSpPr>
        <p:sp>
          <p:nvSpPr>
            <p:cNvPr id="83" name="Google Shape;83;p2"/>
            <p:cNvSpPr/>
            <p:nvPr/>
          </p:nvSpPr>
          <p:spPr>
            <a:xfrm>
              <a:off x="7742301" y="3178035"/>
              <a:ext cx="1676400" cy="369570"/>
            </a:xfrm>
            <a:custGeom>
              <a:rect b="b" l="l" r="r" t="t"/>
              <a:pathLst>
                <a:path extrusionOk="0" h="369570" w="1676400">
                  <a:moveTo>
                    <a:pt x="1676400" y="0"/>
                  </a:moveTo>
                  <a:lnTo>
                    <a:pt x="0" y="0"/>
                  </a:lnTo>
                  <a:lnTo>
                    <a:pt x="0" y="369328"/>
                  </a:lnTo>
                  <a:lnTo>
                    <a:pt x="1676400" y="369328"/>
                  </a:lnTo>
                  <a:lnTo>
                    <a:pt x="1676400" y="0"/>
                  </a:lnTo>
                  <a:close/>
                </a:path>
              </a:pathLst>
            </a:custGeom>
            <a:solidFill>
              <a:srgbClr val="FFC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2"/>
            <p:cNvSpPr/>
            <p:nvPr/>
          </p:nvSpPr>
          <p:spPr>
            <a:xfrm>
              <a:off x="7742301" y="3178035"/>
              <a:ext cx="1676400" cy="369570"/>
            </a:xfrm>
            <a:custGeom>
              <a:rect b="b" l="l" r="r" t="t"/>
              <a:pathLst>
                <a:path extrusionOk="0" h="369570" w="1676400">
                  <a:moveTo>
                    <a:pt x="0" y="369328"/>
                  </a:moveTo>
                  <a:lnTo>
                    <a:pt x="1676400" y="369328"/>
                  </a:lnTo>
                  <a:lnTo>
                    <a:pt x="1676400" y="0"/>
                  </a:lnTo>
                  <a:lnTo>
                    <a:pt x="0" y="0"/>
                  </a:lnTo>
                  <a:lnTo>
                    <a:pt x="0" y="369328"/>
                  </a:lnTo>
                  <a:close/>
                </a:path>
              </a:pathLst>
            </a:custGeom>
            <a:noFill/>
            <a:ln cap="flat" cmpd="sng" w="190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5" name="Google Shape;85;p2"/>
          <p:cNvSpPr txBox="1"/>
          <p:nvPr/>
        </p:nvSpPr>
        <p:spPr>
          <a:xfrm>
            <a:off x="7742301" y="3178035"/>
            <a:ext cx="1676400" cy="369570"/>
          </a:xfrm>
          <a:prstGeom prst="rect">
            <a:avLst/>
          </a:prstGeom>
          <a:noFill/>
          <a:ln>
            <a:noFill/>
          </a:ln>
        </p:spPr>
        <p:txBody>
          <a:bodyPr anchorCtr="0" anchor="t" bIns="0" lIns="0" spcFirstLastPara="1" rIns="0" wrap="square" tIns="31100">
            <a:spAutoFit/>
          </a:bodyPr>
          <a:lstStyle/>
          <a:p>
            <a:pPr indent="0" lvl="0" marL="404495" marR="0" rtl="0" algn="l">
              <a:lnSpc>
                <a:spcPct val="100000"/>
              </a:lnSpc>
              <a:spcBef>
                <a:spcPts val="0"/>
              </a:spcBef>
              <a:spcAft>
                <a:spcPts val="0"/>
              </a:spcAft>
              <a:buNone/>
            </a:pPr>
            <a:r>
              <a:rPr b="1" lang="en-US" sz="1800">
                <a:solidFill>
                  <a:schemeClr val="dk1"/>
                </a:solidFill>
                <a:latin typeface="Carlito"/>
                <a:ea typeface="Carlito"/>
                <a:cs typeface="Carlito"/>
                <a:sym typeface="Carlito"/>
              </a:rPr>
              <a:t>MEMORY</a:t>
            </a:r>
            <a:endParaRPr sz="1800">
              <a:solidFill>
                <a:schemeClr val="dk1"/>
              </a:solidFill>
              <a:latin typeface="Carlito"/>
              <a:ea typeface="Carlito"/>
              <a:cs typeface="Carlito"/>
              <a:sym typeface="Carlito"/>
            </a:endParaRPr>
          </a:p>
        </p:txBody>
      </p:sp>
      <p:sp>
        <p:nvSpPr>
          <p:cNvPr id="86" name="Google Shape;86;p2"/>
          <p:cNvSpPr/>
          <p:nvPr/>
        </p:nvSpPr>
        <p:spPr>
          <a:xfrm>
            <a:off x="31785" y="3064636"/>
            <a:ext cx="2685888" cy="189547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87" name="Google Shape;87;p2"/>
          <p:cNvPicPr preferRelativeResize="0"/>
          <p:nvPr/>
        </p:nvPicPr>
        <p:blipFill rotWithShape="1">
          <a:blip r:embed="rId6">
            <a:alphaModFix/>
          </a:blip>
          <a:srcRect b="0" l="0" r="0" t="0"/>
          <a:stretch/>
        </p:blipFill>
        <p:spPr>
          <a:xfrm>
            <a:off x="11125201" y="10586"/>
            <a:ext cx="887582" cy="139896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1" name="Shape 91"/>
        <p:cNvGrpSpPr/>
        <p:nvPr/>
      </p:nvGrpSpPr>
      <p:grpSpPr>
        <a:xfrm>
          <a:off x="0" y="0"/>
          <a:ext cx="0" cy="0"/>
          <a:chOff x="0" y="0"/>
          <a:chExt cx="0" cy="0"/>
        </a:xfrm>
      </p:grpSpPr>
      <p:sp>
        <p:nvSpPr>
          <p:cNvPr id="92" name="Google Shape;92;p3"/>
          <p:cNvSpPr txBox="1"/>
          <p:nvPr/>
        </p:nvSpPr>
        <p:spPr>
          <a:xfrm>
            <a:off x="450595" y="265557"/>
            <a:ext cx="4187190" cy="749300"/>
          </a:xfrm>
          <a:prstGeom prst="rect">
            <a:avLst/>
          </a:prstGeom>
          <a:noFill/>
          <a:ln>
            <a:noFill/>
          </a:ln>
        </p:spPr>
        <p:txBody>
          <a:bodyPr anchorCtr="0" anchor="t" bIns="0" lIns="0" spcFirstLastPara="1" rIns="0" wrap="square" tIns="12700">
            <a:spAutoFit/>
          </a:bodyPr>
          <a:lstStyle/>
          <a:p>
            <a:pPr indent="0" lvl="0" marL="33655" marR="0" rtl="0" algn="l">
              <a:lnSpc>
                <a:spcPct val="118750"/>
              </a:lnSpc>
              <a:spcBef>
                <a:spcPts val="0"/>
              </a:spcBef>
              <a:spcAft>
                <a:spcPts val="0"/>
              </a:spcAft>
              <a:buNone/>
            </a:pPr>
            <a:r>
              <a:rPr b="1" lang="en-US" sz="2400">
                <a:solidFill>
                  <a:srgbClr val="2E5496"/>
                </a:solidFill>
                <a:latin typeface="Carlito"/>
                <a:ea typeface="Carlito"/>
                <a:cs typeface="Carlito"/>
                <a:sym typeface="Carlito"/>
              </a:rPr>
              <a:t>Javascript Objects</a:t>
            </a:r>
            <a:endParaRPr sz="2400">
              <a:solidFill>
                <a:schemeClr val="dk1"/>
              </a:solidFill>
              <a:latin typeface="Carlito"/>
              <a:ea typeface="Carlito"/>
              <a:cs typeface="Carlito"/>
              <a:sym typeface="Carlito"/>
            </a:endParaRPr>
          </a:p>
          <a:p>
            <a:pPr indent="0" lvl="0" marL="12700" marR="0" rtl="0" algn="l">
              <a:lnSpc>
                <a:spcPct val="118750"/>
              </a:lnSpc>
              <a:spcBef>
                <a:spcPts val="0"/>
              </a:spcBef>
              <a:spcAft>
                <a:spcPts val="0"/>
              </a:spcAft>
              <a:buNone/>
            </a:pPr>
            <a:r>
              <a:rPr b="1" lang="en-US" sz="2400">
                <a:solidFill>
                  <a:srgbClr val="C55A11"/>
                </a:solidFill>
                <a:latin typeface="Carlito"/>
                <a:ea typeface="Carlito"/>
                <a:cs typeface="Carlito"/>
                <a:sym typeface="Carlito"/>
              </a:rPr>
              <a:t>Object Literals using {key : value}</a:t>
            </a:r>
            <a:endParaRPr sz="2400">
              <a:solidFill>
                <a:schemeClr val="dk1"/>
              </a:solidFill>
              <a:latin typeface="Carlito"/>
              <a:ea typeface="Carlito"/>
              <a:cs typeface="Carlito"/>
              <a:sym typeface="Carlito"/>
            </a:endParaRPr>
          </a:p>
        </p:txBody>
      </p:sp>
      <p:sp>
        <p:nvSpPr>
          <p:cNvPr id="93" name="Google Shape;93;p3"/>
          <p:cNvSpPr/>
          <p:nvPr/>
        </p:nvSpPr>
        <p:spPr>
          <a:xfrm>
            <a:off x="0" y="1297432"/>
            <a:ext cx="8291830" cy="38100"/>
          </a:xfrm>
          <a:custGeom>
            <a:rect b="b" l="l" r="r" t="t"/>
            <a:pathLst>
              <a:path extrusionOk="0" h="38100" w="8291830">
                <a:moveTo>
                  <a:pt x="8291703" y="0"/>
                </a:moveTo>
                <a:lnTo>
                  <a:pt x="0" y="0"/>
                </a:lnTo>
                <a:lnTo>
                  <a:pt x="0" y="38100"/>
                </a:lnTo>
                <a:lnTo>
                  <a:pt x="8291703" y="38100"/>
                </a:lnTo>
                <a:lnTo>
                  <a:pt x="8291703" y="0"/>
                </a:lnTo>
                <a:close/>
              </a:path>
            </a:pathLst>
          </a:custGeom>
          <a:solidFill>
            <a:srgbClr val="C55A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3"/>
          <p:cNvSpPr txBox="1"/>
          <p:nvPr/>
        </p:nvSpPr>
        <p:spPr>
          <a:xfrm>
            <a:off x="262839" y="4610176"/>
            <a:ext cx="8872855" cy="1492250"/>
          </a:xfrm>
          <a:prstGeom prst="rect">
            <a:avLst/>
          </a:prstGeom>
          <a:noFill/>
          <a:ln>
            <a:noFill/>
          </a:ln>
        </p:spPr>
        <p:txBody>
          <a:bodyPr anchorCtr="0" anchor="t" bIns="0" lIns="0" spcFirstLastPara="1" rIns="0" wrap="square" tIns="12700">
            <a:spAutoFit/>
          </a:bodyPr>
          <a:lstStyle/>
          <a:p>
            <a:pPr indent="-243204" lvl="0" marL="255270" marR="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 variant of object literal syntax</a:t>
            </a:r>
            <a:endParaRPr sz="2400">
              <a:solidFill>
                <a:schemeClr val="dk1"/>
              </a:solidFill>
              <a:latin typeface="Arial"/>
              <a:ea typeface="Arial"/>
              <a:cs typeface="Arial"/>
              <a:sym typeface="Arial"/>
            </a:endParaRPr>
          </a:p>
          <a:p>
            <a:pPr indent="-152400" lvl="0" marL="12700" marR="508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Specifies object members and their values inside the curly brackets as  key-value pairs</a:t>
            </a:r>
            <a:endParaRPr sz="2400">
              <a:solidFill>
                <a:schemeClr val="dk1"/>
              </a:solidFill>
              <a:latin typeface="Arial"/>
              <a:ea typeface="Arial"/>
              <a:cs typeface="Arial"/>
              <a:sym typeface="Arial"/>
            </a:endParaRPr>
          </a:p>
          <a:p>
            <a:pPr indent="-243204" lvl="0" marL="255270" marR="0" rtl="0" algn="l">
              <a:lnSpc>
                <a:spcPct val="100000"/>
              </a:lnSpc>
              <a:spcBef>
                <a:spcPts val="25"/>
              </a:spcBef>
              <a:spcAft>
                <a:spcPts val="0"/>
              </a:spcAft>
              <a:buClr>
                <a:schemeClr val="dk1"/>
              </a:buClr>
              <a:buSzPts val="2400"/>
              <a:buFont typeface="Arial"/>
              <a:buChar char="•"/>
            </a:pPr>
            <a:r>
              <a:rPr lang="en-US" sz="2400">
                <a:solidFill>
                  <a:schemeClr val="dk1"/>
                </a:solidFill>
                <a:latin typeface="Arial"/>
                <a:ea typeface="Arial"/>
                <a:cs typeface="Arial"/>
                <a:sym typeface="Arial"/>
              </a:rPr>
              <a:t>A member and its value are delimited using colon (:) character.</a:t>
            </a:r>
            <a:endParaRPr sz="2400">
              <a:solidFill>
                <a:schemeClr val="dk1"/>
              </a:solidFill>
              <a:latin typeface="Arial"/>
              <a:ea typeface="Arial"/>
              <a:cs typeface="Arial"/>
              <a:sym typeface="Arial"/>
            </a:endParaRPr>
          </a:p>
        </p:txBody>
      </p:sp>
      <p:sp>
        <p:nvSpPr>
          <p:cNvPr id="95" name="Google Shape;95;p3"/>
          <p:cNvSpPr/>
          <p:nvPr/>
        </p:nvSpPr>
        <p:spPr>
          <a:xfrm>
            <a:off x="166687" y="1428750"/>
            <a:ext cx="7205599" cy="276225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96" name="Google Shape;96;p3"/>
          <p:cNvPicPr preferRelativeResize="0"/>
          <p:nvPr/>
        </p:nvPicPr>
        <p:blipFill rotWithShape="1">
          <a:blip r:embed="rId4">
            <a:alphaModFix/>
          </a:blip>
          <a:srcRect b="0" l="0" r="0" t="0"/>
          <a:stretch/>
        </p:blipFill>
        <p:spPr>
          <a:xfrm>
            <a:off x="11125201" y="10586"/>
            <a:ext cx="887582" cy="13989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0" name="Shape 100"/>
        <p:cNvGrpSpPr/>
        <p:nvPr/>
      </p:nvGrpSpPr>
      <p:grpSpPr>
        <a:xfrm>
          <a:off x="0" y="0"/>
          <a:ext cx="0" cy="0"/>
          <a:chOff x="0" y="0"/>
          <a:chExt cx="0" cy="0"/>
        </a:xfrm>
      </p:grpSpPr>
      <p:sp>
        <p:nvSpPr>
          <p:cNvPr id="101" name="Google Shape;101;p4"/>
          <p:cNvSpPr txBox="1"/>
          <p:nvPr/>
        </p:nvSpPr>
        <p:spPr>
          <a:xfrm>
            <a:off x="450595" y="265557"/>
            <a:ext cx="5743575" cy="749300"/>
          </a:xfrm>
          <a:prstGeom prst="rect">
            <a:avLst/>
          </a:prstGeom>
          <a:noFill/>
          <a:ln>
            <a:noFill/>
          </a:ln>
        </p:spPr>
        <p:txBody>
          <a:bodyPr anchorCtr="0" anchor="t" bIns="0" lIns="0" spcFirstLastPara="1" rIns="0" wrap="square" tIns="12700">
            <a:spAutoFit/>
          </a:bodyPr>
          <a:lstStyle/>
          <a:p>
            <a:pPr indent="0" lvl="0" marL="33655" marR="0" rtl="0" algn="l">
              <a:lnSpc>
                <a:spcPct val="118750"/>
              </a:lnSpc>
              <a:spcBef>
                <a:spcPts val="0"/>
              </a:spcBef>
              <a:spcAft>
                <a:spcPts val="0"/>
              </a:spcAft>
              <a:buNone/>
            </a:pPr>
            <a:r>
              <a:rPr b="1" lang="en-US" sz="2400">
                <a:solidFill>
                  <a:srgbClr val="2E5496"/>
                </a:solidFill>
                <a:latin typeface="Carlito"/>
                <a:ea typeface="Carlito"/>
                <a:cs typeface="Carlito"/>
                <a:sym typeface="Carlito"/>
              </a:rPr>
              <a:t>Javascript Objects</a:t>
            </a:r>
            <a:endParaRPr sz="2400">
              <a:solidFill>
                <a:schemeClr val="dk1"/>
              </a:solidFill>
              <a:latin typeface="Carlito"/>
              <a:ea typeface="Carlito"/>
              <a:cs typeface="Carlito"/>
              <a:sym typeface="Carlito"/>
            </a:endParaRPr>
          </a:p>
          <a:p>
            <a:pPr indent="0" lvl="0" marL="12700" marR="0" rtl="0" algn="l">
              <a:lnSpc>
                <a:spcPct val="118750"/>
              </a:lnSpc>
              <a:spcBef>
                <a:spcPts val="0"/>
              </a:spcBef>
              <a:spcAft>
                <a:spcPts val="0"/>
              </a:spcAft>
              <a:buNone/>
            </a:pPr>
            <a:r>
              <a:rPr b="1" lang="en-US" sz="2400">
                <a:solidFill>
                  <a:srgbClr val="C55A11"/>
                </a:solidFill>
                <a:latin typeface="Carlito"/>
                <a:ea typeface="Carlito"/>
                <a:cs typeface="Carlito"/>
                <a:sym typeface="Carlito"/>
              </a:rPr>
              <a:t>Creating an object using function Constructor</a:t>
            </a:r>
            <a:endParaRPr sz="2400">
              <a:solidFill>
                <a:schemeClr val="dk1"/>
              </a:solidFill>
              <a:latin typeface="Carlito"/>
              <a:ea typeface="Carlito"/>
              <a:cs typeface="Carlito"/>
              <a:sym typeface="Carlito"/>
            </a:endParaRPr>
          </a:p>
        </p:txBody>
      </p:sp>
      <p:sp>
        <p:nvSpPr>
          <p:cNvPr id="102" name="Google Shape;102;p4"/>
          <p:cNvSpPr/>
          <p:nvPr/>
        </p:nvSpPr>
        <p:spPr>
          <a:xfrm>
            <a:off x="0" y="1297432"/>
            <a:ext cx="8291830" cy="38100"/>
          </a:xfrm>
          <a:custGeom>
            <a:rect b="b" l="l" r="r" t="t"/>
            <a:pathLst>
              <a:path extrusionOk="0" h="38100" w="8291830">
                <a:moveTo>
                  <a:pt x="8291703" y="0"/>
                </a:moveTo>
                <a:lnTo>
                  <a:pt x="0" y="0"/>
                </a:lnTo>
                <a:lnTo>
                  <a:pt x="0" y="38100"/>
                </a:lnTo>
                <a:lnTo>
                  <a:pt x="8291703" y="38100"/>
                </a:lnTo>
                <a:lnTo>
                  <a:pt x="8291703" y="0"/>
                </a:lnTo>
                <a:close/>
              </a:path>
            </a:pathLst>
          </a:custGeom>
          <a:solidFill>
            <a:srgbClr val="C55A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4"/>
          <p:cNvSpPr txBox="1"/>
          <p:nvPr/>
        </p:nvSpPr>
        <p:spPr>
          <a:xfrm>
            <a:off x="386283" y="4498085"/>
            <a:ext cx="7877809" cy="1854835"/>
          </a:xfrm>
          <a:prstGeom prst="rect">
            <a:avLst/>
          </a:prstGeom>
          <a:noFill/>
          <a:ln>
            <a:noFill/>
          </a:ln>
        </p:spPr>
        <p:txBody>
          <a:bodyPr anchorCtr="0" anchor="t" bIns="0" lIns="0" spcFirstLastPara="1" rIns="0" wrap="square" tIns="12700">
            <a:spAutoFit/>
          </a:bodyPr>
          <a:lstStyle/>
          <a:p>
            <a:pPr indent="-152400" lvl="0" marL="12700" marR="508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JavaScript functions are objects themselves. It can be called as  a Constructor Function.</a:t>
            </a:r>
            <a:endParaRPr sz="2400">
              <a:solidFill>
                <a:schemeClr val="dk1"/>
              </a:solidFill>
              <a:latin typeface="Arial"/>
              <a:ea typeface="Arial"/>
              <a:cs typeface="Arial"/>
              <a:sym typeface="Arial"/>
            </a:endParaRPr>
          </a:p>
          <a:p>
            <a:pPr indent="-152400" lvl="0" marL="12700" marR="164465"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Once the function constructor is created you create object of  that function using new keyword.</a:t>
            </a:r>
            <a:endParaRPr sz="2400">
              <a:solidFill>
                <a:schemeClr val="dk1"/>
              </a:solidFill>
              <a:latin typeface="Arial"/>
              <a:ea typeface="Arial"/>
              <a:cs typeface="Arial"/>
              <a:sym typeface="Arial"/>
            </a:endParaRPr>
          </a:p>
          <a:p>
            <a:pPr indent="-173990" lvl="0" marL="186055" marR="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The function name uses camel case convention</a:t>
            </a:r>
            <a:endParaRPr sz="2400">
              <a:solidFill>
                <a:schemeClr val="dk1"/>
              </a:solidFill>
              <a:latin typeface="Arial"/>
              <a:ea typeface="Arial"/>
              <a:cs typeface="Arial"/>
              <a:sym typeface="Arial"/>
            </a:endParaRPr>
          </a:p>
        </p:txBody>
      </p:sp>
      <p:sp>
        <p:nvSpPr>
          <p:cNvPr id="104" name="Google Shape;104;p4"/>
          <p:cNvSpPr/>
          <p:nvPr/>
        </p:nvSpPr>
        <p:spPr>
          <a:xfrm>
            <a:off x="195262" y="1539598"/>
            <a:ext cx="8510524" cy="278411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5" name="Google Shape;105;p4"/>
          <p:cNvPicPr preferRelativeResize="0"/>
          <p:nvPr/>
        </p:nvPicPr>
        <p:blipFill rotWithShape="1">
          <a:blip r:embed="rId4">
            <a:alphaModFix/>
          </a:blip>
          <a:srcRect b="0" l="0" r="0" t="0"/>
          <a:stretch/>
        </p:blipFill>
        <p:spPr>
          <a:xfrm>
            <a:off x="11125201" y="10586"/>
            <a:ext cx="887582" cy="139896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9" name="Shape 109"/>
        <p:cNvGrpSpPr/>
        <p:nvPr/>
      </p:nvGrpSpPr>
      <p:grpSpPr>
        <a:xfrm>
          <a:off x="0" y="0"/>
          <a:ext cx="0" cy="0"/>
          <a:chOff x="0" y="0"/>
          <a:chExt cx="0" cy="0"/>
        </a:xfrm>
      </p:grpSpPr>
      <p:sp>
        <p:nvSpPr>
          <p:cNvPr id="110" name="Google Shape;110;p5"/>
          <p:cNvSpPr txBox="1"/>
          <p:nvPr/>
        </p:nvSpPr>
        <p:spPr>
          <a:xfrm>
            <a:off x="450595" y="265557"/>
            <a:ext cx="5734685" cy="749300"/>
          </a:xfrm>
          <a:prstGeom prst="rect">
            <a:avLst/>
          </a:prstGeom>
          <a:noFill/>
          <a:ln>
            <a:noFill/>
          </a:ln>
        </p:spPr>
        <p:txBody>
          <a:bodyPr anchorCtr="0" anchor="t" bIns="0" lIns="0" spcFirstLastPara="1" rIns="0" wrap="square" tIns="12700">
            <a:spAutoFit/>
          </a:bodyPr>
          <a:lstStyle/>
          <a:p>
            <a:pPr indent="0" lvl="0" marL="33655" marR="0" rtl="0" algn="l">
              <a:lnSpc>
                <a:spcPct val="118750"/>
              </a:lnSpc>
              <a:spcBef>
                <a:spcPts val="0"/>
              </a:spcBef>
              <a:spcAft>
                <a:spcPts val="0"/>
              </a:spcAft>
              <a:buNone/>
            </a:pPr>
            <a:r>
              <a:rPr b="1" lang="en-US" sz="2400">
                <a:solidFill>
                  <a:srgbClr val="2E5496"/>
                </a:solidFill>
                <a:latin typeface="Carlito"/>
                <a:ea typeface="Carlito"/>
                <a:cs typeface="Carlito"/>
                <a:sym typeface="Carlito"/>
              </a:rPr>
              <a:t>Javascript Objects</a:t>
            </a:r>
            <a:endParaRPr sz="2400">
              <a:solidFill>
                <a:schemeClr val="dk1"/>
              </a:solidFill>
              <a:latin typeface="Carlito"/>
              <a:ea typeface="Carlito"/>
              <a:cs typeface="Carlito"/>
              <a:sym typeface="Carlito"/>
            </a:endParaRPr>
          </a:p>
          <a:p>
            <a:pPr indent="0" lvl="0" marL="12700" marR="0" rtl="0" algn="l">
              <a:lnSpc>
                <a:spcPct val="118750"/>
              </a:lnSpc>
              <a:spcBef>
                <a:spcPts val="0"/>
              </a:spcBef>
              <a:spcAft>
                <a:spcPts val="0"/>
              </a:spcAft>
              <a:buNone/>
            </a:pPr>
            <a:r>
              <a:rPr b="1" lang="en-US" sz="2400">
                <a:solidFill>
                  <a:srgbClr val="C55A11"/>
                </a:solidFill>
                <a:latin typeface="Carlito"/>
                <a:ea typeface="Carlito"/>
                <a:cs typeface="Carlito"/>
                <a:sym typeface="Carlito"/>
              </a:rPr>
              <a:t>Creating an object using anonymous function</a:t>
            </a:r>
            <a:endParaRPr sz="2400">
              <a:solidFill>
                <a:schemeClr val="dk1"/>
              </a:solidFill>
              <a:latin typeface="Carlito"/>
              <a:ea typeface="Carlito"/>
              <a:cs typeface="Carlito"/>
              <a:sym typeface="Carlito"/>
            </a:endParaRPr>
          </a:p>
        </p:txBody>
      </p:sp>
      <p:sp>
        <p:nvSpPr>
          <p:cNvPr id="111" name="Google Shape;111;p5"/>
          <p:cNvSpPr/>
          <p:nvPr/>
        </p:nvSpPr>
        <p:spPr>
          <a:xfrm>
            <a:off x="0" y="1297432"/>
            <a:ext cx="8291830" cy="38100"/>
          </a:xfrm>
          <a:custGeom>
            <a:rect b="b" l="l" r="r" t="t"/>
            <a:pathLst>
              <a:path extrusionOk="0" h="38100" w="8291830">
                <a:moveTo>
                  <a:pt x="8291703" y="0"/>
                </a:moveTo>
                <a:lnTo>
                  <a:pt x="0" y="0"/>
                </a:lnTo>
                <a:lnTo>
                  <a:pt x="0" y="38100"/>
                </a:lnTo>
                <a:lnTo>
                  <a:pt x="8291703" y="38100"/>
                </a:lnTo>
                <a:lnTo>
                  <a:pt x="8291703" y="0"/>
                </a:lnTo>
                <a:close/>
              </a:path>
            </a:pathLst>
          </a:custGeom>
          <a:solidFill>
            <a:srgbClr val="C55A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5"/>
          <p:cNvSpPr/>
          <p:nvPr/>
        </p:nvSpPr>
        <p:spPr>
          <a:xfrm>
            <a:off x="204787" y="1605025"/>
            <a:ext cx="7462774" cy="248754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5"/>
          <p:cNvSpPr txBox="1"/>
          <p:nvPr/>
        </p:nvSpPr>
        <p:spPr>
          <a:xfrm>
            <a:off x="290271" y="4900625"/>
            <a:ext cx="7248525" cy="1123315"/>
          </a:xfrm>
          <a:prstGeom prst="rect">
            <a:avLst/>
          </a:prstGeom>
          <a:noFill/>
          <a:ln>
            <a:noFill/>
          </a:ln>
        </p:spPr>
        <p:txBody>
          <a:bodyPr anchorCtr="0" anchor="t" bIns="0" lIns="0" spcFirstLastPara="1" rIns="0" wrap="square" tIns="12700">
            <a:spAutoFit/>
          </a:bodyPr>
          <a:lstStyle/>
          <a:p>
            <a:pPr indent="-346075" lvl="0" marL="358140" marR="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Two steps are performed here</a:t>
            </a:r>
            <a:endParaRPr sz="2400">
              <a:solidFill>
                <a:schemeClr val="dk1"/>
              </a:solidFill>
              <a:latin typeface="Arial"/>
              <a:ea typeface="Arial"/>
              <a:cs typeface="Arial"/>
              <a:sym typeface="Arial"/>
            </a:endParaRPr>
          </a:p>
          <a:p>
            <a:pPr indent="-291465" lvl="1" marL="760730" marR="0" rtl="0" algn="l">
              <a:lnSpc>
                <a:spcPct val="10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Firstly, it creates an anonymous constructor function</a:t>
            </a:r>
            <a:endParaRPr b="0" i="0" sz="2400" u="none" cap="none" strike="noStrike">
              <a:solidFill>
                <a:schemeClr val="dk1"/>
              </a:solidFill>
              <a:latin typeface="Arial"/>
              <a:ea typeface="Arial"/>
              <a:cs typeface="Arial"/>
              <a:sym typeface="Arial"/>
            </a:endParaRPr>
          </a:p>
          <a:p>
            <a:pPr indent="-291465" lvl="1" marL="760730" marR="0" rtl="0" algn="l">
              <a:lnSpc>
                <a:spcPct val="10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Secondly, it calls new on it to create its object.</a:t>
            </a:r>
            <a:endParaRPr b="0" i="0" sz="2400" u="none" cap="none" strike="noStrike">
              <a:solidFill>
                <a:schemeClr val="dk1"/>
              </a:solidFill>
              <a:latin typeface="Arial"/>
              <a:ea typeface="Arial"/>
              <a:cs typeface="Arial"/>
              <a:sym typeface="Arial"/>
            </a:endParaRPr>
          </a:p>
        </p:txBody>
      </p:sp>
      <p:pic>
        <p:nvPicPr>
          <p:cNvPr id="114" name="Google Shape;114;p5"/>
          <p:cNvPicPr preferRelativeResize="0"/>
          <p:nvPr/>
        </p:nvPicPr>
        <p:blipFill rotWithShape="1">
          <a:blip r:embed="rId4">
            <a:alphaModFix/>
          </a:blip>
          <a:srcRect b="0" l="0" r="0" t="0"/>
          <a:stretch/>
        </p:blipFill>
        <p:spPr>
          <a:xfrm>
            <a:off x="11125201" y="10586"/>
            <a:ext cx="887582" cy="13989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8" name="Shape 118"/>
        <p:cNvGrpSpPr/>
        <p:nvPr/>
      </p:nvGrpSpPr>
      <p:grpSpPr>
        <a:xfrm>
          <a:off x="0" y="0"/>
          <a:ext cx="0" cy="0"/>
          <a:chOff x="0" y="0"/>
          <a:chExt cx="0" cy="0"/>
        </a:xfrm>
      </p:grpSpPr>
      <p:sp>
        <p:nvSpPr>
          <p:cNvPr id="119" name="Google Shape;119;p6"/>
          <p:cNvSpPr txBox="1"/>
          <p:nvPr>
            <p:ph type="title"/>
          </p:nvPr>
        </p:nvSpPr>
        <p:spPr>
          <a:xfrm>
            <a:off x="450595" y="265557"/>
            <a:ext cx="2467610" cy="749300"/>
          </a:xfrm>
          <a:prstGeom prst="rect">
            <a:avLst/>
          </a:prstGeom>
          <a:noFill/>
          <a:ln>
            <a:noFill/>
          </a:ln>
        </p:spPr>
        <p:txBody>
          <a:bodyPr anchorCtr="0" anchor="t" bIns="0" lIns="0" spcFirstLastPara="1" rIns="0" wrap="square" tIns="31100">
            <a:spAutoFit/>
          </a:bodyPr>
          <a:lstStyle/>
          <a:p>
            <a:pPr indent="20955" lvl="0" marL="12700" marR="5080" rtl="0" algn="l">
              <a:lnSpc>
                <a:spcPct val="117499"/>
              </a:lnSpc>
              <a:spcBef>
                <a:spcPts val="0"/>
              </a:spcBef>
              <a:spcAft>
                <a:spcPts val="0"/>
              </a:spcAft>
              <a:buNone/>
            </a:pPr>
            <a:r>
              <a:rPr lang="en-US" sz="2400">
                <a:solidFill>
                  <a:srgbClr val="2E5496"/>
                </a:solidFill>
              </a:rPr>
              <a:t>Javascript Objects  </a:t>
            </a:r>
            <a:r>
              <a:rPr lang="en-US" sz="2400"/>
              <a:t>Prototype property</a:t>
            </a:r>
            <a:endParaRPr sz="2400"/>
          </a:p>
        </p:txBody>
      </p:sp>
      <p:sp>
        <p:nvSpPr>
          <p:cNvPr id="120" name="Google Shape;120;p6"/>
          <p:cNvSpPr/>
          <p:nvPr/>
        </p:nvSpPr>
        <p:spPr>
          <a:xfrm>
            <a:off x="0" y="1297432"/>
            <a:ext cx="8291830" cy="38100"/>
          </a:xfrm>
          <a:custGeom>
            <a:rect b="b" l="l" r="r" t="t"/>
            <a:pathLst>
              <a:path extrusionOk="0" h="38100" w="8291830">
                <a:moveTo>
                  <a:pt x="8291703" y="0"/>
                </a:moveTo>
                <a:lnTo>
                  <a:pt x="0" y="0"/>
                </a:lnTo>
                <a:lnTo>
                  <a:pt x="0" y="38100"/>
                </a:lnTo>
                <a:lnTo>
                  <a:pt x="8291703" y="38100"/>
                </a:lnTo>
                <a:lnTo>
                  <a:pt x="8291703" y="0"/>
                </a:lnTo>
                <a:close/>
              </a:path>
            </a:pathLst>
          </a:custGeom>
          <a:solidFill>
            <a:srgbClr val="C55A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6"/>
          <p:cNvSpPr txBox="1"/>
          <p:nvPr/>
        </p:nvSpPr>
        <p:spPr>
          <a:xfrm>
            <a:off x="318008" y="1616455"/>
            <a:ext cx="9438640" cy="3318510"/>
          </a:xfrm>
          <a:prstGeom prst="rect">
            <a:avLst/>
          </a:prstGeom>
          <a:noFill/>
          <a:ln>
            <a:noFill/>
          </a:ln>
        </p:spPr>
        <p:txBody>
          <a:bodyPr anchorCtr="0" anchor="t" bIns="0" lIns="0" spcFirstLastPara="1" rIns="0" wrap="square" tIns="12700">
            <a:spAutoFit/>
          </a:bodyPr>
          <a:lstStyle/>
          <a:p>
            <a:pPr indent="-346075" lvl="0" marL="358140" marR="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Prototype property of an object holds the structure of that object</a:t>
            </a:r>
            <a:endParaRPr sz="2400">
              <a:solidFill>
                <a:schemeClr val="dk1"/>
              </a:solidFill>
              <a:latin typeface="Arial"/>
              <a:ea typeface="Arial"/>
              <a:cs typeface="Arial"/>
              <a:sym typeface="Arial"/>
            </a:endParaRPr>
          </a:p>
          <a:p>
            <a:pPr indent="-346075" lvl="0" marL="358140" marR="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It is shared by all object instances created using that constructor</a:t>
            </a:r>
            <a:endParaRPr sz="2400">
              <a:solidFill>
                <a:schemeClr val="dk1"/>
              </a:solidFill>
              <a:latin typeface="Arial"/>
              <a:ea typeface="Arial"/>
              <a:cs typeface="Arial"/>
              <a:sym typeface="Arial"/>
            </a:endParaRPr>
          </a:p>
          <a:p>
            <a:pPr indent="-346075" lvl="0" marL="358140" marR="508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This can be used to modify/add properties to all instances after they have  been created</a:t>
            </a:r>
            <a:endParaRPr sz="2400">
              <a:solidFill>
                <a:schemeClr val="dk1"/>
              </a:solidFill>
              <a:latin typeface="Arial"/>
              <a:ea typeface="Arial"/>
              <a:cs typeface="Arial"/>
              <a:sym typeface="Arial"/>
            </a:endParaRPr>
          </a:p>
          <a:p>
            <a:pPr indent="-346075" lvl="0" marL="358140" marR="668655" rtl="0" algn="l">
              <a:lnSpc>
                <a:spcPct val="100000"/>
              </a:lnSpc>
              <a:spcBef>
                <a:spcPts val="5"/>
              </a:spcBef>
              <a:spcAft>
                <a:spcPts val="0"/>
              </a:spcAft>
              <a:buClr>
                <a:schemeClr val="dk1"/>
              </a:buClr>
              <a:buSzPts val="2400"/>
              <a:buFont typeface="Arial"/>
              <a:buChar char="•"/>
            </a:pPr>
            <a:r>
              <a:rPr lang="en-US" sz="2400">
                <a:solidFill>
                  <a:schemeClr val="dk1"/>
                </a:solidFill>
                <a:latin typeface="Arial"/>
                <a:ea typeface="Arial"/>
                <a:cs typeface="Arial"/>
                <a:sym typeface="Arial"/>
              </a:rPr>
              <a:t>Methods should be added to prototype since only one copy of the  method is created. If methods are added to constructor, each object  instance holds its own copy of the method.</a:t>
            </a:r>
            <a:endParaRPr sz="2400">
              <a:solidFill>
                <a:schemeClr val="dk1"/>
              </a:solidFill>
              <a:latin typeface="Arial"/>
              <a:ea typeface="Arial"/>
              <a:cs typeface="Arial"/>
              <a:sym typeface="Arial"/>
            </a:endParaRPr>
          </a:p>
          <a:p>
            <a:pPr indent="0" lvl="0" marL="0" marR="0" rtl="0" algn="l">
              <a:lnSpc>
                <a:spcPct val="100000"/>
              </a:lnSpc>
              <a:spcBef>
                <a:spcPts val="5"/>
              </a:spcBef>
              <a:spcAft>
                <a:spcPts val="0"/>
              </a:spcAft>
              <a:buNone/>
            </a:pPr>
            <a:r>
              <a:t/>
            </a:r>
            <a:endParaRPr sz="2500">
              <a:solidFill>
                <a:schemeClr val="dk1"/>
              </a:solidFill>
              <a:latin typeface="Arial"/>
              <a:ea typeface="Arial"/>
              <a:cs typeface="Arial"/>
              <a:sym typeface="Arial"/>
            </a:endParaRPr>
          </a:p>
          <a:p>
            <a:pPr indent="0" lvl="0" marL="12700" marR="0" rtl="0" algn="l">
              <a:lnSpc>
                <a:spcPct val="100000"/>
              </a:lnSpc>
              <a:spcBef>
                <a:spcPts val="0"/>
              </a:spcBef>
              <a:spcAft>
                <a:spcPts val="0"/>
              </a:spcAft>
              <a:buNone/>
            </a:pPr>
            <a:r>
              <a:rPr lang="en-US" sz="2400">
                <a:solidFill>
                  <a:schemeClr val="dk1"/>
                </a:solidFill>
                <a:latin typeface="Arial"/>
                <a:ea typeface="Arial"/>
                <a:cs typeface="Arial"/>
                <a:sym typeface="Arial"/>
              </a:rPr>
              <a:t>Employee.prototype.showName = function(){…}</a:t>
            </a:r>
            <a:endParaRPr sz="2400">
              <a:solidFill>
                <a:schemeClr val="dk1"/>
              </a:solidFill>
              <a:latin typeface="Arial"/>
              <a:ea typeface="Arial"/>
              <a:cs typeface="Arial"/>
              <a:sym typeface="Arial"/>
            </a:endParaRPr>
          </a:p>
        </p:txBody>
      </p:sp>
      <p:pic>
        <p:nvPicPr>
          <p:cNvPr id="122" name="Google Shape;122;p6"/>
          <p:cNvPicPr preferRelativeResize="0"/>
          <p:nvPr/>
        </p:nvPicPr>
        <p:blipFill rotWithShape="1">
          <a:blip r:embed="rId3">
            <a:alphaModFix/>
          </a:blip>
          <a:srcRect b="0" l="0" r="0" t="0"/>
          <a:stretch/>
        </p:blipFill>
        <p:spPr>
          <a:xfrm>
            <a:off x="11125201" y="-66532"/>
            <a:ext cx="887582" cy="13989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7"/>
          <p:cNvSpPr txBox="1"/>
          <p:nvPr>
            <p:ph type="title"/>
          </p:nvPr>
        </p:nvSpPr>
        <p:spPr>
          <a:xfrm>
            <a:off x="838200" y="365126"/>
            <a:ext cx="10515600" cy="774906"/>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US" sz="2400">
                <a:solidFill>
                  <a:srgbClr val="953734"/>
                </a:solidFill>
                <a:latin typeface="Calibri"/>
                <a:ea typeface="Calibri"/>
                <a:cs typeface="Calibri"/>
                <a:sym typeface="Calibri"/>
              </a:rPr>
              <a:t>Prototype property</a:t>
            </a:r>
            <a:endParaRPr/>
          </a:p>
        </p:txBody>
      </p:sp>
      <p:pic>
        <p:nvPicPr>
          <p:cNvPr id="128" name="Google Shape;128;p7"/>
          <p:cNvPicPr preferRelativeResize="0"/>
          <p:nvPr>
            <p:ph idx="1" type="body"/>
          </p:nvPr>
        </p:nvPicPr>
        <p:blipFill rotWithShape="1">
          <a:blip r:embed="rId3">
            <a:alphaModFix/>
          </a:blip>
          <a:srcRect b="0" l="0" r="0" t="0"/>
          <a:stretch/>
        </p:blipFill>
        <p:spPr>
          <a:xfrm>
            <a:off x="1890820" y="1351712"/>
            <a:ext cx="8410359" cy="4835525"/>
          </a:xfrm>
          <a:prstGeom prst="rect">
            <a:avLst/>
          </a:prstGeom>
          <a:noFill/>
          <a:ln>
            <a:noFill/>
          </a:ln>
        </p:spPr>
      </p:pic>
      <p:cxnSp>
        <p:nvCxnSpPr>
          <p:cNvPr id="129" name="Google Shape;129;p7"/>
          <p:cNvCxnSpPr/>
          <p:nvPr/>
        </p:nvCxnSpPr>
        <p:spPr>
          <a:xfrm>
            <a:off x="0" y="1316458"/>
            <a:ext cx="8300052" cy="0"/>
          </a:xfrm>
          <a:prstGeom prst="straightConnector1">
            <a:avLst/>
          </a:prstGeom>
          <a:noFill/>
          <a:ln cap="flat" cmpd="sng" w="38100">
            <a:solidFill>
              <a:srgbClr val="953734"/>
            </a:solidFill>
            <a:prstDash val="solid"/>
            <a:round/>
            <a:headEnd len="sm" w="sm" type="none"/>
            <a:tailEnd len="sm" w="sm" type="none"/>
          </a:ln>
        </p:spPr>
      </p:cxnSp>
      <p:sp>
        <p:nvSpPr>
          <p:cNvPr id="130" name="Google Shape;130;p7"/>
          <p:cNvSpPr txBox="1"/>
          <p:nvPr/>
        </p:nvSpPr>
        <p:spPr>
          <a:xfrm>
            <a:off x="838200" y="77877"/>
            <a:ext cx="60977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66092"/>
                </a:solidFill>
                <a:latin typeface="Calibri"/>
                <a:ea typeface="Calibri"/>
                <a:cs typeface="Calibri"/>
                <a:sym typeface="Calibri"/>
              </a:rPr>
              <a:t>Javascript Objects</a:t>
            </a:r>
            <a:endParaRPr/>
          </a:p>
        </p:txBody>
      </p:sp>
      <p:pic>
        <p:nvPicPr>
          <p:cNvPr id="131" name="Google Shape;131;p7"/>
          <p:cNvPicPr preferRelativeResize="0"/>
          <p:nvPr/>
        </p:nvPicPr>
        <p:blipFill rotWithShape="1">
          <a:blip r:embed="rId4">
            <a:alphaModFix/>
          </a:blip>
          <a:srcRect b="0" l="0" r="0" t="0"/>
          <a:stretch/>
        </p:blipFill>
        <p:spPr>
          <a:xfrm>
            <a:off x="11125201" y="-66532"/>
            <a:ext cx="887582" cy="139896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8"/>
          <p:cNvSpPr txBox="1"/>
          <p:nvPr>
            <p:ph type="title"/>
          </p:nvPr>
        </p:nvSpPr>
        <p:spPr>
          <a:xfrm>
            <a:off x="838200" y="365126"/>
            <a:ext cx="10515600" cy="774906"/>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US" sz="2400">
                <a:solidFill>
                  <a:srgbClr val="953734"/>
                </a:solidFill>
                <a:latin typeface="Calibri"/>
                <a:ea typeface="Calibri"/>
                <a:cs typeface="Calibri"/>
                <a:sym typeface="Calibri"/>
              </a:rPr>
              <a:t>Prototype property</a:t>
            </a:r>
            <a:endParaRPr/>
          </a:p>
        </p:txBody>
      </p:sp>
      <p:cxnSp>
        <p:nvCxnSpPr>
          <p:cNvPr id="137" name="Google Shape;137;p8"/>
          <p:cNvCxnSpPr/>
          <p:nvPr/>
        </p:nvCxnSpPr>
        <p:spPr>
          <a:xfrm>
            <a:off x="0" y="1316458"/>
            <a:ext cx="8300052" cy="0"/>
          </a:xfrm>
          <a:prstGeom prst="straightConnector1">
            <a:avLst/>
          </a:prstGeom>
          <a:noFill/>
          <a:ln cap="flat" cmpd="sng" w="38100">
            <a:solidFill>
              <a:srgbClr val="953734"/>
            </a:solidFill>
            <a:prstDash val="solid"/>
            <a:round/>
            <a:headEnd len="sm" w="sm" type="none"/>
            <a:tailEnd len="sm" w="sm" type="none"/>
          </a:ln>
        </p:spPr>
      </p:cxnSp>
      <p:sp>
        <p:nvSpPr>
          <p:cNvPr id="138" name="Google Shape;138;p8"/>
          <p:cNvSpPr txBox="1"/>
          <p:nvPr/>
        </p:nvSpPr>
        <p:spPr>
          <a:xfrm>
            <a:off x="838200" y="77877"/>
            <a:ext cx="60977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66092"/>
                </a:solidFill>
                <a:latin typeface="Calibri"/>
                <a:ea typeface="Calibri"/>
                <a:cs typeface="Calibri"/>
                <a:sym typeface="Calibri"/>
              </a:rPr>
              <a:t>Javascript Objects</a:t>
            </a:r>
            <a:endParaRPr/>
          </a:p>
        </p:txBody>
      </p:sp>
      <p:pic>
        <p:nvPicPr>
          <p:cNvPr id="139" name="Google Shape;139;p8"/>
          <p:cNvPicPr preferRelativeResize="0"/>
          <p:nvPr>
            <p:ph idx="1" type="body"/>
          </p:nvPr>
        </p:nvPicPr>
        <p:blipFill rotWithShape="1">
          <a:blip r:embed="rId3">
            <a:alphaModFix/>
          </a:blip>
          <a:srcRect b="0" l="0" r="0" t="0"/>
          <a:stretch/>
        </p:blipFill>
        <p:spPr>
          <a:xfrm>
            <a:off x="737331" y="4459831"/>
            <a:ext cx="5991225" cy="1714500"/>
          </a:xfrm>
          <a:prstGeom prst="rect">
            <a:avLst/>
          </a:prstGeom>
          <a:noFill/>
          <a:ln>
            <a:noFill/>
          </a:ln>
        </p:spPr>
      </p:pic>
      <p:pic>
        <p:nvPicPr>
          <p:cNvPr id="140" name="Google Shape;140;p8"/>
          <p:cNvPicPr preferRelativeResize="0"/>
          <p:nvPr/>
        </p:nvPicPr>
        <p:blipFill rotWithShape="1">
          <a:blip r:embed="rId4">
            <a:alphaModFix/>
          </a:blip>
          <a:srcRect b="0" l="0" r="0" t="0"/>
          <a:stretch/>
        </p:blipFill>
        <p:spPr>
          <a:xfrm>
            <a:off x="656983" y="1663540"/>
            <a:ext cx="10487025" cy="1647825"/>
          </a:xfrm>
          <a:prstGeom prst="rect">
            <a:avLst/>
          </a:prstGeom>
          <a:noFill/>
          <a:ln>
            <a:noFill/>
          </a:ln>
        </p:spPr>
      </p:pic>
      <p:sp>
        <p:nvSpPr>
          <p:cNvPr id="141" name="Google Shape;141;p8"/>
          <p:cNvSpPr txBox="1"/>
          <p:nvPr/>
        </p:nvSpPr>
        <p:spPr>
          <a:xfrm>
            <a:off x="1130157" y="3780890"/>
            <a:ext cx="904125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JavaScript </a:t>
            </a:r>
            <a:r>
              <a:rPr lang="en-US" sz="1800">
                <a:solidFill>
                  <a:srgbClr val="DC143C"/>
                </a:solidFill>
                <a:latin typeface="Consolas"/>
                <a:ea typeface="Consolas"/>
                <a:cs typeface="Consolas"/>
                <a:sym typeface="Consolas"/>
              </a:rPr>
              <a:t>prototype</a:t>
            </a:r>
            <a:r>
              <a:rPr lang="en-US" sz="1800">
                <a:solidFill>
                  <a:srgbClr val="000000"/>
                </a:solidFill>
                <a:latin typeface="Verdana"/>
                <a:ea typeface="Verdana"/>
                <a:cs typeface="Verdana"/>
                <a:sym typeface="Verdana"/>
              </a:rPr>
              <a:t> property allows you to add new properties to object constructors:</a:t>
            </a:r>
            <a:r>
              <a:rPr lang="en-US" sz="1100">
                <a:solidFill>
                  <a:schemeClr val="dk1"/>
                </a:solidFill>
                <a:latin typeface="Calibri"/>
                <a:ea typeface="Calibri"/>
                <a:cs typeface="Calibri"/>
                <a:sym typeface="Calibri"/>
              </a:rPr>
              <a:t> </a:t>
            </a:r>
            <a:endParaRPr sz="3200">
              <a:solidFill>
                <a:schemeClr val="dk1"/>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rgbClr val="1B1B1B"/>
                </a:solidFill>
                <a:latin typeface="Arial"/>
                <a:ea typeface="Arial"/>
                <a:cs typeface="Arial"/>
                <a:sym typeface="Arial"/>
              </a:rPr>
              <a:t> </a:t>
            </a:r>
            <a:r>
              <a:rPr b="0" i="0" lang="en-US" sz="1050" u="none" cap="none" strike="noStrike">
                <a:solidFill>
                  <a:schemeClr val="dk1"/>
                </a:solidFill>
                <a:latin typeface="Calibri"/>
                <a:ea typeface="Calibri"/>
                <a:cs typeface="Calibri"/>
                <a:sym typeface="Calibri"/>
              </a:rPr>
              <a:t> </a:t>
            </a:r>
            <a:endParaRPr b="0" i="0" sz="2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2" name="Google Shape;142;p8"/>
          <p:cNvPicPr preferRelativeResize="0"/>
          <p:nvPr/>
        </p:nvPicPr>
        <p:blipFill rotWithShape="1">
          <a:blip r:embed="rId5">
            <a:alphaModFix/>
          </a:blip>
          <a:srcRect b="0" l="0" r="0" t="0"/>
          <a:stretch/>
        </p:blipFill>
        <p:spPr>
          <a:xfrm>
            <a:off x="11125201" y="-66532"/>
            <a:ext cx="887582" cy="1398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9"/>
          <p:cNvSpPr txBox="1"/>
          <p:nvPr>
            <p:ph type="title"/>
          </p:nvPr>
        </p:nvSpPr>
        <p:spPr>
          <a:xfrm>
            <a:off x="838200" y="365126"/>
            <a:ext cx="10515600" cy="774906"/>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US" sz="2400">
                <a:solidFill>
                  <a:srgbClr val="953734"/>
                </a:solidFill>
                <a:latin typeface="Calibri"/>
                <a:ea typeface="Calibri"/>
                <a:cs typeface="Calibri"/>
                <a:sym typeface="Calibri"/>
              </a:rPr>
              <a:t>Prototype property</a:t>
            </a:r>
            <a:endParaRPr/>
          </a:p>
        </p:txBody>
      </p:sp>
      <p:cxnSp>
        <p:nvCxnSpPr>
          <p:cNvPr id="148" name="Google Shape;148;p9"/>
          <p:cNvCxnSpPr/>
          <p:nvPr/>
        </p:nvCxnSpPr>
        <p:spPr>
          <a:xfrm>
            <a:off x="0" y="1316458"/>
            <a:ext cx="8300052" cy="0"/>
          </a:xfrm>
          <a:prstGeom prst="straightConnector1">
            <a:avLst/>
          </a:prstGeom>
          <a:noFill/>
          <a:ln cap="flat" cmpd="sng" w="38100">
            <a:solidFill>
              <a:srgbClr val="953734"/>
            </a:solidFill>
            <a:prstDash val="solid"/>
            <a:round/>
            <a:headEnd len="sm" w="sm" type="none"/>
            <a:tailEnd len="sm" w="sm" type="none"/>
          </a:ln>
        </p:spPr>
      </p:cxnSp>
      <p:sp>
        <p:nvSpPr>
          <p:cNvPr id="149" name="Google Shape;149;p9"/>
          <p:cNvSpPr txBox="1"/>
          <p:nvPr/>
        </p:nvSpPr>
        <p:spPr>
          <a:xfrm>
            <a:off x="838200" y="77877"/>
            <a:ext cx="60977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66092"/>
                </a:solidFill>
                <a:latin typeface="Calibri"/>
                <a:ea typeface="Calibri"/>
                <a:cs typeface="Calibri"/>
                <a:sym typeface="Calibri"/>
              </a:rPr>
              <a:t>Javascript Objects</a:t>
            </a:r>
            <a:endParaRPr/>
          </a:p>
        </p:txBody>
      </p:sp>
      <p:pic>
        <p:nvPicPr>
          <p:cNvPr id="150" name="Google Shape;150;p9"/>
          <p:cNvPicPr preferRelativeResize="0"/>
          <p:nvPr/>
        </p:nvPicPr>
        <p:blipFill rotWithShape="1">
          <a:blip r:embed="rId3">
            <a:alphaModFix/>
          </a:blip>
          <a:srcRect b="0" l="0" r="0" t="0"/>
          <a:stretch/>
        </p:blipFill>
        <p:spPr>
          <a:xfrm>
            <a:off x="1301148" y="1757362"/>
            <a:ext cx="8300052" cy="3958313"/>
          </a:xfrm>
          <a:prstGeom prst="rect">
            <a:avLst/>
          </a:prstGeom>
          <a:noFill/>
          <a:ln>
            <a:noFill/>
          </a:ln>
        </p:spPr>
      </p:pic>
      <p:pic>
        <p:nvPicPr>
          <p:cNvPr id="151" name="Google Shape;151;p9"/>
          <p:cNvPicPr preferRelativeResize="0"/>
          <p:nvPr/>
        </p:nvPicPr>
        <p:blipFill rotWithShape="1">
          <a:blip r:embed="rId4">
            <a:alphaModFix/>
          </a:blip>
          <a:srcRect b="0" l="0" r="0" t="0"/>
          <a:stretch/>
        </p:blipFill>
        <p:spPr>
          <a:xfrm>
            <a:off x="11125201" y="-66532"/>
            <a:ext cx="887582" cy="139896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5" name="Shape 155"/>
        <p:cNvGrpSpPr/>
        <p:nvPr/>
      </p:nvGrpSpPr>
      <p:grpSpPr>
        <a:xfrm>
          <a:off x="0" y="0"/>
          <a:ext cx="0" cy="0"/>
          <a:chOff x="0" y="0"/>
          <a:chExt cx="0" cy="0"/>
        </a:xfrm>
      </p:grpSpPr>
      <p:sp>
        <p:nvSpPr>
          <p:cNvPr id="156" name="Google Shape;156;p10"/>
          <p:cNvSpPr txBox="1"/>
          <p:nvPr/>
        </p:nvSpPr>
        <p:spPr>
          <a:xfrm>
            <a:off x="450595" y="265557"/>
            <a:ext cx="6626225" cy="749300"/>
          </a:xfrm>
          <a:prstGeom prst="rect">
            <a:avLst/>
          </a:prstGeom>
          <a:noFill/>
          <a:ln>
            <a:noFill/>
          </a:ln>
        </p:spPr>
        <p:txBody>
          <a:bodyPr anchorCtr="0" anchor="t" bIns="0" lIns="0" spcFirstLastPara="1" rIns="0" wrap="square" tIns="12700">
            <a:spAutoFit/>
          </a:bodyPr>
          <a:lstStyle/>
          <a:p>
            <a:pPr indent="0" lvl="0" marL="33655" marR="0" rtl="0" algn="l">
              <a:lnSpc>
                <a:spcPct val="118750"/>
              </a:lnSpc>
              <a:spcBef>
                <a:spcPts val="0"/>
              </a:spcBef>
              <a:spcAft>
                <a:spcPts val="0"/>
              </a:spcAft>
              <a:buNone/>
            </a:pPr>
            <a:r>
              <a:rPr b="1" lang="en-US" sz="2400">
                <a:solidFill>
                  <a:srgbClr val="2E5496"/>
                </a:solidFill>
                <a:latin typeface="Carlito"/>
                <a:ea typeface="Carlito"/>
                <a:cs typeface="Carlito"/>
                <a:sym typeface="Carlito"/>
              </a:rPr>
              <a:t>Javascript Objects</a:t>
            </a:r>
            <a:endParaRPr sz="2400">
              <a:solidFill>
                <a:schemeClr val="dk1"/>
              </a:solidFill>
              <a:latin typeface="Carlito"/>
              <a:ea typeface="Carlito"/>
              <a:cs typeface="Carlito"/>
              <a:sym typeface="Carlito"/>
            </a:endParaRPr>
          </a:p>
          <a:p>
            <a:pPr indent="0" lvl="0" marL="12700" marR="0" rtl="0" algn="l">
              <a:lnSpc>
                <a:spcPct val="118750"/>
              </a:lnSpc>
              <a:spcBef>
                <a:spcPts val="0"/>
              </a:spcBef>
              <a:spcAft>
                <a:spcPts val="0"/>
              </a:spcAft>
              <a:buNone/>
            </a:pPr>
            <a:r>
              <a:rPr b="1" lang="en-US" sz="2400">
                <a:solidFill>
                  <a:srgbClr val="C55A11"/>
                </a:solidFill>
                <a:latin typeface="Carlito"/>
                <a:ea typeface="Carlito"/>
                <a:cs typeface="Carlito"/>
                <a:sym typeface="Carlito"/>
              </a:rPr>
              <a:t>Creating an object using EcmaScript 6 Class Keyword</a:t>
            </a:r>
            <a:endParaRPr sz="2400">
              <a:solidFill>
                <a:schemeClr val="dk1"/>
              </a:solidFill>
              <a:latin typeface="Carlito"/>
              <a:ea typeface="Carlito"/>
              <a:cs typeface="Carlito"/>
              <a:sym typeface="Carlito"/>
            </a:endParaRPr>
          </a:p>
        </p:txBody>
      </p:sp>
      <p:grpSp>
        <p:nvGrpSpPr>
          <p:cNvPr id="157" name="Google Shape;157;p10"/>
          <p:cNvGrpSpPr/>
          <p:nvPr/>
        </p:nvGrpSpPr>
        <p:grpSpPr>
          <a:xfrm>
            <a:off x="0" y="1297432"/>
            <a:ext cx="8291830" cy="2693543"/>
            <a:chOff x="0" y="1297432"/>
            <a:chExt cx="8291830" cy="2693543"/>
          </a:xfrm>
        </p:grpSpPr>
        <p:sp>
          <p:nvSpPr>
            <p:cNvPr id="158" name="Google Shape;158;p10"/>
            <p:cNvSpPr/>
            <p:nvPr/>
          </p:nvSpPr>
          <p:spPr>
            <a:xfrm>
              <a:off x="0" y="1297432"/>
              <a:ext cx="8291830" cy="38100"/>
            </a:xfrm>
            <a:custGeom>
              <a:rect b="b" l="l" r="r" t="t"/>
              <a:pathLst>
                <a:path extrusionOk="0" h="38100" w="8291830">
                  <a:moveTo>
                    <a:pt x="8291703" y="0"/>
                  </a:moveTo>
                  <a:lnTo>
                    <a:pt x="0" y="0"/>
                  </a:lnTo>
                  <a:lnTo>
                    <a:pt x="0" y="38100"/>
                  </a:lnTo>
                  <a:lnTo>
                    <a:pt x="8291703" y="38100"/>
                  </a:lnTo>
                  <a:lnTo>
                    <a:pt x="8291703" y="0"/>
                  </a:lnTo>
                  <a:close/>
                </a:path>
              </a:pathLst>
            </a:custGeom>
            <a:solidFill>
              <a:srgbClr val="C55A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10"/>
            <p:cNvSpPr/>
            <p:nvPr/>
          </p:nvSpPr>
          <p:spPr>
            <a:xfrm>
              <a:off x="161925" y="1362075"/>
              <a:ext cx="7258050" cy="26289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0" name="Google Shape;160;p10"/>
          <p:cNvSpPr txBox="1"/>
          <p:nvPr/>
        </p:nvSpPr>
        <p:spPr>
          <a:xfrm>
            <a:off x="238759" y="4424248"/>
            <a:ext cx="5626735" cy="1489075"/>
          </a:xfrm>
          <a:prstGeom prst="rect">
            <a:avLst/>
          </a:prstGeom>
          <a:noFill/>
          <a:ln>
            <a:noFill/>
          </a:ln>
        </p:spPr>
        <p:txBody>
          <a:bodyPr anchorCtr="0" anchor="t" bIns="0" lIns="0" spcFirstLastPara="1" rIns="0" wrap="square" tIns="12700">
            <a:spAutoFit/>
          </a:bodyPr>
          <a:lstStyle/>
          <a:p>
            <a:pPr indent="-242569" lvl="0" marL="254634" marR="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Class is defined .</a:t>
            </a:r>
            <a:endParaRPr sz="2400">
              <a:solidFill>
                <a:schemeClr val="dk1"/>
              </a:solidFill>
              <a:latin typeface="Arial"/>
              <a:ea typeface="Arial"/>
              <a:cs typeface="Arial"/>
              <a:sym typeface="Arial"/>
            </a:endParaRPr>
          </a:p>
          <a:p>
            <a:pPr indent="-242569" lvl="0" marL="254634" marR="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Then the objects of the class are created.</a:t>
            </a:r>
            <a:endParaRPr sz="2400">
              <a:solidFill>
                <a:schemeClr val="dk1"/>
              </a:solidFill>
              <a:latin typeface="Arial"/>
              <a:ea typeface="Arial"/>
              <a:cs typeface="Arial"/>
              <a:sym typeface="Arial"/>
            </a:endParaRPr>
          </a:p>
          <a:p>
            <a:pPr indent="-254634" lvl="0" marL="254634" marR="508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It internally uses the constructor/prototype  based approach of creating objects</a:t>
            </a:r>
            <a:endParaRPr sz="2400">
              <a:solidFill>
                <a:schemeClr val="dk1"/>
              </a:solidFill>
              <a:latin typeface="Arial"/>
              <a:ea typeface="Arial"/>
              <a:cs typeface="Arial"/>
              <a:sym typeface="Arial"/>
            </a:endParaRPr>
          </a:p>
        </p:txBody>
      </p:sp>
      <p:pic>
        <p:nvPicPr>
          <p:cNvPr id="161" name="Google Shape;161;p10"/>
          <p:cNvPicPr preferRelativeResize="0"/>
          <p:nvPr/>
        </p:nvPicPr>
        <p:blipFill rotWithShape="1">
          <a:blip r:embed="rId4">
            <a:alphaModFix/>
          </a:blip>
          <a:srcRect b="0" l="0" r="0" t="0"/>
          <a:stretch/>
        </p:blipFill>
        <p:spPr>
          <a:xfrm>
            <a:off x="11125201" y="10586"/>
            <a:ext cx="887582" cy="13989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5" name="Shape 165"/>
        <p:cNvGrpSpPr/>
        <p:nvPr/>
      </p:nvGrpSpPr>
      <p:grpSpPr>
        <a:xfrm>
          <a:off x="0" y="0"/>
          <a:ext cx="0" cy="0"/>
          <a:chOff x="0" y="0"/>
          <a:chExt cx="0" cy="0"/>
        </a:xfrm>
      </p:grpSpPr>
      <p:sp>
        <p:nvSpPr>
          <p:cNvPr id="166" name="Google Shape;166;p11"/>
          <p:cNvSpPr/>
          <p:nvPr/>
        </p:nvSpPr>
        <p:spPr>
          <a:xfrm>
            <a:off x="5448172" y="2887345"/>
            <a:ext cx="4581525" cy="0"/>
          </a:xfrm>
          <a:custGeom>
            <a:rect b="b" l="l" r="r" t="t"/>
            <a:pathLst>
              <a:path extrusionOk="0" h="120000" w="4581525">
                <a:moveTo>
                  <a:pt x="0" y="0"/>
                </a:moveTo>
                <a:lnTo>
                  <a:pt x="4581398" y="0"/>
                </a:lnTo>
              </a:path>
            </a:pathLst>
          </a:custGeom>
          <a:noFill/>
          <a:ln cap="flat" cmpd="sng" w="38100">
            <a:solidFill>
              <a:srgbClr val="C55A1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11"/>
          <p:cNvSpPr txBox="1"/>
          <p:nvPr/>
        </p:nvSpPr>
        <p:spPr>
          <a:xfrm>
            <a:off x="5521578" y="3110566"/>
            <a:ext cx="6241415" cy="1308100"/>
          </a:xfrm>
          <a:prstGeom prst="rect">
            <a:avLst/>
          </a:prstGeom>
          <a:noFill/>
          <a:ln>
            <a:noFill/>
          </a:ln>
        </p:spPr>
        <p:txBody>
          <a:bodyPr anchorCtr="0" anchor="t" bIns="0" lIns="0" spcFirstLastPara="1" rIns="0" wrap="square" tIns="44450">
            <a:spAutoFit/>
          </a:bodyPr>
          <a:lstStyle/>
          <a:p>
            <a:pPr indent="0" lvl="0" marL="18415" marR="0" rtl="0" algn="l">
              <a:lnSpc>
                <a:spcPct val="100000"/>
              </a:lnSpc>
              <a:spcBef>
                <a:spcPts val="0"/>
              </a:spcBef>
              <a:spcAft>
                <a:spcPts val="0"/>
              </a:spcAft>
              <a:buNone/>
            </a:pPr>
            <a:r>
              <a:rPr b="1" lang="en-US" sz="2400">
                <a:solidFill>
                  <a:schemeClr val="dk1"/>
                </a:solidFill>
                <a:latin typeface="Carlito"/>
                <a:ea typeface="Carlito"/>
                <a:cs typeface="Carlito"/>
                <a:sym typeface="Carlito"/>
              </a:rPr>
              <a:t>Vinay Joshi</a:t>
            </a:r>
            <a:endParaRPr sz="2400">
              <a:solidFill>
                <a:schemeClr val="dk1"/>
              </a:solidFill>
              <a:latin typeface="Carlito"/>
              <a:ea typeface="Carlito"/>
              <a:cs typeface="Carlito"/>
              <a:sym typeface="Carlito"/>
            </a:endParaRPr>
          </a:p>
          <a:p>
            <a:pPr indent="0" lvl="0" marL="18415" marR="0" rtl="0" algn="l">
              <a:lnSpc>
                <a:spcPct val="100000"/>
              </a:lnSpc>
              <a:spcBef>
                <a:spcPts val="250"/>
              </a:spcBef>
              <a:spcAft>
                <a:spcPts val="0"/>
              </a:spcAft>
              <a:buNone/>
            </a:pPr>
            <a:r>
              <a:rPr lang="en-US" sz="2400">
                <a:solidFill>
                  <a:schemeClr val="dk1"/>
                </a:solidFill>
                <a:latin typeface="Arial"/>
                <a:ea typeface="Arial"/>
                <a:cs typeface="Arial"/>
                <a:sym typeface="Arial"/>
              </a:rPr>
              <a:t>Department of Computer Science and Engineering</a:t>
            </a:r>
            <a:endParaRPr sz="2400">
              <a:solidFill>
                <a:schemeClr val="dk1"/>
              </a:solidFill>
              <a:latin typeface="Arial"/>
              <a:ea typeface="Arial"/>
              <a:cs typeface="Arial"/>
              <a:sym typeface="Arial"/>
            </a:endParaRPr>
          </a:p>
          <a:p>
            <a:pPr indent="0" lvl="0" marL="12700" marR="0" rtl="0" algn="l">
              <a:lnSpc>
                <a:spcPct val="100000"/>
              </a:lnSpc>
              <a:spcBef>
                <a:spcPts val="955"/>
              </a:spcBef>
              <a:spcAft>
                <a:spcPts val="0"/>
              </a:spcAft>
              <a:buNone/>
            </a:pPr>
            <a:r>
              <a:rPr b="1" lang="en-US" sz="2400" u="sng">
                <a:solidFill>
                  <a:schemeClr val="dk1"/>
                </a:solidFill>
                <a:latin typeface="Carlito"/>
                <a:ea typeface="Carlito"/>
                <a:cs typeface="Carlito"/>
                <a:sym typeface="Carlito"/>
                <a:hlinkClick r:id="rId3">
                  <a:extLst>
                    <a:ext uri="{A12FA001-AC4F-418D-AE19-62706E023703}">
                      <ahyp:hlinkClr val="tx"/>
                    </a:ext>
                  </a:extLst>
                </a:hlinkClick>
              </a:rPr>
              <a:t>vina</a:t>
            </a:r>
            <a:r>
              <a:rPr b="1" lang="en-US" sz="2400" u="sng">
                <a:solidFill>
                  <a:schemeClr val="dk1"/>
                </a:solidFill>
                <a:latin typeface="Carlito"/>
                <a:ea typeface="Carlito"/>
                <a:cs typeface="Carlito"/>
                <a:sym typeface="Carlito"/>
                <a:hlinkClick r:id="rId4">
                  <a:extLst>
                    <a:ext uri="{A12FA001-AC4F-418D-AE19-62706E023703}">
                      <ahyp:hlinkClr val="tx"/>
                    </a:ext>
                  </a:extLst>
                </a:hlinkClick>
              </a:rPr>
              <a:t>yj@pes.edu</a:t>
            </a:r>
            <a:endParaRPr sz="2400">
              <a:solidFill>
                <a:schemeClr val="dk1"/>
              </a:solidFill>
              <a:latin typeface="Carlito"/>
              <a:ea typeface="Carlito"/>
              <a:cs typeface="Carlito"/>
              <a:sym typeface="Carlito"/>
            </a:endParaRPr>
          </a:p>
        </p:txBody>
      </p:sp>
      <p:sp>
        <p:nvSpPr>
          <p:cNvPr id="168" name="Google Shape;168;p11"/>
          <p:cNvSpPr/>
          <p:nvPr/>
        </p:nvSpPr>
        <p:spPr>
          <a:xfrm>
            <a:off x="10765409" y="349516"/>
            <a:ext cx="1067435" cy="1078230"/>
          </a:xfrm>
          <a:custGeom>
            <a:rect b="b" l="l" r="r" t="t"/>
            <a:pathLst>
              <a:path extrusionOk="0" h="1078230" w="1067434">
                <a:moveTo>
                  <a:pt x="1066876" y="0"/>
                </a:moveTo>
                <a:lnTo>
                  <a:pt x="0" y="0"/>
                </a:lnTo>
                <a:lnTo>
                  <a:pt x="0" y="45707"/>
                </a:lnTo>
                <a:lnTo>
                  <a:pt x="1021080" y="45707"/>
                </a:lnTo>
                <a:lnTo>
                  <a:pt x="1021080" y="1078090"/>
                </a:lnTo>
                <a:lnTo>
                  <a:pt x="1066787" y="1078090"/>
                </a:lnTo>
                <a:lnTo>
                  <a:pt x="1066787" y="45707"/>
                </a:lnTo>
                <a:lnTo>
                  <a:pt x="1066876" y="0"/>
                </a:lnTo>
                <a:close/>
              </a:path>
            </a:pathLst>
          </a:custGeom>
          <a:solidFill>
            <a:srgbClr val="C55A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11"/>
          <p:cNvSpPr/>
          <p:nvPr/>
        </p:nvSpPr>
        <p:spPr>
          <a:xfrm>
            <a:off x="313842" y="5489702"/>
            <a:ext cx="1067435" cy="1078230"/>
          </a:xfrm>
          <a:custGeom>
            <a:rect b="b" l="l" r="r" t="t"/>
            <a:pathLst>
              <a:path extrusionOk="0" h="1078229" w="1067435">
                <a:moveTo>
                  <a:pt x="1066888" y="1032446"/>
                </a:moveTo>
                <a:lnTo>
                  <a:pt x="45707" y="1032446"/>
                </a:lnTo>
                <a:lnTo>
                  <a:pt x="45707" y="0"/>
                </a:lnTo>
                <a:lnTo>
                  <a:pt x="0" y="0"/>
                </a:lnTo>
                <a:lnTo>
                  <a:pt x="0" y="1032446"/>
                </a:lnTo>
                <a:lnTo>
                  <a:pt x="0" y="1066888"/>
                </a:lnTo>
                <a:lnTo>
                  <a:pt x="0" y="1078153"/>
                </a:lnTo>
                <a:lnTo>
                  <a:pt x="1066888" y="1078153"/>
                </a:lnTo>
                <a:lnTo>
                  <a:pt x="1066888" y="1032446"/>
                </a:lnTo>
                <a:close/>
              </a:path>
            </a:pathLst>
          </a:custGeom>
          <a:solidFill>
            <a:srgbClr val="C55A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11"/>
          <p:cNvSpPr txBox="1"/>
          <p:nvPr>
            <p:ph type="title"/>
          </p:nvPr>
        </p:nvSpPr>
        <p:spPr>
          <a:xfrm>
            <a:off x="4362450" y="2054097"/>
            <a:ext cx="3467100" cy="574039"/>
          </a:xfrm>
          <a:prstGeom prst="rect">
            <a:avLst/>
          </a:prstGeom>
          <a:noFill/>
          <a:ln>
            <a:noFill/>
          </a:ln>
        </p:spPr>
        <p:txBody>
          <a:bodyPr anchorCtr="0" anchor="t" bIns="0" lIns="0" spcFirstLastPara="1" rIns="0" wrap="square" tIns="12700">
            <a:spAutoFit/>
          </a:bodyPr>
          <a:lstStyle/>
          <a:p>
            <a:pPr indent="0" lvl="0" marL="1177925" rtl="0" algn="l">
              <a:lnSpc>
                <a:spcPct val="100000"/>
              </a:lnSpc>
              <a:spcBef>
                <a:spcPts val="0"/>
              </a:spcBef>
              <a:spcAft>
                <a:spcPts val="0"/>
              </a:spcAft>
              <a:buNone/>
            </a:pPr>
            <a:r>
              <a:rPr lang="en-US"/>
              <a:t>THANK YOU</a:t>
            </a:r>
            <a:endParaRPr/>
          </a:p>
        </p:txBody>
      </p:sp>
      <p:pic>
        <p:nvPicPr>
          <p:cNvPr id="171" name="Google Shape;171;p11"/>
          <p:cNvPicPr preferRelativeResize="0"/>
          <p:nvPr/>
        </p:nvPicPr>
        <p:blipFill rotWithShape="1">
          <a:blip r:embed="rId5">
            <a:alphaModFix/>
          </a:blip>
          <a:srcRect b="0" l="0" r="0" t="0"/>
          <a:stretch/>
        </p:blipFill>
        <p:spPr>
          <a:xfrm>
            <a:off x="2590800" y="1447800"/>
            <a:ext cx="2249775" cy="355018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2023-07-30T16:53:23Z</dcterms:created>
  <dc:creator>Krishna Venkataram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2020-08-01T00:00:00Z</vt:filetime>
  </property>
  <property fmtid="{D5CDD505-2E9C-101B-9397-08002B2CF9AE}" pid="3" name="Creator">
    <vt:lpwstr>Microsoft® Office PowerPoint® 2007</vt:lpwstr>
  </property>
  <property fmtid="{D5CDD505-2E9C-101B-9397-08002B2CF9AE}" pid="4" name="LastSaved">
    <vt:filetime>2023-07-30T00:00:00Z</vt:filetime>
  </property>
</Properties>
</file>