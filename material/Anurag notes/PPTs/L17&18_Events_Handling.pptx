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94" r:id="rId2"/>
    <p:sldId id="393" r:id="rId3"/>
    <p:sldId id="404" r:id="rId4"/>
    <p:sldId id="403" r:id="rId5"/>
    <p:sldId id="401" r:id="rId6"/>
    <p:sldId id="320" r:id="rId7"/>
    <p:sldId id="364" r:id="rId8"/>
    <p:sldId id="402" r:id="rId9"/>
    <p:sldId id="367" r:id="rId10"/>
    <p:sldId id="265" r:id="rId11"/>
    <p:sldId id="400" r:id="rId12"/>
    <p:sldId id="395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71D0D2-FBC9-4C57-B1E0-0CD70B317044}" type="datetimeFigureOut">
              <a:rPr lang="en-IN" smtClean="0"/>
              <a:t>04-09-2023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8B77A-F3EB-42C8-B5C3-98C500A68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67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9433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6D0194-4599-42B9-BB05-D42F6A038CA8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5E2D1-5F46-4838-8F53-C1A738B02CD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AC9B1-5892-401B-86A2-081C2D1A5DF0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BFF27-6061-4560-B44A-42D74A8F2BA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51C29-C7B2-4DE1-93A0-5E9338CF5A7A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1C600-1FF9-4891-928F-F41D1BFF01B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44784-6C6E-4AE4-88E1-CEED687DFBAE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8A677-AA7F-43F4-954A-AAC2C56297C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560C1-8218-4991-95EE-F394AC535D7A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646AC-E5CB-4AEF-8CC7-8C26116C0EA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99136-2E93-4956-8DA4-0329AEEF466A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F688D-7296-43CB-B3CA-DF0FCB8C02B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0728E-1B65-4FA3-8A8A-D18EF4C119F9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2D8A1-EF7B-43D4-8A67-A68777C9B02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4D62D-29A9-4F81-AFDC-A6C9FF9589C5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BB508-B16F-48EE-81D5-2C4B02DFC50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BA614-C1A4-40E7-B551-F051A6F97EF0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037C7E-2BE2-486B-BF7F-A475C5580BA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6470A8-1C7D-4632-AD77-832115B15630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915A5-8F91-4C57-9B71-FC7AE2CFC38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F475F-A3DC-4397-B47D-A9DA2202C51D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E85EA-C32F-471D-BA87-4D20017733D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F03EA37-9D9B-4FF0-8BB9-B720A81ECB80}" type="datetimeFigureOut">
              <a:rPr lang="en-IN"/>
              <a:pPr>
                <a:defRPr/>
              </a:pPr>
              <a:t>04-09-2023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AA80926-2FC4-4AC8-BDB8-816FE5CF693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eveloper.mozilla.org/en-US/docs/Web/API/Event/stopPropagatio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781916" y="1688267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WEB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4781916" y="2841955"/>
            <a:ext cx="6994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Event Handling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Vinay</a:t>
            </a:r>
            <a:r>
              <a:rPr lang="en-US" sz="2400" b="1" dirty="0"/>
              <a:t> Joshi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</a:t>
            </a:r>
          </a:p>
          <a:p>
            <a:r>
              <a:rPr lang="en-US" sz="2400" dirty="0"/>
              <a:t>Computer Science and Engineering</a:t>
            </a:r>
            <a:endParaRPr lang="en-IN" sz="2400" dirty="0"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8788" y="1606241"/>
            <a:ext cx="2160229" cy="3550188"/>
          </a:xfrm>
          <a:prstGeom prst="rect">
            <a:avLst/>
          </a:prstGeom>
        </p:spPr>
      </p:pic>
      <p:grpSp>
        <p:nvGrpSpPr>
          <p:cNvPr id="3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11184" y="469900"/>
            <a:ext cx="987115" cy="13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93700" y="368300"/>
            <a:ext cx="74961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Event Handling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-7938" y="1316038"/>
            <a:ext cx="829945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7" name="TextBox 7"/>
          <p:cNvSpPr txBox="1">
            <a:spLocks noChangeArrowheads="1"/>
          </p:cNvSpPr>
          <p:nvPr/>
        </p:nvSpPr>
        <p:spPr bwMode="auto">
          <a:xfrm>
            <a:off x="393700" y="1587500"/>
            <a:ext cx="9218612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</a:rPr>
              <a:t>Ways of event propagation in the HTML DOM,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Event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</a:rPr>
              <a:t>bubbling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Event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</a:rPr>
              <a:t>capturing.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Target Phase</a:t>
            </a:r>
            <a:endParaRPr lang="en-US" sz="2400" b="0" i="0" dirty="0">
              <a:solidFill>
                <a:srgbClr val="000000"/>
              </a:solidFill>
              <a:effectLst/>
              <a:latin typeface="+mn-lt"/>
            </a:endParaRPr>
          </a:p>
          <a:p>
            <a:pPr algn="l"/>
            <a:endParaRPr lang="en-US" sz="2400" b="0" i="0" dirty="0">
              <a:solidFill>
                <a:srgbClr val="000000"/>
              </a:solidFill>
              <a:effectLst/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r>
              <a:rPr lang="en-US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 a mechanism that defines how events propagate or travel through the DOM tree to arrive at its target.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</a:rPr>
              <a:t>Event propagation is a way of defining the element order when an event occurs.</a:t>
            </a:r>
          </a:p>
          <a:p>
            <a:pPr algn="l"/>
            <a:r>
              <a:rPr lang="en-US" sz="2400" b="0" i="0">
                <a:solidFill>
                  <a:srgbClr val="000000"/>
                </a:solidFill>
                <a:effectLst/>
                <a:latin typeface="+mn-lt"/>
              </a:rPr>
              <a:t>&lt;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</a:rPr>
              <a:t>div&gt; </a:t>
            </a:r>
          </a:p>
          <a:p>
            <a:pPr algn="l"/>
            <a:r>
              <a:rPr lang="en-US" sz="2400" dirty="0">
                <a:solidFill>
                  <a:srgbClr val="000000"/>
                </a:solidFill>
                <a:latin typeface="+mn-lt"/>
              </a:rPr>
              <a:t>     &lt;p&gt;   /&lt;p&gt;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</a:rPr>
              <a:t>&lt;/div&gt;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If both &lt;p&gt; and &lt;div&gt;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</a:rPr>
              <a:t>elements registered Click event, which element's "click" event should be handled first?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Event Propagation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93700" y="368300"/>
            <a:ext cx="74961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Event Handling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-7938" y="1316038"/>
            <a:ext cx="829945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7" name="TextBox 7"/>
          <p:cNvSpPr txBox="1">
            <a:spLocks noChangeArrowheads="1"/>
          </p:cNvSpPr>
          <p:nvPr/>
        </p:nvSpPr>
        <p:spPr bwMode="auto">
          <a:xfrm>
            <a:off x="393700" y="1587500"/>
            <a:ext cx="9218612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400" b="0" i="1" dirty="0">
                <a:solidFill>
                  <a:srgbClr val="000000"/>
                </a:solidFill>
                <a:effectLst/>
                <a:latin typeface="+mn-lt"/>
                <a:ea typeface="Verdana" panose="020B0604030504040204" pitchFamily="34" charset="0"/>
              </a:rPr>
              <a:t>bubbling 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  <a:ea typeface="Verdana" panose="020B0604030504040204" pitchFamily="34" charset="0"/>
              </a:rPr>
              <a:t>inner most element's event is handled first and then the outer: the &lt;p&gt; element's click event is handled first, then the &lt;div&gt; element's click event.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+mn-lt"/>
              <a:ea typeface="Verdana" panose="020B0604030504040204" pitchFamily="34" charset="0"/>
            </a:endParaRPr>
          </a:p>
          <a:p>
            <a:pPr algn="l"/>
            <a:r>
              <a:rPr lang="en-US" sz="2400" b="0" i="1" dirty="0">
                <a:solidFill>
                  <a:srgbClr val="000000"/>
                </a:solidFill>
                <a:effectLst/>
                <a:latin typeface="+mn-lt"/>
                <a:ea typeface="Verdana" panose="020B0604030504040204" pitchFamily="34" charset="0"/>
              </a:rPr>
              <a:t>capturing 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  <a:ea typeface="Verdana" panose="020B0604030504040204" pitchFamily="34" charset="0"/>
              </a:rPr>
              <a:t>outer most element's event is handled first and then the inner: the &lt;div&gt; element's click event will be handled first, then the &lt;p&gt; element's click event.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Event Propagation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0861CE07-8BDE-A40E-9F0A-B221951735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11185" y="232568"/>
            <a:ext cx="1009340" cy="13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048518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93700" y="368300"/>
            <a:ext cx="74961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Event Handling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-7938" y="1316038"/>
            <a:ext cx="829945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7" name="TextBox 7"/>
          <p:cNvSpPr txBox="1">
            <a:spLocks noChangeArrowheads="1"/>
          </p:cNvSpPr>
          <p:nvPr/>
        </p:nvSpPr>
        <p:spPr bwMode="auto">
          <a:xfrm>
            <a:off x="430213" y="1587500"/>
            <a:ext cx="9218612" cy="507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buFont typeface="Arial" charset="0"/>
              <a:buChar char="•"/>
            </a:pPr>
            <a:r>
              <a:rPr lang="en-US" sz="2400" dirty="0">
                <a:latin typeface="Calibri" pitchFamily="34" charset="0"/>
                <a:cs typeface="Times New Roman" pitchFamily="18" charset="0"/>
              </a:rPr>
              <a:t> </a:t>
            </a:r>
            <a:r>
              <a:rPr lang="en-IN" sz="2400" dirty="0">
                <a:latin typeface="Calibri" pitchFamily="34" charset="0"/>
                <a:cs typeface="Times New Roman" pitchFamily="18" charset="0"/>
              </a:rPr>
              <a:t>When an event occurs in an element inside another element, and both elements have registered a handle for that event. </a:t>
            </a:r>
          </a:p>
          <a:p>
            <a:pPr algn="just">
              <a:lnSpc>
                <a:spcPct val="150000"/>
              </a:lnSpc>
              <a:buFont typeface="Arial" charset="0"/>
              <a:buChar char="•"/>
            </a:pPr>
            <a:r>
              <a:rPr lang="en-IN" sz="2400" dirty="0">
                <a:latin typeface="Calibri" pitchFamily="34" charset="0"/>
                <a:cs typeface="Times New Roman" pitchFamily="18" charset="0"/>
              </a:rPr>
              <a:t>Propagation is the process of calling all the listeners for the given event type, attached to the nodes on the branch.</a:t>
            </a:r>
          </a:p>
          <a:p>
            <a:pPr algn="just">
              <a:lnSpc>
                <a:spcPct val="150000"/>
              </a:lnSpc>
              <a:buFont typeface="Arial" charset="0"/>
              <a:buChar char="•"/>
            </a:pPr>
            <a:r>
              <a:rPr lang="en-IN" sz="2400" dirty="0">
                <a:latin typeface="Calibri" pitchFamily="34" charset="0"/>
                <a:cs typeface="Times New Roman" pitchFamily="18" charset="0"/>
              </a:rPr>
              <a:t>Each listener will be called with an event object that gathers information relevant to the event.</a:t>
            </a:r>
          </a:p>
          <a:p>
            <a:pPr algn="just">
              <a:lnSpc>
                <a:spcPct val="150000"/>
              </a:lnSpc>
              <a:buFont typeface="Arial" charset="0"/>
              <a:buChar char="•"/>
            </a:pPr>
            <a:r>
              <a:rPr lang="en-IN" sz="2400" dirty="0">
                <a:latin typeface="Calibri" pitchFamily="34" charset="0"/>
                <a:cs typeface="Times New Roman" pitchFamily="18" charset="0"/>
              </a:rPr>
              <a:t>Several listeners can be registered on a node for the same event type.</a:t>
            </a:r>
          </a:p>
          <a:p>
            <a:pPr algn="just">
              <a:lnSpc>
                <a:spcPct val="150000"/>
              </a:lnSpc>
              <a:buFont typeface="Arial" charset="0"/>
              <a:buChar char="•"/>
            </a:pPr>
            <a:r>
              <a:rPr lang="en-IN" sz="2400" dirty="0">
                <a:latin typeface="Calibri" pitchFamily="34" charset="0"/>
                <a:cs typeface="Times New Roman" pitchFamily="18" charset="0"/>
              </a:rPr>
              <a:t>When the propagation reaches one such node, listeners are invoked in the order of their registration. </a:t>
            </a:r>
            <a:endParaRPr lang="en-US" sz="2400" dirty="0"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Event Delegation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EB4B6436-5502-EF90-194F-944FF983A8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11185" y="232568"/>
            <a:ext cx="1009340" cy="13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4415227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93700" y="368300"/>
            <a:ext cx="74961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Event Handling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-7938" y="1316038"/>
            <a:ext cx="829945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Event Propagation</a:t>
            </a:r>
          </a:p>
        </p:txBody>
      </p:sp>
      <p:pic>
        <p:nvPicPr>
          <p:cNvPr id="1026" name="Picture 2" descr="51 Drag Drop Examples with ReactJ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3344" y="1585926"/>
            <a:ext cx="4689475" cy="4655979"/>
          </a:xfrm>
          <a:prstGeom prst="rect">
            <a:avLst/>
          </a:prstGeom>
          <a:noFill/>
        </p:spPr>
      </p:pic>
      <p:pic>
        <p:nvPicPr>
          <p:cNvPr id="1028" name="Picture 4" descr="Angular Material Menu: mat Menu example | Angular Wik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1030" y="1744229"/>
            <a:ext cx="4788065" cy="2730789"/>
          </a:xfrm>
          <a:prstGeom prst="rect">
            <a:avLst/>
          </a:prstGeom>
          <a:noFill/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E0FBC78A-E0DD-85CE-AD9B-10D25E7EDA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11185" y="232568"/>
            <a:ext cx="1009340" cy="13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>
            <a:off x="-7938" y="1316038"/>
            <a:ext cx="829945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93700" y="321688"/>
            <a:ext cx="7496175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Event Handling</a:t>
            </a:r>
          </a:p>
        </p:txBody>
      </p:sp>
      <p:sp>
        <p:nvSpPr>
          <p:cNvPr id="19461" name="TextBox 7"/>
          <p:cNvSpPr txBox="1">
            <a:spLocks noChangeArrowheads="1"/>
          </p:cNvSpPr>
          <p:nvPr/>
        </p:nvSpPr>
        <p:spPr bwMode="auto">
          <a:xfrm>
            <a:off x="168275" y="1492250"/>
            <a:ext cx="9428163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itchFamily="34" charset="0"/>
                <a:cs typeface="Times New Roman" pitchFamily="18" charset="0"/>
              </a:rPr>
              <a:t>There are three phases in which an event can propagate to handlers defined in parent elements:</a:t>
            </a:r>
          </a:p>
          <a:p>
            <a:pPr marL="803275" lvl="2" indent="-401638" algn="just">
              <a:lnSpc>
                <a:spcPct val="150000"/>
              </a:lnSpc>
              <a:buFont typeface="Arial" charset="0"/>
              <a:buChar char="•"/>
            </a:pPr>
            <a:r>
              <a:rPr lang="en-IN" sz="2400" dirty="0">
                <a:latin typeface="Calibri" pitchFamily="34" charset="0"/>
                <a:cs typeface="Times New Roman" pitchFamily="18" charset="0"/>
              </a:rPr>
              <a:t>Capturing phase</a:t>
            </a:r>
          </a:p>
          <a:p>
            <a:pPr marL="803275" lvl="2" indent="-401638" algn="just">
              <a:lnSpc>
                <a:spcPct val="150000"/>
              </a:lnSpc>
              <a:buFont typeface="Arial" charset="0"/>
              <a:buChar char="•"/>
            </a:pPr>
            <a:r>
              <a:rPr lang="en-IN" sz="2400" dirty="0">
                <a:latin typeface="Calibri" pitchFamily="34" charset="0"/>
                <a:cs typeface="Times New Roman" pitchFamily="18" charset="0"/>
              </a:rPr>
              <a:t>Target phase</a:t>
            </a:r>
          </a:p>
          <a:p>
            <a:pPr marL="803275" lvl="2" indent="-401638" algn="just">
              <a:lnSpc>
                <a:spcPct val="150000"/>
              </a:lnSpc>
              <a:buFont typeface="Arial" charset="0"/>
              <a:buChar char="•"/>
            </a:pPr>
            <a:r>
              <a:rPr lang="en-IN" sz="2400" dirty="0">
                <a:latin typeface="Calibri" pitchFamily="34" charset="0"/>
                <a:cs typeface="Times New Roman" pitchFamily="18" charset="0"/>
              </a:rPr>
              <a:t>Bubbling phase</a:t>
            </a:r>
          </a:p>
          <a:p>
            <a:pPr marL="401638" indent="-401638" algn="just">
              <a:lnSpc>
                <a:spcPct val="150000"/>
              </a:lnSpc>
            </a:pPr>
            <a:endParaRPr lang="en-IN" sz="2400" dirty="0">
              <a:latin typeface="Calibri" pitchFamily="34" charset="0"/>
              <a:cs typeface="Times New Roman" pitchFamily="18" charset="0"/>
            </a:endParaRPr>
          </a:p>
          <a:p>
            <a:pPr marL="401638" indent="-401638" algn="just">
              <a:lnSpc>
                <a:spcPct val="150000"/>
              </a:lnSpc>
            </a:pPr>
            <a:r>
              <a:rPr lang="en-IN" sz="2400" dirty="0" err="1">
                <a:latin typeface="Calibri" pitchFamily="34" charset="0"/>
                <a:cs typeface="Times New Roman" pitchFamily="18" charset="0"/>
              </a:rPr>
              <a:t>elem.addEventListener</a:t>
            </a:r>
            <a:r>
              <a:rPr lang="en-IN" sz="2400" dirty="0">
                <a:latin typeface="Calibri" pitchFamily="34" charset="0"/>
                <a:cs typeface="Times New Roman" pitchFamily="18" charset="0"/>
              </a:rPr>
              <a:t>(“event”, </a:t>
            </a:r>
            <a:r>
              <a:rPr lang="en-IN" sz="2400" dirty="0" err="1">
                <a:latin typeface="Calibri" pitchFamily="34" charset="0"/>
                <a:cs typeface="Times New Roman" pitchFamily="18" charset="0"/>
              </a:rPr>
              <a:t>func_ref</a:t>
            </a:r>
            <a:r>
              <a:rPr lang="en-IN" sz="2400" dirty="0">
                <a:latin typeface="Calibri" pitchFamily="34" charset="0"/>
                <a:cs typeface="Times New Roman" pitchFamily="18" charset="0"/>
              </a:rPr>
              <a:t>, </a:t>
            </a:r>
            <a:r>
              <a:rPr lang="en-IN" sz="2400" b="1" dirty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  <a:t>flag</a:t>
            </a:r>
            <a:r>
              <a:rPr lang="en-IN" sz="2400" dirty="0">
                <a:latin typeface="Calibri" pitchFamily="34" charset="0"/>
                <a:cs typeface="Times New Roman" pitchFamily="18" charset="0"/>
              </a:rPr>
              <a:t>);</a:t>
            </a:r>
          </a:p>
          <a:p>
            <a:pPr marL="803275" indent="-401638" algn="just">
              <a:lnSpc>
                <a:spcPct val="150000"/>
              </a:lnSpc>
            </a:pPr>
            <a:r>
              <a:rPr lang="en-IN" sz="2400" dirty="0">
                <a:latin typeface="Calibri" pitchFamily="34" charset="0"/>
                <a:cs typeface="Times New Roman" pitchFamily="18" charset="0"/>
              </a:rPr>
              <a:t>flag = true :=&gt; Handler registered for Capturing phase</a:t>
            </a:r>
          </a:p>
          <a:p>
            <a:pPr marL="803275" indent="-401638" algn="just">
              <a:lnSpc>
                <a:spcPct val="150000"/>
              </a:lnSpc>
            </a:pPr>
            <a:r>
              <a:rPr lang="en-IN" sz="2400" dirty="0">
                <a:latin typeface="Calibri" pitchFamily="34" charset="0"/>
                <a:cs typeface="Times New Roman" pitchFamily="18" charset="0"/>
              </a:rPr>
              <a:t>flag = false:=&gt; Handler registered for Bubbling phase (default)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Event Flow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0C36BE04-07B2-12E1-C1AA-A930D11ABF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11185" y="232568"/>
            <a:ext cx="1009340" cy="13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371475" y="609600"/>
            <a:ext cx="7999413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 Event Capturing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7938" y="1316038"/>
            <a:ext cx="829945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Event Flow</a:t>
            </a:r>
          </a:p>
        </p:txBody>
      </p:sp>
      <p:pic>
        <p:nvPicPr>
          <p:cNvPr id="7" name="Picture 6" descr="1 3qdVfB_Oc8PeJoslXNHZ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64" y="1487632"/>
            <a:ext cx="7400925" cy="5162550"/>
          </a:xfrm>
          <a:prstGeom prst="rect">
            <a:avLst/>
          </a:prstGeom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B1402A51-12AA-D71E-71B9-895E0F203F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11185" y="232568"/>
            <a:ext cx="1009340" cy="13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371475" y="609600"/>
            <a:ext cx="7999413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 Event Capturing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7938" y="1316038"/>
            <a:ext cx="829945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Event Flow</a:t>
            </a:r>
          </a:p>
        </p:txBody>
      </p:sp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5513" y="1828800"/>
            <a:ext cx="5443537" cy="411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0AE9E0D9-402B-7D2D-BBD0-3F0858500C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11185" y="232568"/>
            <a:ext cx="1009340" cy="13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371475" y="609600"/>
            <a:ext cx="7999413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Event Bubbling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7938" y="1316038"/>
            <a:ext cx="829945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Event Flow</a:t>
            </a:r>
          </a:p>
        </p:txBody>
      </p:sp>
      <p:pic>
        <p:nvPicPr>
          <p:cNvPr id="2048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671638"/>
            <a:ext cx="47752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2D0DDCBB-E43F-CA92-8850-35C4B87C5A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11185" y="232568"/>
            <a:ext cx="1009340" cy="13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371475" y="609600"/>
            <a:ext cx="799941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Event Capturing</a:t>
            </a:r>
            <a:endParaRPr sz="2400" b="1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" name="Google Shape;131;p5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 Flow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C31CE2-AFEF-0FF2-17CF-A9D2BDB451A6}"/>
              </a:ext>
            </a:extLst>
          </p:cNvPr>
          <p:cNvSpPr txBox="1"/>
          <p:nvPr/>
        </p:nvSpPr>
        <p:spPr>
          <a:xfrm>
            <a:off x="492369" y="1428750"/>
            <a:ext cx="891891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eventPhase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event property returns a number that indicates which phase of the event flow is currently being evaluated.</a:t>
            </a:r>
          </a:p>
          <a:p>
            <a:endParaRPr lang="en-IN" sz="2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number is represented by 4 constants:</a:t>
            </a:r>
          </a:p>
          <a:p>
            <a:endParaRPr lang="en-IN" sz="2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1BE4907E-25DE-85F7-4737-5081E8FCD9C7}"/>
              </a:ext>
            </a:extLst>
          </p:cNvPr>
          <p:cNvGraphicFramePr>
            <a:graphicFrameLocks noGrp="1"/>
          </p:cNvGraphicFramePr>
          <p:nvPr/>
        </p:nvGraphicFramePr>
        <p:xfrm>
          <a:off x="492369" y="3429000"/>
          <a:ext cx="8918917" cy="2560320"/>
        </p:xfrm>
        <a:graphic>
          <a:graphicData uri="http://schemas.openxmlformats.org/drawingml/2006/table">
            <a:tbl>
              <a:tblPr firstRow="1" bandRow="1"/>
              <a:tblGrid>
                <a:gridCol w="811278">
                  <a:extLst>
                    <a:ext uri="{9D8B030D-6E8A-4147-A177-3AD203B41FA5}">
                      <a16:colId xmlns:a16="http://schemas.microsoft.com/office/drawing/2014/main" val="4213004014"/>
                    </a:ext>
                  </a:extLst>
                </a:gridCol>
                <a:gridCol w="2860390">
                  <a:extLst>
                    <a:ext uri="{9D8B030D-6E8A-4147-A177-3AD203B41FA5}">
                      <a16:colId xmlns:a16="http://schemas.microsoft.com/office/drawing/2014/main" val="3750606905"/>
                    </a:ext>
                  </a:extLst>
                </a:gridCol>
                <a:gridCol w="5247249">
                  <a:extLst>
                    <a:ext uri="{9D8B030D-6E8A-4147-A177-3AD203B41FA5}">
                      <a16:colId xmlns:a16="http://schemas.microsoft.com/office/drawing/2014/main" val="3914193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NONE</a:t>
                      </a:r>
                      <a:endParaRPr lang="en-IN" sz="2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243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CAPTURING_PHASE </a:t>
                      </a:r>
                      <a:endParaRPr lang="en-IN" sz="2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event flow is in capturing phase</a:t>
                      </a:r>
                      <a:endParaRPr lang="en-IN" sz="2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4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AT_TARGET </a:t>
                      </a:r>
                      <a:endParaRPr lang="en-IN" sz="2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event flow is in target phase, i.e. it is being evaluated at the event target</a:t>
                      </a:r>
                      <a:endParaRPr lang="en-IN" sz="2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025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BUBBLING_PHASE </a:t>
                      </a:r>
                      <a:endParaRPr lang="en-IN" sz="2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event flow is in bubbling phase</a:t>
                      </a:r>
                    </a:p>
                    <a:p>
                      <a:endParaRPr lang="en-IN" sz="2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527651"/>
                  </a:ext>
                </a:extLst>
              </a:tr>
            </a:tbl>
          </a:graphicData>
        </a:graphic>
      </p:graphicFrame>
      <p:pic>
        <p:nvPicPr>
          <p:cNvPr id="4" name="Picture 5">
            <a:extLst>
              <a:ext uri="{FF2B5EF4-FFF2-40B4-BE49-F238E27FC236}">
                <a16:creationId xmlns:a16="http://schemas.microsoft.com/office/drawing/2014/main" id="{C1B2243D-DE26-78BD-3F71-53EFB3606F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11185" y="232568"/>
            <a:ext cx="1009340" cy="13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9625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93700" y="368300"/>
            <a:ext cx="74961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Event Handling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-7938" y="1316038"/>
            <a:ext cx="829945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4079" y="2342885"/>
          <a:ext cx="9005460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4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dirty="0">
                          <a:latin typeface="+mn-lt"/>
                        </a:rPr>
                        <a:t>Property/ Method</a:t>
                      </a:r>
                      <a:endParaRPr lang="en-IN" sz="1600" dirty="0">
                        <a:latin typeface="+mn-lt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dirty="0">
                          <a:latin typeface="+mn-lt"/>
                        </a:rPr>
                        <a:t>IE5-8 Equivalent</a:t>
                      </a:r>
                      <a:endParaRPr lang="en-IN" sz="1600" dirty="0">
                        <a:latin typeface="+mn-lt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dirty="0">
                          <a:latin typeface="+mn-lt"/>
                        </a:rPr>
                        <a:t>Purpose</a:t>
                      </a:r>
                      <a:endParaRPr lang="en-IN" sz="1600" dirty="0">
                        <a:latin typeface="+mn-lt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0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dirty="0" err="1">
                          <a:latin typeface="+mn-lt"/>
                        </a:rPr>
                        <a:t>cancelBubble</a:t>
                      </a:r>
                      <a:endParaRPr lang="en-IN" sz="2000" dirty="0">
                        <a:latin typeface="+mn-lt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dirty="0">
                          <a:latin typeface="+mn-lt"/>
                        </a:rPr>
                        <a:t>-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2000" dirty="0"/>
                        <a:t>A historical alias to </a:t>
                      </a:r>
                      <a:r>
                        <a:rPr lang="en-GB" sz="2000" dirty="0" err="1">
                          <a:hlinkClick r:id="rId2"/>
                        </a:rPr>
                        <a:t>stopPropagation</a:t>
                      </a:r>
                      <a:r>
                        <a:rPr lang="en-GB" sz="2000" dirty="0">
                          <a:hlinkClick r:id="rId2"/>
                        </a:rPr>
                        <a:t>()</a:t>
                      </a:r>
                      <a:r>
                        <a:rPr lang="en-GB" sz="2000" dirty="0"/>
                        <a:t>. Setting its value to </a:t>
                      </a:r>
                      <a:r>
                        <a:rPr lang="en-GB" sz="2000" b="1" dirty="0"/>
                        <a:t>true</a:t>
                      </a:r>
                      <a:r>
                        <a:rPr lang="en-GB" sz="2000" dirty="0"/>
                        <a:t> before returning prevents propagation</a:t>
                      </a:r>
                      <a:endParaRPr lang="en-IN" sz="2000" dirty="0">
                        <a:latin typeface="+mn-lt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dirty="0" err="1">
                          <a:latin typeface="+mn-lt"/>
                        </a:rPr>
                        <a:t>eventPhase</a:t>
                      </a:r>
                      <a:endParaRPr lang="en-IN" sz="2000" dirty="0">
                        <a:latin typeface="+mn-lt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dirty="0">
                          <a:latin typeface="+mn-lt"/>
                        </a:rPr>
                        <a:t>-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2000" dirty="0"/>
                        <a:t>Specifies which phase of the event flow is being processed</a:t>
                      </a:r>
                      <a:endParaRPr lang="en-IN" sz="2000" dirty="0">
                        <a:latin typeface="+mn-lt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dirty="0" err="1">
                          <a:latin typeface="+mn-lt"/>
                        </a:rPr>
                        <a:t>cancelable</a:t>
                      </a:r>
                      <a:endParaRPr lang="en-IN" sz="2000" dirty="0">
                        <a:latin typeface="+mn-lt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dirty="0">
                          <a:latin typeface="+mn-lt"/>
                        </a:rPr>
                        <a:t>Not supported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dirty="0">
                          <a:latin typeface="+mn-lt"/>
                        </a:rPr>
                        <a:t>Indicates whether you can cancel the default behaviour of an element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1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dirty="0" err="1">
                          <a:latin typeface="+mn-lt"/>
                        </a:rPr>
                        <a:t>preventDefault</a:t>
                      </a:r>
                      <a:r>
                        <a:rPr lang="en-IN" sz="2000" dirty="0">
                          <a:latin typeface="+mn-lt"/>
                        </a:rPr>
                        <a:t>()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dirty="0" err="1">
                          <a:latin typeface="+mn-lt"/>
                        </a:rPr>
                        <a:t>returnValue</a:t>
                      </a:r>
                      <a:endParaRPr lang="en-IN" sz="2000" dirty="0">
                        <a:latin typeface="+mn-lt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dirty="0">
                          <a:latin typeface="+mn-lt"/>
                        </a:rPr>
                        <a:t>It cancels the default </a:t>
                      </a:r>
                      <a:r>
                        <a:rPr lang="en-IN" sz="2000" dirty="0" err="1">
                          <a:latin typeface="+mn-lt"/>
                        </a:rPr>
                        <a:t>behavior</a:t>
                      </a:r>
                      <a:r>
                        <a:rPr lang="en-IN" sz="2000" dirty="0">
                          <a:latin typeface="+mn-lt"/>
                        </a:rPr>
                        <a:t> of the event (if possible)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dirty="0" err="1">
                          <a:latin typeface="+mn-lt"/>
                        </a:rPr>
                        <a:t>stopPropogation</a:t>
                      </a:r>
                      <a:r>
                        <a:rPr lang="en-IN" sz="2000" dirty="0">
                          <a:latin typeface="+mn-lt"/>
                        </a:rPr>
                        <a:t>()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dirty="0" err="1">
                          <a:latin typeface="+mn-lt"/>
                        </a:rPr>
                        <a:t>cancelBubble</a:t>
                      </a:r>
                      <a:endParaRPr lang="en-IN" sz="2000" dirty="0">
                        <a:latin typeface="+mn-lt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dirty="0">
                          <a:latin typeface="+mn-lt"/>
                        </a:rPr>
                        <a:t>It stops any further bubbling/ capturing of the event.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Event Object Properties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055" y="1524000"/>
            <a:ext cx="8285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6075" indent="-346075">
              <a:buFont typeface="Arial" pitchFamily="34" charset="0"/>
              <a:buChar char="•"/>
            </a:pPr>
            <a:r>
              <a:rPr lang="en-US" sz="2400" dirty="0">
                <a:latin typeface="+mn-lt"/>
              </a:rPr>
              <a:t> Event object has properties and methods related to Bubbling and Capturing</a:t>
            </a:r>
            <a:endParaRPr lang="en-GB" sz="2400" dirty="0">
              <a:latin typeface="+mn-lt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3DBAFB1-C511-1478-581D-CB7EDBB12D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11185" y="232568"/>
            <a:ext cx="1009340" cy="13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60537" y="404973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vinayj@pes.edu</a:t>
            </a:r>
            <a:endParaRPr lang="en-IN" sz="24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F03FCF-7A6F-4612-88F7-18437FC4F2ED}"/>
              </a:ext>
            </a:extLst>
          </p:cNvPr>
          <p:cNvSpPr/>
          <p:nvPr/>
        </p:nvSpPr>
        <p:spPr>
          <a:xfrm>
            <a:off x="5460537" y="4573019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+91 80 2672 6622</a:t>
            </a:r>
            <a:endParaRPr lang="en-IN" sz="2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8876" y="1606241"/>
            <a:ext cx="2126394" cy="355018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Vinay</a:t>
            </a:r>
            <a:r>
              <a:rPr lang="en-US" sz="2400" b="1" dirty="0"/>
              <a:t> Joshi</a:t>
            </a:r>
            <a:endParaRPr lang="en-IN" sz="2400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25847"/>
            <a:ext cx="74972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Department of Computer Science and Engineering</a:t>
            </a:r>
            <a:endParaRPr lang="en-IN" sz="2200" dirty="0"/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666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2363</TotalTime>
  <Words>551</Words>
  <Application>Microsoft Office PowerPoint</Application>
  <PresentationFormat>Widescreen</PresentationFormat>
  <Paragraphs>92</Paragraphs>
  <Slides>12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Ramasubramanian Srinivasan</cp:lastModifiedBy>
  <cp:revision>134</cp:revision>
  <dcterms:created xsi:type="dcterms:W3CDTF">2020-06-03T14:19:11Z</dcterms:created>
  <dcterms:modified xsi:type="dcterms:W3CDTF">2023-09-04T02:54:11Z</dcterms:modified>
</cp:coreProperties>
</file>