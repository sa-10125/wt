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Libre Baskerville"/>
      <p:regular r:id="rId32"/>
      <p:bold r:id="rId33"/>
      <p: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5" roundtripDataSignature="AMtx7midzbquKv4KtnRu/K8vQF1mgeJW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7CDAB7-DA52-48CA-9F46-35565DDE8E86}">
  <a:tblStyle styleId="{607CDAB7-DA52-48CA-9F46-35565DDE8E86}"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1">
              <a:alpha val="40000"/>
            </a:schemeClr>
          </a:solidFill>
        </a:fill>
      </a:tcStyle>
    </a:band1H>
    <a:band2H>
      <a:tcTxStyle b="off" i="off"/>
    </a:band2H>
    <a:band1V>
      <a:tcTxStyle b="off" i="off"/>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b="off" i="off"/>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Calibri"/>
          <a:ea typeface="Calibri"/>
          <a:cs typeface="Calibri"/>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LibreBaskerville-bold.fntdata"/><Relationship Id="rId10" Type="http://schemas.openxmlformats.org/officeDocument/2006/relationships/slide" Target="slides/slide4.xml"/><Relationship Id="rId32" Type="http://schemas.openxmlformats.org/officeDocument/2006/relationships/font" Target="fonts/LibreBaskerville-regular.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LibreBaskerville-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Touch </a:t>
            </a:r>
            <a:endParaRPr/>
          </a:p>
        </p:txBody>
      </p:sp>
      <p:sp>
        <p:nvSpPr>
          <p:cNvPr id="103" name="Google Shape;10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Touch </a:t>
            </a:r>
            <a:endParaRPr/>
          </a:p>
        </p:txBody>
      </p:sp>
      <p:sp>
        <p:nvSpPr>
          <p:cNvPr id="113" name="Google Shape;11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Touch </a:t>
            </a:r>
            <a:endParaRPr/>
          </a:p>
        </p:txBody>
      </p:sp>
      <p:sp>
        <p:nvSpPr>
          <p:cNvPr id="123" name="Google Shape;12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Touch </a:t>
            </a: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153" name="Google Shape;1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35" name="Google Shape;23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Touch </a:t>
            </a:r>
            <a:endParaRPr/>
          </a:p>
        </p:txBody>
      </p:sp>
      <p:sp>
        <p:nvSpPr>
          <p:cNvPr id="253" name="Google Shape;2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264" name="Google Shape;26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Touch </a:t>
            </a:r>
            <a:endParaRPr/>
          </a:p>
        </p:txBody>
      </p:sp>
      <p:sp>
        <p:nvSpPr>
          <p:cNvPr id="274" name="Google Shape;27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Touch </a:t>
            </a:r>
            <a:endParaRPr/>
          </a:p>
        </p:txBody>
      </p:sp>
      <p:sp>
        <p:nvSpPr>
          <p:cNvPr id="285" name="Google Shape;28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296" name="Google Shape;29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Refer notes for details on all methods</a:t>
            </a:r>
            <a:endParaRPr/>
          </a:p>
          <a:p>
            <a:pPr indent="0" lvl="0" marL="0" rtl="0" algn="l">
              <a:lnSpc>
                <a:spcPct val="100000"/>
              </a:lnSpc>
              <a:spcBef>
                <a:spcPts val="0"/>
              </a:spcBef>
              <a:spcAft>
                <a:spcPts val="0"/>
              </a:spcAft>
              <a:buSzPts val="1400"/>
              <a:buNone/>
            </a:pPr>
            <a:r>
              <a:rPr lang="en-US"/>
              <a:t>To generate a random number between a and b </a:t>
            </a:r>
            <a:endParaRPr/>
          </a:p>
          <a:p>
            <a:pPr indent="0" lvl="0" marL="0" rtl="0" algn="l">
              <a:lnSpc>
                <a:spcPct val="100000"/>
              </a:lnSpc>
              <a:spcBef>
                <a:spcPts val="0"/>
              </a:spcBef>
              <a:spcAft>
                <a:spcPts val="0"/>
              </a:spcAft>
              <a:buSzPts val="1400"/>
              <a:buNone/>
            </a:pPr>
            <a:r>
              <a:rPr lang="en-US"/>
              <a:t>rand=a+Math.floor(Math.random()*(b-a))</a:t>
            </a:r>
            <a:endParaRPr/>
          </a:p>
        </p:txBody>
      </p:sp>
      <p:sp>
        <p:nvSpPr>
          <p:cNvPr id="307" name="Google Shape;30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18" name="Google Shape;31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Refer notes for details on all methods</a:t>
            </a:r>
            <a:endParaRPr/>
          </a:p>
        </p:txBody>
      </p:sp>
      <p:sp>
        <p:nvSpPr>
          <p:cNvPr id="329" name="Google Shape;32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5"/>
          <p:cNvSpPr/>
          <p:nvPr>
            <p:ph idx="2" type="pic"/>
          </p:nvPr>
        </p:nvSpPr>
        <p:spPr>
          <a:xfrm>
            <a:off x="5183188" y="987425"/>
            <a:ext cx="6172200" cy="4873625"/>
          </a:xfrm>
          <a:prstGeom prst="rect">
            <a:avLst/>
          </a:prstGeom>
          <a:noFill/>
          <a:ln>
            <a:noFill/>
          </a:ln>
        </p:spPr>
      </p:sp>
      <p:sp>
        <p:nvSpPr>
          <p:cNvPr id="68" name="Google Shape;68;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en.wikipedia.org/wiki/In-place_algorithm"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4781916" y="1688267"/>
            <a:ext cx="74972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WEB TECHNOLOGIES</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4781916" y="2841955"/>
            <a:ext cx="74972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F5496"/>
                </a:solidFill>
                <a:latin typeface="Calibri"/>
                <a:ea typeface="Calibri"/>
                <a:cs typeface="Calibri"/>
                <a:sym typeface="Calibri"/>
              </a:rPr>
              <a:t>JavaScript –Built in Objects</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4781916" y="4415503"/>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Prof.Vinay Joshi and Dr.Sarasvathi V</a:t>
            </a:r>
            <a:endParaRPr b="1" i="0" sz="2400" u="none" cap="none" strike="noStrike">
              <a:solidFill>
                <a:schemeClr val="dk1"/>
              </a:solidFill>
              <a:latin typeface="Calibri"/>
              <a:ea typeface="Calibri"/>
              <a:cs typeface="Calibri"/>
              <a:sym typeface="Calibri"/>
            </a:endParaRPr>
          </a:p>
        </p:txBody>
      </p:sp>
      <p:sp>
        <p:nvSpPr>
          <p:cNvPr id="91" name="Google Shape;91;p1"/>
          <p:cNvSpPr/>
          <p:nvPr/>
        </p:nvSpPr>
        <p:spPr>
          <a:xfrm>
            <a:off x="4781916" y="4813108"/>
            <a:ext cx="749721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Computer Science and Engineering</a:t>
            </a:r>
            <a:endParaRPr b="0" i="0" sz="2400" u="none" cap="none" strike="noStrike">
              <a:solidFill>
                <a:schemeClr val="dk1"/>
              </a:solidFill>
              <a:latin typeface="Calibri"/>
              <a:ea typeface="Calibri"/>
              <a:cs typeface="Calibri"/>
              <a:sym typeface="Calibri"/>
            </a:endParaRPr>
          </a:p>
        </p:txBody>
      </p:sp>
      <p:grpSp>
        <p:nvGrpSpPr>
          <p:cNvPr id="92" name="Google Shape;92;p1"/>
          <p:cNvGrpSpPr/>
          <p:nvPr/>
        </p:nvGrpSpPr>
        <p:grpSpPr>
          <a:xfrm>
            <a:off x="313844" y="5489699"/>
            <a:ext cx="1066895" cy="1078155"/>
            <a:chOff x="313844" y="5489699"/>
            <a:chExt cx="1066895" cy="1078155"/>
          </a:xfrm>
        </p:grpSpPr>
        <p:sp>
          <p:nvSpPr>
            <p:cNvPr id="93" name="Google Shape;93;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cxnSp>
        <p:nvCxnSpPr>
          <p:cNvPr id="95" name="Google Shape;95;p1"/>
          <p:cNvCxnSpPr/>
          <p:nvPr/>
        </p:nvCxnSpPr>
        <p:spPr>
          <a:xfrm flipH="1" rot="10800000">
            <a:off x="4781916" y="4112436"/>
            <a:ext cx="4581449" cy="1"/>
          </a:xfrm>
          <a:prstGeom prst="straightConnector1">
            <a:avLst/>
          </a:prstGeom>
          <a:noFill/>
          <a:ln cap="flat" cmpd="sng" w="38100">
            <a:solidFill>
              <a:srgbClr val="C55A11"/>
            </a:solidFill>
            <a:prstDash val="solid"/>
            <a:miter lim="800000"/>
            <a:headEnd len="sm" w="sm" type="none"/>
            <a:tailEnd len="sm" w="sm" type="none"/>
          </a:ln>
        </p:spPr>
      </p:cxnSp>
      <p:pic>
        <p:nvPicPr>
          <p:cNvPr id="96" name="Google Shape;96;p1"/>
          <p:cNvPicPr preferRelativeResize="0"/>
          <p:nvPr/>
        </p:nvPicPr>
        <p:blipFill rotWithShape="1">
          <a:blip r:embed="rId3">
            <a:alphaModFix/>
          </a:blip>
          <a:srcRect b="0" l="0" r="0" t="0"/>
          <a:stretch/>
        </p:blipFill>
        <p:spPr>
          <a:xfrm>
            <a:off x="1751308" y="1606241"/>
            <a:ext cx="2137709" cy="3550188"/>
          </a:xfrm>
          <a:prstGeom prst="rect">
            <a:avLst/>
          </a:prstGeom>
          <a:noFill/>
          <a:ln>
            <a:noFill/>
          </a:ln>
        </p:spPr>
      </p:pic>
      <p:grpSp>
        <p:nvGrpSpPr>
          <p:cNvPr id="97" name="Google Shape;97;p1"/>
          <p:cNvGrpSpPr/>
          <p:nvPr/>
        </p:nvGrpSpPr>
        <p:grpSpPr>
          <a:xfrm rot="10800000">
            <a:off x="10855702" y="266068"/>
            <a:ext cx="1066895" cy="1078155"/>
            <a:chOff x="313844" y="5489699"/>
            <a:chExt cx="1066895" cy="1078155"/>
          </a:xfrm>
        </p:grpSpPr>
        <p:sp>
          <p:nvSpPr>
            <p:cNvPr id="98" name="Google Shape;98;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idx="1" type="body"/>
          </p:nvPr>
        </p:nvSpPr>
        <p:spPr>
          <a:xfrm>
            <a:off x="171855" y="1513221"/>
            <a:ext cx="11058120" cy="5092539"/>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50000"/>
              </a:lnSpc>
              <a:spcBef>
                <a:spcPts val="0"/>
              </a:spcBef>
              <a:spcAft>
                <a:spcPts val="0"/>
              </a:spcAft>
              <a:buClr>
                <a:schemeClr val="dk1"/>
              </a:buClr>
              <a:buSzPct val="100000"/>
              <a:buChar char="•"/>
            </a:pPr>
            <a:r>
              <a:rPr lang="en-US" sz="2400"/>
              <a:t>When the JavaScript interpreter starts up, there is always a single global object instance created. All other objects are properties of this object. </a:t>
            </a:r>
            <a:endParaRPr/>
          </a:p>
          <a:p>
            <a:pPr indent="-228600" lvl="0" marL="228600" rtl="0" algn="l">
              <a:lnSpc>
                <a:spcPct val="150000"/>
              </a:lnSpc>
              <a:spcBef>
                <a:spcPts val="1000"/>
              </a:spcBef>
              <a:spcAft>
                <a:spcPts val="0"/>
              </a:spcAft>
              <a:buClr>
                <a:schemeClr val="dk1"/>
              </a:buClr>
              <a:buSzPct val="100000"/>
              <a:buChar char="•"/>
            </a:pPr>
            <a:r>
              <a:rPr lang="en-US" sz="2400"/>
              <a:t>Also, all other variables and functions are properties of this global object.</a:t>
            </a:r>
            <a:endParaRPr/>
          </a:p>
          <a:p>
            <a:pPr indent="-228600" lvl="0" marL="228600" rtl="0" algn="l">
              <a:lnSpc>
                <a:spcPct val="150000"/>
              </a:lnSpc>
              <a:spcBef>
                <a:spcPts val="1000"/>
              </a:spcBef>
              <a:spcAft>
                <a:spcPts val="0"/>
              </a:spcAft>
              <a:buClr>
                <a:schemeClr val="dk1"/>
              </a:buClr>
              <a:buSzPct val="100000"/>
              <a:buChar char="•"/>
            </a:pPr>
            <a:r>
              <a:rPr lang="en-US" sz="2400"/>
              <a:t>For client-side JavaScript, this object is the instance </a:t>
            </a:r>
            <a:r>
              <a:rPr b="1" lang="en-US" sz="2400"/>
              <a:t>window</a:t>
            </a:r>
            <a:r>
              <a:rPr lang="en-US" sz="2400"/>
              <a:t> of the constructor Window.</a:t>
            </a:r>
            <a:endParaRPr/>
          </a:p>
          <a:p>
            <a:pPr indent="-228600" lvl="0" marL="228600" rtl="0" algn="l">
              <a:lnSpc>
                <a:spcPct val="150000"/>
              </a:lnSpc>
              <a:spcBef>
                <a:spcPts val="1000"/>
              </a:spcBef>
              <a:spcAft>
                <a:spcPts val="0"/>
              </a:spcAft>
              <a:buClr>
                <a:schemeClr val="dk1"/>
              </a:buClr>
              <a:buSzPct val="100000"/>
              <a:buChar char="•"/>
            </a:pPr>
            <a:r>
              <a:rPr lang="en-US" sz="2400"/>
              <a:t>. Since everything is a property of the window object, there is a relaxation of the dot notation when referring to properties. Thus, each reference to a variable, function or object is not required to start with "window.“</a:t>
            </a:r>
            <a:endParaRPr/>
          </a:p>
          <a:p>
            <a:pPr indent="-228600" lvl="0" marL="228600" rtl="0" algn="l">
              <a:lnSpc>
                <a:spcPct val="150000"/>
              </a:lnSpc>
              <a:spcBef>
                <a:spcPts val="1000"/>
              </a:spcBef>
              <a:spcAft>
                <a:spcPts val="0"/>
              </a:spcAft>
              <a:buClr>
                <a:schemeClr val="dk1"/>
              </a:buClr>
              <a:buSzPct val="100000"/>
              <a:buChar char="•"/>
            </a:pPr>
            <a:r>
              <a:rPr lang="en-US" sz="2400"/>
              <a:t>Both these lines have the same effect:</a:t>
            </a:r>
            <a:endParaRPr/>
          </a:p>
          <a:p>
            <a:pPr indent="0" lvl="0" marL="0" rtl="0" algn="l">
              <a:lnSpc>
                <a:spcPct val="150000"/>
              </a:lnSpc>
              <a:spcBef>
                <a:spcPts val="1000"/>
              </a:spcBef>
              <a:spcAft>
                <a:spcPts val="0"/>
              </a:spcAft>
              <a:buClr>
                <a:schemeClr val="dk1"/>
              </a:buClr>
              <a:buSzPct val="100000"/>
              <a:buNone/>
            </a:pPr>
            <a:r>
              <a:rPr lang="en-US" sz="2400"/>
              <a:t>	window.status = "this is a test";</a:t>
            </a:r>
            <a:endParaRPr/>
          </a:p>
          <a:p>
            <a:pPr indent="0" lvl="0" marL="0" rtl="0" algn="l">
              <a:lnSpc>
                <a:spcPct val="150000"/>
              </a:lnSpc>
              <a:spcBef>
                <a:spcPts val="1000"/>
              </a:spcBef>
              <a:spcAft>
                <a:spcPts val="0"/>
              </a:spcAft>
              <a:buClr>
                <a:schemeClr val="dk1"/>
              </a:buClr>
              <a:buSzPct val="100000"/>
              <a:buNone/>
            </a:pPr>
            <a:r>
              <a:rPr lang="en-US" sz="2400"/>
              <a:t>	status = "this is a test";</a:t>
            </a:r>
            <a:endParaRPr/>
          </a:p>
          <a:p>
            <a:pPr indent="-99060" lvl="0" marL="228600" rtl="0" algn="l">
              <a:lnSpc>
                <a:spcPct val="150000"/>
              </a:lnSpc>
              <a:spcBef>
                <a:spcPts val="1000"/>
              </a:spcBef>
              <a:spcAft>
                <a:spcPts val="0"/>
              </a:spcAft>
              <a:buClr>
                <a:schemeClr val="dk1"/>
              </a:buClr>
              <a:buSzPct val="100000"/>
              <a:buNone/>
            </a:pPr>
            <a:r>
              <a:t/>
            </a:r>
            <a:endParaRPr sz="2400"/>
          </a:p>
        </p:txBody>
      </p:sp>
      <p:sp>
        <p:nvSpPr>
          <p:cNvPr id="106" name="Google Shape;106;p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Global Object</a:t>
            </a:r>
            <a:endParaRPr b="0" i="0" sz="1400" u="none" cap="none" strike="noStrike">
              <a:solidFill>
                <a:srgbClr val="000000"/>
              </a:solidFill>
              <a:latin typeface="Arial"/>
              <a:ea typeface="Arial"/>
              <a:cs typeface="Arial"/>
              <a:sym typeface="Arial"/>
            </a:endParaRPr>
          </a:p>
        </p:txBody>
      </p:sp>
      <p:cxnSp>
        <p:nvCxnSpPr>
          <p:cNvPr id="107" name="Google Shape;107;p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08" name="Google Shape;108;p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09" name="Google Shape;109;p2"/>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idx="1" type="body"/>
          </p:nvPr>
        </p:nvSpPr>
        <p:spPr>
          <a:xfrm>
            <a:off x="560209" y="1513221"/>
            <a:ext cx="7731535" cy="4797287"/>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Font typeface="Calibri"/>
              <a:buChar char="-"/>
            </a:pPr>
            <a:r>
              <a:rPr lang="en-US" sz="2400"/>
              <a:t>Math</a:t>
            </a:r>
            <a:endParaRPr/>
          </a:p>
          <a:p>
            <a:pPr indent="-228600" lvl="0" marL="228600" rtl="0" algn="l">
              <a:lnSpc>
                <a:spcPct val="150000"/>
              </a:lnSpc>
              <a:spcBef>
                <a:spcPts val="1000"/>
              </a:spcBef>
              <a:spcAft>
                <a:spcPts val="0"/>
              </a:spcAft>
              <a:buClr>
                <a:schemeClr val="dk1"/>
              </a:buClr>
              <a:buSzPts val="2400"/>
              <a:buFont typeface="Calibri"/>
              <a:buChar char="-"/>
            </a:pPr>
            <a:r>
              <a:rPr lang="en-US" sz="2400"/>
              <a:t>Number</a:t>
            </a:r>
            <a:endParaRPr/>
          </a:p>
          <a:p>
            <a:pPr indent="-228600" lvl="0" marL="228600" rtl="0" algn="l">
              <a:lnSpc>
                <a:spcPct val="150000"/>
              </a:lnSpc>
              <a:spcBef>
                <a:spcPts val="1000"/>
              </a:spcBef>
              <a:spcAft>
                <a:spcPts val="0"/>
              </a:spcAft>
              <a:buClr>
                <a:schemeClr val="dk1"/>
              </a:buClr>
              <a:buSzPts val="2400"/>
              <a:buFont typeface="Calibri"/>
              <a:buChar char="-"/>
            </a:pPr>
            <a:r>
              <a:rPr lang="en-US" sz="2400"/>
              <a:t>String</a:t>
            </a:r>
            <a:endParaRPr/>
          </a:p>
          <a:p>
            <a:pPr indent="-228600" lvl="0" marL="228600" rtl="0" algn="l">
              <a:lnSpc>
                <a:spcPct val="150000"/>
              </a:lnSpc>
              <a:spcBef>
                <a:spcPts val="1000"/>
              </a:spcBef>
              <a:spcAft>
                <a:spcPts val="0"/>
              </a:spcAft>
              <a:buClr>
                <a:schemeClr val="dk1"/>
              </a:buClr>
              <a:buSzPts val="2400"/>
              <a:buFont typeface="Calibri"/>
              <a:buChar char="-"/>
            </a:pPr>
            <a:r>
              <a:rPr lang="en-US" sz="2400"/>
              <a:t>Array</a:t>
            </a:r>
            <a:endParaRPr/>
          </a:p>
          <a:p>
            <a:pPr indent="-228600" lvl="0" marL="228600" rtl="0" algn="l">
              <a:lnSpc>
                <a:spcPct val="150000"/>
              </a:lnSpc>
              <a:spcBef>
                <a:spcPts val="1000"/>
              </a:spcBef>
              <a:spcAft>
                <a:spcPts val="0"/>
              </a:spcAft>
              <a:buClr>
                <a:schemeClr val="dk1"/>
              </a:buClr>
              <a:buSzPts val="2400"/>
              <a:buFont typeface="Calibri"/>
              <a:buChar char="-"/>
            </a:pPr>
            <a:r>
              <a:rPr lang="en-US" sz="2400"/>
              <a:t>Date</a:t>
            </a:r>
            <a:endParaRPr/>
          </a:p>
          <a:p>
            <a:pPr indent="-228600" lvl="0" marL="228600" rtl="0" algn="l">
              <a:lnSpc>
                <a:spcPct val="150000"/>
              </a:lnSpc>
              <a:spcBef>
                <a:spcPts val="1000"/>
              </a:spcBef>
              <a:spcAft>
                <a:spcPts val="0"/>
              </a:spcAft>
              <a:buClr>
                <a:schemeClr val="dk1"/>
              </a:buClr>
              <a:buSzPts val="2400"/>
              <a:buFont typeface="Calibri"/>
              <a:buChar char="-"/>
            </a:pPr>
            <a:r>
              <a:rPr lang="en-US" sz="2400"/>
              <a:t>window</a:t>
            </a:r>
            <a:endParaRPr/>
          </a:p>
          <a:p>
            <a:pPr indent="-228600" lvl="0" marL="228600" rtl="0" algn="l">
              <a:lnSpc>
                <a:spcPct val="150000"/>
              </a:lnSpc>
              <a:spcBef>
                <a:spcPts val="1000"/>
              </a:spcBef>
              <a:spcAft>
                <a:spcPts val="0"/>
              </a:spcAft>
              <a:buClr>
                <a:schemeClr val="dk1"/>
              </a:buClr>
              <a:buSzPts val="2400"/>
              <a:buFont typeface="Calibri"/>
              <a:buChar char="-"/>
            </a:pPr>
            <a:r>
              <a:rPr lang="en-US" sz="2400"/>
              <a:t>document</a:t>
            </a:r>
            <a:endParaRPr/>
          </a:p>
          <a:p>
            <a:pPr indent="-76200" lvl="0" marL="228600" rtl="0" algn="l">
              <a:lnSpc>
                <a:spcPct val="150000"/>
              </a:lnSpc>
              <a:spcBef>
                <a:spcPts val="1000"/>
              </a:spcBef>
              <a:spcAft>
                <a:spcPts val="0"/>
              </a:spcAft>
              <a:buClr>
                <a:schemeClr val="dk1"/>
              </a:buClr>
              <a:buSzPts val="2400"/>
              <a:buFont typeface="Calibri"/>
              <a:buNone/>
            </a:pPr>
            <a:r>
              <a:t/>
            </a:r>
            <a:endParaRPr sz="2400"/>
          </a:p>
        </p:txBody>
      </p:sp>
      <p:sp>
        <p:nvSpPr>
          <p:cNvPr id="116" name="Google Shape;116;p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Global Objects supported</a:t>
            </a:r>
            <a:endParaRPr b="0" i="0" sz="1400" u="none" cap="none" strike="noStrike">
              <a:solidFill>
                <a:srgbClr val="000000"/>
              </a:solidFill>
              <a:latin typeface="Arial"/>
              <a:ea typeface="Arial"/>
              <a:cs typeface="Arial"/>
              <a:sym typeface="Arial"/>
            </a:endParaRPr>
          </a:p>
        </p:txBody>
      </p:sp>
      <p:cxnSp>
        <p:nvCxnSpPr>
          <p:cNvPr id="117" name="Google Shape;117;p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18" name="Google Shape;118;p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19" name="Google Shape;119;p3"/>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ph idx="1" type="body"/>
          </p:nvPr>
        </p:nvSpPr>
        <p:spPr>
          <a:xfrm>
            <a:off x="640103" y="1614487"/>
            <a:ext cx="7731535" cy="4797287"/>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Font typeface="Calibri"/>
              <a:buChar char="-"/>
            </a:pPr>
            <a:r>
              <a:rPr lang="en-US" sz="2400"/>
              <a:t>Arrays are lists of elements indexed by a numerical value starting with 0 to length - 1</a:t>
            </a:r>
            <a:endParaRPr/>
          </a:p>
          <a:p>
            <a:pPr indent="-228600" lvl="0" marL="228600" rtl="0" algn="l">
              <a:lnSpc>
                <a:spcPct val="150000"/>
              </a:lnSpc>
              <a:spcBef>
                <a:spcPts val="1000"/>
              </a:spcBef>
              <a:spcAft>
                <a:spcPts val="0"/>
              </a:spcAft>
              <a:buClr>
                <a:schemeClr val="dk1"/>
              </a:buClr>
              <a:buSzPts val="2400"/>
              <a:buFont typeface="Calibri"/>
              <a:buChar char="-"/>
            </a:pPr>
            <a:r>
              <a:rPr lang="en-US" sz="2400"/>
              <a:t>Arrays can be created using</a:t>
            </a:r>
            <a:endParaRPr/>
          </a:p>
          <a:p>
            <a:pPr indent="-228600" lvl="1" marL="685800" rtl="0" algn="l">
              <a:lnSpc>
                <a:spcPct val="150000"/>
              </a:lnSpc>
              <a:spcBef>
                <a:spcPts val="500"/>
              </a:spcBef>
              <a:spcAft>
                <a:spcPts val="0"/>
              </a:spcAft>
              <a:buClr>
                <a:schemeClr val="dk1"/>
              </a:buClr>
              <a:buSzPts val="2000"/>
              <a:buFont typeface="Calibri"/>
              <a:buChar char="-"/>
            </a:pPr>
            <a:r>
              <a:rPr lang="en-US" sz="2000"/>
              <a:t> T</a:t>
            </a:r>
            <a:r>
              <a:rPr lang="en-US"/>
              <a:t>he new Array method</a:t>
            </a:r>
            <a:endParaRPr/>
          </a:p>
          <a:p>
            <a:pPr indent="-228600" lvl="2" marL="1143000" rtl="0" algn="l">
              <a:lnSpc>
                <a:spcPct val="150000"/>
              </a:lnSpc>
              <a:spcBef>
                <a:spcPts val="500"/>
              </a:spcBef>
              <a:spcAft>
                <a:spcPts val="0"/>
              </a:spcAft>
              <a:buClr>
                <a:schemeClr val="dk1"/>
              </a:buClr>
              <a:buSzPts val="1800"/>
              <a:buFont typeface="Calibri"/>
              <a:buChar char="-"/>
            </a:pPr>
            <a:r>
              <a:rPr lang="en-US" sz="1800"/>
              <a:t>let arr = new Array(100) – creates an array of 100 elements</a:t>
            </a:r>
            <a:endParaRPr/>
          </a:p>
          <a:p>
            <a:pPr indent="-228600" lvl="2" marL="1143000" rtl="0" algn="l">
              <a:lnSpc>
                <a:spcPct val="150000"/>
              </a:lnSpc>
              <a:spcBef>
                <a:spcPts val="500"/>
              </a:spcBef>
              <a:spcAft>
                <a:spcPts val="0"/>
              </a:spcAft>
              <a:buClr>
                <a:schemeClr val="dk1"/>
              </a:buClr>
              <a:buSzPts val="1800"/>
              <a:buFont typeface="Calibri"/>
              <a:buChar char="-"/>
            </a:pPr>
            <a:r>
              <a:rPr lang="en-US" sz="1800"/>
              <a:t>let arr = new Array(10, 20) – creates an array of 2 elements</a:t>
            </a:r>
            <a:endParaRPr/>
          </a:p>
          <a:p>
            <a:pPr indent="-228600" lvl="1" marL="685800" rtl="0" algn="l">
              <a:lnSpc>
                <a:spcPct val="150000"/>
              </a:lnSpc>
              <a:spcBef>
                <a:spcPts val="500"/>
              </a:spcBef>
              <a:spcAft>
                <a:spcPts val="0"/>
              </a:spcAft>
              <a:buClr>
                <a:schemeClr val="dk1"/>
              </a:buClr>
              <a:buSzPts val="2400"/>
              <a:buFont typeface="Calibri"/>
              <a:buChar char="-"/>
            </a:pPr>
            <a:r>
              <a:rPr lang="en-US"/>
              <a:t>Literal arrays using square brackets</a:t>
            </a:r>
            <a:endParaRPr/>
          </a:p>
          <a:p>
            <a:pPr indent="-228600" lvl="2" marL="1143000" rtl="0" algn="l">
              <a:lnSpc>
                <a:spcPct val="150000"/>
              </a:lnSpc>
              <a:spcBef>
                <a:spcPts val="500"/>
              </a:spcBef>
              <a:spcAft>
                <a:spcPts val="0"/>
              </a:spcAft>
              <a:buClr>
                <a:schemeClr val="dk1"/>
              </a:buClr>
              <a:buSzPts val="2000"/>
              <a:buFont typeface="Calibri"/>
              <a:buChar char="-"/>
            </a:pPr>
            <a:r>
              <a:rPr lang="en-US"/>
              <a:t>var alist = [1, “ii”, “gamma”, “4”];</a:t>
            </a:r>
            <a:endParaRPr/>
          </a:p>
          <a:p>
            <a:pPr indent="-76200" lvl="1" marL="685800" rtl="0" algn="l">
              <a:lnSpc>
                <a:spcPct val="150000"/>
              </a:lnSpc>
              <a:spcBef>
                <a:spcPts val="500"/>
              </a:spcBef>
              <a:spcAft>
                <a:spcPts val="0"/>
              </a:spcAft>
              <a:buClr>
                <a:schemeClr val="dk1"/>
              </a:buClr>
              <a:buSzPts val="2400"/>
              <a:buFont typeface="Calibri"/>
              <a:buNone/>
            </a:pPr>
            <a:r>
              <a:t/>
            </a:r>
            <a:endParaRPr/>
          </a:p>
        </p:txBody>
      </p:sp>
      <p:sp>
        <p:nvSpPr>
          <p:cNvPr id="126" name="Google Shape;126;p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a:t>
            </a:r>
            <a:endParaRPr b="0" i="0" sz="1400" u="none" cap="none" strike="noStrike">
              <a:solidFill>
                <a:srgbClr val="000000"/>
              </a:solidFill>
              <a:latin typeface="Arial"/>
              <a:ea typeface="Arial"/>
              <a:cs typeface="Arial"/>
              <a:sym typeface="Arial"/>
            </a:endParaRPr>
          </a:p>
        </p:txBody>
      </p:sp>
      <p:cxnSp>
        <p:nvCxnSpPr>
          <p:cNvPr id="127" name="Google Shape;127;p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28" name="Google Shape;128;p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29" name="Google Shape;129;p4"/>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idx="1" type="body"/>
          </p:nvPr>
        </p:nvSpPr>
        <p:spPr>
          <a:xfrm>
            <a:off x="581192" y="1513222"/>
            <a:ext cx="7731535" cy="5112866"/>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Font typeface="Calibri"/>
              <a:buChar char="-"/>
            </a:pPr>
            <a:r>
              <a:rPr lang="en-US" sz="2400"/>
              <a:t>Array length property can be modified at runtime</a:t>
            </a:r>
            <a:endParaRPr/>
          </a:p>
          <a:p>
            <a:pPr indent="-228600" lvl="0" marL="228600" rtl="0" algn="l">
              <a:lnSpc>
                <a:spcPct val="100000"/>
              </a:lnSpc>
              <a:spcBef>
                <a:spcPts val="0"/>
              </a:spcBef>
              <a:spcAft>
                <a:spcPts val="0"/>
              </a:spcAft>
              <a:buClr>
                <a:schemeClr val="dk1"/>
              </a:buClr>
              <a:buSzPct val="100000"/>
              <a:buFont typeface="Calibri"/>
              <a:buChar char="-"/>
            </a:pPr>
            <a:r>
              <a:rPr lang="en-US" sz="2400"/>
              <a:t>Hence, the length property does not necessarily indicate the number of defined values in the array</a:t>
            </a:r>
            <a:endParaRPr/>
          </a:p>
          <a:p>
            <a:pPr indent="-228600" lvl="0" marL="228600" rtl="0" algn="l">
              <a:lnSpc>
                <a:spcPct val="100000"/>
              </a:lnSpc>
              <a:spcBef>
                <a:spcPts val="0"/>
              </a:spcBef>
              <a:spcAft>
                <a:spcPts val="0"/>
              </a:spcAft>
              <a:buClr>
                <a:schemeClr val="dk1"/>
              </a:buClr>
              <a:buSzPct val="100000"/>
              <a:buNone/>
            </a:pPr>
            <a:r>
              <a:t/>
            </a:r>
            <a:endParaRPr sz="2400"/>
          </a:p>
          <a:p>
            <a:pPr indent="-228600" lvl="0" marL="228600" rtl="0" algn="l">
              <a:lnSpc>
                <a:spcPct val="100000"/>
              </a:lnSpc>
              <a:spcBef>
                <a:spcPts val="0"/>
              </a:spcBef>
              <a:spcAft>
                <a:spcPts val="0"/>
              </a:spcAft>
              <a:buClr>
                <a:schemeClr val="dk1"/>
              </a:buClr>
              <a:buSzPct val="100000"/>
              <a:buNone/>
            </a:pPr>
            <a:r>
              <a:rPr lang="en-US" sz="2400"/>
              <a:t>const arr = [1, 2]; </a:t>
            </a:r>
            <a:endParaRPr/>
          </a:p>
          <a:p>
            <a:pPr indent="-228600" lvl="0" marL="228600" rtl="0" algn="l">
              <a:lnSpc>
                <a:spcPct val="100000"/>
              </a:lnSpc>
              <a:spcBef>
                <a:spcPts val="0"/>
              </a:spcBef>
              <a:spcAft>
                <a:spcPts val="0"/>
              </a:spcAft>
              <a:buClr>
                <a:schemeClr val="dk1"/>
              </a:buClr>
              <a:buSzPct val="100000"/>
              <a:buNone/>
            </a:pPr>
            <a:r>
              <a:rPr lang="en-US" sz="2400"/>
              <a:t>console.log(arr); </a:t>
            </a:r>
            <a:endParaRPr/>
          </a:p>
          <a:p>
            <a:pPr indent="-228600" lvl="0" marL="228600" rtl="0" algn="l">
              <a:lnSpc>
                <a:spcPct val="100000"/>
              </a:lnSpc>
              <a:spcBef>
                <a:spcPts val="0"/>
              </a:spcBef>
              <a:spcAft>
                <a:spcPts val="0"/>
              </a:spcAft>
              <a:buClr>
                <a:schemeClr val="dk1"/>
              </a:buClr>
              <a:buSzPct val="100000"/>
              <a:buNone/>
            </a:pPr>
            <a:r>
              <a:rPr lang="en-US" sz="2400"/>
              <a:t>// [ 1, 2 ] </a:t>
            </a:r>
            <a:endParaRPr/>
          </a:p>
          <a:p>
            <a:pPr indent="-228600" lvl="0" marL="228600" rtl="0" algn="l">
              <a:lnSpc>
                <a:spcPct val="100000"/>
              </a:lnSpc>
              <a:spcBef>
                <a:spcPts val="0"/>
              </a:spcBef>
              <a:spcAft>
                <a:spcPts val="0"/>
              </a:spcAft>
              <a:buClr>
                <a:schemeClr val="dk1"/>
              </a:buClr>
              <a:buSzPct val="100000"/>
              <a:buNone/>
            </a:pPr>
            <a:r>
              <a:t/>
            </a:r>
            <a:endParaRPr sz="2400"/>
          </a:p>
          <a:p>
            <a:pPr indent="-228600" lvl="0" marL="228600" rtl="0" algn="l">
              <a:lnSpc>
                <a:spcPct val="100000"/>
              </a:lnSpc>
              <a:spcBef>
                <a:spcPts val="0"/>
              </a:spcBef>
              <a:spcAft>
                <a:spcPts val="0"/>
              </a:spcAft>
              <a:buClr>
                <a:schemeClr val="dk1"/>
              </a:buClr>
              <a:buSzPct val="100000"/>
              <a:buNone/>
            </a:pPr>
            <a:r>
              <a:rPr lang="en-US" sz="2400"/>
              <a:t>arr.length = 7; // set array length to 5 while currently 2. </a:t>
            </a:r>
            <a:endParaRPr/>
          </a:p>
          <a:p>
            <a:pPr indent="-228600" lvl="0" marL="228600" rtl="0" algn="l">
              <a:lnSpc>
                <a:spcPct val="100000"/>
              </a:lnSpc>
              <a:spcBef>
                <a:spcPts val="0"/>
              </a:spcBef>
              <a:spcAft>
                <a:spcPts val="0"/>
              </a:spcAft>
              <a:buClr>
                <a:schemeClr val="dk1"/>
              </a:buClr>
              <a:buSzPct val="100000"/>
              <a:buNone/>
            </a:pPr>
            <a:r>
              <a:rPr lang="en-US" sz="2400"/>
              <a:t>console.log(arr); </a:t>
            </a:r>
            <a:endParaRPr/>
          </a:p>
          <a:p>
            <a:pPr indent="-228600" lvl="0" marL="228600" rtl="0" algn="l">
              <a:lnSpc>
                <a:spcPct val="100000"/>
              </a:lnSpc>
              <a:spcBef>
                <a:spcPts val="0"/>
              </a:spcBef>
              <a:spcAft>
                <a:spcPts val="0"/>
              </a:spcAft>
              <a:buClr>
                <a:schemeClr val="dk1"/>
              </a:buClr>
              <a:buSzPct val="100000"/>
              <a:buNone/>
            </a:pPr>
            <a:r>
              <a:rPr lang="en-US" sz="2400"/>
              <a:t>// [ 1, 2, &lt;5 empty items&gt; ] </a:t>
            </a:r>
            <a:endParaRPr/>
          </a:p>
          <a:p>
            <a:pPr indent="-228600" lvl="0" marL="228600" rtl="0" algn="l">
              <a:lnSpc>
                <a:spcPct val="100000"/>
              </a:lnSpc>
              <a:spcBef>
                <a:spcPts val="0"/>
              </a:spcBef>
              <a:spcAft>
                <a:spcPts val="0"/>
              </a:spcAft>
              <a:buClr>
                <a:schemeClr val="dk1"/>
              </a:buClr>
              <a:buSzPct val="100000"/>
              <a:buNone/>
            </a:pPr>
            <a:r>
              <a:t/>
            </a:r>
            <a:endParaRPr sz="2400"/>
          </a:p>
          <a:p>
            <a:pPr indent="-228600" lvl="0" marL="228600" rtl="0" algn="l">
              <a:lnSpc>
                <a:spcPct val="100000"/>
              </a:lnSpc>
              <a:spcBef>
                <a:spcPts val="0"/>
              </a:spcBef>
              <a:spcAft>
                <a:spcPts val="0"/>
              </a:spcAft>
              <a:buClr>
                <a:schemeClr val="dk1"/>
              </a:buClr>
              <a:buSzPct val="100000"/>
              <a:buNone/>
            </a:pPr>
            <a:r>
              <a:rPr lang="en-US" sz="2400"/>
              <a:t>for (i in arr)</a:t>
            </a:r>
            <a:endParaRPr/>
          </a:p>
          <a:p>
            <a:pPr indent="-228600" lvl="0" marL="228600" rtl="0" algn="l">
              <a:lnSpc>
                <a:spcPct val="100000"/>
              </a:lnSpc>
              <a:spcBef>
                <a:spcPts val="0"/>
              </a:spcBef>
              <a:spcAft>
                <a:spcPts val="0"/>
              </a:spcAft>
              <a:buClr>
                <a:schemeClr val="dk1"/>
              </a:buClr>
              <a:buSzPct val="100000"/>
              <a:buNone/>
            </a:pPr>
            <a:r>
              <a:rPr lang="en-US" sz="2400"/>
              <a:t>	console.log(typeof i + i)); </a:t>
            </a:r>
            <a:endParaRPr/>
          </a:p>
          <a:p>
            <a:pPr indent="-228600" lvl="0" marL="228600" rtl="0" algn="l">
              <a:lnSpc>
                <a:spcPct val="100000"/>
              </a:lnSpc>
              <a:spcBef>
                <a:spcPts val="0"/>
              </a:spcBef>
              <a:spcAft>
                <a:spcPts val="0"/>
              </a:spcAft>
              <a:buClr>
                <a:schemeClr val="dk1"/>
              </a:buClr>
              <a:buSzPct val="100000"/>
              <a:buNone/>
            </a:pPr>
            <a:r>
              <a:rPr lang="en-US" sz="2400"/>
              <a:t>// string 0 </a:t>
            </a:r>
            <a:endParaRPr/>
          </a:p>
          <a:p>
            <a:pPr indent="-228600" lvl="0" marL="228600" rtl="0" algn="l">
              <a:lnSpc>
                <a:spcPct val="100000"/>
              </a:lnSpc>
              <a:spcBef>
                <a:spcPts val="0"/>
              </a:spcBef>
              <a:spcAft>
                <a:spcPts val="0"/>
              </a:spcAft>
              <a:buClr>
                <a:schemeClr val="dk1"/>
              </a:buClr>
              <a:buSzPct val="100000"/>
              <a:buNone/>
            </a:pPr>
            <a:r>
              <a:rPr lang="en-US" sz="2400"/>
              <a:t>// string 1</a:t>
            </a:r>
            <a:endParaRPr sz="2400"/>
          </a:p>
        </p:txBody>
      </p:sp>
      <p:sp>
        <p:nvSpPr>
          <p:cNvPr id="136" name="Google Shape;136;p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Length</a:t>
            </a:r>
            <a:endParaRPr b="0" i="0" sz="1400" u="none" cap="none" strike="noStrike">
              <a:solidFill>
                <a:srgbClr val="000000"/>
              </a:solidFill>
              <a:latin typeface="Arial"/>
              <a:ea typeface="Arial"/>
              <a:cs typeface="Arial"/>
              <a:sym typeface="Arial"/>
            </a:endParaRPr>
          </a:p>
        </p:txBody>
      </p:sp>
      <p:cxnSp>
        <p:nvCxnSpPr>
          <p:cNvPr id="137" name="Google Shape;137;p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38" name="Google Shape;138;p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39" name="Google Shape;139;p5"/>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ph idx="1" type="body"/>
          </p:nvPr>
        </p:nvSpPr>
        <p:spPr>
          <a:xfrm>
            <a:off x="581192" y="1828800"/>
            <a:ext cx="7731535" cy="47972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US" sz="2400">
                <a:latin typeface="Libre Baskerville"/>
                <a:ea typeface="Libre Baskerville"/>
                <a:cs typeface="Libre Baskerville"/>
                <a:sym typeface="Libre Baskerville"/>
              </a:rPr>
              <a:t>Array Elements Can Be Objects</a:t>
            </a:r>
            <a:endParaRPr/>
          </a:p>
          <a:p>
            <a:pPr indent="0" lvl="0" marL="0" rtl="0" algn="just">
              <a:lnSpc>
                <a:spcPct val="90000"/>
              </a:lnSpc>
              <a:spcBef>
                <a:spcPts val="1000"/>
              </a:spcBef>
              <a:spcAft>
                <a:spcPts val="0"/>
              </a:spcAft>
              <a:buClr>
                <a:schemeClr val="dk1"/>
              </a:buClr>
              <a:buSzPts val="2400"/>
              <a:buNone/>
            </a:pPr>
            <a:r>
              <a:rPr lang="en-US" sz="2400">
                <a:latin typeface="Libre Baskerville"/>
                <a:ea typeface="Libre Baskerville"/>
                <a:cs typeface="Libre Baskerville"/>
                <a:sym typeface="Libre Baskerville"/>
              </a:rPr>
              <a:t>JavaScript variables can be objects. Arrays are special kinds of objects. We  can have objects in an Array. We can have functions in an Array. We can have arrays in an Array.</a:t>
            </a:r>
            <a:endParaRPr/>
          </a:p>
          <a:p>
            <a:pPr indent="0" lvl="0" marL="0" rtl="0" algn="l">
              <a:lnSpc>
                <a:spcPct val="90000"/>
              </a:lnSpc>
              <a:spcBef>
                <a:spcPts val="1000"/>
              </a:spcBef>
              <a:spcAft>
                <a:spcPts val="0"/>
              </a:spcAft>
              <a:buClr>
                <a:schemeClr val="dk1"/>
              </a:buClr>
              <a:buSzPts val="2400"/>
              <a:buNone/>
            </a:pPr>
            <a:r>
              <a:rPr lang="en-US" sz="2400">
                <a:latin typeface="Libre Baskerville"/>
                <a:ea typeface="Libre Baskerville"/>
                <a:cs typeface="Libre Baskerville"/>
                <a:sym typeface="Libre Baskerville"/>
              </a:rPr>
              <a:t>myArray[0] = Date.now;</a:t>
            </a:r>
            <a:br>
              <a:rPr lang="en-US" sz="2400">
                <a:latin typeface="Libre Baskerville"/>
                <a:ea typeface="Libre Baskerville"/>
                <a:cs typeface="Libre Baskerville"/>
                <a:sym typeface="Libre Baskerville"/>
              </a:rPr>
            </a:br>
            <a:r>
              <a:rPr lang="en-US" sz="2400">
                <a:latin typeface="Libre Baskerville"/>
                <a:ea typeface="Libre Baskerville"/>
                <a:cs typeface="Libre Baskerville"/>
                <a:sym typeface="Libre Baskerville"/>
              </a:rPr>
              <a:t>myArray[1] = myFunction;</a:t>
            </a:r>
            <a:br>
              <a:rPr lang="en-US" sz="2400">
                <a:latin typeface="Libre Baskerville"/>
                <a:ea typeface="Libre Baskerville"/>
                <a:cs typeface="Libre Baskerville"/>
                <a:sym typeface="Libre Baskerville"/>
              </a:rPr>
            </a:br>
            <a:r>
              <a:rPr lang="en-US" sz="2400">
                <a:latin typeface="Libre Baskerville"/>
                <a:ea typeface="Libre Baskerville"/>
                <a:cs typeface="Libre Baskerville"/>
                <a:sym typeface="Libre Baskerville"/>
              </a:rPr>
              <a:t>myArray[2] = myCars;</a:t>
            </a:r>
            <a:endParaRPr/>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146" name="Google Shape;146;p6"/>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a:t>
            </a:r>
            <a:endParaRPr b="0" i="0" sz="1400" u="none" cap="none" strike="noStrike">
              <a:solidFill>
                <a:srgbClr val="000000"/>
              </a:solidFill>
              <a:latin typeface="Arial"/>
              <a:ea typeface="Arial"/>
              <a:cs typeface="Arial"/>
              <a:sym typeface="Arial"/>
            </a:endParaRPr>
          </a:p>
        </p:txBody>
      </p:sp>
      <p:cxnSp>
        <p:nvCxnSpPr>
          <p:cNvPr id="147" name="Google Shape;147;p6"/>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48" name="Google Shape;148;p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49" name="Google Shape;149;p6"/>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idx="1" type="body"/>
          </p:nvPr>
        </p:nvSpPr>
        <p:spPr>
          <a:xfrm>
            <a:off x="581192" y="1828800"/>
            <a:ext cx="7731535" cy="4797287"/>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Font typeface="Calibri"/>
              <a:buChar char="-"/>
            </a:pPr>
            <a:r>
              <a:rPr lang="en-US" sz="2400"/>
              <a:t>push – Add to the end</a:t>
            </a:r>
            <a:endParaRPr/>
          </a:p>
          <a:p>
            <a:pPr indent="-228600" lvl="0" marL="228600" rtl="0" algn="l">
              <a:lnSpc>
                <a:spcPct val="100000"/>
              </a:lnSpc>
              <a:spcBef>
                <a:spcPts val="0"/>
              </a:spcBef>
              <a:spcAft>
                <a:spcPts val="0"/>
              </a:spcAft>
              <a:buClr>
                <a:schemeClr val="dk1"/>
              </a:buClr>
              <a:buSzPts val="2400"/>
              <a:buFont typeface="Calibri"/>
              <a:buChar char="-"/>
            </a:pPr>
            <a:r>
              <a:rPr lang="en-US" sz="2400"/>
              <a:t>pop – Remove from the end</a:t>
            </a:r>
            <a:endParaRPr/>
          </a:p>
          <a:p>
            <a:pPr indent="-228600" lvl="0" marL="228600" rtl="0" algn="l">
              <a:lnSpc>
                <a:spcPct val="100000"/>
              </a:lnSpc>
              <a:spcBef>
                <a:spcPts val="0"/>
              </a:spcBef>
              <a:spcAft>
                <a:spcPts val="0"/>
              </a:spcAft>
              <a:buClr>
                <a:schemeClr val="dk1"/>
              </a:buClr>
              <a:buSzPts val="2400"/>
              <a:buFont typeface="Calibri"/>
              <a:buChar char="-"/>
            </a:pPr>
            <a:r>
              <a:rPr lang="en-US" sz="2400"/>
              <a:t>shift – Remove from the front</a:t>
            </a:r>
            <a:endParaRPr/>
          </a:p>
          <a:p>
            <a:pPr indent="-228600" lvl="0" marL="228600" rtl="0" algn="l">
              <a:lnSpc>
                <a:spcPct val="100000"/>
              </a:lnSpc>
              <a:spcBef>
                <a:spcPts val="0"/>
              </a:spcBef>
              <a:spcAft>
                <a:spcPts val="0"/>
              </a:spcAft>
              <a:buClr>
                <a:schemeClr val="dk1"/>
              </a:buClr>
              <a:buSzPts val="2400"/>
              <a:buFont typeface="Calibri"/>
              <a:buChar char="-"/>
            </a:pPr>
            <a:r>
              <a:rPr lang="en-US" sz="2400"/>
              <a:t>unshift – Add to the front</a:t>
            </a:r>
            <a:endParaRPr/>
          </a:p>
          <a:p>
            <a:pPr indent="-228600" lvl="0" marL="228600" rtl="0" algn="l">
              <a:lnSpc>
                <a:spcPct val="100000"/>
              </a:lnSpc>
              <a:spcBef>
                <a:spcPts val="0"/>
              </a:spcBef>
              <a:spcAft>
                <a:spcPts val="0"/>
              </a:spcAft>
              <a:buClr>
                <a:schemeClr val="dk1"/>
              </a:buClr>
              <a:buSzPts val="2400"/>
              <a:buFont typeface="Calibri"/>
              <a:buChar char="-"/>
            </a:pPr>
            <a:r>
              <a:rPr lang="en-US" sz="2400"/>
              <a:t>join – return a string with array elements</a:t>
            </a:r>
            <a:endParaRPr/>
          </a:p>
          <a:p>
            <a:pPr indent="-228600" lvl="0" marL="228600" rtl="0" algn="l">
              <a:lnSpc>
                <a:spcPct val="100000"/>
              </a:lnSpc>
              <a:spcBef>
                <a:spcPts val="0"/>
              </a:spcBef>
              <a:spcAft>
                <a:spcPts val="0"/>
              </a:spcAft>
              <a:buClr>
                <a:schemeClr val="dk1"/>
              </a:buClr>
              <a:buSzPts val="2400"/>
              <a:buFont typeface="Calibri"/>
              <a:buChar char="-"/>
            </a:pPr>
            <a:r>
              <a:rPr lang="en-US" sz="2400"/>
              <a:t>indexOf – return the index of  array</a:t>
            </a:r>
            <a:endParaRPr/>
          </a:p>
          <a:p>
            <a:pPr indent="-228600" lvl="0" marL="228600" rtl="0" algn="l">
              <a:lnSpc>
                <a:spcPct val="100000"/>
              </a:lnSpc>
              <a:spcBef>
                <a:spcPts val="0"/>
              </a:spcBef>
              <a:spcAft>
                <a:spcPts val="0"/>
              </a:spcAft>
              <a:buClr>
                <a:schemeClr val="dk1"/>
              </a:buClr>
              <a:buSzPts val="2400"/>
              <a:buFont typeface="Calibri"/>
              <a:buChar char="-"/>
            </a:pPr>
            <a:r>
              <a:rPr lang="en-US" sz="2400"/>
              <a:t>sort – sort an array in ascending order by default</a:t>
            </a:r>
            <a:endParaRPr/>
          </a:p>
          <a:p>
            <a:pPr indent="-228600" lvl="0" marL="228600" rtl="0" algn="l">
              <a:lnSpc>
                <a:spcPct val="100000"/>
              </a:lnSpc>
              <a:spcBef>
                <a:spcPts val="0"/>
              </a:spcBef>
              <a:spcAft>
                <a:spcPts val="0"/>
              </a:spcAft>
              <a:buClr>
                <a:schemeClr val="dk1"/>
              </a:buClr>
              <a:buSzPts val="2400"/>
              <a:buFont typeface="Calibri"/>
              <a:buChar char="-"/>
            </a:pPr>
            <a:r>
              <a:rPr lang="en-US" sz="2400"/>
              <a:t>concat – concatenate two arrays</a:t>
            </a:r>
            <a:endParaRPr/>
          </a:p>
          <a:p>
            <a:pPr indent="-228600" lvl="0" marL="228600" rtl="0" algn="l">
              <a:lnSpc>
                <a:spcPct val="100000"/>
              </a:lnSpc>
              <a:spcBef>
                <a:spcPts val="0"/>
              </a:spcBef>
              <a:spcAft>
                <a:spcPts val="0"/>
              </a:spcAft>
              <a:buClr>
                <a:schemeClr val="dk1"/>
              </a:buClr>
              <a:buSzPts val="2400"/>
              <a:buFont typeface="Calibri"/>
              <a:buChar char="-"/>
            </a:pPr>
            <a:r>
              <a:rPr lang="en-US" sz="2400"/>
              <a:t>slice – returns a subset if of the array</a:t>
            </a:r>
            <a:endParaRPr/>
          </a:p>
          <a:p>
            <a:pPr indent="-76200" lvl="0" marL="228600" rtl="0" algn="l">
              <a:lnSpc>
                <a:spcPct val="100000"/>
              </a:lnSpc>
              <a:spcBef>
                <a:spcPts val="0"/>
              </a:spcBef>
              <a:spcAft>
                <a:spcPts val="0"/>
              </a:spcAft>
              <a:buClr>
                <a:schemeClr val="dk1"/>
              </a:buClr>
              <a:buSzPts val="2400"/>
              <a:buFont typeface="Calibri"/>
              <a:buNone/>
            </a:pPr>
            <a:r>
              <a:t/>
            </a:r>
            <a:endParaRPr sz="2400"/>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156" name="Google Shape;156;p7"/>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Methods</a:t>
            </a:r>
            <a:endParaRPr b="0" i="0" sz="1400" u="none" cap="none" strike="noStrike">
              <a:solidFill>
                <a:srgbClr val="000000"/>
              </a:solidFill>
              <a:latin typeface="Arial"/>
              <a:ea typeface="Arial"/>
              <a:cs typeface="Arial"/>
              <a:sym typeface="Arial"/>
            </a:endParaRPr>
          </a:p>
        </p:txBody>
      </p:sp>
      <p:cxnSp>
        <p:nvCxnSpPr>
          <p:cNvPr id="157" name="Google Shape;157;p7"/>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58" name="Google Shape;158;p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159" name="Google Shape;159;p7"/>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Methods</a:t>
            </a:r>
            <a:endParaRPr b="0" i="0" sz="1400" u="none" cap="none" strike="noStrike">
              <a:solidFill>
                <a:srgbClr val="000000"/>
              </a:solidFill>
              <a:latin typeface="Arial"/>
              <a:ea typeface="Arial"/>
              <a:cs typeface="Arial"/>
              <a:sym typeface="Arial"/>
            </a:endParaRPr>
          </a:p>
        </p:txBody>
      </p:sp>
      <p:cxnSp>
        <p:nvCxnSpPr>
          <p:cNvPr id="165" name="Google Shape;165;p8"/>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66" name="Google Shape;166;p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67" name="Google Shape;167;p8"/>
          <p:cNvSpPr txBox="1"/>
          <p:nvPr/>
        </p:nvSpPr>
        <p:spPr>
          <a:xfrm>
            <a:off x="371880" y="1519325"/>
            <a:ext cx="9945900" cy="55266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000"/>
              </a:spcBef>
              <a:spcAft>
                <a:spcPts val="0"/>
              </a:spcAft>
              <a:buClr>
                <a:schemeClr val="dk1"/>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Adding Array Elements</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Both methods  adds a new element (WT) to Courses</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var courses=['HTML’ , 'CSS’, 'Javascript’, 'React’]</a:t>
            </a:r>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courses.push('WT')</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Or </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courses[Courses.length] = “WT”</a:t>
            </a:r>
            <a:endParaRPr b="0" i="0" sz="2400" u="none" cap="none" strike="noStrike">
              <a:solidFill>
                <a:schemeClr val="dk1"/>
              </a:solidFill>
              <a:latin typeface="Calibri"/>
              <a:ea typeface="Calibri"/>
              <a:cs typeface="Calibri"/>
              <a:sym typeface="Calibri"/>
            </a:endParaRPr>
          </a:p>
        </p:txBody>
      </p:sp>
      <p:pic>
        <p:nvPicPr>
          <p:cNvPr id="168" name="Google Shape;168;p8"/>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method</a:t>
            </a:r>
            <a:endParaRPr b="0" i="0" sz="1400" u="none" cap="none" strike="noStrike">
              <a:solidFill>
                <a:srgbClr val="000000"/>
              </a:solidFill>
              <a:latin typeface="Arial"/>
              <a:ea typeface="Arial"/>
              <a:cs typeface="Arial"/>
              <a:sym typeface="Arial"/>
            </a:endParaRPr>
          </a:p>
        </p:txBody>
      </p:sp>
      <p:cxnSp>
        <p:nvCxnSpPr>
          <p:cNvPr id="174" name="Google Shape;174;p9"/>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75" name="Google Shape;175;p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76" name="Google Shape;176;p9"/>
          <p:cNvSpPr txBox="1"/>
          <p:nvPr/>
        </p:nvSpPr>
        <p:spPr>
          <a:xfrm>
            <a:off x="179217" y="1282969"/>
            <a:ext cx="9945827" cy="55266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rPr b="0" i="0" lang="en-US" sz="2200" u="none" cap="none" strike="noStrike">
                <a:solidFill>
                  <a:schemeClr val="dk1"/>
                </a:solidFill>
                <a:latin typeface="Libre Baskerville"/>
                <a:ea typeface="Libre Baskerville"/>
                <a:cs typeface="Libre Baskerville"/>
                <a:sym typeface="Libre Baskerville"/>
              </a:rPr>
              <a:t>1) Converting Arrays to Strings</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Libre Baskerville"/>
                <a:ea typeface="Libre Baskerville"/>
                <a:cs typeface="Libre Baskerville"/>
                <a:sym typeface="Libre Baskerville"/>
              </a:rPr>
              <a:t>const array1 = [1, 2, 'a', '1a’];</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Libre Baskerville"/>
                <a:ea typeface="Libre Baskerville"/>
                <a:cs typeface="Libre Baskerville"/>
                <a:sym typeface="Libre Baskerville"/>
              </a:rPr>
              <a:t>console.log(array1.toString());   // expected output: "1,2,a,1a"</a:t>
            </a:r>
            <a:endParaRPr b="0" i="0" sz="20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Libre Baskerville"/>
                <a:ea typeface="Libre Baskerville"/>
                <a:cs typeface="Libre Baskerville"/>
                <a:sym typeface="Libre Baskerville"/>
              </a:rPr>
              <a:t>2) The join() method also joins all array elements into a string.</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Libre Baskerville"/>
                <a:ea typeface="Libre Baskerville"/>
                <a:cs typeface="Libre Baskerville"/>
                <a:sym typeface="Libre Baskerville"/>
              </a:rPr>
              <a:t>const elements = ['Fire', 'Air', 'Water’];</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Libre Baskerville"/>
                <a:ea typeface="Libre Baskerville"/>
                <a:cs typeface="Libre Baskerville"/>
                <a:sym typeface="Libre Baskerville"/>
              </a:rPr>
              <a:t>console.log(elements.join());// expected output: "Fire,Air,Water“</a:t>
            </a:r>
            <a:endParaRPr/>
          </a:p>
          <a:p>
            <a:pPr indent="0" lvl="0" marL="0" marR="0" rtl="0" algn="just">
              <a:lnSpc>
                <a:spcPct val="90000"/>
              </a:lnSpc>
              <a:spcBef>
                <a:spcPts val="1000"/>
              </a:spcBef>
              <a:spcAft>
                <a:spcPts val="0"/>
              </a:spcAft>
              <a:buClr>
                <a:schemeClr val="dk1"/>
              </a:buClr>
              <a:buSzPts val="2400"/>
              <a:buFont typeface="Arial"/>
              <a:buNone/>
            </a:pPr>
            <a:r>
              <a:rPr b="0" i="0" lang="en-US" sz="2200" u="none" cap="none" strike="noStrike">
                <a:solidFill>
                  <a:schemeClr val="dk1"/>
                </a:solidFill>
                <a:latin typeface="Libre Baskerville"/>
                <a:ea typeface="Libre Baskerville"/>
                <a:cs typeface="Libre Baskerville"/>
                <a:sym typeface="Libre Baskerville"/>
              </a:rPr>
              <a:t>3) </a:t>
            </a:r>
            <a:r>
              <a:rPr b="1" i="0" lang="en-US" sz="2200" u="none" cap="none" strike="noStrike">
                <a:solidFill>
                  <a:schemeClr val="dk1"/>
                </a:solidFill>
                <a:latin typeface="Libre Baskerville"/>
                <a:ea typeface="Libre Baskerville"/>
                <a:cs typeface="Libre Baskerville"/>
                <a:sym typeface="Libre Baskerville"/>
              </a:rPr>
              <a:t>Popping and Pushing</a:t>
            </a:r>
            <a:endParaRPr b="0" i="0" sz="22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200" u="none" cap="none" strike="noStrike">
                <a:solidFill>
                  <a:schemeClr val="dk1"/>
                </a:solidFill>
                <a:latin typeface="Libre Baskerville"/>
                <a:ea typeface="Libre Baskerville"/>
                <a:cs typeface="Libre Baskerville"/>
                <a:sym typeface="Libre Baskerville"/>
              </a:rPr>
              <a:t>The pop() method removes the last element from an array: </a:t>
            </a:r>
            <a:endParaRPr b="0" i="0" sz="22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200" u="none" cap="none" strike="noStrike">
                <a:solidFill>
                  <a:schemeClr val="dk1"/>
                </a:solidFill>
                <a:latin typeface="Libre Baskerville"/>
                <a:ea typeface="Libre Baskerville"/>
                <a:cs typeface="Libre Baskerville"/>
                <a:sym typeface="Libre Baskerville"/>
              </a:rPr>
              <a:t>Eg1: </a:t>
            </a:r>
            <a:endParaRPr b="0" i="0" sz="22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t/>
            </a:r>
            <a:endParaRPr b="0" i="0" sz="2200" u="none" cap="none" strike="noStrike">
              <a:solidFill>
                <a:schemeClr val="dk1"/>
              </a:solidFill>
              <a:latin typeface="Calibri"/>
              <a:ea typeface="Calibri"/>
              <a:cs typeface="Calibri"/>
              <a:sym typeface="Calibri"/>
            </a:endParaRPr>
          </a:p>
        </p:txBody>
      </p:sp>
      <p:pic>
        <p:nvPicPr>
          <p:cNvPr id="177" name="Google Shape;177;p9"/>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pic>
        <p:nvPicPr>
          <p:cNvPr id="178" name="Google Shape;178;p9"/>
          <p:cNvPicPr preferRelativeResize="0"/>
          <p:nvPr/>
        </p:nvPicPr>
        <p:blipFill rotWithShape="1">
          <a:blip r:embed="rId4">
            <a:alphaModFix/>
          </a:blip>
          <a:srcRect b="0" l="0" r="0" t="0"/>
          <a:stretch/>
        </p:blipFill>
        <p:spPr>
          <a:xfrm>
            <a:off x="1024224" y="4729425"/>
            <a:ext cx="5071775" cy="1892328"/>
          </a:xfrm>
          <a:prstGeom prst="rect">
            <a:avLst/>
          </a:prstGeom>
          <a:noFill/>
          <a:ln>
            <a:noFill/>
          </a:ln>
        </p:spPr>
      </p:pic>
      <p:pic>
        <p:nvPicPr>
          <p:cNvPr id="179" name="Google Shape;179;p9"/>
          <p:cNvPicPr preferRelativeResize="0"/>
          <p:nvPr/>
        </p:nvPicPr>
        <p:blipFill rotWithShape="1">
          <a:blip r:embed="rId5">
            <a:alphaModFix/>
          </a:blip>
          <a:srcRect b="0" l="0" r="0" t="0"/>
          <a:stretch/>
        </p:blipFill>
        <p:spPr>
          <a:xfrm>
            <a:off x="6927401" y="4713423"/>
            <a:ext cx="6206289" cy="1892325"/>
          </a:xfrm>
          <a:prstGeom prst="rect">
            <a:avLst/>
          </a:prstGeom>
          <a:noFill/>
          <a:ln>
            <a:noFill/>
          </a:ln>
        </p:spPr>
      </p:pic>
      <p:sp>
        <p:nvSpPr>
          <p:cNvPr id="180" name="Google Shape;180;p9"/>
          <p:cNvSpPr txBox="1"/>
          <p:nvPr/>
        </p:nvSpPr>
        <p:spPr>
          <a:xfrm>
            <a:off x="6034826" y="4858022"/>
            <a:ext cx="1076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Eg 2:</a:t>
            </a:r>
            <a:endParaRPr b="0" i="0" sz="2400" u="none" cap="none" strike="noStrike">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0"/>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Methods</a:t>
            </a:r>
            <a:endParaRPr b="0" i="0" sz="1400" u="none" cap="none" strike="noStrike">
              <a:solidFill>
                <a:srgbClr val="000000"/>
              </a:solidFill>
              <a:latin typeface="Arial"/>
              <a:ea typeface="Arial"/>
              <a:cs typeface="Arial"/>
              <a:sym typeface="Arial"/>
            </a:endParaRPr>
          </a:p>
        </p:txBody>
      </p:sp>
      <p:cxnSp>
        <p:nvCxnSpPr>
          <p:cNvPr id="186" name="Google Shape;186;p1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87" name="Google Shape;187;p1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188" name="Google Shape;188;p10"/>
          <p:cNvSpPr txBox="1"/>
          <p:nvPr/>
        </p:nvSpPr>
        <p:spPr>
          <a:xfrm>
            <a:off x="319113" y="1316458"/>
            <a:ext cx="9686520" cy="55266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4) </a:t>
            </a:r>
            <a:r>
              <a:rPr b="1" i="0" lang="en-US" sz="2400" u="none" cap="none" strike="noStrike">
                <a:solidFill>
                  <a:schemeClr val="dk1"/>
                </a:solidFill>
                <a:latin typeface="Libre Baskerville"/>
                <a:ea typeface="Libre Baskerville"/>
                <a:cs typeface="Libre Baskerville"/>
                <a:sym typeface="Libre Baskerville"/>
              </a:rPr>
              <a:t>Shifting Elements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The shift() method removes the first array element and "shifts" all other elements to a lower index.           Example: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The </a:t>
            </a:r>
            <a:r>
              <a:rPr b="1" i="0" lang="en-US" sz="2400" u="none" cap="none" strike="noStrike">
                <a:solidFill>
                  <a:schemeClr val="dk1"/>
                </a:solidFill>
                <a:latin typeface="Libre Baskerville"/>
                <a:ea typeface="Libre Baskerville"/>
                <a:cs typeface="Libre Baskerville"/>
                <a:sym typeface="Libre Baskerville"/>
              </a:rPr>
              <a:t>unshift()</a:t>
            </a:r>
            <a:r>
              <a:rPr b="0" i="0" lang="en-US" sz="2400" u="none" cap="none" strike="noStrike">
                <a:solidFill>
                  <a:schemeClr val="dk1"/>
                </a:solidFill>
                <a:latin typeface="Libre Baskerville"/>
                <a:ea typeface="Libre Baskerville"/>
                <a:cs typeface="Libre Baskerville"/>
                <a:sym typeface="Libre Baskerville"/>
              </a:rPr>
              <a:t> method adds a new element to an array at the beginning</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Example:</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189" name="Google Shape;189;p10"/>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pic>
        <p:nvPicPr>
          <p:cNvPr id="190" name="Google Shape;190;p10"/>
          <p:cNvPicPr preferRelativeResize="0"/>
          <p:nvPr/>
        </p:nvPicPr>
        <p:blipFill rotWithShape="1">
          <a:blip r:embed="rId4">
            <a:alphaModFix/>
          </a:blip>
          <a:srcRect b="0" l="0" r="0" t="0"/>
          <a:stretch/>
        </p:blipFill>
        <p:spPr>
          <a:xfrm>
            <a:off x="2186366" y="5018780"/>
            <a:ext cx="4994659" cy="987483"/>
          </a:xfrm>
          <a:prstGeom prst="rect">
            <a:avLst/>
          </a:prstGeom>
          <a:noFill/>
          <a:ln>
            <a:noFill/>
          </a:ln>
        </p:spPr>
      </p:pic>
      <p:pic>
        <p:nvPicPr>
          <p:cNvPr id="191" name="Google Shape;191;p10"/>
          <p:cNvPicPr preferRelativeResize="0"/>
          <p:nvPr/>
        </p:nvPicPr>
        <p:blipFill rotWithShape="1">
          <a:blip r:embed="rId5">
            <a:alphaModFix/>
          </a:blip>
          <a:srcRect b="0" l="0" r="0" t="0"/>
          <a:stretch/>
        </p:blipFill>
        <p:spPr>
          <a:xfrm>
            <a:off x="2186367" y="6067970"/>
            <a:ext cx="4994659" cy="342424"/>
          </a:xfrm>
          <a:prstGeom prst="rect">
            <a:avLst/>
          </a:prstGeom>
          <a:noFill/>
          <a:ln>
            <a:noFill/>
          </a:ln>
        </p:spPr>
      </p:pic>
      <p:pic>
        <p:nvPicPr>
          <p:cNvPr id="192" name="Google Shape;192;p10"/>
          <p:cNvPicPr preferRelativeResize="0"/>
          <p:nvPr/>
        </p:nvPicPr>
        <p:blipFill rotWithShape="1">
          <a:blip r:embed="rId6">
            <a:alphaModFix/>
          </a:blip>
          <a:srcRect b="0" l="0" r="6114" t="0"/>
          <a:stretch/>
        </p:blipFill>
        <p:spPr>
          <a:xfrm>
            <a:off x="3760986" y="2641718"/>
            <a:ext cx="4530758" cy="1051777"/>
          </a:xfrm>
          <a:prstGeom prst="rect">
            <a:avLst/>
          </a:prstGeom>
          <a:noFill/>
          <a:ln>
            <a:noFill/>
          </a:ln>
        </p:spPr>
      </p:pic>
      <p:pic>
        <p:nvPicPr>
          <p:cNvPr id="193" name="Google Shape;193;p10"/>
          <p:cNvPicPr preferRelativeResize="0"/>
          <p:nvPr/>
        </p:nvPicPr>
        <p:blipFill rotWithShape="1">
          <a:blip r:embed="rId7">
            <a:alphaModFix/>
          </a:blip>
          <a:srcRect b="0" l="0" r="0" t="0"/>
          <a:stretch/>
        </p:blipFill>
        <p:spPr>
          <a:xfrm>
            <a:off x="3760986" y="3655739"/>
            <a:ext cx="4530758" cy="5833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Methods</a:t>
            </a:r>
            <a:endParaRPr b="0" i="0" sz="1400" u="none" cap="none" strike="noStrike">
              <a:solidFill>
                <a:srgbClr val="000000"/>
              </a:solidFill>
              <a:latin typeface="Arial"/>
              <a:ea typeface="Arial"/>
              <a:cs typeface="Arial"/>
              <a:sym typeface="Arial"/>
            </a:endParaRPr>
          </a:p>
        </p:txBody>
      </p:sp>
      <p:cxnSp>
        <p:nvCxnSpPr>
          <p:cNvPr id="200" name="Google Shape;200;p1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01" name="Google Shape;201;p1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02" name="Google Shape;202;p11"/>
          <p:cNvSpPr txBox="1"/>
          <p:nvPr/>
        </p:nvSpPr>
        <p:spPr>
          <a:xfrm>
            <a:off x="179217" y="1316458"/>
            <a:ext cx="11722271" cy="552662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5) </a:t>
            </a:r>
            <a:r>
              <a:rPr b="1" i="0" lang="en-US" sz="2400" u="none" cap="none" strike="noStrike">
                <a:solidFill>
                  <a:schemeClr val="dk1"/>
                </a:solidFill>
                <a:latin typeface="Calibri"/>
                <a:ea typeface="Calibri"/>
                <a:cs typeface="Calibri"/>
                <a:sym typeface="Calibri"/>
              </a:rPr>
              <a:t>Deleting Elements</a:t>
            </a:r>
            <a:endParaRPr b="0" i="0" sz="1400" u="none" cap="none" strike="noStrike">
              <a:solidFill>
                <a:srgbClr val="000000"/>
              </a:solidFill>
              <a:latin typeface="Arial"/>
              <a:ea typeface="Arial"/>
              <a:cs typeface="Arial"/>
              <a:sym typeface="Arial"/>
            </a:endParaRPr>
          </a:p>
          <a:p>
            <a:pPr indent="0" lvl="0" marL="0" marR="0" rtl="0" algn="l">
              <a:lnSpc>
                <a:spcPct val="50000"/>
              </a:lnSpc>
              <a:spcBef>
                <a:spcPts val="10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Eg :    </a:t>
            </a:r>
            <a:r>
              <a:rPr b="0" i="0" lang="en-US" sz="2000" u="none" cap="none" strike="noStrike">
                <a:solidFill>
                  <a:schemeClr val="dk1"/>
                </a:solidFill>
                <a:latin typeface="Courier New"/>
                <a:ea typeface="Courier New"/>
                <a:cs typeface="Courier New"/>
                <a:sym typeface="Courier New"/>
              </a:rPr>
              <a:t>let arr = [1,2,3,4,5]</a:t>
            </a:r>
            <a:endParaRPr b="0" i="0" sz="1400" u="none" cap="none" strike="noStrike">
              <a:solidFill>
                <a:srgbClr val="000000"/>
              </a:solidFill>
              <a:latin typeface="Arial"/>
              <a:ea typeface="Arial"/>
              <a:cs typeface="Arial"/>
              <a:sym typeface="Arial"/>
            </a:endParaRPr>
          </a:p>
          <a:p>
            <a:pPr indent="0" lvl="0" marL="0" marR="0" rtl="0" algn="l">
              <a:lnSpc>
                <a:spcPct val="50000"/>
              </a:lnSpc>
              <a:spcBef>
                <a:spcPts val="1000"/>
              </a:spcBef>
              <a:spcAft>
                <a:spcPts val="0"/>
              </a:spcAft>
              <a:buClr>
                <a:schemeClr val="dk1"/>
              </a:buClr>
              <a:buSzPts val="2000"/>
              <a:buFont typeface="Arial"/>
              <a:buNone/>
            </a:pPr>
            <a:r>
              <a:rPr b="0" i="0" lang="en-US" sz="2000" u="none" cap="none" strike="noStrike">
                <a:solidFill>
                  <a:schemeClr val="dk1"/>
                </a:solidFill>
                <a:latin typeface="Courier New"/>
                <a:ea typeface="Courier New"/>
                <a:cs typeface="Courier New"/>
                <a:sym typeface="Courier New"/>
              </a:rPr>
              <a:t>	delete arr[2]</a:t>
            </a:r>
            <a:endParaRPr b="0" i="0" sz="1400" u="none" cap="none" strike="noStrike">
              <a:solidFill>
                <a:srgbClr val="000000"/>
              </a:solidFill>
              <a:latin typeface="Arial"/>
              <a:ea typeface="Arial"/>
              <a:cs typeface="Arial"/>
              <a:sym typeface="Arial"/>
            </a:endParaRPr>
          </a:p>
          <a:p>
            <a:pPr indent="0" lvl="0" marL="0" marR="0" rtl="0" algn="l">
              <a:lnSpc>
                <a:spcPct val="50000"/>
              </a:lnSpc>
              <a:spcBef>
                <a:spcPts val="1000"/>
              </a:spcBef>
              <a:spcAft>
                <a:spcPts val="0"/>
              </a:spcAft>
              <a:buClr>
                <a:schemeClr val="dk1"/>
              </a:buClr>
              <a:buSzPts val="2000"/>
              <a:buFont typeface="Arial"/>
              <a:buNone/>
            </a:pPr>
            <a:r>
              <a:rPr b="0" i="0" lang="en-US" sz="2000" u="none" cap="none" strike="noStrike">
                <a:solidFill>
                  <a:schemeClr val="dk1"/>
                </a:solidFill>
                <a:latin typeface="Courier New"/>
                <a:ea typeface="Courier New"/>
                <a:cs typeface="Courier New"/>
                <a:sym typeface="Courier New"/>
              </a:rPr>
              <a:t>	console.log(arr)</a:t>
            </a:r>
            <a:endParaRPr b="0" i="0" sz="1400" u="none" cap="none" strike="noStrike">
              <a:solidFill>
                <a:srgbClr val="000000"/>
              </a:solidFill>
              <a:latin typeface="Arial"/>
              <a:ea typeface="Arial"/>
              <a:cs typeface="Arial"/>
              <a:sym typeface="Arial"/>
            </a:endParaRPr>
          </a:p>
          <a:p>
            <a:pPr indent="0" lvl="0" marL="0" marR="0" rtl="0" algn="l">
              <a:lnSpc>
                <a:spcPct val="50000"/>
              </a:lnSpc>
              <a:spcBef>
                <a:spcPts val="1000"/>
              </a:spcBef>
              <a:spcAft>
                <a:spcPts val="0"/>
              </a:spcAft>
              <a:buClr>
                <a:schemeClr val="dk1"/>
              </a:buClr>
              <a:buSzPts val="2000"/>
              <a:buFont typeface="Arial"/>
              <a:buNone/>
            </a:pPr>
            <a:r>
              <a:rPr b="0" i="0" lang="en-US" sz="2000" u="none" cap="none" strike="noStrike">
                <a:solidFill>
                  <a:schemeClr val="dk1"/>
                </a:solidFill>
                <a:latin typeface="Courier New"/>
                <a:ea typeface="Courier New"/>
                <a:cs typeface="Courier New"/>
                <a:sym typeface="Courier New"/>
              </a:rPr>
              <a:t>	Array(5) [ 1, 2, &lt;1 empty slot&gt;, 4, 5 ]  //replaces with “undefined”</a:t>
            </a:r>
            <a:endParaRPr b="0" i="0" sz="1400" u="none" cap="none" strike="noStrike">
              <a:solidFill>
                <a:srgbClr val="000000"/>
              </a:solidFill>
              <a:latin typeface="Arial"/>
              <a:ea typeface="Arial"/>
              <a:cs typeface="Arial"/>
              <a:sym typeface="Arial"/>
            </a:endParaRPr>
          </a:p>
          <a:p>
            <a:pPr indent="0" lvl="0" marL="0" marR="0" rtl="0" algn="l">
              <a:lnSpc>
                <a:spcPct val="50000"/>
              </a:lnSpc>
              <a:spcBef>
                <a:spcPts val="1000"/>
              </a:spcBef>
              <a:spcAft>
                <a:spcPts val="0"/>
              </a:spcAft>
              <a:buClr>
                <a:schemeClr val="dk1"/>
              </a:buClr>
              <a:buSzPts val="2000"/>
              <a:buFont typeface="Arial"/>
              <a:buNone/>
            </a:pPr>
            <a:r>
              <a:t/>
            </a:r>
            <a:endParaRPr b="0" i="0" sz="20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6) </a:t>
            </a:r>
            <a:r>
              <a:rPr b="1" i="0" lang="en-US" sz="2400" u="none" cap="none" strike="noStrike">
                <a:solidFill>
                  <a:schemeClr val="dk1"/>
                </a:solidFill>
                <a:latin typeface="Calibri"/>
                <a:ea typeface="Calibri"/>
                <a:cs typeface="Calibri"/>
                <a:sym typeface="Calibri"/>
              </a:rPr>
              <a:t>Splicing an Array</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The splice() method changes the contents of an array by removing or replacing existing elements and/or adding new elements </a:t>
            </a:r>
            <a:r>
              <a:rPr b="0" i="0" lang="en-US" sz="2400" u="sng" cap="none" strike="noStrike">
                <a:solidFill>
                  <a:schemeClr val="dk1"/>
                </a:solidFill>
                <a:latin typeface="Calibri"/>
                <a:ea typeface="Calibri"/>
                <a:cs typeface="Calibri"/>
                <a:sym typeface="Calibri"/>
                <a:hlinkClick r:id="rId3">
                  <a:extLst>
                    <a:ext uri="{A12FA001-AC4F-418D-AE19-62706E023703}">
                      <ahyp:hlinkClr val="tx"/>
                    </a:ext>
                  </a:extLst>
                </a:hlinkClick>
              </a:rPr>
              <a:t>in place</a:t>
            </a:r>
            <a:r>
              <a:rPr b="0" i="0" lang="en-US" sz="24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Eg:     </a:t>
            </a:r>
            <a:r>
              <a:rPr b="0" i="0" lang="en-US" sz="2000" u="none" cap="none" strike="noStrike">
                <a:solidFill>
                  <a:schemeClr val="dk1"/>
                </a:solidFill>
                <a:latin typeface="Courier New"/>
                <a:ea typeface="Courier New"/>
                <a:cs typeface="Courier New"/>
                <a:sym typeface="Courier New"/>
              </a:rPr>
              <a:t>arr=[1,2,3,4,5]</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Courier New"/>
                <a:ea typeface="Courier New"/>
                <a:cs typeface="Courier New"/>
                <a:sym typeface="Courier New"/>
              </a:rPr>
              <a:t>	let rm = arr.splice(2,1) // remove 1 element from index 2</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Courier New"/>
                <a:ea typeface="Courier New"/>
                <a:cs typeface="Courier New"/>
                <a:sym typeface="Courier New"/>
              </a:rPr>
              <a:t>	console.log(rm)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Courier New"/>
                <a:ea typeface="Courier New"/>
                <a:cs typeface="Courier New"/>
                <a:sym typeface="Courier New"/>
              </a:rPr>
              <a:t>	Array [ 3 ] // returns array with removed elements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203" name="Google Shape;203;p11"/>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looping</a:t>
            </a:r>
            <a:endParaRPr b="0" i="0" sz="1400" u="none" cap="none" strike="noStrike">
              <a:solidFill>
                <a:srgbClr val="000000"/>
              </a:solidFill>
              <a:latin typeface="Arial"/>
              <a:ea typeface="Arial"/>
              <a:cs typeface="Arial"/>
              <a:sym typeface="Arial"/>
            </a:endParaRPr>
          </a:p>
        </p:txBody>
      </p:sp>
      <p:cxnSp>
        <p:nvCxnSpPr>
          <p:cNvPr id="209" name="Google Shape;209;p1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10" name="Google Shape;210;p1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11" name="Google Shape;211;p12"/>
          <p:cNvSpPr txBox="1"/>
          <p:nvPr/>
        </p:nvSpPr>
        <p:spPr>
          <a:xfrm>
            <a:off x="371875" y="1301950"/>
            <a:ext cx="11269200" cy="5526600"/>
          </a:xfrm>
          <a:prstGeom prst="rect">
            <a:avLst/>
          </a:prstGeom>
          <a:noFill/>
          <a:ln>
            <a:noFill/>
          </a:ln>
        </p:spPr>
        <p:txBody>
          <a:bodyPr anchorCtr="0" anchor="t" bIns="45700" lIns="91425" spcFirstLastPara="1" rIns="91425" wrap="square" tIns="45700">
            <a:noAutofit/>
          </a:bodyPr>
          <a:lstStyle/>
          <a:p>
            <a:pPr indent="-209550" lvl="0" marL="228600" marR="0" rtl="0" algn="just">
              <a:lnSpc>
                <a:spcPct val="90000"/>
              </a:lnSpc>
              <a:spcBef>
                <a:spcPts val="1000"/>
              </a:spcBef>
              <a:spcAft>
                <a:spcPts val="0"/>
              </a:spcAft>
              <a:buClr>
                <a:schemeClr val="dk1"/>
              </a:buClr>
              <a:buSzPts val="2100"/>
              <a:buFont typeface="Arial"/>
              <a:buChar char="•"/>
            </a:pPr>
            <a:r>
              <a:rPr b="0" i="0" lang="en-US" sz="2100" u="none" cap="none" strike="noStrike">
                <a:solidFill>
                  <a:schemeClr val="dk1"/>
                </a:solidFill>
                <a:latin typeface="Libre Baskerville"/>
                <a:ea typeface="Libre Baskerville"/>
                <a:cs typeface="Libre Baskerville"/>
                <a:sym typeface="Libre Baskerville"/>
              </a:rPr>
              <a:t>The first parameter (2) defines the position where new elements should be added (spliced in).</a:t>
            </a:r>
            <a:endParaRPr b="0" i="0" sz="2100" u="none" cap="none" strike="noStrike">
              <a:solidFill>
                <a:srgbClr val="000000"/>
              </a:solidFill>
              <a:latin typeface="Arial"/>
              <a:ea typeface="Arial"/>
              <a:cs typeface="Arial"/>
              <a:sym typeface="Arial"/>
            </a:endParaRPr>
          </a:p>
          <a:p>
            <a:pPr indent="-209550" lvl="0" marL="228600" marR="0" rtl="0" algn="just">
              <a:lnSpc>
                <a:spcPct val="90000"/>
              </a:lnSpc>
              <a:spcBef>
                <a:spcPts val="1000"/>
              </a:spcBef>
              <a:spcAft>
                <a:spcPts val="0"/>
              </a:spcAft>
              <a:buClr>
                <a:schemeClr val="dk1"/>
              </a:buClr>
              <a:buSzPts val="2100"/>
              <a:buFont typeface="Arial"/>
              <a:buChar char="•"/>
            </a:pPr>
            <a:r>
              <a:rPr b="0" i="0" lang="en-US" sz="2100" u="none" cap="none" strike="noStrike">
                <a:solidFill>
                  <a:schemeClr val="dk1"/>
                </a:solidFill>
                <a:latin typeface="Libre Baskerville"/>
                <a:ea typeface="Libre Baskerville"/>
                <a:cs typeface="Libre Baskerville"/>
                <a:sym typeface="Libre Baskerville"/>
              </a:rPr>
              <a:t>The second parameter (2) defines how many elements should be removed.</a:t>
            </a:r>
            <a:endParaRPr b="0" i="0" sz="2100" u="none" cap="none" strike="noStrike">
              <a:solidFill>
                <a:srgbClr val="000000"/>
              </a:solidFill>
              <a:latin typeface="Arial"/>
              <a:ea typeface="Arial"/>
              <a:cs typeface="Arial"/>
              <a:sym typeface="Arial"/>
            </a:endParaRPr>
          </a:p>
          <a:p>
            <a:pPr indent="-209550" lvl="0" marL="228600" marR="0" rtl="0" algn="just">
              <a:lnSpc>
                <a:spcPct val="90000"/>
              </a:lnSpc>
              <a:spcBef>
                <a:spcPts val="1000"/>
              </a:spcBef>
              <a:spcAft>
                <a:spcPts val="0"/>
              </a:spcAft>
              <a:buClr>
                <a:schemeClr val="dk1"/>
              </a:buClr>
              <a:buSzPts val="2100"/>
              <a:buFont typeface="Arial"/>
              <a:buChar char="•"/>
            </a:pPr>
            <a:r>
              <a:rPr b="0" i="0" lang="en-US" sz="2100" u="none" cap="none" strike="noStrike">
                <a:solidFill>
                  <a:schemeClr val="dk1"/>
                </a:solidFill>
                <a:latin typeface="Libre Baskerville"/>
                <a:ea typeface="Libre Baskerville"/>
                <a:cs typeface="Libre Baskerville"/>
                <a:sym typeface="Libre Baskerville"/>
              </a:rPr>
              <a:t>The rest of the parameters (“Node", “Express") define the new elements to be added.</a:t>
            </a:r>
            <a:endParaRPr b="0" i="0" sz="2100" u="none" cap="none" strike="noStrike">
              <a:solidFill>
                <a:srgbClr val="000000"/>
              </a:solidFill>
              <a:latin typeface="Arial"/>
              <a:ea typeface="Arial"/>
              <a:cs typeface="Arial"/>
              <a:sym typeface="Arial"/>
            </a:endParaRPr>
          </a:p>
          <a:p>
            <a:pPr indent="-209550" lvl="0" marL="228600" marR="0" rtl="0" algn="just">
              <a:lnSpc>
                <a:spcPct val="90000"/>
              </a:lnSpc>
              <a:spcBef>
                <a:spcPts val="1000"/>
              </a:spcBef>
              <a:spcAft>
                <a:spcPts val="0"/>
              </a:spcAft>
              <a:buClr>
                <a:schemeClr val="dk1"/>
              </a:buClr>
              <a:buSzPts val="2100"/>
              <a:buFont typeface="Arial"/>
              <a:buChar char="•"/>
            </a:pPr>
            <a:r>
              <a:rPr b="0" i="0" lang="en-US" sz="2100" u="none" cap="none" strike="noStrike">
                <a:solidFill>
                  <a:schemeClr val="dk1"/>
                </a:solidFill>
                <a:latin typeface="Libre Baskerville"/>
                <a:ea typeface="Libre Baskerville"/>
                <a:cs typeface="Libre Baskerville"/>
                <a:sym typeface="Libre Baskerville"/>
              </a:rPr>
              <a:t>The splice() method returns an array with the deleted items: </a:t>
            </a:r>
            <a:endParaRPr b="0" i="0" sz="21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100" u="none" cap="none" strike="noStrike">
                <a:solidFill>
                  <a:schemeClr val="dk1"/>
                </a:solidFill>
                <a:latin typeface="Libre Baskerville"/>
                <a:ea typeface="Libre Baskerville"/>
                <a:cs typeface="Libre Baskerville"/>
                <a:sym typeface="Libre Baskerville"/>
              </a:rPr>
              <a:t>Eg –</a:t>
            </a:r>
            <a:endParaRPr b="0" i="0" sz="21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100" u="none" cap="none" strike="noStrike">
                <a:solidFill>
                  <a:schemeClr val="dk1"/>
                </a:solidFill>
                <a:latin typeface="Libre Baskerville"/>
                <a:ea typeface="Libre Baskerville"/>
                <a:cs typeface="Libre Baskerville"/>
                <a:sym typeface="Libre Baskerville"/>
              </a:rPr>
              <a:t>var Courses = [“HTML”, “CSS”, “JavaScript”, “React”];</a:t>
            </a:r>
            <a:endParaRPr b="0" i="0" sz="2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rPr b="0" i="0" lang="en-US" sz="2100" u="none" cap="none" strike="noStrike">
                <a:solidFill>
                  <a:schemeClr val="dk1"/>
                </a:solidFill>
                <a:latin typeface="Libre Baskerville"/>
                <a:ea typeface="Libre Baskerville"/>
                <a:cs typeface="Libre Baskerville"/>
                <a:sym typeface="Libre Baskerville"/>
              </a:rPr>
              <a:t>Courses.splice(2, 2, “Node”, “Express”);</a:t>
            </a:r>
            <a:endParaRPr b="0" i="0" sz="2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1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chemeClr val="dk1"/>
              </a:buClr>
              <a:buSzPts val="2400"/>
              <a:buFont typeface="Arial"/>
              <a:buNone/>
            </a:pPr>
            <a:r>
              <a:rPr b="0" i="0" lang="en-US" sz="2100" u="none" cap="none" strike="noStrike">
                <a:solidFill>
                  <a:schemeClr val="dk1"/>
                </a:solidFill>
                <a:latin typeface="Libre Baskerville"/>
                <a:ea typeface="Libre Baskerville"/>
                <a:cs typeface="Libre Baskerville"/>
                <a:sym typeface="Libre Baskerville"/>
              </a:rPr>
              <a:t>7) </a:t>
            </a:r>
            <a:r>
              <a:rPr b="1" i="0" lang="en-US" sz="2100" u="none" cap="none" strike="noStrike">
                <a:solidFill>
                  <a:schemeClr val="dk1"/>
                </a:solidFill>
                <a:latin typeface="Libre Baskerville"/>
                <a:ea typeface="Libre Baskerville"/>
                <a:cs typeface="Libre Baskerville"/>
                <a:sym typeface="Libre Baskerville"/>
              </a:rPr>
              <a:t>Merging (Concatenating) Arrays</a:t>
            </a:r>
            <a:endParaRPr b="0" i="0" sz="2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rPr b="0" i="0" lang="en-US" sz="2100" u="none" cap="none" strike="noStrike">
                <a:solidFill>
                  <a:schemeClr val="dk1"/>
                </a:solidFill>
                <a:latin typeface="Libre Baskerville"/>
                <a:ea typeface="Libre Baskerville"/>
                <a:cs typeface="Libre Baskerville"/>
                <a:sym typeface="Libre Baskerville"/>
              </a:rPr>
              <a:t>The concat() method creates a new array by merging (concatenating) existing arrays</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b="0" i="0" lang="en-US" sz="2100" u="none" cap="none" strike="noStrike">
                <a:solidFill>
                  <a:schemeClr val="dk1"/>
                </a:solidFill>
                <a:latin typeface="Libre Baskerville"/>
                <a:ea typeface="Libre Baskerville"/>
                <a:cs typeface="Libre Baskerville"/>
                <a:sym typeface="Libre Baskerville"/>
              </a:rPr>
              <a:t>var arr1 = ["Cecilie", "Lone"];</a:t>
            </a:r>
            <a:br>
              <a:rPr b="0" i="0" lang="en-US" sz="2100" u="none" cap="none" strike="noStrike">
                <a:solidFill>
                  <a:schemeClr val="dk1"/>
                </a:solidFill>
                <a:latin typeface="Libre Baskerville"/>
                <a:ea typeface="Libre Baskerville"/>
                <a:cs typeface="Libre Baskerville"/>
                <a:sym typeface="Libre Baskerville"/>
              </a:rPr>
            </a:br>
            <a:r>
              <a:rPr b="0" i="0" lang="en-US" sz="2100" u="none" cap="none" strike="noStrike">
                <a:solidFill>
                  <a:schemeClr val="dk1"/>
                </a:solidFill>
                <a:latin typeface="Libre Baskerville"/>
                <a:ea typeface="Libre Baskerville"/>
                <a:cs typeface="Libre Baskerville"/>
                <a:sym typeface="Libre Baskerville"/>
              </a:rPr>
              <a:t>var myChildren = arr1.concat(["Emil", "Tobias", "Linus"]);  </a:t>
            </a:r>
            <a:endParaRPr b="0" i="0" sz="2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212" name="Google Shape;212;p12"/>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looping</a:t>
            </a:r>
            <a:endParaRPr b="0" i="0" sz="1400" u="none" cap="none" strike="noStrike">
              <a:solidFill>
                <a:srgbClr val="000000"/>
              </a:solidFill>
              <a:latin typeface="Arial"/>
              <a:ea typeface="Arial"/>
              <a:cs typeface="Arial"/>
              <a:sym typeface="Arial"/>
            </a:endParaRPr>
          </a:p>
        </p:txBody>
      </p:sp>
      <p:cxnSp>
        <p:nvCxnSpPr>
          <p:cNvPr id="218" name="Google Shape;218;p1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19" name="Google Shape;219;p1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20" name="Google Shape;220;p13"/>
          <p:cNvSpPr txBox="1"/>
          <p:nvPr/>
        </p:nvSpPr>
        <p:spPr>
          <a:xfrm>
            <a:off x="371880" y="1188075"/>
            <a:ext cx="9945827" cy="552662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221" name="Google Shape;221;p13"/>
          <p:cNvPicPr preferRelativeResize="0"/>
          <p:nvPr/>
        </p:nvPicPr>
        <p:blipFill rotWithShape="1">
          <a:blip r:embed="rId3">
            <a:alphaModFix/>
          </a:blip>
          <a:srcRect b="0" l="0" r="0" t="0"/>
          <a:stretch/>
        </p:blipFill>
        <p:spPr>
          <a:xfrm>
            <a:off x="1027416" y="1885950"/>
            <a:ext cx="8897634" cy="3585614"/>
          </a:xfrm>
          <a:prstGeom prst="rect">
            <a:avLst/>
          </a:prstGeom>
          <a:noFill/>
          <a:ln>
            <a:noFill/>
          </a:ln>
        </p:spPr>
      </p:pic>
      <p:pic>
        <p:nvPicPr>
          <p:cNvPr id="222" name="Google Shape;222;p13"/>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400"/>
              <a:buFont typeface="Calibri"/>
              <a:buNone/>
            </a:pPr>
            <a:r>
              <a:rPr b="1" i="0" lang="en-US" sz="2400" u="none" cap="none" strike="noStrike">
                <a:solidFill>
                  <a:srgbClr val="C55A11"/>
                </a:solidFill>
                <a:latin typeface="Calibri"/>
                <a:ea typeface="Calibri"/>
                <a:cs typeface="Calibri"/>
                <a:sym typeface="Calibri"/>
              </a:rPr>
              <a:t>JavaScript  Arrays - looping</a:t>
            </a:r>
            <a:endParaRPr b="0" i="0" sz="1400" u="none" cap="none" strike="noStrike">
              <a:solidFill>
                <a:srgbClr val="000000"/>
              </a:solidFill>
              <a:latin typeface="Arial"/>
              <a:ea typeface="Arial"/>
              <a:cs typeface="Arial"/>
              <a:sym typeface="Arial"/>
            </a:endParaRPr>
          </a:p>
        </p:txBody>
      </p:sp>
      <p:cxnSp>
        <p:nvCxnSpPr>
          <p:cNvPr id="228" name="Google Shape;228;p1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29" name="Google Shape;229;p1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400"/>
              <a:buFont typeface="Calibri"/>
              <a:buNone/>
            </a:pPr>
            <a:r>
              <a:rPr b="1" i="0" lang="en-US" sz="2400" u="none" cap="none" strike="noStrike">
                <a:solidFill>
                  <a:srgbClr val="2F5496"/>
                </a:solidFill>
                <a:latin typeface="Calibri"/>
                <a:ea typeface="Calibri"/>
                <a:cs typeface="Calibri"/>
                <a:sym typeface="Calibri"/>
              </a:rPr>
              <a:t>JavaScript Basics </a:t>
            </a:r>
            <a:endParaRPr b="0" i="0" sz="1400" u="none" cap="none" strike="noStrike">
              <a:solidFill>
                <a:srgbClr val="000000"/>
              </a:solidFill>
              <a:latin typeface="Arial"/>
              <a:ea typeface="Arial"/>
              <a:cs typeface="Arial"/>
              <a:sym typeface="Arial"/>
            </a:endParaRPr>
          </a:p>
        </p:txBody>
      </p:sp>
      <p:sp>
        <p:nvSpPr>
          <p:cNvPr id="230" name="Google Shape;230;p14"/>
          <p:cNvSpPr txBox="1"/>
          <p:nvPr/>
        </p:nvSpPr>
        <p:spPr>
          <a:xfrm>
            <a:off x="393111" y="1409549"/>
            <a:ext cx="9945827" cy="552662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8)</a:t>
            </a:r>
            <a:r>
              <a:rPr b="1" i="0" lang="en-US" sz="2400" u="none" cap="none" strike="noStrike">
                <a:solidFill>
                  <a:schemeClr val="dk1"/>
                </a:solidFill>
                <a:latin typeface="Calibri"/>
                <a:ea typeface="Calibri"/>
                <a:cs typeface="Calibri"/>
                <a:sym typeface="Calibri"/>
              </a:rPr>
              <a:t> </a:t>
            </a:r>
            <a:r>
              <a:rPr b="1" i="0" lang="en-US" sz="2400" u="none" cap="none" strike="noStrike">
                <a:solidFill>
                  <a:schemeClr val="dk1"/>
                </a:solidFill>
                <a:latin typeface="Libre Baskerville"/>
                <a:ea typeface="Libre Baskerville"/>
                <a:cs typeface="Libre Baskerville"/>
                <a:sym typeface="Libre Baskerville"/>
              </a:rPr>
              <a:t>Sorting an Array</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The sort() method sorts an array alphabetically.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var fruits = ["Banana", "Orange", "Apple", "Mango"];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fruits.sort();        // Sorts the elements of fruits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9) The </a:t>
            </a:r>
            <a:r>
              <a:rPr b="1" i="0" lang="en-US" sz="2400" u="none" cap="none" strike="noStrike">
                <a:solidFill>
                  <a:schemeClr val="dk1"/>
                </a:solidFill>
                <a:latin typeface="Libre Baskerville"/>
                <a:ea typeface="Libre Baskerville"/>
                <a:cs typeface="Libre Baskerville"/>
                <a:sym typeface="Libre Baskerville"/>
              </a:rPr>
              <a:t>reverse() </a:t>
            </a:r>
            <a:r>
              <a:rPr b="0" i="0" lang="en-US" sz="2400" u="none" cap="none" strike="noStrike">
                <a:solidFill>
                  <a:schemeClr val="dk1"/>
                </a:solidFill>
                <a:latin typeface="Libre Baskerville"/>
                <a:ea typeface="Libre Baskerville"/>
                <a:cs typeface="Libre Baskerville"/>
                <a:sym typeface="Libre Baskerville"/>
              </a:rPr>
              <a:t>method reverses the elements in an array.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Libre Baskerville"/>
                <a:ea typeface="Libre Baskerville"/>
                <a:cs typeface="Libre Baskerville"/>
                <a:sym typeface="Libre Baskerville"/>
              </a:rPr>
              <a:t>	fruits.reverse();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Libre Baskerville"/>
              <a:ea typeface="Libre Baskerville"/>
              <a:cs typeface="Libre Baskerville"/>
              <a:sym typeface="Libre Baskerville"/>
            </a:endParaRPr>
          </a:p>
          <a:p>
            <a:pPr indent="0" lvl="0" marL="0" marR="0" rtl="0" algn="just">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231" name="Google Shape;231;p14"/>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5"/>
          <p:cNvSpPr txBox="1"/>
          <p:nvPr>
            <p:ph idx="1" type="body"/>
          </p:nvPr>
        </p:nvSpPr>
        <p:spPr>
          <a:xfrm>
            <a:off x="581192" y="1487114"/>
            <a:ext cx="11389135" cy="5138973"/>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Font typeface="Calibri"/>
              <a:buChar char="-"/>
            </a:pPr>
            <a:r>
              <a:rPr i="1" lang="en-US" sz="2400"/>
              <a:t>arr</a:t>
            </a:r>
            <a:r>
              <a:rPr lang="en-US" sz="2400"/>
              <a:t>.sort(</a:t>
            </a:r>
            <a:r>
              <a:rPr i="1" lang="en-US" sz="2400"/>
              <a:t>[compareFunction]</a:t>
            </a:r>
            <a:r>
              <a:rPr lang="en-US" sz="2400"/>
              <a:t>)</a:t>
            </a:r>
            <a:endParaRPr/>
          </a:p>
          <a:p>
            <a:pPr indent="-228600" lvl="0" marL="228600" rtl="0" algn="l">
              <a:lnSpc>
                <a:spcPct val="100000"/>
              </a:lnSpc>
              <a:spcBef>
                <a:spcPts val="0"/>
              </a:spcBef>
              <a:spcAft>
                <a:spcPts val="0"/>
              </a:spcAft>
              <a:buClr>
                <a:schemeClr val="dk1"/>
              </a:buClr>
              <a:buSzPts val="2400"/>
              <a:buFont typeface="Calibri"/>
              <a:buChar char="-"/>
            </a:pPr>
            <a:r>
              <a:rPr lang="en-US" sz="2400"/>
              <a:t>If compareFunction is not specified,array is sorted as strings in ascending order</a:t>
            </a:r>
            <a:endParaRPr/>
          </a:p>
          <a:p>
            <a:pPr indent="-228600" lvl="0" marL="228600" rtl="0" algn="l">
              <a:lnSpc>
                <a:spcPct val="100000"/>
              </a:lnSpc>
              <a:spcBef>
                <a:spcPts val="0"/>
              </a:spcBef>
              <a:spcAft>
                <a:spcPts val="0"/>
              </a:spcAft>
              <a:buClr>
                <a:schemeClr val="dk1"/>
              </a:buClr>
              <a:buSzPts val="2400"/>
              <a:buFont typeface="Calibri"/>
              <a:buChar char="-"/>
            </a:pPr>
            <a:r>
              <a:rPr lang="en-US" sz="2400"/>
              <a:t>Arr = [1, 2, 11, 12, 22]</a:t>
            </a:r>
            <a:endParaRPr/>
          </a:p>
          <a:p>
            <a:pPr indent="-228600" lvl="0" marL="228600" rtl="0" algn="l">
              <a:lnSpc>
                <a:spcPct val="100000"/>
              </a:lnSpc>
              <a:spcBef>
                <a:spcPts val="0"/>
              </a:spcBef>
              <a:spcAft>
                <a:spcPts val="0"/>
              </a:spcAft>
              <a:buClr>
                <a:schemeClr val="dk1"/>
              </a:buClr>
              <a:buSzPts val="2400"/>
              <a:buFont typeface="Calibri"/>
              <a:buChar char="-"/>
            </a:pPr>
            <a:r>
              <a:rPr lang="en-US" sz="2400"/>
              <a:t>Console.log(arr.sort())</a:t>
            </a:r>
            <a:endParaRPr/>
          </a:p>
          <a:p>
            <a:pPr indent="-228600" lvl="0" marL="228600" rtl="0" algn="l">
              <a:lnSpc>
                <a:spcPct val="100000"/>
              </a:lnSpc>
              <a:spcBef>
                <a:spcPts val="0"/>
              </a:spcBef>
              <a:spcAft>
                <a:spcPts val="0"/>
              </a:spcAft>
              <a:buClr>
                <a:schemeClr val="dk1"/>
              </a:buClr>
              <a:buSzPts val="2400"/>
              <a:buFont typeface="Calibri"/>
              <a:buChar char="-"/>
            </a:pPr>
            <a:r>
              <a:rPr lang="en-US" sz="2400"/>
              <a:t>// 1, 11, 12, 2, 22</a:t>
            </a:r>
            <a:endParaRPr/>
          </a:p>
          <a:p>
            <a:pPr indent="-76200" lvl="0" marL="228600" rtl="0" algn="l">
              <a:lnSpc>
                <a:spcPct val="100000"/>
              </a:lnSpc>
              <a:spcBef>
                <a:spcPts val="0"/>
              </a:spcBef>
              <a:spcAft>
                <a:spcPts val="0"/>
              </a:spcAft>
              <a:buClr>
                <a:schemeClr val="dk1"/>
              </a:buClr>
              <a:buSzPts val="2400"/>
              <a:buFont typeface="Calibri"/>
              <a:buNone/>
            </a:pPr>
            <a:r>
              <a:t/>
            </a:r>
            <a:endParaRPr sz="2400"/>
          </a:p>
          <a:p>
            <a:pPr indent="-228600" lvl="0" marL="228600" rtl="0" algn="l">
              <a:lnSpc>
                <a:spcPct val="100000"/>
              </a:lnSpc>
              <a:spcBef>
                <a:spcPts val="0"/>
              </a:spcBef>
              <a:spcAft>
                <a:spcPts val="0"/>
              </a:spcAft>
              <a:buClr>
                <a:schemeClr val="dk1"/>
              </a:buClr>
              <a:buSzPts val="2400"/>
              <a:buFont typeface="Calibri"/>
              <a:buChar char="-"/>
            </a:pPr>
            <a:r>
              <a:rPr lang="en-US" sz="2400"/>
              <a:t>compareFunction takes two parameters say a and b and returns</a:t>
            </a:r>
            <a:endParaRPr/>
          </a:p>
          <a:p>
            <a:pPr indent="-228600" lvl="1" marL="685800" rtl="0" algn="l">
              <a:lnSpc>
                <a:spcPct val="100000"/>
              </a:lnSpc>
              <a:spcBef>
                <a:spcPts val="0"/>
              </a:spcBef>
              <a:spcAft>
                <a:spcPts val="0"/>
              </a:spcAft>
              <a:buClr>
                <a:schemeClr val="dk1"/>
              </a:buClr>
              <a:buSzPts val="2400"/>
              <a:buFont typeface="Calibri"/>
              <a:buChar char="-"/>
            </a:pPr>
            <a:r>
              <a:rPr lang="en-US"/>
              <a:t>1 if a &gt; b</a:t>
            </a:r>
            <a:endParaRPr/>
          </a:p>
          <a:p>
            <a:pPr indent="-228600" lvl="1" marL="685800" rtl="0" algn="l">
              <a:lnSpc>
                <a:spcPct val="100000"/>
              </a:lnSpc>
              <a:spcBef>
                <a:spcPts val="0"/>
              </a:spcBef>
              <a:spcAft>
                <a:spcPts val="0"/>
              </a:spcAft>
              <a:buClr>
                <a:schemeClr val="dk1"/>
              </a:buClr>
              <a:buSzPts val="2400"/>
              <a:buFont typeface="Calibri"/>
              <a:buChar char="-"/>
            </a:pPr>
            <a:r>
              <a:rPr lang="en-US"/>
              <a:t>0 if a = b</a:t>
            </a:r>
            <a:endParaRPr/>
          </a:p>
          <a:p>
            <a:pPr indent="-228600" lvl="1" marL="685800" rtl="0" algn="l">
              <a:lnSpc>
                <a:spcPct val="100000"/>
              </a:lnSpc>
              <a:spcBef>
                <a:spcPts val="0"/>
              </a:spcBef>
              <a:spcAft>
                <a:spcPts val="0"/>
              </a:spcAft>
              <a:buClr>
                <a:schemeClr val="dk1"/>
              </a:buClr>
              <a:buSzPts val="2400"/>
              <a:buFont typeface="Calibri"/>
              <a:buChar char="-"/>
            </a:pPr>
            <a:r>
              <a:rPr lang="en-US"/>
              <a:t>-1 if a &lt; b</a:t>
            </a:r>
            <a:endParaRPr/>
          </a:p>
          <a:p>
            <a:pPr indent="-228600" lvl="0" marL="228600" rtl="0" algn="l">
              <a:lnSpc>
                <a:spcPct val="100000"/>
              </a:lnSpc>
              <a:spcBef>
                <a:spcPts val="0"/>
              </a:spcBef>
              <a:spcAft>
                <a:spcPts val="0"/>
              </a:spcAft>
              <a:buClr>
                <a:schemeClr val="dk1"/>
              </a:buClr>
              <a:buSzPts val="2400"/>
              <a:buFont typeface="Calibri"/>
              <a:buChar char="-"/>
            </a:pPr>
            <a:r>
              <a:rPr lang="en-US" sz="2400"/>
              <a:t>To reverse the order modify the condition for returning 1, 0 and -1</a:t>
            </a:r>
            <a:endParaRPr/>
          </a:p>
        </p:txBody>
      </p:sp>
      <p:sp>
        <p:nvSpPr>
          <p:cNvPr id="238" name="Google Shape;238;p1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Array – Sort</a:t>
            </a:r>
            <a:endParaRPr b="0" i="0" sz="1400" u="none" cap="none" strike="noStrike">
              <a:solidFill>
                <a:srgbClr val="000000"/>
              </a:solidFill>
              <a:latin typeface="Arial"/>
              <a:ea typeface="Arial"/>
              <a:cs typeface="Arial"/>
              <a:sym typeface="Arial"/>
            </a:endParaRPr>
          </a:p>
        </p:txBody>
      </p:sp>
      <p:cxnSp>
        <p:nvCxnSpPr>
          <p:cNvPr id="239" name="Google Shape;239;p1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40" name="Google Shape;240;p1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sp>
        <p:nvSpPr>
          <p:cNvPr id="241" name="Google Shape;241;p15"/>
          <p:cNvSpPr/>
          <p:nvPr/>
        </p:nvSpPr>
        <p:spPr>
          <a:xfrm>
            <a:off x="7664830" y="2112868"/>
            <a:ext cx="4412776" cy="178510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Calibri"/>
              <a:buNone/>
            </a:pPr>
            <a:r>
              <a:rPr b="0" i="0" lang="en-US" sz="2200" u="none" cap="none" strike="noStrike">
                <a:solidFill>
                  <a:schemeClr val="dk1"/>
                </a:solidFill>
                <a:latin typeface="Calibri"/>
                <a:ea typeface="Calibri"/>
                <a:cs typeface="Calibri"/>
                <a:sym typeface="Calibri"/>
              </a:rPr>
              <a:t>var numbers = [4, 2, 5, 1, 3]; numbers.sort(function(a, b) { return b - a;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Calibri"/>
              <a:buNone/>
            </a:pPr>
            <a:r>
              <a:rPr b="0" i="0" lang="en-US" sz="2200" u="none" cap="none" strike="noStrike">
                <a:solidFill>
                  <a:schemeClr val="dk1"/>
                </a:solidFill>
                <a:latin typeface="Calibri"/>
                <a:ea typeface="Calibri"/>
                <a:cs typeface="Calibri"/>
                <a:sym typeface="Calibri"/>
              </a:rPr>
              <a:t>console.log(numbers);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Calibri"/>
              <a:buNone/>
            </a:pPr>
            <a:r>
              <a:rPr b="0" i="0" lang="en-US" sz="2200" u="none" cap="none" strike="noStrike">
                <a:solidFill>
                  <a:schemeClr val="dk1"/>
                </a:solidFill>
                <a:latin typeface="Calibri"/>
                <a:ea typeface="Calibri"/>
                <a:cs typeface="Calibri"/>
                <a:sym typeface="Calibri"/>
              </a:rPr>
              <a:t>// [5,4,3,2,1] </a:t>
            </a:r>
            <a:endParaRPr b="0" i="0" sz="1400" u="none" cap="none" strike="noStrike">
              <a:solidFill>
                <a:srgbClr val="000000"/>
              </a:solidFill>
              <a:latin typeface="Arial"/>
              <a:ea typeface="Arial"/>
              <a:cs typeface="Arial"/>
              <a:sym typeface="Arial"/>
            </a:endParaRPr>
          </a:p>
        </p:txBody>
      </p:sp>
      <p:pic>
        <p:nvPicPr>
          <p:cNvPr id="242" name="Google Shape;242;p15"/>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6"/>
          <p:cNvSpPr txBox="1"/>
          <p:nvPr>
            <p:ph type="title"/>
          </p:nvPr>
        </p:nvSpPr>
        <p:spPr>
          <a:xfrm>
            <a:off x="838200" y="365126"/>
            <a:ext cx="10515600" cy="7749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Array.sort- Compare function</a:t>
            </a:r>
            <a:endParaRPr/>
          </a:p>
        </p:txBody>
      </p:sp>
      <p:sp>
        <p:nvSpPr>
          <p:cNvPr id="248" name="Google Shape;248;p16"/>
          <p:cNvSpPr txBox="1"/>
          <p:nvPr>
            <p:ph idx="1" type="body"/>
          </p:nvPr>
        </p:nvSpPr>
        <p:spPr>
          <a:xfrm>
            <a:off x="838200" y="1341912"/>
            <a:ext cx="10515600" cy="4835051"/>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1" lang="en-US" sz="2400"/>
              <a:t>compareFunction(Optional):  </a:t>
            </a:r>
            <a:r>
              <a:rPr lang="en-US" sz="2400"/>
              <a:t>A function that defines an alternative sort order. The function should return a negative, zero, or positive value, depending on the arguments, like:</a:t>
            </a:r>
            <a:endParaRPr/>
          </a:p>
          <a:p>
            <a:pPr indent="0" lvl="1" marL="457200" rtl="0" algn="l">
              <a:lnSpc>
                <a:spcPct val="90000"/>
              </a:lnSpc>
              <a:spcBef>
                <a:spcPts val="500"/>
              </a:spcBef>
              <a:spcAft>
                <a:spcPts val="0"/>
              </a:spcAft>
              <a:buClr>
                <a:schemeClr val="dk1"/>
              </a:buClr>
              <a:buSzPts val="2400"/>
              <a:buNone/>
            </a:pPr>
            <a:r>
              <a:rPr b="1" lang="en-US"/>
              <a:t>function(a, b)</a:t>
            </a:r>
            <a:endParaRPr/>
          </a:p>
          <a:p>
            <a:pPr indent="0" lvl="1" marL="457200" rtl="0" algn="l">
              <a:lnSpc>
                <a:spcPct val="90000"/>
              </a:lnSpc>
              <a:spcBef>
                <a:spcPts val="500"/>
              </a:spcBef>
              <a:spcAft>
                <a:spcPts val="0"/>
              </a:spcAft>
              <a:buClr>
                <a:schemeClr val="dk1"/>
              </a:buClr>
              <a:buSzPts val="2400"/>
              <a:buNone/>
            </a:pPr>
            <a:r>
              <a:rPr b="1" lang="en-US"/>
              <a:t>{return a-b}</a:t>
            </a:r>
            <a:endParaRPr/>
          </a:p>
          <a:p>
            <a:pPr indent="-228600" lvl="0" marL="228600" rtl="0" algn="l">
              <a:lnSpc>
                <a:spcPct val="90000"/>
              </a:lnSpc>
              <a:spcBef>
                <a:spcPts val="1000"/>
              </a:spcBef>
              <a:spcAft>
                <a:spcPts val="0"/>
              </a:spcAft>
              <a:buClr>
                <a:schemeClr val="dk1"/>
              </a:buClr>
              <a:buSzPts val="2400"/>
              <a:buChar char="•"/>
            </a:pPr>
            <a:r>
              <a:rPr lang="en-US" sz="2400"/>
              <a:t>When the sort() method compares two values, it sends the values to the compare function, and sorts the values according to the returned (negative, zero, positive) value.</a:t>
            </a:r>
            <a:endParaRPr/>
          </a:p>
          <a:p>
            <a:pPr indent="-228600" lvl="0" marL="228600" rtl="0" algn="l">
              <a:lnSpc>
                <a:spcPct val="90000"/>
              </a:lnSpc>
              <a:spcBef>
                <a:spcPts val="1000"/>
              </a:spcBef>
              <a:spcAft>
                <a:spcPts val="0"/>
              </a:spcAft>
              <a:buClr>
                <a:schemeClr val="dk1"/>
              </a:buClr>
              <a:buSzPts val="2400"/>
              <a:buChar char="•"/>
            </a:pPr>
            <a:r>
              <a:rPr lang="en-US" sz="2400"/>
              <a:t>Example:</a:t>
            </a:r>
            <a:endParaRPr/>
          </a:p>
          <a:p>
            <a:pPr indent="-228600" lvl="0" marL="228600" rtl="0" algn="l">
              <a:lnSpc>
                <a:spcPct val="90000"/>
              </a:lnSpc>
              <a:spcBef>
                <a:spcPts val="1000"/>
              </a:spcBef>
              <a:spcAft>
                <a:spcPts val="0"/>
              </a:spcAft>
              <a:buClr>
                <a:schemeClr val="dk1"/>
              </a:buClr>
              <a:buSzPts val="2400"/>
              <a:buChar char="•"/>
            </a:pPr>
            <a:r>
              <a:rPr lang="en-US" sz="2400"/>
              <a:t>When comparing 40 and 100, the sort() method calls the compare function(40,100).</a:t>
            </a:r>
            <a:endParaRPr/>
          </a:p>
          <a:p>
            <a:pPr indent="-228600" lvl="0" marL="228600" rtl="0" algn="l">
              <a:lnSpc>
                <a:spcPct val="90000"/>
              </a:lnSpc>
              <a:spcBef>
                <a:spcPts val="1000"/>
              </a:spcBef>
              <a:spcAft>
                <a:spcPts val="0"/>
              </a:spcAft>
              <a:buClr>
                <a:schemeClr val="dk1"/>
              </a:buClr>
              <a:buSzPts val="2400"/>
              <a:buChar char="•"/>
            </a:pPr>
            <a:r>
              <a:rPr lang="en-US" sz="2400"/>
              <a:t>The function calculates 40-100, and returns -60 (a negative value).</a:t>
            </a:r>
            <a:endParaRPr/>
          </a:p>
          <a:p>
            <a:pPr indent="-228600" lvl="0" marL="228600" rtl="0" algn="l">
              <a:lnSpc>
                <a:spcPct val="90000"/>
              </a:lnSpc>
              <a:spcBef>
                <a:spcPts val="1000"/>
              </a:spcBef>
              <a:spcAft>
                <a:spcPts val="0"/>
              </a:spcAft>
              <a:buClr>
                <a:schemeClr val="dk1"/>
              </a:buClr>
              <a:buSzPts val="2400"/>
              <a:buChar char="•"/>
            </a:pPr>
            <a:r>
              <a:rPr lang="en-US" sz="2400"/>
              <a:t>The sort function will sort 40 as a value lower than 100.</a:t>
            </a:r>
            <a:endParaRPr sz="2400"/>
          </a:p>
        </p:txBody>
      </p:sp>
      <p:pic>
        <p:nvPicPr>
          <p:cNvPr id="249" name="Google Shape;249;p16"/>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7"/>
          <p:cNvSpPr txBox="1"/>
          <p:nvPr>
            <p:ph idx="1" type="body"/>
          </p:nvPr>
        </p:nvSpPr>
        <p:spPr>
          <a:xfrm>
            <a:off x="179217" y="710067"/>
            <a:ext cx="9915431" cy="4797287"/>
          </a:xfrm>
          <a:prstGeom prst="rect">
            <a:avLst/>
          </a:prstGeom>
          <a:noFill/>
          <a:ln>
            <a:noFill/>
          </a:ln>
        </p:spPr>
        <p:txBody>
          <a:bodyPr anchorCtr="0" anchor="t" bIns="45700" lIns="91425" spcFirstLastPara="1" rIns="91425" wrap="square" tIns="45700">
            <a:noAutofit/>
          </a:bodyPr>
          <a:lstStyle/>
          <a:p>
            <a:pPr indent="-228600" lvl="1" marL="685800" rtl="0" algn="l">
              <a:lnSpc>
                <a:spcPct val="150000"/>
              </a:lnSpc>
              <a:spcBef>
                <a:spcPts val="0"/>
              </a:spcBef>
              <a:spcAft>
                <a:spcPts val="0"/>
              </a:spcAft>
              <a:buClr>
                <a:schemeClr val="dk1"/>
              </a:buClr>
              <a:buSzPts val="2400"/>
              <a:buNone/>
            </a:pPr>
            <a:r>
              <a:rPr lang="en-US"/>
              <a:t> </a:t>
            </a:r>
            <a:endParaRPr/>
          </a:p>
          <a:p>
            <a:pPr indent="-228600" lvl="1" marL="685800" rtl="0" algn="l">
              <a:lnSpc>
                <a:spcPct val="150000"/>
              </a:lnSpc>
              <a:spcBef>
                <a:spcPts val="500"/>
              </a:spcBef>
              <a:spcAft>
                <a:spcPts val="0"/>
              </a:spcAft>
              <a:buClr>
                <a:schemeClr val="dk1"/>
              </a:buClr>
              <a:buSzPts val="2400"/>
              <a:buNone/>
            </a:pPr>
            <a:r>
              <a:rPr lang="en-US"/>
              <a:t>• MAX_VALUE : </a:t>
            </a:r>
            <a:r>
              <a:rPr b="0" i="0" lang="en-US" sz="2000">
                <a:solidFill>
                  <a:srgbClr val="1B1B1B"/>
                </a:solidFill>
                <a:latin typeface="arial"/>
                <a:ea typeface="arial"/>
                <a:cs typeface="arial"/>
                <a:sym typeface="arial"/>
              </a:rPr>
              <a:t>represents the maximum numeric value representable in JavaScript.</a:t>
            </a:r>
            <a:endParaRPr sz="2000"/>
          </a:p>
          <a:p>
            <a:pPr indent="-228600" lvl="1" marL="685800" rtl="0" algn="l">
              <a:lnSpc>
                <a:spcPct val="150000"/>
              </a:lnSpc>
              <a:spcBef>
                <a:spcPts val="500"/>
              </a:spcBef>
              <a:spcAft>
                <a:spcPts val="0"/>
              </a:spcAft>
              <a:buClr>
                <a:schemeClr val="dk1"/>
              </a:buClr>
              <a:buSzPts val="2400"/>
              <a:buNone/>
            </a:pPr>
            <a:r>
              <a:rPr lang="en-US"/>
              <a:t>• MIN_VALUE </a:t>
            </a:r>
            <a:endParaRPr/>
          </a:p>
          <a:p>
            <a:pPr indent="-228600" lvl="1" marL="685800" rtl="0" algn="l">
              <a:lnSpc>
                <a:spcPct val="150000"/>
              </a:lnSpc>
              <a:spcBef>
                <a:spcPts val="500"/>
              </a:spcBef>
              <a:spcAft>
                <a:spcPts val="0"/>
              </a:spcAft>
              <a:buClr>
                <a:schemeClr val="dk1"/>
              </a:buClr>
              <a:buSzPts val="2400"/>
              <a:buNone/>
            </a:pPr>
            <a:r>
              <a:rPr lang="en-US"/>
              <a:t>• NaN – Not a Number</a:t>
            </a:r>
            <a:endParaRPr/>
          </a:p>
          <a:p>
            <a:pPr indent="-228600" lvl="1" marL="685800" rtl="0" algn="l">
              <a:lnSpc>
                <a:spcPct val="150000"/>
              </a:lnSpc>
              <a:spcBef>
                <a:spcPts val="500"/>
              </a:spcBef>
              <a:spcAft>
                <a:spcPts val="0"/>
              </a:spcAft>
              <a:buClr>
                <a:schemeClr val="dk1"/>
              </a:buClr>
              <a:buSzPts val="2400"/>
              <a:buNone/>
            </a:pPr>
            <a:r>
              <a:rPr lang="en-US"/>
              <a:t>• POSITIVE_INFINITY </a:t>
            </a:r>
            <a:endParaRPr/>
          </a:p>
          <a:p>
            <a:pPr indent="-228600" lvl="1" marL="685800" rtl="0" algn="l">
              <a:lnSpc>
                <a:spcPct val="150000"/>
              </a:lnSpc>
              <a:spcBef>
                <a:spcPts val="500"/>
              </a:spcBef>
              <a:spcAft>
                <a:spcPts val="0"/>
              </a:spcAft>
              <a:buClr>
                <a:schemeClr val="dk1"/>
              </a:buClr>
              <a:buSzPts val="2400"/>
              <a:buNone/>
            </a:pPr>
            <a:r>
              <a:rPr lang="en-US"/>
              <a:t>• NEGATIVE_INFINITY </a:t>
            </a:r>
            <a:endParaRPr/>
          </a:p>
          <a:p>
            <a:pPr indent="-228600" lvl="1" marL="685800" rtl="0" algn="l">
              <a:lnSpc>
                <a:spcPct val="150000"/>
              </a:lnSpc>
              <a:spcBef>
                <a:spcPts val="500"/>
              </a:spcBef>
              <a:spcAft>
                <a:spcPts val="0"/>
              </a:spcAft>
              <a:buClr>
                <a:schemeClr val="dk1"/>
              </a:buClr>
              <a:buSzPts val="2400"/>
              <a:buNone/>
            </a:pPr>
            <a:r>
              <a:rPr lang="en-US"/>
              <a:t>• Operations resulting in errors return NaN </a:t>
            </a:r>
            <a:endParaRPr/>
          </a:p>
          <a:p>
            <a:pPr indent="-228600" lvl="2" marL="1143000" rtl="0" algn="l">
              <a:lnSpc>
                <a:spcPct val="150000"/>
              </a:lnSpc>
              <a:spcBef>
                <a:spcPts val="500"/>
              </a:spcBef>
              <a:spcAft>
                <a:spcPts val="0"/>
              </a:spcAft>
              <a:buClr>
                <a:schemeClr val="dk1"/>
              </a:buClr>
              <a:buSzPts val="1800"/>
              <a:buNone/>
            </a:pPr>
            <a:r>
              <a:rPr lang="en-US" sz="1800"/>
              <a:t>• Use isNaN(a) to test if a is NaN </a:t>
            </a:r>
            <a:endParaRPr/>
          </a:p>
          <a:p>
            <a:pPr indent="-228600" lvl="1" marL="685800" rtl="0" algn="l">
              <a:lnSpc>
                <a:spcPct val="150000"/>
              </a:lnSpc>
              <a:spcBef>
                <a:spcPts val="500"/>
              </a:spcBef>
              <a:spcAft>
                <a:spcPts val="0"/>
              </a:spcAft>
              <a:buClr>
                <a:schemeClr val="dk1"/>
              </a:buClr>
              <a:buSzPts val="2400"/>
              <a:buNone/>
            </a:pPr>
            <a:r>
              <a:rPr lang="en-US"/>
              <a:t>• toString method converts a number to string</a:t>
            </a:r>
            <a:endParaRPr sz="2800"/>
          </a:p>
        </p:txBody>
      </p:sp>
      <p:sp>
        <p:nvSpPr>
          <p:cNvPr id="256" name="Google Shape;256;p17"/>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Number</a:t>
            </a:r>
            <a:endParaRPr b="0" i="0" sz="1400" u="none" cap="none" strike="noStrike">
              <a:solidFill>
                <a:srgbClr val="000000"/>
              </a:solidFill>
              <a:latin typeface="Arial"/>
              <a:ea typeface="Arial"/>
              <a:cs typeface="Arial"/>
              <a:sym typeface="Arial"/>
            </a:endParaRPr>
          </a:p>
        </p:txBody>
      </p:sp>
      <p:cxnSp>
        <p:nvCxnSpPr>
          <p:cNvPr id="257" name="Google Shape;257;p17"/>
          <p:cNvCxnSpPr/>
          <p:nvPr/>
        </p:nvCxnSpPr>
        <p:spPr>
          <a:xfrm>
            <a:off x="-8308" y="1354407"/>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58" name="Google Shape;258;p1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259" name="Google Shape;259;p17"/>
          <p:cNvPicPr preferRelativeResize="0"/>
          <p:nvPr/>
        </p:nvPicPr>
        <p:blipFill rotWithShape="1">
          <a:blip r:embed="rId3">
            <a:alphaModFix/>
          </a:blip>
          <a:srcRect b="0" l="0" r="0" t="0"/>
          <a:stretch/>
        </p:blipFill>
        <p:spPr>
          <a:xfrm>
            <a:off x="4762258" y="3057899"/>
            <a:ext cx="6381750" cy="1666875"/>
          </a:xfrm>
          <a:prstGeom prst="rect">
            <a:avLst/>
          </a:prstGeom>
          <a:noFill/>
          <a:ln>
            <a:noFill/>
          </a:ln>
        </p:spPr>
      </p:pic>
      <p:pic>
        <p:nvPicPr>
          <p:cNvPr id="260" name="Google Shape;260;p17"/>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p:nvPr/>
        </p:nvSpPr>
        <p:spPr>
          <a:xfrm>
            <a:off x="334159" y="685537"/>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NaN- Not a Number</a:t>
            </a:r>
            <a:endParaRPr b="0" i="0" sz="1400" u="none" cap="none" strike="noStrike">
              <a:solidFill>
                <a:srgbClr val="000000"/>
              </a:solidFill>
              <a:latin typeface="Arial"/>
              <a:ea typeface="Arial"/>
              <a:cs typeface="Arial"/>
              <a:sym typeface="Arial"/>
            </a:endParaRPr>
          </a:p>
        </p:txBody>
      </p:sp>
      <p:cxnSp>
        <p:nvCxnSpPr>
          <p:cNvPr id="267" name="Google Shape;267;p18"/>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68" name="Google Shape;268;p1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269" name="Google Shape;269;p18"/>
          <p:cNvPicPr preferRelativeResize="0"/>
          <p:nvPr>
            <p:ph idx="1" type="body"/>
          </p:nvPr>
        </p:nvPicPr>
        <p:blipFill rotWithShape="1">
          <a:blip r:embed="rId3">
            <a:alphaModFix/>
          </a:blip>
          <a:srcRect b="0" l="0" r="0" t="0"/>
          <a:stretch/>
        </p:blipFill>
        <p:spPr>
          <a:xfrm>
            <a:off x="1409408" y="1485715"/>
            <a:ext cx="5849259" cy="4945400"/>
          </a:xfrm>
          <a:prstGeom prst="rect">
            <a:avLst/>
          </a:prstGeom>
          <a:noFill/>
          <a:ln>
            <a:noFill/>
          </a:ln>
        </p:spPr>
      </p:pic>
      <p:pic>
        <p:nvPicPr>
          <p:cNvPr id="270" name="Google Shape;270;p18"/>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9"/>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String Object</a:t>
            </a:r>
            <a:endParaRPr b="1" i="0" sz="2400" u="none" cap="none" strike="noStrike">
              <a:solidFill>
                <a:srgbClr val="C55A11"/>
              </a:solidFill>
              <a:latin typeface="Calibri"/>
              <a:ea typeface="Calibri"/>
              <a:cs typeface="Calibri"/>
              <a:sym typeface="Calibri"/>
            </a:endParaRPr>
          </a:p>
        </p:txBody>
      </p:sp>
      <p:cxnSp>
        <p:nvCxnSpPr>
          <p:cNvPr id="277" name="Google Shape;277;p19"/>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78" name="Google Shape;278;p1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sp>
        <p:nvSpPr>
          <p:cNvPr id="279" name="Google Shape;27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280" name="Google Shape;280;p19"/>
          <p:cNvPicPr preferRelativeResize="0"/>
          <p:nvPr/>
        </p:nvPicPr>
        <p:blipFill rotWithShape="1">
          <a:blip r:embed="rId3">
            <a:alphaModFix/>
          </a:blip>
          <a:srcRect b="0" l="0" r="0" t="0"/>
          <a:stretch/>
        </p:blipFill>
        <p:spPr>
          <a:xfrm>
            <a:off x="606582" y="1611516"/>
            <a:ext cx="10404317" cy="4789283"/>
          </a:xfrm>
          <a:prstGeom prst="rect">
            <a:avLst/>
          </a:prstGeom>
          <a:noFill/>
          <a:ln>
            <a:noFill/>
          </a:ln>
        </p:spPr>
      </p:pic>
      <p:pic>
        <p:nvPicPr>
          <p:cNvPr id="281" name="Google Shape;281;p19"/>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0"/>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String Object</a:t>
            </a:r>
            <a:endParaRPr b="1" i="0" sz="2400" u="none" cap="none" strike="noStrike">
              <a:solidFill>
                <a:srgbClr val="C55A11"/>
              </a:solidFill>
              <a:latin typeface="Calibri"/>
              <a:ea typeface="Calibri"/>
              <a:cs typeface="Calibri"/>
              <a:sym typeface="Calibri"/>
            </a:endParaRPr>
          </a:p>
        </p:txBody>
      </p:sp>
      <p:cxnSp>
        <p:nvCxnSpPr>
          <p:cNvPr id="288" name="Google Shape;288;p2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89" name="Google Shape;289;p2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sp>
        <p:nvSpPr>
          <p:cNvPr id="290" name="Google Shape;290;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291" name="Google Shape;291;p20"/>
          <p:cNvPicPr preferRelativeResize="0"/>
          <p:nvPr/>
        </p:nvPicPr>
        <p:blipFill rotWithShape="1">
          <a:blip r:embed="rId3">
            <a:alphaModFix/>
          </a:blip>
          <a:srcRect b="0" l="0" r="0" t="0"/>
          <a:stretch/>
        </p:blipFill>
        <p:spPr>
          <a:xfrm>
            <a:off x="833721" y="1475715"/>
            <a:ext cx="9782175" cy="4901273"/>
          </a:xfrm>
          <a:prstGeom prst="rect">
            <a:avLst/>
          </a:prstGeom>
          <a:noFill/>
          <a:ln>
            <a:noFill/>
          </a:ln>
        </p:spPr>
      </p:pic>
      <p:pic>
        <p:nvPicPr>
          <p:cNvPr id="292" name="Google Shape;292;p20"/>
          <p:cNvPicPr preferRelativeResize="0"/>
          <p:nvPr/>
        </p:nvPicPr>
        <p:blipFill rotWithShape="1">
          <a:blip r:embed="rId4">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1"/>
          <p:cNvSpPr txBox="1"/>
          <p:nvPr>
            <p:ph idx="1" type="body"/>
          </p:nvPr>
        </p:nvSpPr>
        <p:spPr>
          <a:xfrm>
            <a:off x="581192" y="1487114"/>
            <a:ext cx="8330796" cy="4988845"/>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None/>
            </a:pPr>
            <a:r>
              <a:rPr lang="en-US" sz="2400"/>
              <a:t>		var now= new Date();</a:t>
            </a:r>
            <a:endParaRPr/>
          </a:p>
          <a:p>
            <a:pPr indent="-228600" lvl="0" marL="228600" rtl="0" algn="l">
              <a:lnSpc>
                <a:spcPct val="100000"/>
              </a:lnSpc>
              <a:spcBef>
                <a:spcPts val="0"/>
              </a:spcBef>
              <a:spcAft>
                <a:spcPts val="0"/>
              </a:spcAft>
              <a:buClr>
                <a:schemeClr val="dk1"/>
              </a:buClr>
              <a:buSzPts val="2200"/>
              <a:buFont typeface="Calibri"/>
              <a:buChar char="-"/>
            </a:pPr>
            <a:r>
              <a:rPr lang="en-US" sz="2200"/>
              <a:t>This creates a Date object for the time at which it was created (stored as the number of milliseconds since January 1, 1970, UTC - Epoch)</a:t>
            </a:r>
            <a:endParaRPr sz="2200"/>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299" name="Google Shape;299;p21"/>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Date Methods</a:t>
            </a:r>
            <a:endParaRPr b="0" i="0" sz="1400" u="none" cap="none" strike="noStrike">
              <a:solidFill>
                <a:srgbClr val="000000"/>
              </a:solidFill>
              <a:latin typeface="Arial"/>
              <a:ea typeface="Arial"/>
              <a:cs typeface="Arial"/>
              <a:sym typeface="Arial"/>
            </a:endParaRPr>
          </a:p>
        </p:txBody>
      </p:sp>
      <p:cxnSp>
        <p:nvCxnSpPr>
          <p:cNvPr id="300" name="Google Shape;300;p2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01" name="Google Shape;301;p2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graphicFrame>
        <p:nvGraphicFramePr>
          <p:cNvPr id="302" name="Google Shape;302;p21"/>
          <p:cNvGraphicFramePr/>
          <p:nvPr/>
        </p:nvGraphicFramePr>
        <p:xfrm>
          <a:off x="573204" y="2719450"/>
          <a:ext cx="3000000" cy="3000000"/>
        </p:xfrm>
        <a:graphic>
          <a:graphicData uri="http://schemas.openxmlformats.org/drawingml/2006/table">
            <a:tbl>
              <a:tblPr>
                <a:gradFill>
                  <a:gsLst>
                    <a:gs pos="0">
                      <a:srgbClr val="A6B6DE"/>
                    </a:gs>
                    <a:gs pos="50000">
                      <a:srgbClr val="98AAD9"/>
                    </a:gs>
                    <a:gs pos="100000">
                      <a:srgbClr val="859CD7"/>
                    </a:gs>
                  </a:gsLst>
                  <a:lin ang="5400000" scaled="0"/>
                </a:gradFill>
                <a:tableStyleId>{607CDAB7-DA52-48CA-9F46-35565DDE8E86}</a:tableStyleId>
              </a:tblPr>
              <a:tblGrid>
                <a:gridCol w="3056775"/>
                <a:gridCol w="6844075"/>
              </a:tblGrid>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toLocaleString</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A string of the Date information</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(get/set)Date</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day of the month</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(get/set)Month</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month in the range of 0 to 11</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(get/set)Day</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day of the week in the range of 0 to 6</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(get/set)FullYear</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year</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(get/set)Time</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milliseconds since January 1, 1970</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(get/set)Hours</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hour in the range of 0 to 23</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(get/set)Minutes</a:t>
                      </a:r>
                      <a:endParaRPr b="0"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minute in the range of 0 to 59</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1525">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(get/set)Seconds</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second in the range of 0 to 59</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2650">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(get/set)Milliseconds</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0" lang="en-US" sz="1800" u="none" cap="none" strike="noStrike">
                          <a:solidFill>
                            <a:schemeClr val="dk1"/>
                          </a:solidFill>
                        </a:rPr>
                        <a:t>The number of the millisecond in the range of 0 to 999</a:t>
                      </a:r>
                      <a:endParaRPr b="1" i="0" sz="1800" u="none" cap="none" strike="noStrike">
                        <a:solidFill>
                          <a:schemeClr val="dk1"/>
                        </a:solidFill>
                        <a:latin typeface="Calibri"/>
                        <a:ea typeface="Calibri"/>
                        <a:cs typeface="Calibri"/>
                        <a:sym typeface="Calibri"/>
                      </a:endParaRPr>
                    </a:p>
                  </a:txBody>
                  <a:tcPr marT="45725" marB="45725" marR="0"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303" name="Google Shape;303;p21"/>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2"/>
          <p:cNvSpPr txBox="1"/>
          <p:nvPr>
            <p:ph idx="1" type="body"/>
          </p:nvPr>
        </p:nvSpPr>
        <p:spPr>
          <a:xfrm>
            <a:off x="581192" y="1678672"/>
            <a:ext cx="8330796" cy="4797287"/>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None/>
            </a:pPr>
            <a:r>
              <a:rPr lang="en-US" sz="2400"/>
              <a:t>	Provides </a:t>
            </a:r>
            <a:r>
              <a:rPr b="1" lang="en-US" sz="2400"/>
              <a:t>static</a:t>
            </a:r>
            <a:r>
              <a:rPr lang="en-US" sz="2400"/>
              <a:t> mathematical constants and functions </a:t>
            </a:r>
            <a:endParaRPr sz="2200"/>
          </a:p>
          <a:p>
            <a:pPr indent="-76200" lvl="0" marL="228600" rtl="0" algn="l">
              <a:lnSpc>
                <a:spcPct val="100000"/>
              </a:lnSpc>
              <a:spcBef>
                <a:spcPts val="0"/>
              </a:spcBef>
              <a:spcAft>
                <a:spcPts val="0"/>
              </a:spcAft>
              <a:buClr>
                <a:schemeClr val="dk1"/>
              </a:buClr>
              <a:buSzPts val="2400"/>
              <a:buFont typeface="Calibri"/>
              <a:buNone/>
            </a:pPr>
            <a:r>
              <a:t/>
            </a:r>
            <a:endParaRPr sz="2400"/>
          </a:p>
        </p:txBody>
      </p:sp>
      <p:sp>
        <p:nvSpPr>
          <p:cNvPr id="310" name="Google Shape;310;p2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Math Methods</a:t>
            </a:r>
            <a:endParaRPr b="0" i="0" sz="1400" u="none" cap="none" strike="noStrike">
              <a:solidFill>
                <a:srgbClr val="000000"/>
              </a:solidFill>
              <a:latin typeface="Arial"/>
              <a:ea typeface="Arial"/>
              <a:cs typeface="Arial"/>
              <a:sym typeface="Arial"/>
            </a:endParaRPr>
          </a:p>
        </p:txBody>
      </p:sp>
      <p:cxnSp>
        <p:nvCxnSpPr>
          <p:cNvPr id="311" name="Google Shape;311;p2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12" name="Google Shape;312;p2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graphicFrame>
        <p:nvGraphicFramePr>
          <p:cNvPr id="313" name="Google Shape;313;p22"/>
          <p:cNvGraphicFramePr/>
          <p:nvPr/>
        </p:nvGraphicFramePr>
        <p:xfrm>
          <a:off x="573203" y="2395168"/>
          <a:ext cx="3000000" cy="3000000"/>
        </p:xfrm>
        <a:graphic>
          <a:graphicData uri="http://schemas.openxmlformats.org/drawingml/2006/table">
            <a:tbl>
              <a:tblPr>
                <a:noFill/>
                <a:tableStyleId>{607CDAB7-DA52-48CA-9F46-35565DDE8E86}</a:tableStyleId>
              </a:tblPr>
              <a:tblGrid>
                <a:gridCol w="3181725"/>
                <a:gridCol w="7550400"/>
              </a:tblGrid>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Math.E</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Euler’s Constant (Approx. 2.718)</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Math.PI</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Value of PI (Approx. 3.1416)</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Math.SQRT2</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Square root of 2 (Approx. 1.414)</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Math.abs(x)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absolute value of x</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Math.ceil(x)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smallest integer greater than or equal to x</a:t>
                      </a:r>
                      <a:endParaRPr b="0" i="0" sz="22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Math.floor(x)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largest integer less than or equal to x.</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Math.max([x[, y[,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largest of zero or more numbers.</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Math.min([x[, y[, …]]])</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the smallest of zero or more numbers.</a:t>
                      </a:r>
                      <a:endParaRPr b="0" i="0" sz="22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Math.pow(x, y)</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base x to the exponent power y (that is, x</a:t>
                      </a:r>
                      <a:r>
                        <a:rPr b="0" baseline="30000" lang="en-US" sz="2200" u="none" cap="none" strike="noStrike">
                          <a:solidFill>
                            <a:schemeClr val="dk1"/>
                          </a:solidFill>
                        </a:rPr>
                        <a:t>y</a:t>
                      </a:r>
                      <a:r>
                        <a:rPr b="0" lang="en-US" sz="2200" u="none" cap="none" strike="noStrike">
                          <a:solidFill>
                            <a:schemeClr val="dk1"/>
                          </a:solidFill>
                        </a:rPr>
                        <a:t>).</a:t>
                      </a:r>
                      <a:endParaRPr b="0" i="0" sz="22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Math.random()</a:t>
                      </a:r>
                      <a:endParaRPr b="0" i="0" sz="22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200"/>
                        <a:buFont typeface="Calibri"/>
                        <a:buNone/>
                      </a:pPr>
                      <a:r>
                        <a:rPr b="0" lang="en-US" sz="2200" u="none" cap="none" strike="noStrike">
                          <a:solidFill>
                            <a:schemeClr val="dk1"/>
                          </a:solidFill>
                        </a:rPr>
                        <a:t>Returns a pseudo-random number between 0 and 1.</a:t>
                      </a:r>
                      <a:endParaRPr b="0" i="0" sz="2200" u="none" cap="none" strike="noStrike">
                        <a:solidFill>
                          <a:schemeClr val="dk1"/>
                        </a:solidFill>
                        <a:latin typeface="Calibri"/>
                        <a:ea typeface="Calibri"/>
                        <a:cs typeface="Calibri"/>
                        <a:sym typeface="Calibri"/>
                      </a:endParaRPr>
                    </a:p>
                  </a:txBody>
                  <a:tcPr marT="45725" marB="45725" marR="0" marL="45725" anchor="ctr"/>
                </a:tc>
              </a:tr>
            </a:tbl>
          </a:graphicData>
        </a:graphic>
      </p:graphicFrame>
      <p:pic>
        <p:nvPicPr>
          <p:cNvPr id="314" name="Google Shape;314;p22"/>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3"/>
          <p:cNvSpPr txBox="1"/>
          <p:nvPr>
            <p:ph idx="1" type="body"/>
          </p:nvPr>
        </p:nvSpPr>
        <p:spPr>
          <a:xfrm>
            <a:off x="553896" y="1624080"/>
            <a:ext cx="8330796" cy="4797287"/>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Font typeface="Calibri"/>
              <a:buChar char="-"/>
            </a:pPr>
            <a:r>
              <a:rPr lang="en-US" sz="2400"/>
              <a:t>Global object containing global variables and functions declared in the page. For example, </a:t>
            </a:r>
            <a:r>
              <a:rPr i="1" lang="en-US" sz="2400"/>
              <a:t>var x;</a:t>
            </a:r>
            <a:r>
              <a:rPr lang="en-US" sz="2400"/>
              <a:t> can also be accessed as </a:t>
            </a:r>
            <a:r>
              <a:rPr i="1" lang="en-US" sz="2400"/>
              <a:t>window.x</a:t>
            </a:r>
            <a:endParaRPr i="1" sz="2400"/>
          </a:p>
        </p:txBody>
      </p:sp>
      <p:sp>
        <p:nvSpPr>
          <p:cNvPr id="321" name="Google Shape;321;p2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Window – Properties and Methods</a:t>
            </a:r>
            <a:endParaRPr b="0" i="0" sz="1400" u="none" cap="none" strike="noStrike">
              <a:solidFill>
                <a:srgbClr val="000000"/>
              </a:solidFill>
              <a:latin typeface="Arial"/>
              <a:ea typeface="Arial"/>
              <a:cs typeface="Arial"/>
              <a:sym typeface="Arial"/>
            </a:endParaRPr>
          </a:p>
        </p:txBody>
      </p:sp>
      <p:cxnSp>
        <p:nvCxnSpPr>
          <p:cNvPr id="322" name="Google Shape;322;p23"/>
          <p:cNvCxnSpPr/>
          <p:nvPr/>
        </p:nvCxnSpPr>
        <p:spPr>
          <a:xfrm>
            <a:off x="0"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23" name="Google Shape;323;p2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graphicFrame>
        <p:nvGraphicFramePr>
          <p:cNvPr id="324" name="Google Shape;324;p23"/>
          <p:cNvGraphicFramePr/>
          <p:nvPr/>
        </p:nvGraphicFramePr>
        <p:xfrm>
          <a:off x="464020" y="2968362"/>
          <a:ext cx="3000000" cy="3000000"/>
        </p:xfrm>
        <a:graphic>
          <a:graphicData uri="http://schemas.openxmlformats.org/drawingml/2006/table">
            <a:tbl>
              <a:tblPr>
                <a:noFill/>
                <a:tableStyleId>{607CDAB7-DA52-48CA-9F46-35565DDE8E86}</a:tableStyleId>
              </a:tblPr>
              <a:tblGrid>
                <a:gridCol w="3103625"/>
                <a:gridCol w="6775750"/>
              </a:tblGrid>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location</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object containing location details like href, path  etc.</a:t>
                      </a:r>
                      <a:endParaRPr b="0" i="0" sz="20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history</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object containing the browser history </a:t>
                      </a:r>
                      <a:endParaRPr b="0" i="0" sz="2000" u="none" cap="none" strike="noStrike">
                        <a:solidFill>
                          <a:schemeClr val="dk1"/>
                        </a:solidFill>
                        <a:latin typeface="Calibri"/>
                        <a:ea typeface="Calibri"/>
                        <a:cs typeface="Calibri"/>
                        <a:sym typeface="Calibri"/>
                      </a:endParaRPr>
                    </a:p>
                  </a:txBody>
                  <a:tcPr marT="45725" marB="45725" marR="0" marL="45725" anchor="ctr"/>
                </a:tc>
              </a:tr>
              <a:tr h="324825">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localStorage</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object containing a local cache for storing user info</a:t>
                      </a:r>
                      <a:endParaRPr b="0" i="0" sz="20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innerHeight, innerWidth</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dimensions of the display area of the browser</a:t>
                      </a:r>
                      <a:endParaRPr b="0" i="0" sz="2000" u="none" cap="none" strike="noStrike">
                        <a:solidFill>
                          <a:schemeClr val="dk1"/>
                        </a:solidFill>
                        <a:latin typeface="Calibri"/>
                        <a:ea typeface="Calibri"/>
                        <a:cs typeface="Calibri"/>
                        <a:sym typeface="Calibri"/>
                      </a:endParaRPr>
                    </a:p>
                  </a:txBody>
                  <a:tcPr marT="45725" marB="45725" marR="0" marL="45725" anchor="ctr"/>
                </a:tc>
              </a:tr>
              <a:tr h="2037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alert(text)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method to display a dialog box with message</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prompt(text,default)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method to seek input from user, returns string</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confirm(text)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method to show a confirmation dialog</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setInterval, clearInterval</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start/stop performing action repeatedly after an interval</a:t>
                      </a:r>
                      <a:endParaRPr b="0" i="0" sz="2000" u="none" cap="none" strike="noStrike">
                        <a:solidFill>
                          <a:schemeClr val="dk1"/>
                        </a:solidFill>
                        <a:latin typeface="Calibri"/>
                        <a:ea typeface="Calibri"/>
                        <a:cs typeface="Calibri"/>
                        <a:sym typeface="Calibri"/>
                      </a:endParaRPr>
                    </a:p>
                  </a:txBody>
                  <a:tcPr marT="45725" marB="45725" marR="0" marL="45725" anchor="ctr"/>
                </a:tc>
              </a:tr>
              <a:tr h="356550">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setTimeout, clearTimeout</a:t>
                      </a:r>
                      <a:endParaRPr b="0" i="0" sz="2000" u="none" cap="none" strike="noStrike">
                        <a:solidFill>
                          <a:schemeClr val="dk1"/>
                        </a:solidFill>
                        <a:latin typeface="Calibri"/>
                        <a:ea typeface="Calibri"/>
                        <a:cs typeface="Calibri"/>
                        <a:sym typeface="Calibri"/>
                      </a:endParaRPr>
                    </a:p>
                  </a:txBody>
                  <a:tcPr marT="45725" marB="45725" marR="0" marL="45725" anchor="ctr"/>
                </a:tc>
                <a:tc>
                  <a:txBody>
                    <a:bodyPr/>
                    <a:lstStyle/>
                    <a:p>
                      <a:pPr indent="0" lvl="0" marL="0" marR="0" rtl="0" algn="l">
                        <a:lnSpc>
                          <a:spcPct val="100000"/>
                        </a:lnSpc>
                        <a:spcBef>
                          <a:spcPts val="0"/>
                        </a:spcBef>
                        <a:spcAft>
                          <a:spcPts val="0"/>
                        </a:spcAft>
                        <a:buClr>
                          <a:schemeClr val="dk1"/>
                        </a:buClr>
                        <a:buSzPts val="2000"/>
                        <a:buFont typeface="Calibri"/>
                        <a:buNone/>
                      </a:pPr>
                      <a:r>
                        <a:rPr b="0" lang="en-US" sz="2000" u="none" cap="none" strike="noStrike">
                          <a:solidFill>
                            <a:schemeClr val="dk1"/>
                          </a:solidFill>
                        </a:rPr>
                        <a:t>start/stop performing action once after a timeout period</a:t>
                      </a:r>
                      <a:endParaRPr b="0" i="0" sz="2000" u="none" cap="none" strike="noStrike">
                        <a:solidFill>
                          <a:schemeClr val="dk1"/>
                        </a:solidFill>
                        <a:latin typeface="Calibri"/>
                        <a:ea typeface="Calibri"/>
                        <a:cs typeface="Calibri"/>
                        <a:sym typeface="Calibri"/>
                      </a:endParaRPr>
                    </a:p>
                  </a:txBody>
                  <a:tcPr marT="45725" marB="45725" marR="0" marL="45725" anchor="ctr"/>
                </a:tc>
              </a:tr>
            </a:tbl>
          </a:graphicData>
        </a:graphic>
      </p:graphicFrame>
      <p:pic>
        <p:nvPicPr>
          <p:cNvPr id="325" name="Google Shape;325;p23"/>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4"/>
          <p:cNvSpPr txBox="1"/>
          <p:nvPr>
            <p:ph idx="1" type="body"/>
          </p:nvPr>
        </p:nvSpPr>
        <p:spPr>
          <a:xfrm>
            <a:off x="88149" y="1409549"/>
            <a:ext cx="11924634" cy="5319861"/>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00000"/>
              </a:lnSpc>
              <a:spcBef>
                <a:spcPts val="0"/>
              </a:spcBef>
              <a:spcAft>
                <a:spcPts val="0"/>
              </a:spcAft>
              <a:buClr>
                <a:schemeClr val="dk1"/>
              </a:buClr>
              <a:buSzPct val="100000"/>
              <a:buChar char="•"/>
            </a:pPr>
            <a:r>
              <a:rPr b="1" lang="en-US" sz="2400"/>
              <a:t>setTimeout</a:t>
            </a:r>
            <a:r>
              <a:rPr lang="en-US" sz="2400"/>
              <a:t> allows us to run a function once after the interval of time.</a:t>
            </a:r>
            <a:endParaRPr/>
          </a:p>
          <a:p>
            <a:pPr indent="-228600" lvl="0" marL="228600" rtl="0" algn="l">
              <a:lnSpc>
                <a:spcPct val="100000"/>
              </a:lnSpc>
              <a:spcBef>
                <a:spcPts val="0"/>
              </a:spcBef>
              <a:spcAft>
                <a:spcPts val="0"/>
              </a:spcAft>
              <a:buClr>
                <a:schemeClr val="dk1"/>
              </a:buClr>
              <a:buSzPct val="100000"/>
              <a:buChar char="•"/>
            </a:pPr>
            <a:r>
              <a:rPr lang="en-US" sz="2400"/>
              <a:t>The syntax:  let timerId = setTimeout(func|code, [delay], [arg1], [arg2], ...) where delay is in milliseconds</a:t>
            </a:r>
            <a:endParaRPr/>
          </a:p>
          <a:p>
            <a:pPr indent="0" lvl="0" marL="0" rtl="0" algn="l">
              <a:lnSpc>
                <a:spcPct val="100000"/>
              </a:lnSpc>
              <a:spcBef>
                <a:spcPts val="0"/>
              </a:spcBef>
              <a:spcAft>
                <a:spcPts val="0"/>
              </a:spcAft>
              <a:buClr>
                <a:schemeClr val="dk1"/>
              </a:buClr>
              <a:buSzPct val="100000"/>
              <a:buNone/>
            </a:pPr>
            <a:r>
              <a:rPr lang="en-US" sz="2400"/>
              <a:t>Example:     </a:t>
            </a:r>
            <a:r>
              <a:rPr lang="en-US" sz="2200">
                <a:latin typeface="Courier New"/>
                <a:ea typeface="Courier New"/>
                <a:cs typeface="Courier New"/>
                <a:sym typeface="Courier New"/>
              </a:rPr>
              <a:t>function sayHi(phrase, who) {</a:t>
            </a:r>
            <a:endParaRPr/>
          </a:p>
          <a:p>
            <a:pPr indent="0" lvl="0" marL="0" rtl="0" algn="l">
              <a:lnSpc>
                <a:spcPct val="100000"/>
              </a:lnSpc>
              <a:spcBef>
                <a:spcPts val="0"/>
              </a:spcBef>
              <a:spcAft>
                <a:spcPts val="0"/>
              </a:spcAft>
              <a:buClr>
                <a:schemeClr val="dk1"/>
              </a:buClr>
              <a:buSzPct val="100000"/>
              <a:buNone/>
            </a:pPr>
            <a:r>
              <a:rPr lang="en-US" sz="2200">
                <a:latin typeface="Courier New"/>
                <a:ea typeface="Courier New"/>
                <a:cs typeface="Courier New"/>
                <a:sym typeface="Courier New"/>
              </a:rPr>
              <a:t>	 	alert( phrase + ', ' + who );</a:t>
            </a:r>
            <a:endParaRPr/>
          </a:p>
          <a:p>
            <a:pPr indent="0" lvl="0" marL="0" rtl="0" algn="l">
              <a:lnSpc>
                <a:spcPct val="100000"/>
              </a:lnSpc>
              <a:spcBef>
                <a:spcPts val="0"/>
              </a:spcBef>
              <a:spcAft>
                <a:spcPts val="0"/>
              </a:spcAft>
              <a:buClr>
                <a:schemeClr val="dk1"/>
              </a:buClr>
              <a:buSzPct val="100000"/>
              <a:buNone/>
            </a:pPr>
            <a:r>
              <a:rPr lang="en-US" sz="2200">
                <a:latin typeface="Courier New"/>
                <a:ea typeface="Courier New"/>
                <a:cs typeface="Courier New"/>
                <a:sym typeface="Courier New"/>
              </a:rPr>
              <a:t>		}</a:t>
            </a:r>
            <a:endParaRPr/>
          </a:p>
          <a:p>
            <a:pPr indent="0" lvl="0" marL="0" rtl="0" algn="l">
              <a:lnSpc>
                <a:spcPct val="100000"/>
              </a:lnSpc>
              <a:spcBef>
                <a:spcPts val="0"/>
              </a:spcBef>
              <a:spcAft>
                <a:spcPts val="0"/>
              </a:spcAft>
              <a:buClr>
                <a:schemeClr val="dk1"/>
              </a:buClr>
              <a:buSzPct val="100000"/>
              <a:buNone/>
            </a:pPr>
            <a:r>
              <a:rPr lang="en-US" sz="2200">
                <a:latin typeface="Courier New"/>
                <a:ea typeface="Courier New"/>
                <a:cs typeface="Courier New"/>
                <a:sym typeface="Courier New"/>
              </a:rPr>
              <a:t>		setTimeout(sayHi, 1000, "Hello", "John"); // Hello, John</a:t>
            </a:r>
            <a:endParaRPr/>
          </a:p>
          <a:p>
            <a:pPr indent="0" lvl="0" marL="0" rtl="0" algn="l">
              <a:lnSpc>
                <a:spcPct val="100000"/>
              </a:lnSpc>
              <a:spcBef>
                <a:spcPts val="0"/>
              </a:spcBef>
              <a:spcAft>
                <a:spcPts val="0"/>
              </a:spcAft>
              <a:buClr>
                <a:schemeClr val="dk1"/>
              </a:buClr>
              <a:buSzPct val="100000"/>
              <a:buNone/>
            </a:pPr>
            <a:r>
              <a:t/>
            </a:r>
            <a:endParaRPr sz="2000">
              <a:latin typeface="Courier New"/>
              <a:ea typeface="Courier New"/>
              <a:cs typeface="Courier New"/>
              <a:sym typeface="Courier New"/>
            </a:endParaRPr>
          </a:p>
          <a:p>
            <a:pPr indent="-228600" lvl="0" marL="228600" rtl="0" algn="l">
              <a:lnSpc>
                <a:spcPct val="100000"/>
              </a:lnSpc>
              <a:spcBef>
                <a:spcPts val="0"/>
              </a:spcBef>
              <a:spcAft>
                <a:spcPts val="0"/>
              </a:spcAft>
              <a:buClr>
                <a:schemeClr val="dk1"/>
              </a:buClr>
              <a:buSzPct val="100000"/>
              <a:buChar char="•"/>
            </a:pPr>
            <a:r>
              <a:rPr b="1" lang="en-US" sz="2400"/>
              <a:t>setInterval</a:t>
            </a:r>
            <a:r>
              <a:rPr lang="en-US" sz="2400"/>
              <a:t> allows us to run a function repeatedly, starting after the interval of time, then repeating continuously at that interval.</a:t>
            </a:r>
            <a:endParaRPr/>
          </a:p>
          <a:p>
            <a:pPr indent="-228600" lvl="0" marL="228600" rtl="0" algn="l">
              <a:lnSpc>
                <a:spcPct val="100000"/>
              </a:lnSpc>
              <a:spcBef>
                <a:spcPts val="0"/>
              </a:spcBef>
              <a:spcAft>
                <a:spcPts val="0"/>
              </a:spcAft>
              <a:buClr>
                <a:schemeClr val="dk1"/>
              </a:buClr>
              <a:buSzPct val="100000"/>
              <a:buChar char="•"/>
            </a:pPr>
            <a:r>
              <a:rPr lang="en-US" sz="2400"/>
              <a:t>The setInterval method has the same syntax as setTimeout:</a:t>
            </a:r>
            <a:endParaRPr/>
          </a:p>
          <a:p>
            <a:pPr indent="0" lvl="0" marL="0" rtl="0" algn="l">
              <a:lnSpc>
                <a:spcPct val="100000"/>
              </a:lnSpc>
              <a:spcBef>
                <a:spcPts val="0"/>
              </a:spcBef>
              <a:spcAft>
                <a:spcPts val="0"/>
              </a:spcAft>
              <a:buClr>
                <a:schemeClr val="dk1"/>
              </a:buClr>
              <a:buSzPct val="100000"/>
              <a:buNone/>
            </a:pPr>
            <a:r>
              <a:rPr lang="en-US" sz="2400"/>
              <a:t>	let timerId = setInterval(func|code, [delay], [arg1], [arg2], ...)</a:t>
            </a:r>
            <a:endParaRPr/>
          </a:p>
          <a:p>
            <a:pPr indent="-228600" lvl="0" marL="228600" rtl="0" algn="l">
              <a:lnSpc>
                <a:spcPct val="100000"/>
              </a:lnSpc>
              <a:spcBef>
                <a:spcPts val="0"/>
              </a:spcBef>
              <a:spcAft>
                <a:spcPts val="0"/>
              </a:spcAft>
              <a:buClr>
                <a:schemeClr val="dk1"/>
              </a:buClr>
              <a:buSzPct val="100000"/>
              <a:buChar char="•"/>
            </a:pPr>
            <a:r>
              <a:rPr lang="en-US" sz="2400"/>
              <a:t>Example:     </a:t>
            </a:r>
            <a:r>
              <a:rPr lang="en-US" sz="2400">
                <a:latin typeface="Courier New"/>
                <a:ea typeface="Courier New"/>
                <a:cs typeface="Courier New"/>
                <a:sym typeface="Courier New"/>
              </a:rPr>
              <a:t>// repeat with the interval of 2 seconds</a:t>
            </a:r>
            <a:endParaRPr sz="2400"/>
          </a:p>
          <a:p>
            <a:pPr indent="0" lvl="0" marL="0" rtl="0" algn="l">
              <a:lnSpc>
                <a:spcPct val="100000"/>
              </a:lnSpc>
              <a:spcBef>
                <a:spcPts val="0"/>
              </a:spcBef>
              <a:spcAft>
                <a:spcPts val="0"/>
              </a:spcAft>
              <a:buClr>
                <a:schemeClr val="dk1"/>
              </a:buClr>
              <a:buSzPct val="100000"/>
              <a:buNone/>
            </a:pPr>
            <a:r>
              <a:rPr lang="en-US" sz="2200">
                <a:latin typeface="Courier New"/>
                <a:ea typeface="Courier New"/>
                <a:cs typeface="Courier New"/>
                <a:sym typeface="Courier New"/>
              </a:rPr>
              <a:t>	    let timerId = setInterval(() =&gt; alert('tick'), 2000); </a:t>
            </a:r>
            <a:endParaRPr/>
          </a:p>
          <a:p>
            <a:pPr indent="0" lvl="0" marL="0" rtl="0" algn="l">
              <a:lnSpc>
                <a:spcPct val="100000"/>
              </a:lnSpc>
              <a:spcBef>
                <a:spcPts val="0"/>
              </a:spcBef>
              <a:spcAft>
                <a:spcPts val="0"/>
              </a:spcAft>
              <a:buClr>
                <a:schemeClr val="dk1"/>
              </a:buClr>
              <a:buSzPct val="100000"/>
              <a:buNone/>
            </a:pPr>
            <a:r>
              <a:rPr lang="en-US" sz="2200">
                <a:latin typeface="Courier New"/>
                <a:ea typeface="Courier New"/>
                <a:cs typeface="Courier New"/>
                <a:sym typeface="Courier New"/>
              </a:rPr>
              <a:t>	    // after 5 seconds stop</a:t>
            </a:r>
            <a:endParaRPr/>
          </a:p>
          <a:p>
            <a:pPr indent="0" lvl="0" marL="0" rtl="0" algn="l">
              <a:lnSpc>
                <a:spcPct val="100000"/>
              </a:lnSpc>
              <a:spcBef>
                <a:spcPts val="0"/>
              </a:spcBef>
              <a:spcAft>
                <a:spcPts val="0"/>
              </a:spcAft>
              <a:buClr>
                <a:schemeClr val="dk1"/>
              </a:buClr>
              <a:buSzPct val="100000"/>
              <a:buNone/>
            </a:pPr>
            <a:r>
              <a:rPr lang="en-US" sz="2200">
                <a:latin typeface="Courier New"/>
                <a:ea typeface="Courier New"/>
                <a:cs typeface="Courier New"/>
                <a:sym typeface="Courier New"/>
              </a:rPr>
              <a:t>	    setTimeout(() =&gt; { clearInterval(timerId); alert('stop'); }, 5000);</a:t>
            </a:r>
            <a:endParaRPr/>
          </a:p>
          <a:p>
            <a:pPr indent="-87629" lvl="0" marL="228600" rtl="0" algn="l">
              <a:lnSpc>
                <a:spcPct val="100000"/>
              </a:lnSpc>
              <a:spcBef>
                <a:spcPts val="0"/>
              </a:spcBef>
              <a:spcAft>
                <a:spcPts val="0"/>
              </a:spcAft>
              <a:buClr>
                <a:schemeClr val="dk1"/>
              </a:buClr>
              <a:buSzPct val="100000"/>
              <a:buNone/>
            </a:pPr>
            <a:r>
              <a:t/>
            </a:r>
            <a:endParaRPr sz="2400"/>
          </a:p>
        </p:txBody>
      </p:sp>
      <p:sp>
        <p:nvSpPr>
          <p:cNvPr id="332" name="Google Shape;332;p2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setTimeout and setInterval</a:t>
            </a:r>
            <a:endParaRPr b="1" i="0" sz="2400" u="none" cap="none" strike="noStrike">
              <a:solidFill>
                <a:srgbClr val="C55A11"/>
              </a:solidFill>
              <a:latin typeface="Calibri"/>
              <a:ea typeface="Calibri"/>
              <a:cs typeface="Calibri"/>
              <a:sym typeface="Calibri"/>
            </a:endParaRPr>
          </a:p>
        </p:txBody>
      </p:sp>
      <p:cxnSp>
        <p:nvCxnSpPr>
          <p:cNvPr id="333" name="Google Shape;333;p24"/>
          <p:cNvCxnSpPr/>
          <p:nvPr/>
        </p:nvCxnSpPr>
        <p:spPr>
          <a:xfrm>
            <a:off x="71586" y="1311544"/>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34" name="Google Shape;334;p2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JavaScript – Built-in Objects</a:t>
            </a:r>
            <a:endParaRPr b="0" i="0" sz="1400" u="none" cap="none" strike="noStrike">
              <a:solidFill>
                <a:srgbClr val="000000"/>
              </a:solidFill>
              <a:latin typeface="Arial"/>
              <a:ea typeface="Arial"/>
              <a:cs typeface="Arial"/>
              <a:sym typeface="Arial"/>
            </a:endParaRPr>
          </a:p>
        </p:txBody>
      </p:sp>
      <p:pic>
        <p:nvPicPr>
          <p:cNvPr id="335" name="Google Shape;335;p24"/>
          <p:cNvPicPr preferRelativeResize="0"/>
          <p:nvPr/>
        </p:nvPicPr>
        <p:blipFill rotWithShape="1">
          <a:blip r:embed="rId3">
            <a:alphaModFix/>
          </a:blip>
          <a:srcRect b="0" l="0" r="0" t="0"/>
          <a:stretch/>
        </p:blipFill>
        <p:spPr>
          <a:xfrm>
            <a:off x="11081289" y="10586"/>
            <a:ext cx="931494" cy="13989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cxnSp>
        <p:nvCxnSpPr>
          <p:cNvPr id="340" name="Google Shape;340;p25"/>
          <p:cNvCxnSpPr/>
          <p:nvPr/>
        </p:nvCxnSpPr>
        <p:spPr>
          <a:xfrm flipH="1" rot="10800000">
            <a:off x="5448168" y="2887307"/>
            <a:ext cx="4581449" cy="1"/>
          </a:xfrm>
          <a:prstGeom prst="straightConnector1">
            <a:avLst/>
          </a:prstGeom>
          <a:noFill/>
          <a:ln cap="flat" cmpd="sng" w="38100">
            <a:solidFill>
              <a:srgbClr val="C55A11"/>
            </a:solidFill>
            <a:prstDash val="solid"/>
            <a:miter lim="800000"/>
            <a:headEnd len="sm" w="sm" type="none"/>
            <a:tailEnd len="sm" w="sm" type="none"/>
          </a:ln>
        </p:spPr>
      </p:cxnSp>
      <p:grpSp>
        <p:nvGrpSpPr>
          <p:cNvPr id="341" name="Google Shape;341;p25"/>
          <p:cNvGrpSpPr/>
          <p:nvPr/>
        </p:nvGrpSpPr>
        <p:grpSpPr>
          <a:xfrm>
            <a:off x="313844" y="349466"/>
            <a:ext cx="11518407" cy="6218388"/>
            <a:chOff x="313844" y="349466"/>
            <a:chExt cx="11518407" cy="6218388"/>
          </a:xfrm>
        </p:grpSpPr>
        <p:sp>
          <p:nvSpPr>
            <p:cNvPr id="342" name="Google Shape;342;p25"/>
            <p:cNvSpPr/>
            <p:nvPr/>
          </p:nvSpPr>
          <p:spPr>
            <a:xfrm>
              <a:off x="11786532" y="360726"/>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3" name="Google Shape;343;p25"/>
            <p:cNvSpPr/>
            <p:nvPr/>
          </p:nvSpPr>
          <p:spPr>
            <a:xfrm rot="5400000">
              <a:off x="11275944" y="-161122"/>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4" name="Google Shape;344;p25"/>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5" name="Google Shape;345;p25"/>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346" name="Google Shape;346;p25"/>
          <p:cNvPicPr preferRelativeResize="0"/>
          <p:nvPr/>
        </p:nvPicPr>
        <p:blipFill rotWithShape="1">
          <a:blip r:embed="rId3">
            <a:alphaModFix/>
          </a:blip>
          <a:srcRect b="0" l="0" r="0" t="0"/>
          <a:stretch/>
        </p:blipFill>
        <p:spPr>
          <a:xfrm>
            <a:off x="2340244" y="1606241"/>
            <a:ext cx="2215025" cy="3550188"/>
          </a:xfrm>
          <a:prstGeom prst="rect">
            <a:avLst/>
          </a:prstGeom>
          <a:noFill/>
          <a:ln>
            <a:noFill/>
          </a:ln>
        </p:spPr>
      </p:pic>
      <p:sp>
        <p:nvSpPr>
          <p:cNvPr id="347" name="Google Shape;347;p25"/>
          <p:cNvSpPr/>
          <p:nvPr/>
        </p:nvSpPr>
        <p:spPr>
          <a:xfrm>
            <a:off x="5448168" y="2049518"/>
            <a:ext cx="4603806" cy="6652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
        <p:nvSpPr>
          <p:cNvPr id="348" name="Google Shape;348;p25"/>
          <p:cNvSpPr/>
          <p:nvPr/>
        </p:nvSpPr>
        <p:spPr>
          <a:xfrm>
            <a:off x="5448168" y="3128242"/>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Prof.Vinay Joshi and Dr.Sarasvathi V</a:t>
            </a:r>
            <a:endParaRPr b="1" i="0" sz="2400" u="none" cap="none" strike="noStrike">
              <a:solidFill>
                <a:schemeClr val="dk1"/>
              </a:solidFill>
              <a:latin typeface="Calibri"/>
              <a:ea typeface="Calibri"/>
              <a:cs typeface="Calibri"/>
              <a:sym typeface="Calibri"/>
            </a:endParaRPr>
          </a:p>
        </p:txBody>
      </p:sp>
      <p:sp>
        <p:nvSpPr>
          <p:cNvPr id="349" name="Google Shape;349;p25"/>
          <p:cNvSpPr/>
          <p:nvPr/>
        </p:nvSpPr>
        <p:spPr>
          <a:xfrm>
            <a:off x="5448168" y="3525847"/>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2019-05-30T23:14:36Z</dcterms:created>
  <dc:creator>Prahallad Nith</dc:creator>
</cp:coreProperties>
</file>