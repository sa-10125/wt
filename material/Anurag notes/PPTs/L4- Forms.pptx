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333" r:id="rId2"/>
    <p:sldId id="335" r:id="rId3"/>
    <p:sldId id="324" r:id="rId4"/>
    <p:sldId id="336" r:id="rId5"/>
    <p:sldId id="339" r:id="rId6"/>
    <p:sldId id="337" r:id="rId7"/>
    <p:sldId id="338" r:id="rId8"/>
    <p:sldId id="325" r:id="rId9"/>
    <p:sldId id="326" r:id="rId10"/>
    <p:sldId id="343" r:id="rId11"/>
    <p:sldId id="345" r:id="rId12"/>
    <p:sldId id="346" r:id="rId13"/>
    <p:sldId id="327" r:id="rId14"/>
    <p:sldId id="310" r:id="rId15"/>
    <p:sldId id="311" r:id="rId16"/>
    <p:sldId id="312" r:id="rId17"/>
    <p:sldId id="313" r:id="rId18"/>
    <p:sldId id="314" r:id="rId19"/>
    <p:sldId id="328" r:id="rId20"/>
    <p:sldId id="329" r:id="rId21"/>
    <p:sldId id="295" r:id="rId22"/>
    <p:sldId id="296" r:id="rId23"/>
    <p:sldId id="330" r:id="rId24"/>
    <p:sldId id="298" r:id="rId25"/>
    <p:sldId id="299" r:id="rId26"/>
    <p:sldId id="300" r:id="rId27"/>
    <p:sldId id="331" r:id="rId28"/>
    <p:sldId id="33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267"/>
    <a:srgbClr val="FEDC32"/>
    <a:srgbClr val="FDBA53"/>
    <a:srgbClr val="F4B350"/>
    <a:srgbClr val="10B9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9197" autoAdjust="0"/>
  </p:normalViewPr>
  <p:slideViewPr>
    <p:cSldViewPr snapToGrid="0">
      <p:cViewPr varScale="1">
        <p:scale>
          <a:sx n="50" d="100"/>
          <a:sy n="50" d="100"/>
        </p:scale>
        <p:origin x="1244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C3CB51-9A86-4C01-A0DB-13EF6F656B51}" type="datetimeFigureOut">
              <a:rPr lang="en-US" smtClean="0"/>
              <a:pPr/>
              <a:t>8/9/2024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C20C0E-3071-47FE-83D9-FB70EE300A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8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 form data is sent to a file on the server when the user clicks on the submit button.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In the example below, the form data is sent to a file called “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survey.php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". This file contains a server-side script that handles the form data: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</a:t>
            </a:r>
            <a:r>
              <a:rPr lang="en-US" dirty="0"/>
              <a:t>target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attribute specifies where to display the response that is received after submitting the form.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66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name attribute specifies a name for an HTML element.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This name attribute can be used to reference the element in a JavaScript.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For a &lt;form&gt; element, the name attribute is  used as a reference when the data is submitted.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The </a:t>
            </a:r>
            <a:r>
              <a:rPr lang="en-US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maxlength</a:t>
            </a:r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attribute specifies the maximum number of characters allowed in the &lt;input&gt; element.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The size attribute specifies the visible width, in characters, of an &lt;input&gt; element.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775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78497630-B004-4924-97B7-B43BA23C5FAC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10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493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2493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949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name attribute specifies a name for an HTML element.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This name attribute can be used to reference the element in a JavaScript.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For a &lt;form&gt; element, the name attribute is  used as a reference when the data is submitted.</a:t>
            </a:r>
          </a:p>
          <a:p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The </a:t>
            </a:r>
            <a:r>
              <a:rPr lang="en-US" b="0" dirty="0" err="1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maxlength</a:t>
            </a:r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attribute specifies the maximum number of characters allowed in the &lt;input&gt; element.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6A9955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    The size attribute specifies the visible width, in characters, of an &lt;input&gt; element.</a:t>
            </a:r>
            <a:endParaRPr lang="en-US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C20C0E-3071-47FE-83D9-FB70EE300AA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96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66710062-45E9-4F1A-A63E-0F947BBAD4FC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21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878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1878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541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7FA7C210-2D93-459B-82BE-DE5942B0785D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22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1981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1981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1136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A536D435-9603-40F0-AD1E-674879823F6C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23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083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2083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2613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0282823F-46A9-4484-A17C-938DD7F05F83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24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185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2186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1412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DA2A094E-9E4E-4187-9B22-127F2E647C25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25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288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2288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737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02A6CD30-66B8-4825-B65F-C590C41D0A00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26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390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2390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358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pitchFamily="2" charset="2"/>
              <a:buNone/>
            </a:pPr>
            <a:fld id="{78497630-B004-4924-97B7-B43BA23C5FAC}" type="slidenum">
              <a:rPr lang="en-GB"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pPr>
                <a:buFont typeface="Wingdings" pitchFamily="2" charset="2"/>
                <a:buNone/>
              </a:pPr>
              <a:t>27</a:t>
            </a:fld>
            <a:endParaRPr lang="en-GB">
              <a:latin typeface="Times New Roman" pitchFamily="18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2493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3400" y="763588"/>
            <a:ext cx="67056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12493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437062"/>
          </a:xfrm>
          <a:noFill/>
          <a:ln/>
        </p:spPr>
        <p:txBody>
          <a:bodyPr wrap="none" anchor="ctr"/>
          <a:lstStyle/>
          <a:p>
            <a:endParaRPr lang="en-US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497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3D4B-626B-4009-8192-CEAEED142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1827C-B164-4C81-9990-CA48A6D69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DF93E-677D-48F6-8B5A-46E43F2C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F4446-763D-4DB5-A60E-E76234DD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2FF9A-F0E6-4BE5-A785-09D93A75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025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7D49-DB18-4481-BBAD-3CCDB0B6E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48B0F-E770-4648-80B0-0B9A17734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9BBA6-35F4-4C69-B817-8B6D5B3C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119B-E4E0-4014-B1F1-495E208A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45A5E-AE1B-4A92-B64A-2F8A4786E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09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8196D-BED0-4BD8-AB4C-B2B3CCC7D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613EC-F0A0-4466-A6C2-D28B863D1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F7A95-22EE-4F22-AEDA-C190D2F87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85F91-0601-4D65-A3E8-CFDC20A77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0A9F0-9DDE-4015-8C5C-5C9D6B60D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6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85AF-03C6-4B44-A538-43B0427D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33EE5-59F6-4A1A-AE1E-8765B2B76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D6861-A242-46E3-9BF3-A0C8A8DBB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9D4037-319B-46C2-9889-B7EE9142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E4E15-6B43-42E0-9689-9D809E774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B8A2C-7787-42C7-9053-9FAC4980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09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7F82-17CF-402C-A83C-9BB0B045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925B8-18E2-4648-9C7D-9A50568E6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CAC91-5516-49CF-ABB2-BDCA1101D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B518C-5424-4D17-AE61-73B5540B3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18E488-5143-4637-878A-8024B768B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92FE0-EADD-43E3-B191-7F6FEA9C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4604E9-CD41-4846-B48F-03B22B37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FE060F-933B-49D3-8FF3-B0DEF9DC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13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133CA-B572-4BA7-A189-A42C96F1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A2B92-6276-46C5-8418-92622914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7E3F1-B21B-41C5-BFFE-A0D23D01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3B9AF-625C-4788-81E5-2B790AE3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34E3B9-7089-4D8E-9F92-ED9350E7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5D6F49-DBB0-4783-8669-C7B8A703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75C0C-F413-41B7-B055-646B0BFD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319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262E-9CC6-4471-87B5-E96BB4A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5306A-CD4B-46EE-9161-2B0A130F2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59BE6-9514-4D99-A003-32E53BED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144FC-DE55-4C66-B467-EE3206645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C472B-5E7F-485E-A706-89B79D41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6C44B-3BC6-40D9-94ED-B0796F8E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7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9C2A-444C-4E85-BF34-29BD3E3F6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688350-F59A-41DF-B2EF-F9EEA2470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D8DC2-A933-46C8-BE16-322CE1A3E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17E0BD-405F-407D-AAE8-84A2C6729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94B3E-2DAE-4C72-9B6F-EE43965D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4055D-9410-4E28-8C54-90B4F6E7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58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96CC-24D7-4AC0-845A-98CA572F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61921-3E80-4007-9849-91F4F1D9C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091F3-2079-48AC-A58B-4C729775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36A67-7BBF-4557-B86C-E3D43DA80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F2A7F-20B3-4FEC-B2FB-22B3B56A9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502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74505-5F88-4C68-B044-B90A875A12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54938-180F-400A-A444-2DAC9B404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4BC1C-22DF-43AD-B4A1-B55EB4C01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39F43-011E-4BE1-A79A-17FE1495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5448-2680-4648-B696-07B726E5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034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49A4AD-9C61-4A2F-99E0-675E3359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F732A-189B-4AC1-886A-23584A50B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3EE23-AF03-4903-9219-60875A711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97723-E498-4D64-BBB6-490ED1364AC9}" type="datetimeFigureOut">
              <a:rPr lang="en-IN" smtClean="0"/>
              <a:pPr/>
              <a:t>09-08-2024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FC4B0-FF26-4AB9-BACD-041A24DCD2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8E684-F46A-48CC-BAD8-663F8E117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30BA08-B69C-4752-B2CF-0C56A0BACDE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109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cs.ucp.edu/cgi-bin/survey.p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wmf"/><Relationship Id="rId7" Type="http://schemas.openxmlformats.org/officeDocument/2006/relationships/image" Target="../media/image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WEB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4781916" y="2841955"/>
            <a:ext cx="74972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Vinay</a:t>
            </a:r>
            <a:r>
              <a:rPr lang="en-US" sz="2400" b="1" dirty="0"/>
              <a:t> Joshi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</a:t>
            </a:r>
          </a:p>
          <a:p>
            <a:r>
              <a:rPr lang="en-US" sz="2400" dirty="0"/>
              <a:t>Computer Science and Engineering</a:t>
            </a:r>
            <a:endParaRPr lang="en-IN" sz="2400" dirty="0"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85950" y="1606241"/>
            <a:ext cx="2003067" cy="3550188"/>
          </a:xfrm>
          <a:prstGeom prst="rect">
            <a:avLst/>
          </a:prstGeom>
        </p:spPr>
      </p:pic>
      <p:grpSp>
        <p:nvGrpSpPr>
          <p:cNvPr id="3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538" y="1578552"/>
            <a:ext cx="3748953" cy="372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80" name="Picture 4" descr="Getting Started in Ecommerce: What's a Shopping Cart? | Practical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47465" y="1588366"/>
            <a:ext cx="6690051" cy="291436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B7AFA6DA-0C61-8368-0007-B1CBCDA9A1F9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36846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058" y="1640114"/>
            <a:ext cx="8647216" cy="45368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400" dirty="0"/>
              <a:t>An HTML form is used to collect user input. </a:t>
            </a:r>
          </a:p>
          <a:p>
            <a:pPr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400" dirty="0"/>
              <a:t>A form is a way to send information from a browser to a server</a:t>
            </a:r>
          </a:p>
          <a:p>
            <a:pPr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400" dirty="0"/>
              <a:t>All the components of a form appear as the content of &lt;form&gt; tag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dirty="0"/>
              <a:t>The components are called </a:t>
            </a:r>
            <a:r>
              <a:rPr lang="en-US" altLang="en-US" i="1" dirty="0"/>
              <a:t>widgets</a:t>
            </a:r>
            <a:r>
              <a:rPr lang="en-US" altLang="en-US" dirty="0"/>
              <a:t> (e.g., text boxes, radio buttons and checkboxes)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Tx/>
            </a:pPr>
            <a:endParaRPr lang="en-US" alt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400" dirty="0"/>
              <a:t>A simple form may look like this: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CD7775D1-3F70-CC9B-A612-25779EBA4F92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7B810A-1326-4133-9DC1-58725EE0DC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1" t="3359" b="4750"/>
          <a:stretch/>
        </p:blipFill>
        <p:spPr>
          <a:xfrm>
            <a:off x="957943" y="4368799"/>
            <a:ext cx="3686628" cy="213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6846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447800"/>
            <a:ext cx="10083800" cy="198437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Syntax: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			&lt;form </a:t>
            </a:r>
            <a:r>
              <a:rPr lang="en-US" altLang="en-US" sz="2400" b="1" dirty="0" err="1">
                <a:solidFill>
                  <a:srgbClr val="002060"/>
                </a:solidFill>
              </a:rPr>
              <a:t>list_of_attributes_and_values</a:t>
            </a:r>
            <a:r>
              <a:rPr lang="en-US" altLang="en-US" sz="2400" b="1" dirty="0">
                <a:solidFill>
                  <a:srgbClr val="002060"/>
                </a:solidFill>
              </a:rPr>
              <a:t>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				&lt;input element&gt;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				…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b="1" dirty="0">
                <a:solidFill>
                  <a:srgbClr val="002060"/>
                </a:solidFill>
              </a:rPr>
              <a:t>			&lt;/form&gt;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Attributes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98500" y="3387447"/>
            <a:ext cx="91948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Tx/>
              <a:buNone/>
            </a:pPr>
            <a:r>
              <a:rPr lang="en-US" altLang="en-US" sz="2400" dirty="0"/>
              <a:t>Important attributes of the &lt;form&gt; tag</a:t>
            </a:r>
          </a:p>
          <a:p>
            <a:pPr lvl="2" indent="-34290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altLang="en-US" sz="2000" dirty="0"/>
              <a:t>Method</a:t>
            </a:r>
          </a:p>
          <a:p>
            <a:pPr lvl="2" indent="-34290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altLang="en-US" sz="2000" dirty="0"/>
              <a:t>Action</a:t>
            </a:r>
          </a:p>
          <a:p>
            <a:pPr lvl="2" indent="-342900">
              <a:lnSpc>
                <a:spcPct val="10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altLang="en-US" sz="2000" dirty="0"/>
              <a:t>Target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Example:</a:t>
            </a:r>
          </a:p>
          <a:p>
            <a:pPr marL="5715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&lt;form method=“post” action=“survey.php” target=“_blank”&gt;</a:t>
            </a:r>
          </a:p>
          <a:p>
            <a:pPr marL="5715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	&lt;input type=“text”&gt;</a:t>
            </a:r>
          </a:p>
          <a:p>
            <a:pPr marL="5715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	…</a:t>
            </a:r>
          </a:p>
          <a:p>
            <a:pPr marL="57150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400" dirty="0"/>
              <a:t>&lt;/form&gt;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4B7B24D0-65DD-E9E3-1BCC-AE5B70508B31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-19894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36846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>
                <a:solidFill>
                  <a:schemeClr val="accent2">
                    <a:lumMod val="75000"/>
                  </a:schemeClr>
                </a:solidFill>
              </a:rPr>
              <a:t>Methods</a:t>
            </a:r>
            <a:endParaRPr lang="en-GB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11" y="1513221"/>
            <a:ext cx="9194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</a:rPr>
              <a:t>GET:</a:t>
            </a:r>
            <a:endParaRPr lang="en-US" sz="2000" b="0" i="0" dirty="0">
              <a:solidFill>
                <a:srgbClr val="000000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Appends the form data to the URL, in name/value pairs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NEVER use GET to send sensitive data! (the submitted form data is visible in the URL!)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The length of a URL is limited (2048 characters)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Useful for form submissions where a user wants to bookmark the result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GET is good for non-secure data, like query strings in Google</a:t>
            </a:r>
          </a:p>
          <a:p>
            <a:pPr algn="l"/>
            <a:r>
              <a:rPr lang="en-US" sz="2000" b="1" i="0" dirty="0">
                <a:solidFill>
                  <a:srgbClr val="000000"/>
                </a:solidFill>
                <a:effectLst/>
              </a:rPr>
              <a:t>POST:</a:t>
            </a:r>
            <a:endParaRPr lang="en-US" sz="2000" b="0" i="0" dirty="0">
              <a:solidFill>
                <a:srgbClr val="000000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Appends the form data inside the body of the HTTP request (the submitted form data is not shown in the URL)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POST has no size limitations, and can be used to send large amounts of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00000"/>
                </a:solidFill>
                <a:effectLst/>
              </a:rPr>
              <a:t>Form submissions with POST cannot be bookmarked</a:t>
            </a:r>
          </a:p>
          <a:p>
            <a:pPr>
              <a:lnSpc>
                <a:spcPct val="100000"/>
              </a:lnSpc>
              <a:spcBef>
                <a:spcPts val="0"/>
              </a:spcBef>
              <a:buSzTx/>
              <a:buNone/>
            </a:pPr>
            <a:endParaRPr lang="en-US" altLang="en-US" sz="2400" dirty="0"/>
          </a:p>
        </p:txBody>
      </p:sp>
      <p:pic>
        <p:nvPicPr>
          <p:cNvPr id="2" name="Google Shape;105;p2">
            <a:extLst>
              <a:ext uri="{FF2B5EF4-FFF2-40B4-BE49-F238E27FC236}">
                <a16:creationId xmlns:a16="http://schemas.microsoft.com/office/drawing/2014/main" id="{446A49F7-3DB0-86B5-FA43-EF61F6870F66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-19894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460160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825625"/>
            <a:ext cx="837507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Tx/>
            </a:pPr>
            <a:r>
              <a:rPr lang="en-US" altLang="en-US" sz="2400" dirty="0"/>
              <a:t>Input widget can be any of the following types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Text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en-US" dirty="0" err="1"/>
              <a:t>Textarea</a:t>
            </a:r>
            <a:endParaRPr lang="en-US" altLang="en-US" dirty="0"/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Button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Checkboxes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Radio Buttons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Dropdown list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en-US" dirty="0"/>
              <a:t>Hidden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Input widgets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A634E446-721D-BE8E-0DC6-7C5C812CB6A2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33684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13221"/>
            <a:ext cx="8375073" cy="4351338"/>
          </a:xfrm>
        </p:spPr>
        <p:txBody>
          <a:bodyPr>
            <a:noAutofit/>
          </a:bodyPr>
          <a:lstStyle/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dirty="0"/>
              <a:t>The HTML &lt;input&gt; element is the most used form element.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dirty="0"/>
              <a:t>An &lt;input&gt; element can be displayed in many ways, depending on the type attribute.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Input element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37726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A634E446-721D-BE8E-0DC6-7C5C812CB6A2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1222ED4D-B903-363F-46C7-D9249B00D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32226"/>
              </p:ext>
            </p:extLst>
          </p:nvPr>
        </p:nvGraphicFramePr>
        <p:xfrm>
          <a:off x="609599" y="2878702"/>
          <a:ext cx="9477830" cy="3609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8915">
                  <a:extLst>
                    <a:ext uri="{9D8B030D-6E8A-4147-A177-3AD203B41FA5}">
                      <a16:colId xmlns:a16="http://schemas.microsoft.com/office/drawing/2014/main" val="392007601"/>
                    </a:ext>
                  </a:extLst>
                </a:gridCol>
                <a:gridCol w="4738915">
                  <a:extLst>
                    <a:ext uri="{9D8B030D-6E8A-4147-A177-3AD203B41FA5}">
                      <a16:colId xmlns:a16="http://schemas.microsoft.com/office/drawing/2014/main" val="1107915846"/>
                    </a:ext>
                  </a:extLst>
                </a:gridCol>
              </a:tblGrid>
              <a:tr h="402245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832889"/>
                  </a:ext>
                </a:extLst>
              </a:tr>
              <a:tr h="462857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&lt;input type="text"&gt;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Displays a single-line text input field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249578538"/>
                  </a:ext>
                </a:extLst>
              </a:tr>
              <a:tr h="760408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&lt;input type="radio"&gt;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Displays a radio button (for selecting one of many choices)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899819488"/>
                  </a:ext>
                </a:extLst>
              </a:tr>
              <a:tr h="76040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&lt;input type="checkbox"&gt;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Displays a checkbox (for selecting zero or more of many choices)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2424781796"/>
                  </a:ext>
                </a:extLst>
              </a:tr>
              <a:tr h="760408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&lt;input type="submit"&gt;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Displays a submit button (for submitting the form)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794278098"/>
                  </a:ext>
                </a:extLst>
              </a:tr>
              <a:tr h="462857"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&lt;input type="button"&gt;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Displays a clickable button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3063061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13411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737" y="1513221"/>
            <a:ext cx="1092023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en-US" sz="2200" dirty="0"/>
              <a:t>action attribute specifies the URL of the application to be called when the Submit button is clicked (ex. action = </a:t>
            </a:r>
            <a:r>
              <a:rPr lang="en-US" altLang="en-US" sz="2200" dirty="0">
                <a:hlinkClick r:id="rId2"/>
              </a:rPr>
              <a:t>http://www.cs.ucp.edu/cgi-bin/survey.pl</a:t>
            </a:r>
            <a:r>
              <a:rPr lang="en-US" altLang="en-US" sz="2200" dirty="0"/>
              <a:t>)</a:t>
            </a:r>
          </a:p>
          <a:p>
            <a:pPr lvl="2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dirty="0"/>
              <a:t>no action, i.e. the value of action is the empty string or missing, then no request is sent on clicking the button</a:t>
            </a:r>
          </a:p>
          <a:p>
            <a:pPr marL="177800" indent="-177800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b="0" dirty="0"/>
              <a:t>The </a:t>
            </a:r>
            <a:r>
              <a:rPr lang="en-US" altLang="en-US" sz="2200" dirty="0"/>
              <a:t>method</a:t>
            </a:r>
            <a:r>
              <a:rPr lang="en-US" altLang="en-US" sz="2200" b="0" dirty="0"/>
              <a:t> attribute of </a:t>
            </a:r>
            <a:r>
              <a:rPr lang="en-US" altLang="en-US" sz="2200" dirty="0"/>
              <a:t>&lt;form&gt;</a:t>
            </a:r>
            <a:r>
              <a:rPr lang="en-US" altLang="en-US" sz="2200" b="0" dirty="0"/>
              <a:t> specifies one of the two possible techniques of transferring the form data to the server, </a:t>
            </a:r>
            <a:r>
              <a:rPr lang="en-US" altLang="en-US" sz="2200" dirty="0"/>
              <a:t>get</a:t>
            </a:r>
            <a:r>
              <a:rPr lang="en-US" altLang="en-US" sz="2200" b="0" dirty="0"/>
              <a:t> and </a:t>
            </a:r>
            <a:r>
              <a:rPr lang="en-US" altLang="en-US" sz="2200" dirty="0"/>
              <a:t>post</a:t>
            </a:r>
            <a:endParaRPr lang="en-US" altLang="en-US" sz="2200" b="0" dirty="0"/>
          </a:p>
          <a:p>
            <a:pPr marL="515938" lvl="1" indent="-180975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dirty="0"/>
              <a:t>get</a:t>
            </a:r>
            <a:r>
              <a:rPr lang="en-US" altLang="en-US" sz="2200" b="0" dirty="0"/>
              <a:t> and </a:t>
            </a:r>
            <a:r>
              <a:rPr lang="en-US" altLang="en-US" sz="2200" dirty="0"/>
              <a:t>post</a:t>
            </a:r>
            <a:r>
              <a:rPr lang="en-US" altLang="en-US" sz="2200" b="0" dirty="0"/>
              <a:t> are discussed in Chapter 10</a:t>
            </a:r>
          </a:p>
          <a:p>
            <a:pPr marL="177800" indent="-177800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b="0" i="1" dirty="0"/>
              <a:t>Widgets</a:t>
            </a:r>
            <a:endParaRPr lang="en-US" altLang="en-US" sz="2200" b="0" dirty="0"/>
          </a:p>
          <a:p>
            <a:pPr marL="515938" lvl="1" indent="-180975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b="0" dirty="0"/>
              <a:t>Many are created with the </a:t>
            </a:r>
            <a:r>
              <a:rPr lang="en-US" altLang="en-US" sz="2200" dirty="0"/>
              <a:t>&lt;input&gt;</a:t>
            </a:r>
            <a:r>
              <a:rPr lang="en-US" altLang="en-US" sz="2200" b="0" dirty="0"/>
              <a:t> tag</a:t>
            </a:r>
          </a:p>
          <a:p>
            <a:pPr marL="966788" lvl="2" indent="-223838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b="0" dirty="0"/>
              <a:t>The </a:t>
            </a:r>
            <a:r>
              <a:rPr lang="en-US" altLang="en-US" sz="2200" dirty="0"/>
              <a:t>type</a:t>
            </a:r>
            <a:r>
              <a:rPr lang="en-US" altLang="en-US" sz="2200" b="0" dirty="0"/>
              <a:t> attribute of </a:t>
            </a:r>
            <a:r>
              <a:rPr lang="en-US" altLang="en-US" sz="2200" dirty="0"/>
              <a:t>&lt;input&gt;</a:t>
            </a:r>
            <a:r>
              <a:rPr lang="en-US" altLang="en-US" sz="2200" b="0" dirty="0"/>
              <a:t> specifies the kind of widget being created</a:t>
            </a:r>
          </a:p>
          <a:p>
            <a:pPr marL="966788" lvl="2" indent="-223838">
              <a:lnSpc>
                <a:spcPct val="100000"/>
              </a:lnSpc>
              <a:spcBef>
                <a:spcPts val="0"/>
              </a:spcBef>
              <a:buSzTx/>
              <a:buFont typeface="Arial" panose="020B0604020202020204" pitchFamily="34" charset="0"/>
              <a:buAutoNum type="arabicPeriod"/>
            </a:pPr>
            <a:r>
              <a:rPr lang="en-US" altLang="en-US" sz="2200" b="1" dirty="0"/>
              <a:t>Text</a:t>
            </a:r>
          </a:p>
          <a:p>
            <a:pPr marL="1314450" lvl="3" indent="-166688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b="0" dirty="0"/>
              <a:t>Creates a horizontal box for text input</a:t>
            </a:r>
          </a:p>
          <a:p>
            <a:pPr marL="1314450" lvl="3" indent="-166688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b="0" dirty="0"/>
              <a:t>Default size is 20; it can be changed with the </a:t>
            </a:r>
            <a:r>
              <a:rPr lang="en-US" altLang="en-US" sz="2200" dirty="0"/>
              <a:t>size</a:t>
            </a:r>
            <a:r>
              <a:rPr lang="en-US" altLang="en-US" sz="2200" b="0" dirty="0"/>
              <a:t> attribute</a:t>
            </a:r>
          </a:p>
          <a:p>
            <a:pPr marL="1314450" lvl="3" indent="-166688">
              <a:lnSpc>
                <a:spcPct val="100000"/>
              </a:lnSpc>
              <a:spcBef>
                <a:spcPts val="0"/>
              </a:spcBef>
              <a:buSzTx/>
            </a:pPr>
            <a:r>
              <a:rPr lang="en-US" altLang="en-US" sz="2200" b="0" dirty="0"/>
              <a:t>If more characters are entered than will fit, the box is scrolled (shifted) left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Introduction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DB87E9D2-E976-ECF2-F024-5E29B78C3B02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996445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 Forms (continued)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708" y="1686483"/>
            <a:ext cx="11078660" cy="4351338"/>
          </a:xfrm>
        </p:spPr>
        <p:txBody>
          <a:bodyPr>
            <a:noAutofit/>
          </a:bodyPr>
          <a:lstStyle/>
          <a:p>
            <a:pPr marL="762000" lvl="1" indent="-304800">
              <a:lnSpc>
                <a:spcPct val="110000"/>
              </a:lnSpc>
              <a:buSzTx/>
            </a:pPr>
            <a:r>
              <a:rPr lang="en-US" altLang="en-US" b="0" dirty="0"/>
              <a:t>If you don’t want to allow the user to type more characters than will fit, set </a:t>
            </a:r>
            <a:r>
              <a:rPr lang="en-US" altLang="en-US" dirty="0" err="1"/>
              <a:t>maxlength</a:t>
            </a:r>
            <a:r>
              <a:rPr lang="en-US" altLang="en-US" b="0" dirty="0"/>
              <a:t>, which causes excess input to be ignored</a:t>
            </a:r>
          </a:p>
          <a:p>
            <a:pPr marL="1219200" lvl="2" indent="-304800">
              <a:lnSpc>
                <a:spcPct val="110000"/>
              </a:lnSpc>
              <a:buSz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 = "text" name = "Phone" size = "12" &gt;</a:t>
            </a:r>
          </a:p>
          <a:p>
            <a:pPr marL="0" indent="0"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&lt;label for="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fname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" &gt;First Name:</a:t>
            </a:r>
          </a:p>
          <a:p>
            <a:pPr marL="0" indent="0"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 &lt;input type="text" name="name" id="</a:t>
            </a:r>
            <a:r>
              <a:rPr lang="en-US" sz="2000" b="1" dirty="0" err="1">
                <a:effectLst/>
                <a:latin typeface="Consolas" panose="020B0609020204030204" pitchFamily="49" charset="0"/>
              </a:rPr>
              <a:t>fname</a:t>
            </a:r>
            <a:r>
              <a:rPr lang="en-US" sz="2000" b="1" dirty="0">
                <a:effectLst/>
                <a:latin typeface="Consolas" panose="020B0609020204030204" pitchFamily="49" charset="0"/>
              </a:rPr>
              <a:t>"&gt; </a:t>
            </a:r>
          </a:p>
          <a:p>
            <a:pPr marL="0" indent="0">
              <a:buNone/>
            </a:pPr>
            <a:r>
              <a:rPr lang="en-US" sz="2000" b="1" dirty="0">
                <a:effectLst/>
                <a:latin typeface="Consolas" panose="020B0609020204030204" pitchFamily="49" charset="0"/>
              </a:rPr>
              <a:t> &lt;/label&gt;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Label html element represents a caption for an item. Used to associate text with an input element.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</a:rPr>
              <a:t>For attribute specifies which form element a label is bound </a:t>
            </a:r>
            <a:r>
              <a:rPr lang="en-US" sz="2000" dirty="0" err="1">
                <a:latin typeface="Consolas" panose="020B0609020204030204" pitchFamily="49" charset="0"/>
              </a:rPr>
              <a:t>to.It</a:t>
            </a:r>
            <a:r>
              <a:rPr lang="en-US" sz="2000" dirty="0">
                <a:latin typeface="Consolas" panose="020B0609020204030204" pitchFamily="49" charset="0"/>
              </a:rPr>
              <a:t> is set to id of input element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</a:t>
            </a:r>
          </a:p>
          <a:p>
            <a:pPr marL="1219200" lvl="2" indent="-304800">
              <a:lnSpc>
                <a:spcPct val="110000"/>
              </a:lnSpc>
              <a:buSzTx/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19200" lvl="2" indent="-304800">
              <a:lnSpc>
                <a:spcPct val="110000"/>
              </a:lnSpc>
              <a:buSzTx/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81000" indent="-381000">
              <a:lnSpc>
                <a:spcPct val="110000"/>
              </a:lnSpc>
              <a:buSzTx/>
              <a:buNone/>
            </a:pPr>
            <a:endParaRPr lang="en-US" altLang="en-US" b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FF5178-D0D4-45BD-AA33-4EF42C0F591D}"/>
              </a:ext>
            </a:extLst>
          </p:cNvPr>
          <p:cNvCxnSpPr>
            <a:cxnSpLocks/>
          </p:cNvCxnSpPr>
          <p:nvPr/>
        </p:nvCxnSpPr>
        <p:spPr>
          <a:xfrm>
            <a:off x="137708" y="147625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F61328EE-5D92-DA1B-EA94-3B12E8B5849E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528607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Id attribute and name attribute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5CF663-23C3-4E57-B61A-5B1AB741EAE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473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4180E2-6F86-46F8-A47D-0ABD37D527C9}"/>
              </a:ext>
            </a:extLst>
          </p:cNvPr>
          <p:cNvCxnSpPr>
            <a:cxnSpLocks/>
          </p:cNvCxnSpPr>
          <p:nvPr/>
        </p:nvCxnSpPr>
        <p:spPr>
          <a:xfrm>
            <a:off x="-8308" y="1529518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D6F58937-C484-8434-B1C4-6D1E579D0736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741124E-642A-0829-359A-94CC4387F973}"/>
              </a:ext>
            </a:extLst>
          </p:cNvPr>
          <p:cNvSpPr txBox="1">
            <a:spLocks noChangeArrowheads="1"/>
          </p:cNvSpPr>
          <p:nvPr/>
        </p:nvSpPr>
        <p:spPr>
          <a:xfrm>
            <a:off x="497486" y="2166528"/>
            <a:ext cx="9291320" cy="4351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US" altLang="en-US" dirty="0">
                <a:solidFill>
                  <a:srgbClr val="374151"/>
                </a:solidFill>
                <a:latin typeface="Söhne"/>
              </a:rPr>
              <a:t>The name attribute is commonly used in form elements (like &lt;input&gt;, &lt;select&gt;, &lt;</a:t>
            </a:r>
            <a:r>
              <a:rPr lang="en-US" altLang="en-US" dirty="0" err="1">
                <a:solidFill>
                  <a:srgbClr val="374151"/>
                </a:solidFill>
                <a:latin typeface="Söhne"/>
              </a:rPr>
              <a:t>textarea</a:t>
            </a:r>
            <a:r>
              <a:rPr lang="en-US" altLang="en-US" dirty="0">
                <a:solidFill>
                  <a:srgbClr val="374151"/>
                </a:solidFill>
                <a:latin typeface="Söhne"/>
              </a:rPr>
              <a:t>&gt;, etc.) to define the name that is sent to the server when the form is submitted. This name is used to identify the value associated with the form element.</a:t>
            </a:r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US" altLang="en-US" dirty="0">
              <a:solidFill>
                <a:srgbClr val="374151"/>
              </a:solidFill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/>
              <a:t>The id attribute is used to uniquely identify elements for styling and JavaScript purposes.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 Mono"/>
              </a:rPr>
              <a:t>name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Söhne"/>
              </a:rPr>
              <a:t> attribute is used to identify form elements and send their values to the server when a form is submitted.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0" i="0" dirty="0">
                <a:solidFill>
                  <a:srgbClr val="1B1B1B"/>
                </a:solidFill>
                <a:effectLst/>
                <a:highlight>
                  <a:srgbClr val="F9F9FB"/>
                </a:highlight>
                <a:latin typeface="Inter"/>
              </a:rPr>
              <a:t>Name of the element. For example used by the server to identify the fields in form submits.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374151"/>
              </a:solidFill>
              <a:effectLst/>
              <a:latin typeface="Söhne"/>
            </a:endParaRPr>
          </a:p>
          <a:p>
            <a:pPr marL="0" indent="0">
              <a:spcAft>
                <a:spcPct val="0"/>
              </a:spcAft>
              <a:buFont typeface="Arial" panose="020B0604020202020204" pitchFamily="34" charset="0"/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10481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DE09-7C16-E884-E782-449EF102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19FAC-A621-9599-88A0-2D966EB0B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&lt;label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First Name: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fname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tag is used to group related elements in a form.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fieldset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tag draws a box around the related elements.</a:t>
            </a:r>
            <a:endParaRPr kumimoji="0" lang="en-US" altLang="en-US" sz="4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74F716-D177-0619-EFD3-32E4BC7A5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754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 Forms (continued)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708" y="1686483"/>
            <a:ext cx="11078660" cy="4351338"/>
          </a:xfrm>
        </p:spPr>
        <p:txBody>
          <a:bodyPr>
            <a:noAutofit/>
          </a:bodyPr>
          <a:lstStyle/>
          <a:p>
            <a:pPr marL="1219200" lvl="2" indent="-304800">
              <a:lnSpc>
                <a:spcPct val="110000"/>
              </a:lnSpc>
              <a:buSzTx/>
              <a:buNone/>
            </a:pPr>
            <a:endParaRPr lang="en-US" alt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81000" indent="-381000">
              <a:lnSpc>
                <a:spcPct val="110000"/>
              </a:lnSpc>
              <a:buSzTx/>
              <a:buNone/>
            </a:pPr>
            <a:r>
              <a:rPr lang="en-US" altLang="en-US" sz="2400" b="0" i="1" dirty="0"/>
              <a:t>2</a:t>
            </a:r>
            <a:r>
              <a:rPr lang="en-US" altLang="en-US" sz="2400" b="1" i="1" dirty="0"/>
              <a:t>. Checkboxes </a:t>
            </a:r>
            <a:r>
              <a:rPr lang="en-US" altLang="en-US" sz="2400" b="0" dirty="0"/>
              <a:t>- to collect multiple choice input</a:t>
            </a:r>
          </a:p>
          <a:p>
            <a:pPr marL="762000" lvl="1" indent="-304800">
              <a:lnSpc>
                <a:spcPct val="110000"/>
              </a:lnSpc>
              <a:buSzTx/>
            </a:pPr>
            <a:r>
              <a:rPr lang="en-US" altLang="en-US" b="0" dirty="0"/>
              <a:t>Every checkbox requires a </a:t>
            </a:r>
            <a:r>
              <a:rPr lang="en-US" altLang="en-US" dirty="0"/>
              <a:t>value</a:t>
            </a:r>
            <a:r>
              <a:rPr lang="en-US" altLang="en-US" b="0" dirty="0"/>
              <a:t> attribute, which is the widget’s value in the form data when the checkbox is ‘checked’</a:t>
            </a:r>
          </a:p>
          <a:p>
            <a:pPr marL="1219200" lvl="2" indent="-304800">
              <a:lnSpc>
                <a:spcPct val="110000"/>
              </a:lnSpc>
              <a:buSzTx/>
            </a:pPr>
            <a:r>
              <a:rPr lang="en-US" altLang="en-US" sz="2400" b="0" dirty="0"/>
              <a:t>A checkbox that is not ‘checked’ contributes no value to the form data</a:t>
            </a:r>
          </a:p>
          <a:p>
            <a:pPr marL="762000" lvl="1" indent="-304800">
              <a:lnSpc>
                <a:spcPct val="110000"/>
              </a:lnSpc>
              <a:buSzTx/>
            </a:pPr>
            <a:r>
              <a:rPr lang="en-US" altLang="en-US" b="0" dirty="0"/>
              <a:t>By default, no checkbox is initially ‘checked’</a:t>
            </a:r>
          </a:p>
          <a:p>
            <a:pPr marL="762000" lvl="1" indent="-304800">
              <a:lnSpc>
                <a:spcPct val="110000"/>
              </a:lnSpc>
              <a:buSzTx/>
            </a:pPr>
            <a:r>
              <a:rPr lang="en-US" altLang="en-US" b="0" dirty="0"/>
              <a:t>To initialize a checkbox to ‘checked’, the </a:t>
            </a:r>
            <a:r>
              <a:rPr lang="en-US" altLang="en-US" dirty="0"/>
              <a:t>checked</a:t>
            </a:r>
            <a:r>
              <a:rPr lang="en-US" altLang="en-US" b="0" dirty="0"/>
              <a:t> attribute must be set to </a:t>
            </a:r>
            <a:r>
              <a:rPr lang="en-US" altLang="en-US" dirty="0"/>
              <a:t>"checked"</a:t>
            </a:r>
            <a:endParaRPr lang="en-US" altLang="en-US" b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FF5178-D0D4-45BD-AA33-4EF42C0F591D}"/>
              </a:ext>
            </a:extLst>
          </p:cNvPr>
          <p:cNvCxnSpPr>
            <a:cxnSpLocks/>
          </p:cNvCxnSpPr>
          <p:nvPr/>
        </p:nvCxnSpPr>
        <p:spPr>
          <a:xfrm>
            <a:off x="137708" y="147625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F61328EE-5D92-DA1B-EA94-3B12E8B5849E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596735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 Forms (continued)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7620" y="1764088"/>
            <a:ext cx="11029615" cy="457811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400" dirty="0"/>
              <a:t>Grocery Checklist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endParaRPr lang="en-US" altLang="en-US" sz="40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&lt;form action = ""&gt;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&lt;p&gt;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&lt;input type = "checkbox"  name ="groceries"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       value = "milk"  checked = "checked"&gt;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 Milk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&lt;input type = "checkbox"  name ="groceries"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       value = "bread"&gt;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 Bread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&lt;input type = "checkbox"  name = "groceries"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       value= "eggs"&gt;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 Eggs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  &lt;/p&gt;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000" dirty="0">
                <a:latin typeface="Courier New" panose="02070309020205020404" pitchFamily="49" charset="0"/>
              </a:rPr>
              <a:t>&lt;/form&gt;</a:t>
            </a: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endParaRPr lang="en-US" altLang="en-US" sz="1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endParaRPr lang="en-US" altLang="en-US" sz="1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endParaRPr lang="en-US" altLang="en-US" sz="1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endParaRPr lang="en-US" altLang="en-US" sz="1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endParaRPr lang="en-US" altLang="en-US" sz="1400" dirty="0">
              <a:latin typeface="Courier New" panose="02070309020205020404" pitchFamily="49" charset="0"/>
            </a:endParaRPr>
          </a:p>
        </p:txBody>
      </p:sp>
      <p:graphicFrame>
        <p:nvGraphicFramePr>
          <p:cNvPr id="1331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658593"/>
              </p:ext>
            </p:extLst>
          </p:nvPr>
        </p:nvGraphicFramePr>
        <p:xfrm>
          <a:off x="6529556" y="5028292"/>
          <a:ext cx="551480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560820" imgH="841350" progId="Word.Document.8">
                  <p:embed/>
                </p:oleObj>
              </mc:Choice>
              <mc:Fallback>
                <p:oleObj name="Document" r:id="rId2" imgW="4560820" imgH="84135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9556" y="5028292"/>
                        <a:ext cx="5514807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7152BE-299B-4319-95B8-365E3BCC45A6}"/>
              </a:ext>
            </a:extLst>
          </p:cNvPr>
          <p:cNvCxnSpPr>
            <a:cxnSpLocks/>
          </p:cNvCxnSpPr>
          <p:nvPr/>
        </p:nvCxnSpPr>
        <p:spPr>
          <a:xfrm>
            <a:off x="0" y="1529519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4C4C4B98-B012-879D-CDE7-FD5A7E01D05F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76531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 Forms (continued)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791" y="1577016"/>
            <a:ext cx="11102009" cy="4599947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000" b="1" i="1" dirty="0"/>
              <a:t>3. Radio Buttons</a:t>
            </a:r>
            <a:r>
              <a:rPr lang="en-US" altLang="en-US" sz="2000" b="1" dirty="0"/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800" dirty="0"/>
              <a:t>Radio buttons are used in a group. Only one element of a radio group can be selected at a time.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altLang="en-US" sz="1800" dirty="0"/>
              <a:t>If no button in a radio button group is ‘pressed’, the browser often ‘presses’ the first one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/>
              <a:t>Age Category Example: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 action = ""&gt;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&lt;p&gt;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&lt;input type = "radio"  name = "age"  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value = "under20" checked = "checked"&gt; 0-19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&lt;input type = "radio"  name = "age"  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value = "20-35"&gt; 20-35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&lt;input type = "radio"  name = "age"  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value = "36-50"&gt; 36-50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&lt;input type = "radio"  name = "age"  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value = "over50"&gt; Over 50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&lt;/p&gt;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593373"/>
              </p:ext>
            </p:extLst>
          </p:nvPr>
        </p:nvGraphicFramePr>
        <p:xfrm>
          <a:off x="5909176" y="2621440"/>
          <a:ext cx="6135187" cy="99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6809" imgH="927033" progId="Word.Document.8">
                  <p:embed/>
                </p:oleObj>
              </mc:Choice>
              <mc:Fallback>
                <p:oleObj name="Document" r:id="rId2" imgW="5486809" imgH="927033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9176" y="2621440"/>
                        <a:ext cx="6135187" cy="993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19DAAB-1E5F-4FAA-A32C-4844B03252A7}"/>
              </a:ext>
            </a:extLst>
          </p:cNvPr>
          <p:cNvCxnSpPr>
            <a:cxnSpLocks/>
          </p:cNvCxnSpPr>
          <p:nvPr/>
        </p:nvCxnSpPr>
        <p:spPr>
          <a:xfrm>
            <a:off x="0" y="1398963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75F4155F-A03F-762B-7551-C75462792D9A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43346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47370"/>
            <a:ext cx="10515600" cy="1325563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Forms (continued)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8909" y="1672933"/>
            <a:ext cx="10515600" cy="450257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i="1" dirty="0"/>
              <a:t>4</a:t>
            </a:r>
            <a:r>
              <a:rPr lang="en-US" altLang="en-US" sz="2400" b="0" i="1" dirty="0"/>
              <a:t>.</a:t>
            </a:r>
            <a:r>
              <a:rPr lang="en-US" altLang="en-US" sz="2400" i="1" dirty="0"/>
              <a:t> </a:t>
            </a:r>
            <a:r>
              <a:rPr lang="en-US" altLang="en-US" sz="2400" b="1" dirty="0"/>
              <a:t>Menus</a:t>
            </a:r>
            <a:r>
              <a:rPr lang="en-US" altLang="en-US" sz="2400" b="0" dirty="0"/>
              <a:t> - created with </a:t>
            </a:r>
            <a:r>
              <a:rPr lang="en-US" altLang="en-US" sz="2400" dirty="0"/>
              <a:t>&lt;select&gt;</a:t>
            </a:r>
            <a:r>
              <a:rPr lang="en-US" altLang="en-US" sz="2400" b="0" dirty="0"/>
              <a:t> tags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sz="2400" dirty="0"/>
              <a:t>There are two kinds of menus, those that behave like checkboxes and those that behave like radio buttons (the default)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dirty="0"/>
              <a:t>Menus that behave like checkboxes are specified by including the multiple attribute, which must be set to "multiple"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sz="2400" dirty="0"/>
              <a:t>The name attribute of &lt;select&gt; is required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sz="2400" dirty="0"/>
              <a:t>The size attribute of &lt;select&gt; can be included to specify the number of menu items to be displayed (the default is 1)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dirty="0"/>
              <a:t>If size is set to &gt; 1 or if multiple is specified, the menu is displayed as a pop-up menu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13C83B-CFC0-4236-B0F2-13350B010B77}"/>
              </a:ext>
            </a:extLst>
          </p:cNvPr>
          <p:cNvCxnSpPr>
            <a:cxnSpLocks/>
          </p:cNvCxnSpPr>
          <p:nvPr/>
        </p:nvCxnSpPr>
        <p:spPr>
          <a:xfrm>
            <a:off x="0" y="1401522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43453AA3-06D4-6977-0A30-6881FB41AB33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07465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 Forms (continued)</a:t>
            </a: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287" y="1582060"/>
            <a:ext cx="11348338" cy="5031804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ct val="7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3100" i="1" dirty="0"/>
              <a:t> </a:t>
            </a:r>
            <a:r>
              <a:rPr lang="en-US" altLang="en-US" sz="6200" b="0" dirty="0"/>
              <a:t>Menus (continued)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  <a:buSzTx/>
            </a:pPr>
            <a:r>
              <a:rPr lang="en-US" altLang="en-US" sz="6200" b="0" dirty="0"/>
              <a:t>Each item of a menu is specified with an </a:t>
            </a:r>
            <a:r>
              <a:rPr lang="en-US" altLang="en-US" sz="6200" dirty="0"/>
              <a:t>&lt;option&gt;</a:t>
            </a:r>
            <a:r>
              <a:rPr lang="en-US" altLang="en-US" sz="6200" b="0" dirty="0"/>
              <a:t> tag, whose pure text content (no tags) is the value of the item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  <a:buSzTx/>
            </a:pPr>
            <a:r>
              <a:rPr lang="en-US" altLang="en-US" sz="6200" b="0" dirty="0"/>
              <a:t>An </a:t>
            </a:r>
            <a:r>
              <a:rPr lang="en-US" altLang="en-US" sz="6200" dirty="0"/>
              <a:t>&lt;option&gt;</a:t>
            </a:r>
            <a:r>
              <a:rPr lang="en-US" altLang="en-US" sz="6200" b="0" dirty="0"/>
              <a:t> tag can include the </a:t>
            </a:r>
            <a:r>
              <a:rPr lang="en-US" altLang="en-US" sz="6200" dirty="0"/>
              <a:t>selected</a:t>
            </a:r>
            <a:r>
              <a:rPr lang="en-US" altLang="en-US" sz="6200" b="0" dirty="0"/>
              <a:t> attribute, which when assigned </a:t>
            </a:r>
            <a:r>
              <a:rPr lang="en-US" altLang="en-US" sz="6200" dirty="0"/>
              <a:t>"selected” </a:t>
            </a:r>
            <a:r>
              <a:rPr lang="en-US" altLang="en-US" sz="6200" b="0" dirty="0"/>
              <a:t>specifies that the item is preselected</a:t>
            </a:r>
          </a:p>
          <a:p>
            <a:pPr lvl="1">
              <a:lnSpc>
                <a:spcPct val="110000"/>
              </a:lnSpc>
              <a:spcBef>
                <a:spcPct val="20000"/>
              </a:spcBef>
              <a:buSzTx/>
            </a:pPr>
            <a:endParaRPr lang="en-US" altLang="en-US" sz="3100" b="0" dirty="0"/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/>
              <a:t>Grocery Menu - milk, bread, eggs, cheese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 action = ""&gt;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&lt;p&gt;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  With size = 1 (the default)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&lt;select name = "groceries"&gt; 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&lt;option&gt; milk &lt;/option&gt;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&lt;option&gt; bread &lt;/option&gt;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&lt;option&gt; eggs &lt;/option&gt;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&lt;option&gt; cheese &lt;/option&gt;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&lt;/select&gt;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  &lt;/p&gt;</a:t>
            </a:r>
          </a:p>
          <a:p>
            <a:pPr>
              <a:lnSpc>
                <a:spcPct val="11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4900" dirty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  <a:endParaRPr lang="en-US" altLang="en-US" sz="4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7B6428-6B4B-4796-BAC2-7E08C77165E7}"/>
              </a:ext>
            </a:extLst>
          </p:cNvPr>
          <p:cNvCxnSpPr>
            <a:cxnSpLocks/>
          </p:cNvCxnSpPr>
          <p:nvPr/>
        </p:nvCxnSpPr>
        <p:spPr>
          <a:xfrm>
            <a:off x="137708" y="1410400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51C8A52F-2E22-6738-2880-DF2B4940445A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782169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Forms (continued)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r>
              <a:rPr lang="en-US" altLang="en-US" sz="1400" i="1">
                <a:latin typeface="Arial" panose="020B0604020202020204" pitchFamily="34" charset="0"/>
              </a:rPr>
              <a:t>Widgets </a:t>
            </a:r>
            <a:r>
              <a:rPr lang="en-US" altLang="en-US" sz="1400">
                <a:latin typeface="Arial" panose="020B0604020202020204" pitchFamily="34" charset="0"/>
              </a:rPr>
              <a:t>(continued)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  <a:buSzTx/>
            </a:pPr>
            <a:r>
              <a:rPr lang="en-US" altLang="en-US" sz="1400">
                <a:latin typeface="Arial" panose="020B0604020202020204" pitchFamily="34" charset="0"/>
              </a:rPr>
              <a:t>After clicking the menu: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Char char="-"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endParaRPr lang="en-US" altLang="en-US"/>
          </a:p>
          <a:p>
            <a:pPr>
              <a:spcBef>
                <a:spcPct val="20000"/>
              </a:spcBef>
            </a:pPr>
            <a:endParaRPr lang="en-US" altLang="en-US"/>
          </a:p>
          <a:p>
            <a:pPr>
              <a:spcBef>
                <a:spcPct val="20000"/>
              </a:spcBef>
            </a:pPr>
            <a:endParaRPr lang="en-US" altLang="en-US"/>
          </a:p>
          <a:p>
            <a:pPr>
              <a:spcBef>
                <a:spcPct val="20000"/>
              </a:spcBef>
            </a:pPr>
            <a:endParaRPr lang="en-US" altLang="en-US"/>
          </a:p>
          <a:p>
            <a:pPr>
              <a:spcBef>
                <a:spcPct val="20000"/>
              </a:spcBef>
            </a:pPr>
            <a:endParaRPr lang="en-US" altLang="en-US"/>
          </a:p>
          <a:p>
            <a:pPr>
              <a:spcBef>
                <a:spcPct val="20000"/>
              </a:spcBef>
              <a:buSzTx/>
            </a:pPr>
            <a:r>
              <a:rPr lang="en-US" altLang="en-US" sz="1400">
                <a:latin typeface="Arial" panose="020B0604020202020204" pitchFamily="34" charset="0"/>
              </a:rPr>
              <a:t>After changing </a:t>
            </a:r>
            <a:r>
              <a:rPr lang="en-US" altLang="en-US" sz="1200">
                <a:latin typeface="Courier New" panose="02070309020205020404" pitchFamily="49" charset="0"/>
              </a:rPr>
              <a:t>size</a:t>
            </a:r>
            <a:r>
              <a:rPr lang="en-US" altLang="en-US" sz="1400">
                <a:latin typeface="Arial" panose="020B0604020202020204" pitchFamily="34" charset="0"/>
              </a:rPr>
              <a:t> to 2:</a:t>
            </a:r>
          </a:p>
          <a:p>
            <a:pPr>
              <a:spcBef>
                <a:spcPct val="20000"/>
              </a:spcBef>
              <a:buSzTx/>
            </a:pPr>
            <a:endParaRPr lang="en-US" altLang="en-US" sz="1400">
              <a:latin typeface="Arial" panose="020B0604020202020204" pitchFamily="34" charset="0"/>
            </a:endParaRPr>
          </a:p>
          <a:p>
            <a:pPr>
              <a:spcBef>
                <a:spcPct val="20000"/>
              </a:spcBef>
            </a:pPr>
            <a:endParaRPr lang="en-US" altLang="en-US"/>
          </a:p>
        </p:txBody>
      </p:sp>
      <p:graphicFrame>
        <p:nvGraphicFramePr>
          <p:cNvPr id="137220" name="Object 4"/>
          <p:cNvGraphicFramePr>
            <a:graphicFrameLocks noChangeAspect="1"/>
          </p:cNvGraphicFramePr>
          <p:nvPr/>
        </p:nvGraphicFramePr>
        <p:xfrm>
          <a:off x="4495800" y="1838740"/>
          <a:ext cx="5867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152644" imgH="1287780" progId="Word.Document.8">
                  <p:embed/>
                </p:oleObj>
              </mc:Choice>
              <mc:Fallback>
                <p:oleObj name="Document" r:id="rId2" imgW="5152644" imgH="128778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838740"/>
                        <a:ext cx="58674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1" name="Object 5"/>
          <p:cNvGraphicFramePr>
            <a:graphicFrameLocks noChangeAspect="1"/>
          </p:cNvGraphicFramePr>
          <p:nvPr/>
        </p:nvGraphicFramePr>
        <p:xfrm>
          <a:off x="4572000" y="3429001"/>
          <a:ext cx="57912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5154168" imgH="1655064" progId="Word.Document.8">
                  <p:embed/>
                </p:oleObj>
              </mc:Choice>
              <mc:Fallback>
                <p:oleObj name="Document" r:id="rId4" imgW="5154168" imgH="1655064" progId="Word.Document.8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429001"/>
                        <a:ext cx="57912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222" name="Object 6"/>
          <p:cNvGraphicFramePr>
            <a:graphicFrameLocks noChangeAspect="1"/>
          </p:cNvGraphicFramePr>
          <p:nvPr/>
        </p:nvGraphicFramePr>
        <p:xfrm>
          <a:off x="4572000" y="5466056"/>
          <a:ext cx="57150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5154168" imgH="1261872" progId="Word.Document.8">
                  <p:embed/>
                </p:oleObj>
              </mc:Choice>
              <mc:Fallback>
                <p:oleObj name="Document" r:id="rId6" imgW="5154168" imgH="1261872" progId="Word.Document.8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66056"/>
                        <a:ext cx="57150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5E0F9B8-6F8A-4FAA-896B-A5D3DFEEB76A}"/>
              </a:ext>
            </a:extLst>
          </p:cNvPr>
          <p:cNvCxnSpPr>
            <a:cxnSpLocks/>
          </p:cNvCxnSpPr>
          <p:nvPr/>
        </p:nvCxnSpPr>
        <p:spPr>
          <a:xfrm>
            <a:off x="0" y="1529518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A486B73E-EF31-03B6-AF2E-81277F0D88D6}"/>
              </a:ext>
            </a:extLst>
          </p:cNvPr>
          <p:cNvPicPr preferRelativeResize="0"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29393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Forms (continued)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2143" y="169068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b="1" dirty="0"/>
              <a:t>5. Text areas </a:t>
            </a:r>
            <a:r>
              <a:rPr lang="en-US" altLang="en-US" sz="2400" b="0" dirty="0"/>
              <a:t>- created with </a:t>
            </a:r>
            <a:r>
              <a:rPr lang="en-US" altLang="en-US" sz="2400" dirty="0"/>
              <a:t>&lt;</a:t>
            </a:r>
            <a:r>
              <a:rPr lang="en-US" altLang="en-US" sz="2400" dirty="0" err="1"/>
              <a:t>textarea</a:t>
            </a:r>
            <a:r>
              <a:rPr lang="en-US" altLang="en-US" sz="2400" dirty="0"/>
              <a:t>&gt;</a:t>
            </a:r>
            <a:endParaRPr lang="en-US" altLang="en-US" sz="2400" b="0" dirty="0"/>
          </a:p>
          <a:p>
            <a:pPr lvl="1"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sz="2000" b="0" dirty="0"/>
              <a:t>Usually include the </a:t>
            </a:r>
            <a:r>
              <a:rPr lang="en-US" altLang="en-US" sz="2000" dirty="0"/>
              <a:t>rows</a:t>
            </a:r>
            <a:r>
              <a:rPr lang="en-US" altLang="en-US" sz="2000" b="0" dirty="0"/>
              <a:t> and </a:t>
            </a:r>
            <a:r>
              <a:rPr lang="en-US" altLang="en-US" sz="2000" dirty="0"/>
              <a:t>cols</a:t>
            </a:r>
            <a:r>
              <a:rPr lang="en-US" altLang="en-US" sz="2000" b="0" dirty="0"/>
              <a:t> attributes to specify the size of the text area</a:t>
            </a:r>
          </a:p>
          <a:p>
            <a:pPr lvl="1"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sz="2000" b="0" dirty="0"/>
              <a:t>Default text can be included as the content of </a:t>
            </a:r>
            <a:r>
              <a:rPr lang="en-US" altLang="en-US" dirty="0"/>
              <a:t>&lt;</a:t>
            </a:r>
            <a:r>
              <a:rPr lang="en-US" altLang="en-US" dirty="0" err="1"/>
              <a:t>textarea</a:t>
            </a:r>
            <a:r>
              <a:rPr lang="en-US" altLang="en-US" dirty="0"/>
              <a:t>&gt;</a:t>
            </a:r>
            <a:endParaRPr lang="en-US" altLang="en-US" b="0" dirty="0"/>
          </a:p>
          <a:p>
            <a:pPr lvl="1">
              <a:lnSpc>
                <a:spcPct val="100000"/>
              </a:lnSpc>
              <a:spcBef>
                <a:spcPct val="20000"/>
              </a:spcBef>
              <a:buSzTx/>
            </a:pPr>
            <a:r>
              <a:rPr lang="en-US" altLang="en-US" sz="2000" b="0" dirty="0"/>
              <a:t>Scrolling is implicit if the area is overfilled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/>
              <a:t>Please provide your employment aspirations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 action = ""&gt;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&lt;p&gt;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name = "aspirations"  rows = "3”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cols = "40"&gt;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(Be brief and concise) 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&lt;/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&lt;/p&gt;</a:t>
            </a:r>
          </a:p>
          <a:p>
            <a:pPr>
              <a:lnSpc>
                <a:spcPct val="100000"/>
              </a:lnSpc>
              <a:spcBef>
                <a:spcPct val="20000"/>
              </a:spcBef>
              <a:buSzTx/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&lt;/form&gt;</a:t>
            </a:r>
          </a:p>
        </p:txBody>
      </p:sp>
      <p:graphicFrame>
        <p:nvGraphicFramePr>
          <p:cNvPr id="138244" name="Object 4"/>
          <p:cNvGraphicFramePr>
            <a:graphicFrameLocks noChangeAspect="1"/>
          </p:cNvGraphicFramePr>
          <p:nvPr/>
        </p:nvGraphicFramePr>
        <p:xfrm>
          <a:off x="4953001" y="5153026"/>
          <a:ext cx="53244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77256" imgH="1283208" progId="Word.Document.8">
                  <p:embed/>
                </p:oleObj>
              </mc:Choice>
              <mc:Fallback>
                <p:oleObj name="Document" r:id="rId2" imgW="5477256" imgH="1283208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5153026"/>
                        <a:ext cx="53244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BBBF99-2C62-4D45-8A8E-F8F3387557F3}"/>
              </a:ext>
            </a:extLst>
          </p:cNvPr>
          <p:cNvCxnSpPr>
            <a:cxnSpLocks/>
          </p:cNvCxnSpPr>
          <p:nvPr/>
        </p:nvCxnSpPr>
        <p:spPr>
          <a:xfrm>
            <a:off x="0" y="1398963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3A417947-DB07-1B2E-B53B-4FBCC6780D0C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8786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en-US" dirty="0"/>
              <a:t>Forms (continued)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2535" y="954202"/>
            <a:ext cx="11031265" cy="463945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SzTx/>
              <a:buNone/>
            </a:pPr>
            <a:endParaRPr lang="en-US" altLang="en-US" sz="2400" b="0" dirty="0"/>
          </a:p>
          <a:p>
            <a:pPr marL="457200" indent="-457200">
              <a:lnSpc>
                <a:spcPct val="120000"/>
              </a:lnSpc>
              <a:buSzTx/>
              <a:buNone/>
            </a:pPr>
            <a:r>
              <a:rPr lang="en-US" altLang="en-US" sz="2400" b="1" i="1" dirty="0"/>
              <a:t>6. </a:t>
            </a:r>
            <a:r>
              <a:rPr lang="en-US" altLang="en-US" sz="2400" b="1" dirty="0"/>
              <a:t>Reset and Submit buttons</a:t>
            </a:r>
          </a:p>
          <a:p>
            <a:pPr marL="800100" lvl="1" indent="-342900">
              <a:lnSpc>
                <a:spcPct val="120000"/>
              </a:lnSpc>
              <a:buSzTx/>
            </a:pPr>
            <a:r>
              <a:rPr lang="en-US" altLang="en-US" b="0" dirty="0"/>
              <a:t>Both are created with </a:t>
            </a:r>
            <a:r>
              <a:rPr lang="en-US" altLang="en-US" dirty="0"/>
              <a:t>&lt;input&gt;</a:t>
            </a:r>
            <a:endParaRPr lang="en-US" altLang="en-US" b="0" dirty="0"/>
          </a:p>
          <a:p>
            <a:pPr marL="457200" indent="-457200">
              <a:lnSpc>
                <a:spcPct val="120000"/>
              </a:lnSpc>
              <a:buSzTx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 = "reset"  value = "Reset Form"&gt;</a:t>
            </a:r>
          </a:p>
          <a:p>
            <a:pPr marL="457200" indent="-457200">
              <a:lnSpc>
                <a:spcPct val="120000"/>
              </a:lnSpc>
              <a:buSzTx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&lt;input type = "submit”  value = "Submit Form"&gt;</a:t>
            </a:r>
          </a:p>
          <a:p>
            <a:pPr marL="457200" indent="-457200">
              <a:lnSpc>
                <a:spcPct val="120000"/>
              </a:lnSpc>
              <a:buSzTx/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lnSpc>
                <a:spcPct val="120000"/>
              </a:lnSpc>
              <a:buSzTx/>
            </a:pPr>
            <a:r>
              <a:rPr lang="en-US" altLang="en-US" sz="2400" b="0" dirty="0"/>
              <a:t>Submit has two actions:</a:t>
            </a:r>
          </a:p>
          <a:p>
            <a:pPr marL="800100" lvl="1" indent="-342900">
              <a:lnSpc>
                <a:spcPct val="120000"/>
              </a:lnSpc>
              <a:buSzTx/>
              <a:buFont typeface="Arial" panose="020B0604020202020204" pitchFamily="34" charset="0"/>
              <a:buAutoNum type="arabicPeriod"/>
            </a:pPr>
            <a:r>
              <a:rPr lang="en-US" altLang="en-US" b="0" dirty="0"/>
              <a:t>Encode the data of the form</a:t>
            </a:r>
          </a:p>
          <a:p>
            <a:pPr marL="800100" lvl="1" indent="-342900">
              <a:lnSpc>
                <a:spcPct val="120000"/>
              </a:lnSpc>
              <a:buSzTx/>
              <a:buFont typeface="Arial" panose="020B0604020202020204" pitchFamily="34" charset="0"/>
              <a:buAutoNum type="arabicPeriod"/>
            </a:pPr>
            <a:r>
              <a:rPr lang="en-US" altLang="en-US" b="0" dirty="0"/>
              <a:t>Request that the server execute the server-resident program specified as the value of the </a:t>
            </a:r>
            <a:r>
              <a:rPr lang="en-US" altLang="en-US" dirty="0"/>
              <a:t>action</a:t>
            </a:r>
            <a:r>
              <a:rPr lang="en-US" altLang="en-US" b="0" dirty="0"/>
              <a:t> attribute of </a:t>
            </a:r>
            <a:r>
              <a:rPr lang="en-US" altLang="en-US" dirty="0"/>
              <a:t>&lt;form&gt;</a:t>
            </a:r>
            <a:endParaRPr lang="en-US" altLang="en-US" b="0" dirty="0"/>
          </a:p>
          <a:p>
            <a:pPr marL="800100" lvl="1" indent="-342900">
              <a:lnSpc>
                <a:spcPct val="120000"/>
              </a:lnSpc>
              <a:buSzTx/>
            </a:pPr>
            <a:r>
              <a:rPr lang="en-US" altLang="en-US" b="0" dirty="0"/>
              <a:t>A Submit button is required in every form</a:t>
            </a:r>
          </a:p>
          <a:p>
            <a:pPr marL="457200" indent="-457200">
              <a:lnSpc>
                <a:spcPct val="120000"/>
              </a:lnSpc>
              <a:buSzTx/>
              <a:buNone/>
            </a:pPr>
            <a:endParaRPr lang="en-US" altLang="en-US" sz="2400" b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248DE8-EFB4-4AB8-823B-B2146E35F8A9}"/>
              </a:ext>
            </a:extLst>
          </p:cNvPr>
          <p:cNvCxnSpPr>
            <a:cxnSpLocks/>
          </p:cNvCxnSpPr>
          <p:nvPr/>
        </p:nvCxnSpPr>
        <p:spPr>
          <a:xfrm>
            <a:off x="0" y="1410400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02577474-1333-417B-AB86-D3FEE48E4F56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1588713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93673" y="1636933"/>
            <a:ext cx="7957600" cy="4841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HTML5 specifications introduced new Input types </a:t>
            </a:r>
          </a:p>
          <a:p>
            <a:pPr lvl="1"/>
            <a:r>
              <a:rPr lang="en-US" dirty="0"/>
              <a:t>email :  email address</a:t>
            </a:r>
          </a:p>
          <a:p>
            <a:pPr lvl="1"/>
            <a:r>
              <a:rPr lang="en-US" dirty="0"/>
              <a:t>number: </a:t>
            </a:r>
            <a:r>
              <a:rPr lang="en-US" dirty="0" err="1"/>
              <a:t>spinbox</a:t>
            </a:r>
            <a:endParaRPr lang="en-US" dirty="0"/>
          </a:p>
          <a:p>
            <a:pPr lvl="1"/>
            <a:r>
              <a:rPr lang="en-US" dirty="0"/>
              <a:t>range: slider</a:t>
            </a:r>
          </a:p>
          <a:p>
            <a:pPr lvl="1"/>
            <a:r>
              <a:rPr lang="en-US" dirty="0" err="1"/>
              <a:t>url</a:t>
            </a:r>
            <a:r>
              <a:rPr lang="en-US" dirty="0"/>
              <a:t>: web addresses</a:t>
            </a:r>
          </a:p>
          <a:p>
            <a:pPr lvl="1"/>
            <a:r>
              <a:rPr lang="en-US" dirty="0"/>
              <a:t>color: color pickers</a:t>
            </a:r>
          </a:p>
          <a:p>
            <a:pPr lvl="1"/>
            <a:r>
              <a:rPr lang="en-US" dirty="0"/>
              <a:t>search: search boxes</a:t>
            </a:r>
          </a:p>
          <a:p>
            <a:pPr lvl="1"/>
            <a:r>
              <a:rPr lang="en-US" dirty="0"/>
              <a:t>date: date</a:t>
            </a:r>
          </a:p>
          <a:p>
            <a:pPr lvl="1"/>
            <a:r>
              <a:rPr lang="en-US" dirty="0"/>
              <a:t>month: month</a:t>
            </a:r>
          </a:p>
          <a:p>
            <a:pPr lvl="1"/>
            <a:r>
              <a:rPr lang="en-US" dirty="0"/>
              <a:t>time: time</a:t>
            </a:r>
          </a:p>
          <a:p>
            <a:pPr lvl="1"/>
            <a:r>
              <a:rPr lang="en-US" dirty="0"/>
              <a:t>week: week</a:t>
            </a:r>
          </a:p>
          <a:p>
            <a:pPr lvl="1"/>
            <a:r>
              <a:rPr lang="en-US" dirty="0" err="1"/>
              <a:t>datetime</a:t>
            </a:r>
            <a:r>
              <a:rPr lang="en-US" dirty="0"/>
              <a:t>: combination of date and time.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2">
                    <a:lumMod val="75000"/>
                  </a:schemeClr>
                </a:solidFill>
              </a:rPr>
              <a:t>HTML5 – New Input widgets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HTML – Forms</a:t>
            </a:r>
          </a:p>
        </p:txBody>
      </p: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5ABEDE47-082B-614E-5FC7-6645CCADBB0E}"/>
              </a:ext>
            </a:extLst>
          </p:cNvPr>
          <p:cNvPicPr preferRelativeResize="0"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5611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HTML5: Input - e-mail</a:t>
            </a:r>
          </a:p>
        </p:txBody>
      </p:sp>
      <p:sp>
        <p:nvSpPr>
          <p:cNvPr id="58371" name="Rectangle 2"/>
          <p:cNvSpPr>
            <a:spLocks noGrp="1" noChangeArrowheads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The email type is used for input fields that should contain an e-mail address.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The value of the email field is automatically validated when the form is submitted.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 marL="0" indent="0" algn="ctr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3000" dirty="0">
                <a:solidFill>
                  <a:schemeClr val="accent2"/>
                </a:solidFill>
              </a:rPr>
              <a:t>E-mail: &lt;input type="email" name="</a:t>
            </a:r>
            <a:r>
              <a:rPr lang="en-GB" sz="3000" dirty="0" err="1">
                <a:solidFill>
                  <a:schemeClr val="accent2"/>
                </a:solidFill>
              </a:rPr>
              <a:t>user_email</a:t>
            </a:r>
            <a:r>
              <a:rPr lang="en-GB" sz="3000" dirty="0">
                <a:solidFill>
                  <a:schemeClr val="accent2"/>
                </a:solidFill>
              </a:rPr>
              <a:t>" /&gt;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59B7FE9-8319-483C-9EC5-7E2CAFF9826A}"/>
              </a:ext>
            </a:extLst>
          </p:cNvPr>
          <p:cNvCxnSpPr>
            <a:cxnSpLocks/>
          </p:cNvCxnSpPr>
          <p:nvPr/>
        </p:nvCxnSpPr>
        <p:spPr>
          <a:xfrm>
            <a:off x="0" y="1529518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36CA128F-8F5D-B3CA-8C53-7C6FC9F95222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98490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HTML5: Input - </a:t>
            </a:r>
            <a:r>
              <a:rPr lang="en-GB" dirty="0" err="1">
                <a:ea typeface="+mj-ea"/>
              </a:rPr>
              <a:t>url</a:t>
            </a:r>
            <a:endParaRPr lang="en-GB" dirty="0">
              <a:ea typeface="+mj-ea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The </a:t>
            </a:r>
            <a:r>
              <a:rPr lang="en-GB" sz="2540" dirty="0" err="1"/>
              <a:t>url</a:t>
            </a:r>
            <a:r>
              <a:rPr lang="en-GB" sz="2540" dirty="0"/>
              <a:t> type is used for input fields that should contain a URL address.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The value of the </a:t>
            </a:r>
            <a:r>
              <a:rPr lang="en-GB" sz="2540" dirty="0" err="1"/>
              <a:t>url</a:t>
            </a:r>
            <a:r>
              <a:rPr lang="en-GB" sz="2540" dirty="0"/>
              <a:t> field is automatically validated when the form is submitted.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 marL="0" indent="0" algn="ctr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>
                <a:solidFill>
                  <a:schemeClr val="accent2"/>
                </a:solidFill>
              </a:rPr>
              <a:t>Homepage: &lt;input type="</a:t>
            </a:r>
            <a:r>
              <a:rPr lang="en-GB" sz="2540" dirty="0" err="1">
                <a:solidFill>
                  <a:schemeClr val="accent2"/>
                </a:solidFill>
              </a:rPr>
              <a:t>url</a:t>
            </a:r>
            <a:r>
              <a:rPr lang="en-GB" sz="2540" dirty="0">
                <a:solidFill>
                  <a:schemeClr val="accent2"/>
                </a:solidFill>
              </a:rPr>
              <a:t>" name="</a:t>
            </a:r>
            <a:r>
              <a:rPr lang="en-GB" sz="2540" dirty="0" err="1">
                <a:solidFill>
                  <a:schemeClr val="accent2"/>
                </a:solidFill>
              </a:rPr>
              <a:t>user_url</a:t>
            </a:r>
            <a:r>
              <a:rPr lang="en-GB" sz="2540" dirty="0">
                <a:solidFill>
                  <a:schemeClr val="accent2"/>
                </a:solidFill>
              </a:rPr>
              <a:t>" /&gt;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C40FF3-B4E0-4C74-A459-28B55FB03808}"/>
              </a:ext>
            </a:extLst>
          </p:cNvPr>
          <p:cNvCxnSpPr>
            <a:cxnSpLocks/>
          </p:cNvCxnSpPr>
          <p:nvPr/>
        </p:nvCxnSpPr>
        <p:spPr>
          <a:xfrm>
            <a:off x="0" y="1690688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D47D3DB4-6C2A-30AC-58E4-942444B6DD75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38269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HTML5: Input - number</a:t>
            </a:r>
          </a:p>
        </p:txBody>
      </p:sp>
      <p:sp>
        <p:nvSpPr>
          <p:cNvPr id="60419" name="Rectangle 2"/>
          <p:cNvSpPr>
            <a:spLocks noGrp="1" noChangeArrowheads="1"/>
          </p:cNvSpPr>
          <p:nvPr>
            <p:ph idx="1"/>
          </p:nvPr>
        </p:nvSpPr>
        <p:spPr>
          <a:xfrm>
            <a:off x="581190" y="1822687"/>
            <a:ext cx="11029615" cy="2736061"/>
          </a:xfrm>
        </p:spPr>
        <p:txBody>
          <a:bodyPr anchor="ctr">
            <a:normAutofit/>
          </a:bodyPr>
          <a:lstStyle/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The number type is used for input fields that should contain a numeric value.</a:t>
            </a:r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Set restrictions on what numbers are accepted:</a:t>
            </a:r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>
                <a:solidFill>
                  <a:schemeClr val="accent2"/>
                </a:solidFill>
              </a:rPr>
              <a:t>Points: &lt;input type="number" name="points" min="1" max="10" /&gt;</a:t>
            </a:r>
          </a:p>
        </p:txBody>
      </p:sp>
      <p:pic>
        <p:nvPicPr>
          <p:cNvPr id="60420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6887" y="4876006"/>
            <a:ext cx="7418219" cy="164753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F066CA-B40A-4E23-9C10-95199AC39CC9}"/>
              </a:ext>
            </a:extLst>
          </p:cNvPr>
          <p:cNvCxnSpPr>
            <a:cxnSpLocks/>
          </p:cNvCxnSpPr>
          <p:nvPr/>
        </p:nvCxnSpPr>
        <p:spPr>
          <a:xfrm>
            <a:off x="0" y="1467374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D061DCD9-CA9C-7691-4AEF-3A63393154DA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6884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HTML5: Input - range</a:t>
            </a:r>
          </a:p>
        </p:txBody>
      </p:sp>
      <p:sp>
        <p:nvSpPr>
          <p:cNvPr id="61443" name="Rectangle 2"/>
          <p:cNvSpPr>
            <a:spLocks noGrp="1" noChangeArrowheads="1"/>
          </p:cNvSpPr>
          <p:nvPr>
            <p:ph idx="1"/>
          </p:nvPr>
        </p:nvSpPr>
        <p:spPr/>
        <p:txBody>
          <a:bodyPr anchor="ctr"/>
          <a:lstStyle/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The range type is used for input fields that should contain a value from a range of numbers.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The range type is displayed as a slider bar.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You can also set restrictions on what numbers are accepted: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>
                <a:solidFill>
                  <a:schemeClr val="accent2"/>
                </a:solidFill>
              </a:rPr>
              <a:t>&lt;input type="range" name="points" min="1" max="10" /&gt;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1DE3C2-93EC-49F5-B9D0-8826912D46B5}"/>
              </a:ext>
            </a:extLst>
          </p:cNvPr>
          <p:cNvCxnSpPr>
            <a:cxnSpLocks/>
          </p:cNvCxnSpPr>
          <p:nvPr/>
        </p:nvCxnSpPr>
        <p:spPr>
          <a:xfrm>
            <a:off x="0" y="1502885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A75D233C-C9BE-9EC4-5C45-BC3E8AE10D55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6263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HTML5: Input – date pickers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HTML5 has several new input types for selecting date and time: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    </a:t>
            </a:r>
            <a:r>
              <a:rPr lang="en-GB" sz="2540" dirty="0">
                <a:solidFill>
                  <a:srgbClr val="DC2300"/>
                </a:solidFill>
              </a:rPr>
              <a:t>&gt;</a:t>
            </a:r>
            <a:r>
              <a:rPr lang="en-GB" sz="2540" dirty="0"/>
              <a:t> date - Selects date, month and year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    </a:t>
            </a:r>
            <a:r>
              <a:rPr lang="en-GB" sz="2540" dirty="0">
                <a:solidFill>
                  <a:srgbClr val="DC2300"/>
                </a:solidFill>
              </a:rPr>
              <a:t>&gt;</a:t>
            </a:r>
            <a:r>
              <a:rPr lang="en-GB" sz="2540" dirty="0"/>
              <a:t> month - Selects month and year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    </a:t>
            </a:r>
            <a:r>
              <a:rPr lang="en-GB" sz="2540" dirty="0">
                <a:solidFill>
                  <a:srgbClr val="DC2300"/>
                </a:solidFill>
              </a:rPr>
              <a:t>&gt;</a:t>
            </a:r>
            <a:r>
              <a:rPr lang="en-GB" sz="2540" dirty="0"/>
              <a:t> week - Selects week and year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    </a:t>
            </a:r>
            <a:r>
              <a:rPr lang="en-GB" sz="2540" dirty="0">
                <a:solidFill>
                  <a:srgbClr val="DC2300"/>
                </a:solidFill>
              </a:rPr>
              <a:t>&gt;</a:t>
            </a:r>
            <a:r>
              <a:rPr lang="en-GB" sz="2540" dirty="0"/>
              <a:t> time - Selects time (hour and minute)</a:t>
            </a:r>
            <a:r>
              <a:rPr lang="ar-SA" sz="2540" dirty="0"/>
              <a:t>‏</a:t>
            </a:r>
            <a:endParaRPr lang="en-GB" sz="2540" dirty="0"/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    </a:t>
            </a:r>
            <a:r>
              <a:rPr lang="en-GB" sz="2540" dirty="0">
                <a:solidFill>
                  <a:srgbClr val="DC2300"/>
                </a:solidFill>
              </a:rPr>
              <a:t>&gt;</a:t>
            </a:r>
            <a:r>
              <a:rPr lang="en-GB" sz="2540" dirty="0"/>
              <a:t> datetime - Selects time, date, month and year. This is now obsolete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540" dirty="0"/>
              <a:t>    </a:t>
            </a:r>
            <a:r>
              <a:rPr lang="en-GB" sz="2540" dirty="0">
                <a:solidFill>
                  <a:srgbClr val="DC2300"/>
                </a:solidFill>
              </a:rPr>
              <a:t>&gt;</a:t>
            </a:r>
            <a:r>
              <a:rPr lang="en-GB" sz="2540" dirty="0"/>
              <a:t> </a:t>
            </a:r>
            <a:r>
              <a:rPr lang="en-GB" sz="2540" dirty="0" err="1"/>
              <a:t>datetime</a:t>
            </a:r>
            <a:r>
              <a:rPr lang="en-GB" sz="2540" dirty="0"/>
              <a:t>-local - Selects time, date, month and</a:t>
            </a:r>
            <a:br>
              <a:rPr lang="en-GB" sz="2540" dirty="0"/>
            </a:br>
            <a:r>
              <a:rPr lang="en-GB" sz="2540" dirty="0"/>
              <a:t>       year (local time)</a:t>
            </a:r>
            <a:r>
              <a:rPr lang="ar-SA" sz="2540" dirty="0"/>
              <a:t>‏</a:t>
            </a:r>
            <a:endParaRPr lang="en-GB" sz="2540" dirty="0"/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sz="254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2830CD-0F77-4B94-BE6F-7E18CA877716}"/>
              </a:ext>
            </a:extLst>
          </p:cNvPr>
          <p:cNvCxnSpPr>
            <a:cxnSpLocks/>
          </p:cNvCxnSpPr>
          <p:nvPr/>
        </p:nvCxnSpPr>
        <p:spPr>
          <a:xfrm>
            <a:off x="0" y="1398963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E27222A2-AB7B-1A41-7D03-5A0222BB9DD1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46658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HTML5: Input - search</a:t>
            </a:r>
          </a:p>
        </p:txBody>
      </p:sp>
      <p:sp>
        <p:nvSpPr>
          <p:cNvPr id="63491" name="Rectangle 2"/>
          <p:cNvSpPr>
            <a:spLocks noGrp="1" noChangeArrowheads="1"/>
          </p:cNvSpPr>
          <p:nvPr>
            <p:ph idx="1"/>
          </p:nvPr>
        </p:nvSpPr>
        <p:spPr>
          <a:xfrm>
            <a:off x="581192" y="2180496"/>
            <a:ext cx="11029615" cy="1689139"/>
          </a:xfrm>
        </p:spPr>
        <p:txBody>
          <a:bodyPr anchor="ctr">
            <a:normAutofit fontScale="92500"/>
          </a:bodyPr>
          <a:lstStyle/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dirty="0"/>
              <a:t>The search type is used for search fields like a site search or Google search.</a:t>
            </a:r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dirty="0"/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dirty="0"/>
              <a:t>The search field behaves like a regular text field.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97179C7-21A7-4DB1-B4B9-24997BDA97B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473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/>
              <a:t>HTML5: Input - search</a:t>
            </a: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65611B-AD97-4F93-B081-B1655A914706}"/>
              </a:ext>
            </a:extLst>
          </p:cNvPr>
          <p:cNvCxnSpPr>
            <a:cxnSpLocks/>
          </p:cNvCxnSpPr>
          <p:nvPr/>
        </p:nvCxnSpPr>
        <p:spPr>
          <a:xfrm>
            <a:off x="0" y="1520640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E98B556F-4F6D-DADD-DCA5-3DCB5576DF66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46307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 dirty="0">
                <a:ea typeface="+mj-ea"/>
              </a:rPr>
              <a:t>HTML5: Input – </a:t>
            </a:r>
            <a:r>
              <a:rPr lang="en-GB" dirty="0" err="1">
                <a:ea typeface="+mj-ea"/>
              </a:rPr>
              <a:t>color</a:t>
            </a:r>
            <a:r>
              <a:rPr lang="en-GB" dirty="0">
                <a:ea typeface="+mj-ea"/>
              </a:rPr>
              <a:t> picker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 idx="1"/>
          </p:nvPr>
        </p:nvSpPr>
        <p:spPr>
          <a:xfrm>
            <a:off x="741635" y="1708444"/>
            <a:ext cx="10515600" cy="4351338"/>
          </a:xfrm>
        </p:spPr>
        <p:txBody>
          <a:bodyPr anchor="ctr"/>
          <a:lstStyle/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dirty="0"/>
              <a:t>The </a:t>
            </a:r>
            <a:r>
              <a:rPr lang="en-GB" dirty="0" err="1"/>
              <a:t>color</a:t>
            </a:r>
            <a:r>
              <a:rPr lang="en-GB" dirty="0"/>
              <a:t> type is used for input fields that should contain a </a:t>
            </a:r>
            <a:r>
              <a:rPr lang="en-GB" dirty="0" err="1"/>
              <a:t>color</a:t>
            </a:r>
            <a:r>
              <a:rPr lang="en-GB" dirty="0"/>
              <a:t>.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dirty="0"/>
          </a:p>
          <a:p>
            <a:pPr>
              <a:spcAft>
                <a:spcPct val="0"/>
              </a:spcAft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dirty="0"/>
              <a:t>This input type will allow you to select a </a:t>
            </a:r>
            <a:r>
              <a:rPr lang="en-GB" dirty="0" err="1"/>
              <a:t>color</a:t>
            </a:r>
            <a:r>
              <a:rPr lang="en-GB" dirty="0"/>
              <a:t> from a </a:t>
            </a:r>
            <a:r>
              <a:rPr lang="en-GB" dirty="0" err="1"/>
              <a:t>color</a:t>
            </a:r>
            <a:r>
              <a:rPr lang="en-GB" dirty="0"/>
              <a:t> picker:</a:t>
            </a:r>
          </a:p>
          <a:p>
            <a:pPr marL="0" indent="0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endParaRPr lang="en-GB" dirty="0"/>
          </a:p>
          <a:p>
            <a:pPr marL="0" indent="0" algn="ctr">
              <a:spcAft>
                <a:spcPct val="0"/>
              </a:spcAft>
              <a:buNone/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</a:tabLst>
            </a:pPr>
            <a:r>
              <a:rPr lang="en-GB" sz="2722" dirty="0" err="1">
                <a:solidFill>
                  <a:schemeClr val="accent2"/>
                </a:solidFill>
              </a:rPr>
              <a:t>Color</a:t>
            </a:r>
            <a:r>
              <a:rPr lang="en-GB" sz="2722" dirty="0">
                <a:solidFill>
                  <a:schemeClr val="accent2"/>
                </a:solidFill>
              </a:rPr>
              <a:t>: &lt;input type="</a:t>
            </a:r>
            <a:r>
              <a:rPr lang="en-GB" sz="2722" dirty="0" err="1">
                <a:solidFill>
                  <a:schemeClr val="accent2"/>
                </a:solidFill>
              </a:rPr>
              <a:t>color</a:t>
            </a:r>
            <a:r>
              <a:rPr lang="en-GB" sz="2722" dirty="0">
                <a:solidFill>
                  <a:schemeClr val="accent2"/>
                </a:solidFill>
              </a:rPr>
              <a:t>" name="</a:t>
            </a:r>
            <a:r>
              <a:rPr lang="en-GB" sz="2722" dirty="0" err="1">
                <a:solidFill>
                  <a:schemeClr val="accent2"/>
                </a:solidFill>
              </a:rPr>
              <a:t>user_color</a:t>
            </a:r>
            <a:r>
              <a:rPr lang="en-GB" sz="2722" dirty="0">
                <a:solidFill>
                  <a:schemeClr val="accent2"/>
                </a:solidFill>
              </a:rPr>
              <a:t>" /&gt;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B5CF663-23C3-4E57-B61A-5B1AB741EAE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3473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6586" algn="l"/>
                <a:tab pos="1313170" algn="l"/>
                <a:tab pos="1969758" algn="l"/>
                <a:tab pos="2626344" algn="l"/>
                <a:tab pos="3282928" algn="l"/>
                <a:tab pos="3939516" algn="l"/>
                <a:tab pos="4596102" algn="l"/>
                <a:tab pos="5252687" algn="l"/>
                <a:tab pos="5909273" algn="l"/>
                <a:tab pos="6565860" algn="l"/>
                <a:tab pos="7222445" algn="l"/>
                <a:tab pos="7879031" algn="l"/>
              </a:tabLst>
              <a:defRPr/>
            </a:pPr>
            <a:r>
              <a:rPr lang="en-GB"/>
              <a:t>HTML5: Input – color picker</a:t>
            </a:r>
            <a:endParaRPr lang="en-GB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4180E2-6F86-46F8-A47D-0ABD37D527C9}"/>
              </a:ext>
            </a:extLst>
          </p:cNvPr>
          <p:cNvCxnSpPr>
            <a:cxnSpLocks/>
          </p:cNvCxnSpPr>
          <p:nvPr/>
        </p:nvCxnSpPr>
        <p:spPr>
          <a:xfrm>
            <a:off x="-8308" y="1529518"/>
            <a:ext cx="8300052" cy="0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oogle Shape;105;p2">
            <a:extLst>
              <a:ext uri="{FF2B5EF4-FFF2-40B4-BE49-F238E27FC236}">
                <a16:creationId xmlns:a16="http://schemas.microsoft.com/office/drawing/2014/main" id="{D6F58937-C484-8434-B1C4-6D1E579D0736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57235" y="10586"/>
            <a:ext cx="787128" cy="13989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990055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60537" y="404973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vinayj@pes.edu</a:t>
            </a:r>
            <a:endParaRPr lang="en-IN" sz="24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03FCF-7A6F-4612-88F7-18437FC4F2ED}"/>
              </a:ext>
            </a:extLst>
          </p:cNvPr>
          <p:cNvSpPr/>
          <p:nvPr/>
        </p:nvSpPr>
        <p:spPr>
          <a:xfrm>
            <a:off x="5460537" y="4573019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+91 80 2672 6622</a:t>
            </a:r>
            <a:endParaRPr lang="en-IN" sz="2400" dirty="0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6026" y="1653906"/>
            <a:ext cx="2140682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Vinay</a:t>
            </a:r>
            <a:r>
              <a:rPr lang="en-US" sz="2400" b="1" dirty="0"/>
              <a:t> Joshi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2584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Computer Science and 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2637</TotalTime>
  <Words>2381</Words>
  <Application>Microsoft Office PowerPoint</Application>
  <PresentationFormat>Widescreen</PresentationFormat>
  <Paragraphs>301</Paragraphs>
  <Slides>28</Slides>
  <Notes>11</Notes>
  <HiddenSlides>12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Arial</vt:lpstr>
      <vt:lpstr>Calibri</vt:lpstr>
      <vt:lpstr>Calibri Light</vt:lpstr>
      <vt:lpstr>Consolas</vt:lpstr>
      <vt:lpstr>Courier New</vt:lpstr>
      <vt:lpstr>Inter</vt:lpstr>
      <vt:lpstr>Söhne</vt:lpstr>
      <vt:lpstr>Söhne Mono</vt:lpstr>
      <vt:lpstr>Times New Roman</vt:lpstr>
      <vt:lpstr>Verdana</vt:lpstr>
      <vt:lpstr>Wingdings</vt:lpstr>
      <vt:lpstr>Office Theme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Forms (continued)</vt:lpstr>
      <vt:lpstr>Id attribute and name attribute</vt:lpstr>
      <vt:lpstr>PowerPoint Presentation</vt:lpstr>
      <vt:lpstr> Forms (continued)</vt:lpstr>
      <vt:lpstr> Forms (continued)</vt:lpstr>
      <vt:lpstr> Forms (continued)</vt:lpstr>
      <vt:lpstr>Forms (continued)</vt:lpstr>
      <vt:lpstr> Forms (continued)</vt:lpstr>
      <vt:lpstr>Forms (continued)</vt:lpstr>
      <vt:lpstr>Forms (continued)</vt:lpstr>
      <vt:lpstr>Forms (continued)</vt:lpstr>
      <vt:lpstr>PowerPoint Presentation</vt:lpstr>
      <vt:lpstr>HTML5: Input - e-mail</vt:lpstr>
      <vt:lpstr>HTML5: Input - url</vt:lpstr>
      <vt:lpstr>HTML5: Input - number</vt:lpstr>
      <vt:lpstr>HTML5: Input - range</vt:lpstr>
      <vt:lpstr>HTML5: Input – date pickers</vt:lpstr>
      <vt:lpstr>HTML5: Input - search</vt:lpstr>
      <vt:lpstr>HTML5: Input – color picker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Prahallad Nith</dc:creator>
  <cp:lastModifiedBy>Dr. Sarasvathi Ram</cp:lastModifiedBy>
  <cp:revision>185</cp:revision>
  <dcterms:created xsi:type="dcterms:W3CDTF">2019-05-30T23:14:36Z</dcterms:created>
  <dcterms:modified xsi:type="dcterms:W3CDTF">2024-08-09T13:10:24Z</dcterms:modified>
</cp:coreProperties>
</file>