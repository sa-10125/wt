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7" roundtripDataSignature="AMtx7mjePsZN9zPG+kKBRoggENgCRjoz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customschemas.google.com/relationships/presentationmetadata" Target="metadata"/><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oftuni.org/" TargetMode="External"/><Relationship Id="rId3" Type="http://schemas.openxmlformats.org/officeDocument/2006/relationships/hyperlink" Target="http://creativecommons.org/licenses/by-nc-sa/4.0/"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 name="Google Shape;12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9" name="Google Shape;12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 name="Google Shape;13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7" name="Google Shape;14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4" name="Google Shape;17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3" name="Google Shape;18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4" name="Google Shape;19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3" name="Google Shape;20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0" name="Google Shape;210;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9" name="Google Shape;219;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5" name="Google Shape;23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1" name="Google Shape;241;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2" name="Google Shape;242;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2" name="Google Shape;25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0" name="Google Shape;260;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8" name="Google Shape;268;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8" name="Google Shape;27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4" name="Google Shape;314;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7" name="Google Shape;347;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8" name="Google Shape;358;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3" name="Google Shape;40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
        <p:nvSpPr>
          <p:cNvPr id="404" name="Google Shape;404;p31:notes"/>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p>
            <a:pPr indent="0" lvl="0" marL="0" rtl="0" algn="l">
              <a:lnSpc>
                <a:spcPct val="100000"/>
              </a:lnSpc>
              <a:spcBef>
                <a:spcPts val="0"/>
              </a:spcBef>
              <a:spcAft>
                <a:spcPts val="0"/>
              </a:spcAft>
              <a:buSzPts val="1400"/>
              <a:buNone/>
            </a:pPr>
            <a:r>
              <a:rPr lang="en-US" sz="1000"/>
              <a:t>© Software University Foundation – </a:t>
            </a:r>
            <a:r>
              <a:rPr lang="en-US" sz="1000" u="sng">
                <a:solidFill>
                  <a:schemeClr val="hlink"/>
                </a:solidFill>
                <a:hlinkClick r:id="rId2"/>
              </a:rPr>
              <a:t>http://softuni.org</a:t>
            </a:r>
            <a:endParaRPr sz="1000"/>
          </a:p>
          <a:p>
            <a:pPr indent="0" lvl="0" marL="0" rtl="0" algn="l">
              <a:lnSpc>
                <a:spcPct val="100000"/>
              </a:lnSpc>
              <a:spcBef>
                <a:spcPts val="0"/>
              </a:spcBef>
              <a:spcAft>
                <a:spcPts val="0"/>
              </a:spcAft>
              <a:buSzPts val="1400"/>
              <a:buNone/>
            </a:pPr>
            <a:r>
              <a:rPr lang="en-US" sz="1000"/>
              <a:t>This work is licensed under the </a:t>
            </a:r>
            <a:r>
              <a:rPr lang="en-US" sz="1000" u="sng">
                <a:solidFill>
                  <a:schemeClr val="hlink"/>
                </a:solidFill>
                <a:hlinkClick r:id="rId3"/>
              </a:rPr>
              <a:t>Creative Commons Attribution-NonCommercial-ShareAlike</a:t>
            </a:r>
            <a:r>
              <a:rPr lang="en-US" sz="1000"/>
              <a:t> license.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3" name="Google Shape;413;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3" name="Google Shape;42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9" name="Google Shape;449;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7" name="Google Shape;45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0" name="Google Shape;480;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9" name="Google Shape;48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8" name="Google Shape;498;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7" name="Google Shape;50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5" name="Google Shape;515;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7" name="Google Shape;52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0" name="Google Shape;540;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8" name="Google Shape;56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7" name="Google Shape;577;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7" name="Shape 587"/>
        <p:cNvGrpSpPr/>
        <p:nvPr/>
      </p:nvGrpSpPr>
      <p:grpSpPr>
        <a:xfrm>
          <a:off x="0" y="0"/>
          <a:ext cx="0" cy="0"/>
          <a:chOff x="0" y="0"/>
          <a:chExt cx="0" cy="0"/>
        </a:xfrm>
      </p:grpSpPr>
      <p:sp>
        <p:nvSpPr>
          <p:cNvPr id="588" name="Google Shape;588;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9" name="Google Shape;589;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4" name="Google Shape;614;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4" name="Google Shape;624;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8" name="Google Shape;18;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5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5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6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1"/>
          <p:cNvSpPr/>
          <p:nvPr>
            <p:ph idx="2" type="pic"/>
          </p:nvPr>
        </p:nvSpPr>
        <p:spPr>
          <a:xfrm>
            <a:off x="5183188" y="987425"/>
            <a:ext cx="6172200" cy="4873625"/>
          </a:xfrm>
          <a:prstGeom prst="rect">
            <a:avLst/>
          </a:prstGeom>
          <a:noFill/>
          <a:ln>
            <a:noFill/>
          </a:ln>
        </p:spPr>
      </p:sp>
      <p:sp>
        <p:nvSpPr>
          <p:cNvPr id="68" name="Google Shape;68;p6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6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6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2.png"/><Relationship Id="rId4" Type="http://schemas.openxmlformats.org/officeDocument/2006/relationships/image" Target="../media/image4.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4.png"/><Relationship Id="rId5"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5.png"/><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8.png"/><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1.png"/><Relationship Id="rId4" Type="http://schemas.openxmlformats.org/officeDocument/2006/relationships/image" Target="../media/image21.png"/><Relationship Id="rId5" Type="http://schemas.openxmlformats.org/officeDocument/2006/relationships/image" Target="../media/image23.png"/><Relationship Id="rId6"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7.jpg"/><Relationship Id="rId4" Type="http://schemas.openxmlformats.org/officeDocument/2006/relationships/image" Target="../media/image17.jpg"/><Relationship Id="rId5" Type="http://schemas.openxmlformats.org/officeDocument/2006/relationships/image" Target="../media/image42.jpg"/><Relationship Id="rId6"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7.jpg"/><Relationship Id="rId4"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32.png"/><Relationship Id="rId4"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5.png"/><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37.png"/><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9.png"/><Relationship Id="rId4"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6.png"/><Relationship Id="rId4"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0.png"/><Relationship Id="rId4"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35.png"/><Relationship Id="rId4"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26.png"/><Relationship Id="rId4"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0.png"/><Relationship Id="rId4"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8.png"/><Relationship Id="rId4"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3.jpg"/><Relationship Id="rId4"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34.png"/><Relationship Id="rId4" Type="http://schemas.openxmlformats.org/officeDocument/2006/relationships/image" Target="../media/image41.png"/><Relationship Id="rId5"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38.png"/><Relationship Id="rId4" Type="http://schemas.openxmlformats.org/officeDocument/2006/relationships/image" Target="../media/image45.png"/><Relationship Id="rId5"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46.png"/><Relationship Id="rId4" Type="http://schemas.openxmlformats.org/officeDocument/2006/relationships/image" Target="../media/image43.png"/><Relationship Id="rId5"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9.png"/><Relationship Id="rId4"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4781916" y="1688267"/>
            <a:ext cx="7497214"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WEB TECHNOLOGIES</a:t>
            </a:r>
            <a:endParaRPr b="0" i="0" sz="1400" u="none" cap="none" strike="noStrike">
              <a:solidFill>
                <a:srgbClr val="000000"/>
              </a:solidFill>
              <a:latin typeface="Arial"/>
              <a:ea typeface="Arial"/>
              <a:cs typeface="Arial"/>
              <a:sym typeface="Arial"/>
            </a:endParaRPr>
          </a:p>
        </p:txBody>
      </p:sp>
      <p:sp>
        <p:nvSpPr>
          <p:cNvPr id="89" name="Google Shape;89;p1"/>
          <p:cNvSpPr/>
          <p:nvPr/>
        </p:nvSpPr>
        <p:spPr>
          <a:xfrm>
            <a:off x="4781916" y="2841955"/>
            <a:ext cx="7497214" cy="120032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2E75B5"/>
                </a:solidFill>
                <a:latin typeface="Calibri"/>
                <a:ea typeface="Calibri"/>
                <a:cs typeface="Calibri"/>
                <a:sym typeface="Calibri"/>
              </a:rPr>
              <a:t>CSS – Cascading Style Sheet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2E75B5"/>
                </a:solidFill>
                <a:latin typeface="Calibri"/>
                <a:ea typeface="Calibri"/>
                <a:cs typeface="Calibri"/>
                <a:sym typeface="Calibri"/>
              </a:rPr>
              <a:t>	  and Selectors</a:t>
            </a:r>
            <a:endParaRPr b="1" i="0" sz="3600" u="none" cap="none" strike="noStrike">
              <a:solidFill>
                <a:srgbClr val="2E75B5"/>
              </a:solidFill>
              <a:latin typeface="Calibri"/>
              <a:ea typeface="Calibri"/>
              <a:cs typeface="Calibri"/>
              <a:sym typeface="Calibri"/>
            </a:endParaRPr>
          </a:p>
        </p:txBody>
      </p:sp>
      <p:sp>
        <p:nvSpPr>
          <p:cNvPr id="90" name="Google Shape;90;p1"/>
          <p:cNvSpPr/>
          <p:nvPr/>
        </p:nvSpPr>
        <p:spPr>
          <a:xfrm>
            <a:off x="4781916" y="4415503"/>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1"/>
                </a:solidFill>
                <a:latin typeface="Calibri"/>
                <a:ea typeface="Calibri"/>
                <a:cs typeface="Calibri"/>
                <a:sym typeface="Calibri"/>
              </a:rPr>
              <a:t> </a:t>
            </a:r>
            <a:r>
              <a:rPr b="1" i="0" lang="en-US" sz="2400" u="none" cap="none" strike="noStrike">
                <a:solidFill>
                  <a:schemeClr val="dk1"/>
                </a:solidFill>
                <a:latin typeface="Calibri"/>
                <a:ea typeface="Calibri"/>
                <a:cs typeface="Calibri"/>
                <a:sym typeface="Calibri"/>
              </a:rPr>
              <a:t>Prof.Vinay Joshi </a:t>
            </a:r>
            <a:endParaRPr b="1" i="0" sz="2400" u="none" cap="none" strike="noStrike">
              <a:solidFill>
                <a:schemeClr val="dk1"/>
              </a:solidFill>
              <a:latin typeface="Calibri"/>
              <a:ea typeface="Calibri"/>
              <a:cs typeface="Calibri"/>
              <a:sym typeface="Calibri"/>
            </a:endParaRPr>
          </a:p>
        </p:txBody>
      </p:sp>
      <p:sp>
        <p:nvSpPr>
          <p:cNvPr id="91" name="Google Shape;91;p1"/>
          <p:cNvSpPr/>
          <p:nvPr/>
        </p:nvSpPr>
        <p:spPr>
          <a:xfrm>
            <a:off x="4781916" y="4877168"/>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grpSp>
        <p:nvGrpSpPr>
          <p:cNvPr id="92" name="Google Shape;92;p1"/>
          <p:cNvGrpSpPr/>
          <p:nvPr/>
        </p:nvGrpSpPr>
        <p:grpSpPr>
          <a:xfrm>
            <a:off x="313844" y="5489699"/>
            <a:ext cx="1066895" cy="1078155"/>
            <a:chOff x="313844" y="5489699"/>
            <a:chExt cx="1066895" cy="1078155"/>
          </a:xfrm>
        </p:grpSpPr>
        <p:sp>
          <p:nvSpPr>
            <p:cNvPr id="93" name="Google Shape;93;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4" name="Google Shape;94;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cxnSp>
        <p:nvCxnSpPr>
          <p:cNvPr id="95" name="Google Shape;95;p1"/>
          <p:cNvCxnSpPr/>
          <p:nvPr/>
        </p:nvCxnSpPr>
        <p:spPr>
          <a:xfrm flipH="1" rot="10800000">
            <a:off x="4781916" y="4112436"/>
            <a:ext cx="4581449" cy="1"/>
          </a:xfrm>
          <a:prstGeom prst="straightConnector1">
            <a:avLst/>
          </a:prstGeom>
          <a:noFill/>
          <a:ln cap="flat" cmpd="sng" w="38100">
            <a:solidFill>
              <a:srgbClr val="C55A11"/>
            </a:solidFill>
            <a:prstDash val="solid"/>
            <a:miter lim="800000"/>
            <a:headEnd len="sm" w="sm" type="none"/>
            <a:tailEnd len="sm" w="sm" type="none"/>
          </a:ln>
        </p:spPr>
      </p:cxnSp>
      <p:pic>
        <p:nvPicPr>
          <p:cNvPr id="96" name="Google Shape;96;p1"/>
          <p:cNvPicPr preferRelativeResize="0"/>
          <p:nvPr/>
        </p:nvPicPr>
        <p:blipFill rotWithShape="1">
          <a:blip r:embed="rId3">
            <a:alphaModFix/>
          </a:blip>
          <a:srcRect b="0" l="0" r="0" t="0"/>
          <a:stretch/>
        </p:blipFill>
        <p:spPr>
          <a:xfrm>
            <a:off x="1762298" y="1606241"/>
            <a:ext cx="2126719" cy="3550188"/>
          </a:xfrm>
          <a:prstGeom prst="rect">
            <a:avLst/>
          </a:prstGeom>
          <a:noFill/>
          <a:ln>
            <a:noFill/>
          </a:ln>
        </p:spPr>
      </p:pic>
      <p:grpSp>
        <p:nvGrpSpPr>
          <p:cNvPr id="97" name="Google Shape;97;p1"/>
          <p:cNvGrpSpPr/>
          <p:nvPr/>
        </p:nvGrpSpPr>
        <p:grpSpPr>
          <a:xfrm rot="10800000">
            <a:off x="10855702" y="266068"/>
            <a:ext cx="1066895" cy="1078155"/>
            <a:chOff x="313844" y="5489699"/>
            <a:chExt cx="1066895" cy="1078155"/>
          </a:xfrm>
        </p:grpSpPr>
        <p:sp>
          <p:nvSpPr>
            <p:cNvPr id="98" name="Google Shape;98;p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99" name="Google Shape;99;p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p2"/>
          <p:cNvPicPr preferRelativeResize="0"/>
          <p:nvPr/>
        </p:nvPicPr>
        <p:blipFill rotWithShape="1">
          <a:blip r:embed="rId3">
            <a:alphaModFix/>
          </a:blip>
          <a:srcRect b="0" l="0" r="0" t="0"/>
          <a:stretch/>
        </p:blipFill>
        <p:spPr>
          <a:xfrm>
            <a:off x="775233" y="1471218"/>
            <a:ext cx="4056147" cy="4940586"/>
          </a:xfrm>
          <a:prstGeom prst="rect">
            <a:avLst/>
          </a:prstGeom>
          <a:noFill/>
          <a:ln cap="flat" cmpd="sng" w="38100">
            <a:solidFill>
              <a:schemeClr val="accent1"/>
            </a:solidFill>
            <a:prstDash val="solid"/>
            <a:miter lim="800000"/>
            <a:headEnd len="sm" w="sm" type="none"/>
            <a:tailEnd len="sm" w="sm" type="none"/>
          </a:ln>
        </p:spPr>
      </p:pic>
      <p:pic>
        <p:nvPicPr>
          <p:cNvPr id="105" name="Google Shape;105;p2"/>
          <p:cNvPicPr preferRelativeResize="0"/>
          <p:nvPr/>
        </p:nvPicPr>
        <p:blipFill rotWithShape="1">
          <a:blip r:embed="rId4">
            <a:alphaModFix/>
          </a:blip>
          <a:srcRect b="0" l="0" r="0" t="0"/>
          <a:stretch/>
        </p:blipFill>
        <p:spPr>
          <a:xfrm>
            <a:off x="5712171" y="1471229"/>
            <a:ext cx="4144963" cy="4940586"/>
          </a:xfrm>
          <a:prstGeom prst="rect">
            <a:avLst/>
          </a:prstGeom>
          <a:noFill/>
          <a:ln cap="flat" cmpd="sng" w="38100">
            <a:solidFill>
              <a:schemeClr val="accent1"/>
            </a:solidFill>
            <a:prstDash val="solid"/>
            <a:miter lim="800000"/>
            <a:headEnd len="sm" w="sm" type="none"/>
            <a:tailEnd len="sm" w="sm" type="none"/>
          </a:ln>
        </p:spPr>
      </p:pic>
      <p:sp>
        <p:nvSpPr>
          <p:cNvPr id="106" name="Google Shape;106;p2"/>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Introduction</a:t>
            </a:r>
            <a:endParaRPr b="0" i="0" sz="1400" u="none" cap="none" strike="noStrike">
              <a:solidFill>
                <a:srgbClr val="000000"/>
              </a:solidFill>
              <a:latin typeface="Arial"/>
              <a:ea typeface="Arial"/>
              <a:cs typeface="Arial"/>
              <a:sym typeface="Arial"/>
            </a:endParaRPr>
          </a:p>
        </p:txBody>
      </p:sp>
      <p:cxnSp>
        <p:nvCxnSpPr>
          <p:cNvPr id="107" name="Google Shape;107;p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08" name="Google Shape;108;p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109" name="Google Shape;109;p2"/>
          <p:cNvPicPr preferRelativeResize="0"/>
          <p:nvPr/>
        </p:nvPicPr>
        <p:blipFill rotWithShape="1">
          <a:blip r:embed="rId5">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 name="Shape 113"/>
        <p:cNvGrpSpPr/>
        <p:nvPr/>
      </p:nvGrpSpPr>
      <p:grpSpPr>
        <a:xfrm>
          <a:off x="0" y="0"/>
          <a:ext cx="0" cy="0"/>
          <a:chOff x="0" y="0"/>
          <a:chExt cx="0" cy="0"/>
        </a:xfrm>
      </p:grpSpPr>
      <p:sp>
        <p:nvSpPr>
          <p:cNvPr id="114" name="Google Shape;114;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lang="en-US">
                <a:solidFill>
                  <a:srgbClr val="0070C0"/>
                </a:solidFill>
              </a:rPr>
              <a:t>Cascading Style Sheets</a:t>
            </a:r>
            <a:endParaRPr/>
          </a:p>
        </p:txBody>
      </p:sp>
      <p:sp>
        <p:nvSpPr>
          <p:cNvPr id="115" name="Google Shape;115;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The CSS1 specification was developed in 1996</a:t>
            </a:r>
            <a:endParaRPr/>
          </a:p>
          <a:p>
            <a:pPr indent="-228600" lvl="0" marL="228600" rtl="0" algn="l">
              <a:lnSpc>
                <a:spcPct val="90000"/>
              </a:lnSpc>
              <a:spcBef>
                <a:spcPts val="1000"/>
              </a:spcBef>
              <a:spcAft>
                <a:spcPts val="0"/>
              </a:spcAft>
              <a:buClr>
                <a:schemeClr val="dk1"/>
              </a:buClr>
              <a:buSzPts val="2400"/>
              <a:buChar char="•"/>
            </a:pPr>
            <a:r>
              <a:rPr lang="en-US" sz="2400"/>
              <a:t>CSS2 was released in 1998 </a:t>
            </a:r>
            <a:endParaRPr/>
          </a:p>
          <a:p>
            <a:pPr indent="-228600" lvl="0" marL="228600" rtl="0" algn="l">
              <a:lnSpc>
                <a:spcPct val="90000"/>
              </a:lnSpc>
              <a:spcBef>
                <a:spcPts val="1000"/>
              </a:spcBef>
              <a:spcAft>
                <a:spcPts val="0"/>
              </a:spcAft>
              <a:buClr>
                <a:schemeClr val="dk1"/>
              </a:buClr>
              <a:buSzPts val="2400"/>
              <a:buChar char="•"/>
            </a:pPr>
            <a:r>
              <a:rPr lang="en-US" sz="2400"/>
              <a:t>CSS3 was released in 1999 and presentation-style properties were added in it that allows you to build a presentation from documents.</a:t>
            </a:r>
            <a:endParaRPr/>
          </a:p>
          <a:p>
            <a:pPr indent="-228600" lvl="0" marL="228600" rtl="0" algn="l">
              <a:lnSpc>
                <a:spcPct val="90000"/>
              </a:lnSpc>
              <a:spcBef>
                <a:spcPts val="1000"/>
              </a:spcBef>
              <a:spcAft>
                <a:spcPts val="0"/>
              </a:spcAft>
              <a:buClr>
                <a:schemeClr val="dk1"/>
              </a:buClr>
              <a:buSzPts val="2400"/>
              <a:buChar char="•"/>
            </a:pPr>
            <a:r>
              <a:rPr lang="en-US" sz="2400"/>
              <a:t>Allows you to specify the </a:t>
            </a:r>
            <a:r>
              <a:rPr i="1" lang="en-US" sz="2400"/>
              <a:t>presentation </a:t>
            </a:r>
            <a:r>
              <a:rPr lang="en-US" sz="2400"/>
              <a:t>of elements on a web page (e.g., fonts, spacing, sizes, colors, positioning) </a:t>
            </a:r>
            <a:r>
              <a:rPr i="1" lang="en-US" sz="2400"/>
              <a:t>separately </a:t>
            </a:r>
            <a:r>
              <a:rPr lang="en-US" sz="2400"/>
              <a:t>from the document’s </a:t>
            </a:r>
            <a:r>
              <a:rPr i="1" lang="en-US" sz="2400"/>
              <a:t>structure and content </a:t>
            </a:r>
            <a:r>
              <a:rPr lang="en-US" sz="2400"/>
              <a:t>(section headers, body text, links, etc.).</a:t>
            </a:r>
            <a:endParaRPr/>
          </a:p>
          <a:p>
            <a:pPr indent="-228600" lvl="0" marL="228600" rtl="0" algn="l">
              <a:lnSpc>
                <a:spcPct val="90000"/>
              </a:lnSpc>
              <a:spcBef>
                <a:spcPts val="1000"/>
              </a:spcBef>
              <a:spcAft>
                <a:spcPts val="0"/>
              </a:spcAft>
              <a:buClr>
                <a:schemeClr val="dk1"/>
              </a:buClr>
              <a:buSzPts val="2400"/>
              <a:buChar char="•"/>
            </a:pPr>
            <a:r>
              <a:rPr lang="en-US" sz="2400"/>
              <a:t>Simplifies maintaining and modifying web pages, especially on large-scale websites.</a:t>
            </a:r>
            <a:endParaRPr/>
          </a:p>
          <a:p>
            <a:pPr indent="-76200" lvl="0" marL="228600" rtl="0" algn="l">
              <a:lnSpc>
                <a:spcPct val="90000"/>
              </a:lnSpc>
              <a:spcBef>
                <a:spcPts val="1000"/>
              </a:spcBef>
              <a:spcAft>
                <a:spcPts val="0"/>
              </a:spcAft>
              <a:buClr>
                <a:schemeClr val="dk1"/>
              </a:buClr>
              <a:buSzPts val="2400"/>
              <a:buNone/>
            </a:pPr>
            <a:r>
              <a:t/>
            </a:r>
            <a:endParaRPr sz="2400"/>
          </a:p>
        </p:txBody>
      </p:sp>
      <p:cxnSp>
        <p:nvCxnSpPr>
          <p:cNvPr id="116" name="Google Shape;116;p3"/>
          <p:cNvCxnSpPr/>
          <p:nvPr/>
        </p:nvCxnSpPr>
        <p:spPr>
          <a:xfrm flipH="1" rot="10800000">
            <a:off x="162003" y="1330426"/>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117" name="Google Shape;117;p3"/>
          <p:cNvPicPr preferRelativeResize="0"/>
          <p:nvPr/>
        </p:nvPicPr>
        <p:blipFill rotWithShape="1">
          <a:blip r:embed="rId3">
            <a:alphaModFix/>
          </a:blip>
          <a:srcRect b="0" l="0" r="0" t="0"/>
          <a:stretch/>
        </p:blipFill>
        <p:spPr>
          <a:xfrm>
            <a:off x="11212934" y="10586"/>
            <a:ext cx="844150" cy="13989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p4"/>
          <p:cNvPicPr preferRelativeResize="0"/>
          <p:nvPr/>
        </p:nvPicPr>
        <p:blipFill rotWithShape="1">
          <a:blip r:embed="rId3">
            <a:alphaModFix/>
          </a:blip>
          <a:srcRect b="0" l="0" r="0" t="0"/>
          <a:stretch/>
        </p:blipFill>
        <p:spPr>
          <a:xfrm>
            <a:off x="594632" y="1482288"/>
            <a:ext cx="8723704" cy="4902468"/>
          </a:xfrm>
          <a:prstGeom prst="rect">
            <a:avLst/>
          </a:prstGeom>
          <a:noFill/>
          <a:ln cap="flat" cmpd="sng" w="38100">
            <a:solidFill>
              <a:schemeClr val="accent1"/>
            </a:solidFill>
            <a:prstDash val="solid"/>
            <a:round/>
            <a:headEnd len="sm" w="sm" type="none"/>
            <a:tailEnd len="sm" w="sm" type="none"/>
          </a:ln>
        </p:spPr>
      </p:pic>
      <p:sp>
        <p:nvSpPr>
          <p:cNvPr id="123" name="Google Shape;123;p4"/>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Introduction</a:t>
            </a:r>
            <a:endParaRPr b="0" i="0" sz="1400" u="none" cap="none" strike="noStrike">
              <a:solidFill>
                <a:srgbClr val="000000"/>
              </a:solidFill>
              <a:latin typeface="Arial"/>
              <a:ea typeface="Arial"/>
              <a:cs typeface="Arial"/>
              <a:sym typeface="Arial"/>
            </a:endParaRPr>
          </a:p>
        </p:txBody>
      </p:sp>
      <p:cxnSp>
        <p:nvCxnSpPr>
          <p:cNvPr id="124" name="Google Shape;124;p4"/>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25" name="Google Shape;125;p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126" name="Google Shape;126;p4"/>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idx="1" type="body"/>
          </p:nvPr>
        </p:nvSpPr>
        <p:spPr>
          <a:xfrm>
            <a:off x="705853" y="1608471"/>
            <a:ext cx="8195563" cy="3855892"/>
          </a:xfrm>
          <a:prstGeom prst="rect">
            <a:avLst/>
          </a:prstGeom>
          <a:noFill/>
          <a:ln cap="flat" cmpd="sng" w="38100">
            <a:solidFill>
              <a:schemeClr val="accent5"/>
            </a:solidFill>
            <a:prstDash val="solid"/>
            <a:round/>
            <a:headEnd len="sm" w="sm" type="none"/>
            <a:tailEnd len="sm" w="sm" type="none"/>
          </a:ln>
        </p:spPr>
        <p:txBody>
          <a:bodyPr anchorCtr="0" anchor="t" bIns="45700" lIns="91425" spcFirstLastPara="1" rIns="91425" wrap="square" tIns="45700">
            <a:normAutofit/>
          </a:bodyPr>
          <a:lstStyle/>
          <a:p>
            <a:pPr indent="-609600" lvl="0" marL="609600" rtl="0" algn="l">
              <a:lnSpc>
                <a:spcPct val="90000"/>
              </a:lnSpc>
              <a:spcBef>
                <a:spcPts val="0"/>
              </a:spcBef>
              <a:spcAft>
                <a:spcPts val="0"/>
              </a:spcAft>
              <a:buClr>
                <a:schemeClr val="dk1"/>
              </a:buClr>
              <a:buSzPts val="2160"/>
              <a:buFont typeface="Noto Sans Symbols"/>
              <a:buAutoNum type="arabicParenR"/>
            </a:pPr>
            <a:r>
              <a:rPr lang="en-US" sz="2400"/>
              <a:t>Inline Style - CSS is placed directly into the HTML element.</a:t>
            </a:r>
            <a:endParaRPr/>
          </a:p>
          <a:p>
            <a:pPr indent="-472440" lvl="0" marL="609600" rtl="0" algn="l">
              <a:lnSpc>
                <a:spcPct val="90000"/>
              </a:lnSpc>
              <a:spcBef>
                <a:spcPts val="1000"/>
              </a:spcBef>
              <a:spcAft>
                <a:spcPts val="0"/>
              </a:spcAft>
              <a:buClr>
                <a:schemeClr val="dk1"/>
              </a:buClr>
              <a:buSzPts val="2160"/>
              <a:buFont typeface="Noto Sans Symbols"/>
              <a:buNone/>
            </a:pPr>
            <a:r>
              <a:t/>
            </a:r>
            <a:endParaRPr sz="2400"/>
          </a:p>
          <a:p>
            <a:pPr indent="-609600" lvl="0" marL="609600" rtl="0" algn="l">
              <a:lnSpc>
                <a:spcPct val="90000"/>
              </a:lnSpc>
              <a:spcBef>
                <a:spcPts val="1000"/>
              </a:spcBef>
              <a:spcAft>
                <a:spcPts val="0"/>
              </a:spcAft>
              <a:buClr>
                <a:schemeClr val="dk1"/>
              </a:buClr>
              <a:buSzPts val="2160"/>
              <a:buFont typeface="Noto Sans Symbols"/>
              <a:buAutoNum type="arabicParenR"/>
            </a:pPr>
            <a:r>
              <a:rPr lang="en-US" sz="2400"/>
              <a:t>Internal Style Sheet /Embedded Style Sheet - CSS is placed into a separate area within the &lt;head&gt; section of a web page using &lt;style&gt; tag.</a:t>
            </a:r>
            <a:endParaRPr/>
          </a:p>
          <a:p>
            <a:pPr indent="-472440" lvl="0" marL="609600" rtl="0" algn="l">
              <a:lnSpc>
                <a:spcPct val="90000"/>
              </a:lnSpc>
              <a:spcBef>
                <a:spcPts val="1000"/>
              </a:spcBef>
              <a:spcAft>
                <a:spcPts val="0"/>
              </a:spcAft>
              <a:buClr>
                <a:schemeClr val="dk1"/>
              </a:buClr>
              <a:buSzPts val="2160"/>
              <a:buFont typeface="Noto Sans Symbols"/>
              <a:buNone/>
            </a:pPr>
            <a:r>
              <a:t/>
            </a:r>
            <a:endParaRPr sz="2400"/>
          </a:p>
          <a:p>
            <a:pPr indent="-609600" lvl="0" marL="609600" rtl="0" algn="l">
              <a:lnSpc>
                <a:spcPct val="90000"/>
              </a:lnSpc>
              <a:spcBef>
                <a:spcPts val="1000"/>
              </a:spcBef>
              <a:spcAft>
                <a:spcPts val="0"/>
              </a:spcAft>
              <a:buClr>
                <a:schemeClr val="dk1"/>
              </a:buClr>
              <a:buSzPts val="2160"/>
              <a:buFont typeface="Noto Sans Symbols"/>
              <a:buAutoNum type="arabicParenR"/>
            </a:pPr>
            <a:r>
              <a:rPr lang="en-US" sz="2400"/>
              <a:t>External Style Sheet - CSS is placed into a separate file and "connected" to a web page.  </a:t>
            </a:r>
            <a:endParaRPr/>
          </a:p>
        </p:txBody>
      </p:sp>
      <p:sp>
        <p:nvSpPr>
          <p:cNvPr id="132" name="Google Shape;132;p5"/>
          <p:cNvSpPr/>
          <p:nvPr/>
        </p:nvSpPr>
        <p:spPr>
          <a:xfrm>
            <a:off x="452091" y="716066"/>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Three ways to include CSS</a:t>
            </a:r>
            <a:endParaRPr b="0" i="0" sz="1400" u="none" cap="none" strike="noStrike">
              <a:solidFill>
                <a:srgbClr val="000000"/>
              </a:solidFill>
              <a:latin typeface="Arial"/>
              <a:ea typeface="Arial"/>
              <a:cs typeface="Arial"/>
              <a:sym typeface="Arial"/>
            </a:endParaRPr>
          </a:p>
        </p:txBody>
      </p:sp>
      <p:cxnSp>
        <p:nvCxnSpPr>
          <p:cNvPr id="133" name="Google Shape;133;p5"/>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34" name="Google Shape;134;p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135" name="Google Shape;135;p5"/>
          <p:cNvPicPr preferRelativeResize="0"/>
          <p:nvPr/>
        </p:nvPicPr>
        <p:blipFill rotWithShape="1">
          <a:blip r:embed="rId3">
            <a:alphaModFix/>
          </a:blip>
          <a:srcRect b="0" l="0" r="0" t="0"/>
          <a:stretch/>
        </p:blipFill>
        <p:spPr>
          <a:xfrm>
            <a:off x="11072553" y="27211"/>
            <a:ext cx="940229" cy="13989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6"/>
          <p:cNvSpPr/>
          <p:nvPr/>
        </p:nvSpPr>
        <p:spPr>
          <a:xfrm>
            <a:off x="452091" y="716066"/>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cxnSp>
        <p:nvCxnSpPr>
          <p:cNvPr id="141" name="Google Shape;141;p6"/>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42" name="Google Shape;142;p6"/>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143" name="Google Shape;143;p6"/>
          <p:cNvPicPr preferRelativeResize="0"/>
          <p:nvPr>
            <p:ph idx="1" type="body"/>
          </p:nvPr>
        </p:nvPicPr>
        <p:blipFill rotWithShape="1">
          <a:blip r:embed="rId3">
            <a:alphaModFix/>
          </a:blip>
          <a:srcRect b="0" l="0" r="0" t="0"/>
          <a:stretch/>
        </p:blipFill>
        <p:spPr>
          <a:xfrm>
            <a:off x="561860" y="1531385"/>
            <a:ext cx="7645800" cy="4686600"/>
          </a:xfrm>
          <a:prstGeom prst="rect">
            <a:avLst/>
          </a:prstGeom>
          <a:noFill/>
          <a:ln cap="flat" cmpd="sng" w="38100">
            <a:solidFill>
              <a:schemeClr val="accent5"/>
            </a:solidFill>
            <a:prstDash val="solid"/>
            <a:round/>
            <a:headEnd len="sm" w="sm" type="none"/>
            <a:tailEnd len="sm" w="sm" type="none"/>
          </a:ln>
        </p:spPr>
      </p:pic>
      <p:pic>
        <p:nvPicPr>
          <p:cNvPr id="144" name="Google Shape;144;p6"/>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p:nvPr/>
        </p:nvSpPr>
        <p:spPr>
          <a:xfrm>
            <a:off x="452091" y="716066"/>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p:txBody>
      </p:sp>
      <p:cxnSp>
        <p:nvCxnSpPr>
          <p:cNvPr id="150" name="Google Shape;150;p7"/>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51" name="Google Shape;151;p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sp>
        <p:nvSpPr>
          <p:cNvPr id="152" name="Google Shape;152;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85750" lvl="0" marL="285750" rtl="0" algn="just">
              <a:lnSpc>
                <a:spcPct val="90000"/>
              </a:lnSpc>
              <a:spcBef>
                <a:spcPts val="0"/>
              </a:spcBef>
              <a:spcAft>
                <a:spcPts val="0"/>
              </a:spcAft>
              <a:buClr>
                <a:schemeClr val="dk1"/>
              </a:buClr>
              <a:buSzPts val="2800"/>
              <a:buFont typeface="Arial"/>
              <a:buChar char="•"/>
            </a:pPr>
            <a:r>
              <a:rPr lang="en-US" sz="2800"/>
              <a:t>Every CSS rule begins with a </a:t>
            </a:r>
            <a:r>
              <a:rPr b="1" lang="en-US" sz="2800"/>
              <a:t>selector</a:t>
            </a:r>
            <a:r>
              <a:rPr lang="en-US" sz="2800"/>
              <a:t>.</a:t>
            </a:r>
            <a:endParaRPr/>
          </a:p>
          <a:p>
            <a:pPr indent="-228600" lvl="0" marL="228600" rtl="0" algn="just">
              <a:lnSpc>
                <a:spcPct val="90000"/>
              </a:lnSpc>
              <a:spcBef>
                <a:spcPts val="1000"/>
              </a:spcBef>
              <a:spcAft>
                <a:spcPts val="0"/>
              </a:spcAft>
              <a:buClr>
                <a:schemeClr val="dk1"/>
              </a:buClr>
              <a:buSzPts val="2800"/>
              <a:buChar char="•"/>
            </a:pPr>
            <a:r>
              <a:rPr lang="en-US" sz="2800"/>
              <a:t> The selector identifies which element or elements in the HTML document will be affected by the declarations in the rule</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53" name="Google Shape;153;p7"/>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p:nvPr/>
        </p:nvSpPr>
        <p:spPr>
          <a:xfrm>
            <a:off x="452091" y="716066"/>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Properties</a:t>
            </a:r>
            <a:endParaRPr b="0" i="0" sz="1400" u="none" cap="none" strike="noStrike">
              <a:solidFill>
                <a:srgbClr val="000000"/>
              </a:solidFill>
              <a:latin typeface="Arial"/>
              <a:ea typeface="Arial"/>
              <a:cs typeface="Arial"/>
              <a:sym typeface="Arial"/>
            </a:endParaRPr>
          </a:p>
        </p:txBody>
      </p:sp>
      <p:cxnSp>
        <p:nvCxnSpPr>
          <p:cNvPr id="159" name="Google Shape;159;p8"/>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60" name="Google Shape;160;p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161" name="Google Shape;161;p8"/>
          <p:cNvPicPr preferRelativeResize="0"/>
          <p:nvPr>
            <p:ph idx="1" type="body"/>
          </p:nvPr>
        </p:nvPicPr>
        <p:blipFill rotWithShape="1">
          <a:blip r:embed="rId3">
            <a:alphaModFix/>
          </a:blip>
          <a:srcRect b="0" l="0" r="0" t="0"/>
          <a:stretch/>
        </p:blipFill>
        <p:spPr>
          <a:xfrm>
            <a:off x="605928" y="1398963"/>
            <a:ext cx="8659258" cy="5206795"/>
          </a:xfrm>
          <a:prstGeom prst="rect">
            <a:avLst/>
          </a:prstGeom>
          <a:noFill/>
          <a:ln cap="flat" cmpd="sng" w="9525">
            <a:solidFill>
              <a:schemeClr val="accent5"/>
            </a:solidFill>
            <a:prstDash val="solid"/>
            <a:round/>
            <a:headEnd len="sm" w="sm" type="none"/>
            <a:tailEnd len="sm" w="sm" type="none"/>
          </a:ln>
        </p:spPr>
      </p:pic>
      <p:pic>
        <p:nvPicPr>
          <p:cNvPr id="162" name="Google Shape;162;p8"/>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9"/>
          <p:cNvSpPr/>
          <p:nvPr/>
        </p:nvSpPr>
        <p:spPr>
          <a:xfrm>
            <a:off x="452091" y="716066"/>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Properties</a:t>
            </a:r>
            <a:endParaRPr b="0" i="0" sz="1400" u="none" cap="none" strike="noStrike">
              <a:solidFill>
                <a:srgbClr val="000000"/>
              </a:solidFill>
              <a:latin typeface="Arial"/>
              <a:ea typeface="Arial"/>
              <a:cs typeface="Arial"/>
              <a:sym typeface="Arial"/>
            </a:endParaRPr>
          </a:p>
        </p:txBody>
      </p:sp>
      <p:cxnSp>
        <p:nvCxnSpPr>
          <p:cNvPr id="168" name="Google Shape;168;p9"/>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69" name="Google Shape;169;p9"/>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170" name="Google Shape;170;p9"/>
          <p:cNvPicPr preferRelativeResize="0"/>
          <p:nvPr>
            <p:ph idx="1" type="body"/>
          </p:nvPr>
        </p:nvPicPr>
        <p:blipFill rotWithShape="1">
          <a:blip r:embed="rId3">
            <a:alphaModFix/>
          </a:blip>
          <a:srcRect b="0" l="0" r="0" t="0"/>
          <a:stretch/>
        </p:blipFill>
        <p:spPr>
          <a:xfrm>
            <a:off x="452091" y="1455187"/>
            <a:ext cx="7999758" cy="5033746"/>
          </a:xfrm>
          <a:prstGeom prst="rect">
            <a:avLst/>
          </a:prstGeom>
          <a:noFill/>
          <a:ln cap="flat" cmpd="sng" w="9525">
            <a:solidFill>
              <a:schemeClr val="accent5"/>
            </a:solidFill>
            <a:prstDash val="solid"/>
            <a:round/>
            <a:headEnd len="sm" w="sm" type="none"/>
            <a:tailEnd len="sm" w="sm" type="none"/>
          </a:ln>
        </p:spPr>
      </p:pic>
      <p:pic>
        <p:nvPicPr>
          <p:cNvPr id="171" name="Google Shape;171;p9"/>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p:nvPr/>
        </p:nvSpPr>
        <p:spPr>
          <a:xfrm>
            <a:off x="452091" y="716066"/>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Properties</a:t>
            </a:r>
            <a:endParaRPr b="0" i="0" sz="1400" u="none" cap="none" strike="noStrike">
              <a:solidFill>
                <a:srgbClr val="000000"/>
              </a:solidFill>
              <a:latin typeface="Arial"/>
              <a:ea typeface="Arial"/>
              <a:cs typeface="Arial"/>
              <a:sym typeface="Arial"/>
            </a:endParaRPr>
          </a:p>
        </p:txBody>
      </p:sp>
      <p:cxnSp>
        <p:nvCxnSpPr>
          <p:cNvPr id="177" name="Google Shape;177;p10"/>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78" name="Google Shape;178;p1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sp>
        <p:nvSpPr>
          <p:cNvPr id="179" name="Google Shape;179;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sz="2800"/>
              <a:t>Some property values are from a predefined list of keywords.</a:t>
            </a:r>
            <a:endParaRPr/>
          </a:p>
          <a:p>
            <a:pPr indent="-228600" lvl="0" marL="228600" rtl="0" algn="l">
              <a:lnSpc>
                <a:spcPct val="90000"/>
              </a:lnSpc>
              <a:spcBef>
                <a:spcPts val="1000"/>
              </a:spcBef>
              <a:spcAft>
                <a:spcPts val="0"/>
              </a:spcAft>
              <a:buClr>
                <a:schemeClr val="dk1"/>
              </a:buClr>
              <a:buSzPts val="2800"/>
              <a:buChar char="•"/>
            </a:pPr>
            <a:r>
              <a:rPr lang="en-US" sz="2800"/>
              <a:t>Others are values such as length measurements, percentages, numbers without units, color values, and URLs.</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80" name="Google Shape;180;p10"/>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1"/>
          <p:cNvSpPr/>
          <p:nvPr/>
        </p:nvSpPr>
        <p:spPr>
          <a:xfrm>
            <a:off x="452091" y="716066"/>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Color values in CSS</a:t>
            </a:r>
            <a:endParaRPr b="0" i="0" sz="1400" u="none" cap="none" strike="noStrike">
              <a:solidFill>
                <a:srgbClr val="000000"/>
              </a:solidFill>
              <a:latin typeface="Arial"/>
              <a:ea typeface="Arial"/>
              <a:cs typeface="Arial"/>
              <a:sym typeface="Arial"/>
            </a:endParaRPr>
          </a:p>
        </p:txBody>
      </p:sp>
      <p:cxnSp>
        <p:nvCxnSpPr>
          <p:cNvPr id="186" name="Google Shape;186;p11"/>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187" name="Google Shape;187;p11"/>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sp>
        <p:nvSpPr>
          <p:cNvPr id="188" name="Google Shape;188;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89" name="Google Shape;189;p11"/>
          <p:cNvPicPr preferRelativeResize="0"/>
          <p:nvPr/>
        </p:nvPicPr>
        <p:blipFill rotWithShape="1">
          <a:blip r:embed="rId3">
            <a:alphaModFix/>
          </a:blip>
          <a:srcRect b="0" l="0" r="0" t="0"/>
          <a:stretch/>
        </p:blipFill>
        <p:spPr>
          <a:xfrm>
            <a:off x="141683" y="3086013"/>
            <a:ext cx="10698914" cy="3055921"/>
          </a:xfrm>
          <a:prstGeom prst="rect">
            <a:avLst/>
          </a:prstGeom>
          <a:noFill/>
          <a:ln cap="flat" cmpd="sng" w="9525">
            <a:solidFill>
              <a:schemeClr val="accent5"/>
            </a:solidFill>
            <a:prstDash val="solid"/>
            <a:round/>
            <a:headEnd len="sm" w="sm" type="none"/>
            <a:tailEnd len="sm" w="sm" type="none"/>
          </a:ln>
        </p:spPr>
      </p:pic>
      <p:pic>
        <p:nvPicPr>
          <p:cNvPr id="190" name="Google Shape;190;p11"/>
          <p:cNvPicPr preferRelativeResize="0"/>
          <p:nvPr/>
        </p:nvPicPr>
        <p:blipFill rotWithShape="1">
          <a:blip r:embed="rId4">
            <a:alphaModFix/>
          </a:blip>
          <a:srcRect b="0" l="0" r="0" t="0"/>
          <a:stretch/>
        </p:blipFill>
        <p:spPr>
          <a:xfrm>
            <a:off x="141682" y="1369872"/>
            <a:ext cx="10698915" cy="1524000"/>
          </a:xfrm>
          <a:prstGeom prst="rect">
            <a:avLst/>
          </a:prstGeom>
          <a:noFill/>
          <a:ln>
            <a:noFill/>
          </a:ln>
        </p:spPr>
      </p:pic>
      <p:pic>
        <p:nvPicPr>
          <p:cNvPr id="191" name="Google Shape;191;p11"/>
          <p:cNvPicPr preferRelativeResize="0"/>
          <p:nvPr/>
        </p:nvPicPr>
        <p:blipFill rotWithShape="1">
          <a:blip r:embed="rId5">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5" name="Shape 195"/>
        <p:cNvGrpSpPr/>
        <p:nvPr/>
      </p:nvGrpSpPr>
      <p:grpSpPr>
        <a:xfrm>
          <a:off x="0" y="0"/>
          <a:ext cx="0" cy="0"/>
          <a:chOff x="0" y="0"/>
          <a:chExt cx="0" cy="0"/>
        </a:xfrm>
      </p:grpSpPr>
      <p:sp>
        <p:nvSpPr>
          <p:cNvPr id="196" name="Google Shape;196;p12"/>
          <p:cNvSpPr txBox="1"/>
          <p:nvPr>
            <p:ph type="title"/>
          </p:nvPr>
        </p:nvSpPr>
        <p:spPr>
          <a:xfrm>
            <a:off x="264994" y="160409"/>
            <a:ext cx="10515600" cy="61751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b="1" lang="en-US">
                <a:solidFill>
                  <a:srgbClr val="0070C0"/>
                </a:solidFill>
              </a:rPr>
              <a:t>Inline Styles</a:t>
            </a:r>
            <a:endParaRPr>
              <a:solidFill>
                <a:srgbClr val="0070C0"/>
              </a:solidFill>
            </a:endParaRPr>
          </a:p>
        </p:txBody>
      </p:sp>
      <p:sp>
        <p:nvSpPr>
          <p:cNvPr id="197" name="Google Shape;197;p12"/>
          <p:cNvSpPr txBox="1"/>
          <p:nvPr>
            <p:ph idx="1" type="body"/>
          </p:nvPr>
        </p:nvSpPr>
        <p:spPr>
          <a:xfrm>
            <a:off x="660779" y="777921"/>
            <a:ext cx="5153167" cy="5540991"/>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F0000"/>
              </a:buClr>
              <a:buSzPts val="2800"/>
              <a:buChar char="•"/>
            </a:pPr>
            <a:r>
              <a:rPr b="1" lang="en-US">
                <a:solidFill>
                  <a:srgbClr val="FF0000"/>
                </a:solidFill>
              </a:rPr>
              <a:t>Inline styles </a:t>
            </a:r>
            <a:r>
              <a:rPr lang="en-US"/>
              <a:t>declare an individual element’s format using theHTML5 attribute </a:t>
            </a:r>
            <a:r>
              <a:rPr b="1" lang="en-US">
                <a:solidFill>
                  <a:srgbClr val="FF0000"/>
                </a:solidFill>
              </a:rPr>
              <a:t>style</a:t>
            </a:r>
            <a:r>
              <a:rPr lang="en-US"/>
              <a:t>.</a:t>
            </a:r>
            <a:endParaRPr/>
          </a:p>
          <a:p>
            <a:pPr indent="-228600" lvl="0" marL="228600" rtl="0" algn="l">
              <a:lnSpc>
                <a:spcPct val="90000"/>
              </a:lnSpc>
              <a:spcBef>
                <a:spcPts val="1000"/>
              </a:spcBef>
              <a:spcAft>
                <a:spcPts val="0"/>
              </a:spcAft>
              <a:buClr>
                <a:schemeClr val="dk1"/>
              </a:buClr>
              <a:buSzPts val="2800"/>
              <a:buChar char="•"/>
            </a:pPr>
            <a:r>
              <a:rPr lang="en-US"/>
              <a:t>Inline styles </a:t>
            </a:r>
            <a:r>
              <a:rPr i="1" lang="en-US"/>
              <a:t>override </a:t>
            </a:r>
            <a:r>
              <a:rPr lang="en-US"/>
              <a:t>any other styles applied.</a:t>
            </a:r>
            <a:endParaRPr/>
          </a:p>
          <a:p>
            <a:pPr indent="-228600" lvl="0" marL="228600" rtl="0" algn="l">
              <a:lnSpc>
                <a:spcPct val="90000"/>
              </a:lnSpc>
              <a:spcBef>
                <a:spcPts val="1000"/>
              </a:spcBef>
              <a:spcAft>
                <a:spcPts val="0"/>
              </a:spcAft>
              <a:buClr>
                <a:schemeClr val="dk1"/>
              </a:buClr>
              <a:buSzPts val="2800"/>
              <a:buChar char="•"/>
            </a:pPr>
            <a:r>
              <a:rPr lang="en-US"/>
              <a:t>Figure contains the HTML standard color set.</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98" name="Google Shape;198;p12"/>
          <p:cNvPicPr preferRelativeResize="0"/>
          <p:nvPr/>
        </p:nvPicPr>
        <p:blipFill rotWithShape="1">
          <a:blip r:embed="rId3">
            <a:alphaModFix/>
          </a:blip>
          <a:srcRect b="0" l="0" r="0" t="0"/>
          <a:stretch/>
        </p:blipFill>
        <p:spPr>
          <a:xfrm>
            <a:off x="5816221" y="2002279"/>
            <a:ext cx="5715000" cy="4421874"/>
          </a:xfrm>
          <a:prstGeom prst="rect">
            <a:avLst/>
          </a:prstGeom>
          <a:noFill/>
          <a:ln>
            <a:noFill/>
          </a:ln>
        </p:spPr>
      </p:pic>
      <p:cxnSp>
        <p:nvCxnSpPr>
          <p:cNvPr id="199" name="Google Shape;199;p12"/>
          <p:cNvCxnSpPr/>
          <p:nvPr/>
        </p:nvCxnSpPr>
        <p:spPr>
          <a:xfrm>
            <a:off x="0" y="719697"/>
            <a:ext cx="7904054" cy="0"/>
          </a:xfrm>
          <a:prstGeom prst="straightConnector1">
            <a:avLst/>
          </a:prstGeom>
          <a:noFill/>
          <a:ln cap="flat" cmpd="sng" w="38100">
            <a:solidFill>
              <a:srgbClr val="DFA267"/>
            </a:solidFill>
            <a:prstDash val="solid"/>
            <a:miter lim="800000"/>
            <a:headEnd len="sm" w="sm" type="none"/>
            <a:tailEnd len="sm" w="sm" type="none"/>
          </a:ln>
        </p:spPr>
      </p:cxnSp>
      <p:pic>
        <p:nvPicPr>
          <p:cNvPr id="200" name="Google Shape;200;p12"/>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4" name="Shape 204"/>
        <p:cNvGrpSpPr/>
        <p:nvPr/>
      </p:nvGrpSpPr>
      <p:grpSpPr>
        <a:xfrm>
          <a:off x="0" y="0"/>
          <a:ext cx="0" cy="0"/>
          <a:chOff x="0" y="0"/>
          <a:chExt cx="0" cy="0"/>
        </a:xfrm>
      </p:grpSpPr>
      <p:pic>
        <p:nvPicPr>
          <p:cNvPr id="205" name="Google Shape;205;p13"/>
          <p:cNvPicPr preferRelativeResize="0"/>
          <p:nvPr/>
        </p:nvPicPr>
        <p:blipFill rotWithShape="1">
          <a:blip r:embed="rId3">
            <a:alphaModFix/>
          </a:blip>
          <a:srcRect b="0" l="0" r="0" t="0"/>
          <a:stretch/>
        </p:blipFill>
        <p:spPr>
          <a:xfrm>
            <a:off x="163417" y="282125"/>
            <a:ext cx="6924675" cy="5229225"/>
          </a:xfrm>
          <a:prstGeom prst="rect">
            <a:avLst/>
          </a:prstGeom>
          <a:noFill/>
          <a:ln>
            <a:noFill/>
          </a:ln>
        </p:spPr>
      </p:pic>
      <p:pic>
        <p:nvPicPr>
          <p:cNvPr id="206" name="Google Shape;206;p13"/>
          <p:cNvPicPr preferRelativeResize="0"/>
          <p:nvPr/>
        </p:nvPicPr>
        <p:blipFill rotWithShape="1">
          <a:blip r:embed="rId4">
            <a:alphaModFix/>
          </a:blip>
          <a:srcRect b="0" l="0" r="0" t="0"/>
          <a:stretch/>
        </p:blipFill>
        <p:spPr>
          <a:xfrm>
            <a:off x="6468332" y="2367280"/>
            <a:ext cx="5103908" cy="3810000"/>
          </a:xfrm>
          <a:prstGeom prst="rect">
            <a:avLst/>
          </a:prstGeom>
          <a:noFill/>
          <a:ln>
            <a:noFill/>
          </a:ln>
        </p:spPr>
      </p:pic>
      <p:pic>
        <p:nvPicPr>
          <p:cNvPr id="207" name="Google Shape;207;p13"/>
          <p:cNvPicPr preferRelativeResize="0"/>
          <p:nvPr/>
        </p:nvPicPr>
        <p:blipFill rotWithShape="1">
          <a:blip r:embed="rId5">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p14"/>
          <p:cNvSpPr txBox="1"/>
          <p:nvPr>
            <p:ph type="title"/>
          </p:nvPr>
        </p:nvSpPr>
        <p:spPr>
          <a:xfrm>
            <a:off x="237698"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lang="en-US">
                <a:solidFill>
                  <a:srgbClr val="0070C0"/>
                </a:solidFill>
              </a:rPr>
              <a:t>Embedded Style Sheets</a:t>
            </a:r>
            <a:endParaRPr>
              <a:solidFill>
                <a:srgbClr val="0070C0"/>
              </a:solidFill>
            </a:endParaRPr>
          </a:p>
        </p:txBody>
      </p:sp>
      <p:sp>
        <p:nvSpPr>
          <p:cNvPr id="213" name="Google Shape;213;p14"/>
          <p:cNvSpPr txBox="1"/>
          <p:nvPr>
            <p:ph idx="1" type="body"/>
          </p:nvPr>
        </p:nvSpPr>
        <p:spPr>
          <a:xfrm>
            <a:off x="906439" y="965817"/>
            <a:ext cx="10515600" cy="1231474"/>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A second technique for using style sheets is </a:t>
            </a:r>
            <a:r>
              <a:rPr b="1" lang="en-US"/>
              <a:t>embedded style sheets.</a:t>
            </a:r>
            <a:endParaRPr/>
          </a:p>
          <a:p>
            <a:pPr indent="-228600" lvl="0" marL="228600" rtl="0" algn="l">
              <a:lnSpc>
                <a:spcPct val="90000"/>
              </a:lnSpc>
              <a:spcBef>
                <a:spcPts val="1000"/>
              </a:spcBef>
              <a:spcAft>
                <a:spcPts val="0"/>
              </a:spcAft>
              <a:buClr>
                <a:schemeClr val="dk1"/>
              </a:buClr>
              <a:buSzPct val="100000"/>
              <a:buChar char="•"/>
            </a:pPr>
            <a:r>
              <a:rPr lang="en-US"/>
              <a:t>enable you to </a:t>
            </a:r>
            <a:r>
              <a:rPr i="1" lang="en-US"/>
              <a:t>embed </a:t>
            </a:r>
            <a:r>
              <a:rPr lang="en-US"/>
              <a:t>a CSS3 document in an HTML5 document’s head section.</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214" name="Google Shape;214;p14"/>
          <p:cNvPicPr preferRelativeResize="0"/>
          <p:nvPr/>
        </p:nvPicPr>
        <p:blipFill rotWithShape="1">
          <a:blip r:embed="rId3">
            <a:alphaModFix/>
          </a:blip>
          <a:srcRect b="0" l="0" r="0" t="0"/>
          <a:stretch/>
        </p:blipFill>
        <p:spPr>
          <a:xfrm>
            <a:off x="1093028" y="2197291"/>
            <a:ext cx="7464118" cy="4367282"/>
          </a:xfrm>
          <a:prstGeom prst="rect">
            <a:avLst/>
          </a:prstGeom>
          <a:noFill/>
          <a:ln>
            <a:noFill/>
          </a:ln>
        </p:spPr>
      </p:pic>
      <p:cxnSp>
        <p:nvCxnSpPr>
          <p:cNvPr id="215" name="Google Shape;215;p14"/>
          <p:cNvCxnSpPr/>
          <p:nvPr/>
        </p:nvCxnSpPr>
        <p:spPr>
          <a:xfrm flipH="1" rot="10800000">
            <a:off x="0" y="897280"/>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216" name="Google Shape;216;p14"/>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0" name="Shape 220"/>
        <p:cNvGrpSpPr/>
        <p:nvPr/>
      </p:nvGrpSpPr>
      <p:grpSpPr>
        <a:xfrm>
          <a:off x="0" y="0"/>
          <a:ext cx="0" cy="0"/>
          <a:chOff x="0" y="0"/>
          <a:chExt cx="0" cy="0"/>
        </a:xfrm>
      </p:grpSpPr>
      <p:pic>
        <p:nvPicPr>
          <p:cNvPr id="221" name="Google Shape;221;p15"/>
          <p:cNvPicPr preferRelativeResize="0"/>
          <p:nvPr/>
        </p:nvPicPr>
        <p:blipFill rotWithShape="1">
          <a:blip r:embed="rId3">
            <a:alphaModFix/>
          </a:blip>
          <a:srcRect b="0" l="0" r="0" t="0"/>
          <a:stretch/>
        </p:blipFill>
        <p:spPr>
          <a:xfrm>
            <a:off x="1495851" y="1891613"/>
            <a:ext cx="8407106" cy="5108891"/>
          </a:xfrm>
          <a:prstGeom prst="rect">
            <a:avLst/>
          </a:prstGeom>
          <a:noFill/>
          <a:ln>
            <a:noFill/>
          </a:ln>
        </p:spPr>
      </p:pic>
      <p:pic>
        <p:nvPicPr>
          <p:cNvPr id="222" name="Google Shape;222;p15"/>
          <p:cNvPicPr preferRelativeResize="0"/>
          <p:nvPr/>
        </p:nvPicPr>
        <p:blipFill rotWithShape="1">
          <a:blip r:embed="rId4">
            <a:alphaModFix/>
          </a:blip>
          <a:srcRect b="0" l="0" r="0" t="0"/>
          <a:stretch/>
        </p:blipFill>
        <p:spPr>
          <a:xfrm>
            <a:off x="1628157" y="639065"/>
            <a:ext cx="8116344" cy="1286367"/>
          </a:xfrm>
          <a:prstGeom prst="rect">
            <a:avLst/>
          </a:prstGeom>
          <a:noFill/>
          <a:ln>
            <a:noFill/>
          </a:ln>
        </p:spPr>
      </p:pic>
      <p:pic>
        <p:nvPicPr>
          <p:cNvPr id="223" name="Google Shape;223;p15"/>
          <p:cNvPicPr preferRelativeResize="0"/>
          <p:nvPr/>
        </p:nvPicPr>
        <p:blipFill rotWithShape="1">
          <a:blip r:embed="rId5">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7" name="Shape 227"/>
        <p:cNvGrpSpPr/>
        <p:nvPr/>
      </p:nvGrpSpPr>
      <p:grpSpPr>
        <a:xfrm>
          <a:off x="0" y="0"/>
          <a:ext cx="0" cy="0"/>
          <a:chOff x="0" y="0"/>
          <a:chExt cx="0" cy="0"/>
        </a:xfrm>
      </p:grpSpPr>
      <p:sp>
        <p:nvSpPr>
          <p:cNvPr id="228" name="Google Shape;228;p16"/>
          <p:cNvSpPr txBox="1"/>
          <p:nvPr>
            <p:ph type="title"/>
          </p:nvPr>
        </p:nvSpPr>
        <p:spPr>
          <a:xfrm>
            <a:off x="142165" y="119466"/>
            <a:ext cx="10515600" cy="60386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rgbClr val="0070C0"/>
              </a:buClr>
              <a:buSzPct val="100000"/>
              <a:buFont typeface="Calibri"/>
              <a:buNone/>
            </a:pPr>
            <a:r>
              <a:rPr lang="en-US">
                <a:solidFill>
                  <a:srgbClr val="0070C0"/>
                </a:solidFill>
              </a:rPr>
              <a:t>The style Element and MIME Types</a:t>
            </a:r>
            <a:endParaRPr/>
          </a:p>
        </p:txBody>
      </p:sp>
      <p:sp>
        <p:nvSpPr>
          <p:cNvPr id="229" name="Google Shape;229;p16"/>
          <p:cNvSpPr txBox="1"/>
          <p:nvPr>
            <p:ph idx="1" type="body"/>
          </p:nvPr>
        </p:nvSpPr>
        <p:spPr>
          <a:xfrm>
            <a:off x="688075" y="802043"/>
            <a:ext cx="10515600" cy="251436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US"/>
              <a:t>The style element defines the </a:t>
            </a:r>
            <a:r>
              <a:rPr i="1" lang="en-US"/>
              <a:t>embedded style sheet</a:t>
            </a:r>
            <a:r>
              <a:rPr lang="en-US"/>
              <a:t>.</a:t>
            </a:r>
            <a:endParaRPr/>
          </a:p>
          <a:p>
            <a:pPr indent="-228600" lvl="0" marL="228600" rtl="0" algn="l">
              <a:lnSpc>
                <a:spcPct val="90000"/>
              </a:lnSpc>
              <a:spcBef>
                <a:spcPts val="1000"/>
              </a:spcBef>
              <a:spcAft>
                <a:spcPts val="0"/>
              </a:spcAft>
              <a:buClr>
                <a:schemeClr val="dk1"/>
              </a:buClr>
              <a:buSzPct val="100000"/>
              <a:buChar char="•"/>
            </a:pPr>
            <a:r>
              <a:rPr lang="en-US"/>
              <a:t>Styles placed in the head apply to matching elements wherever they appear in the body.</a:t>
            </a:r>
            <a:endParaRPr/>
          </a:p>
          <a:p>
            <a:pPr indent="-228600" lvl="0" marL="228600" rtl="0" algn="l">
              <a:lnSpc>
                <a:spcPct val="90000"/>
              </a:lnSpc>
              <a:spcBef>
                <a:spcPts val="1000"/>
              </a:spcBef>
              <a:spcAft>
                <a:spcPts val="0"/>
              </a:spcAft>
              <a:buClr>
                <a:schemeClr val="dk1"/>
              </a:buClr>
              <a:buSzPct val="100000"/>
              <a:buChar char="•"/>
            </a:pPr>
            <a:r>
              <a:rPr lang="en-US"/>
              <a:t>The style element’s type attribute specifies the </a:t>
            </a:r>
            <a:r>
              <a:rPr b="1" lang="en-US"/>
              <a:t>MIME </a:t>
            </a:r>
            <a:r>
              <a:rPr lang="en-US"/>
              <a:t>(</a:t>
            </a:r>
            <a:r>
              <a:rPr b="1" lang="en-US"/>
              <a:t>Multipurpose Internet Mail Extensions) type </a:t>
            </a:r>
            <a:r>
              <a:rPr lang="en-US"/>
              <a:t>that describes the style element’s content.</a:t>
            </a:r>
            <a:endParaRPr/>
          </a:p>
          <a:p>
            <a:pPr indent="-228600" lvl="0" marL="228600" rtl="0" algn="l">
              <a:lnSpc>
                <a:spcPct val="90000"/>
              </a:lnSpc>
              <a:spcBef>
                <a:spcPts val="1000"/>
              </a:spcBef>
              <a:spcAft>
                <a:spcPts val="0"/>
              </a:spcAft>
              <a:buClr>
                <a:schemeClr val="dk1"/>
              </a:buClr>
              <a:buSzPct val="100000"/>
              <a:buChar char="•"/>
            </a:pPr>
            <a:r>
              <a:rPr lang="en-US"/>
              <a:t>Figure 4.4 lists some common MIME types used.</a:t>
            </a:r>
            <a:endParaRPr/>
          </a:p>
          <a:p>
            <a:pPr indent="-64135" lvl="0" marL="228600" rtl="0" algn="l">
              <a:lnSpc>
                <a:spcPct val="90000"/>
              </a:lnSpc>
              <a:spcBef>
                <a:spcPts val="1000"/>
              </a:spcBef>
              <a:spcAft>
                <a:spcPts val="0"/>
              </a:spcAft>
              <a:buClr>
                <a:schemeClr val="dk1"/>
              </a:buClr>
              <a:buSzPct val="100000"/>
              <a:buNone/>
            </a:pPr>
            <a:r>
              <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id="230" name="Google Shape;230;p16"/>
          <p:cNvPicPr preferRelativeResize="0"/>
          <p:nvPr/>
        </p:nvPicPr>
        <p:blipFill rotWithShape="1">
          <a:blip r:embed="rId3">
            <a:alphaModFix/>
          </a:blip>
          <a:srcRect b="0" l="0" r="0" t="0"/>
          <a:stretch/>
        </p:blipFill>
        <p:spPr>
          <a:xfrm>
            <a:off x="3188813" y="3316406"/>
            <a:ext cx="4886325" cy="2981325"/>
          </a:xfrm>
          <a:prstGeom prst="rect">
            <a:avLst/>
          </a:prstGeom>
          <a:noFill/>
          <a:ln>
            <a:noFill/>
          </a:ln>
        </p:spPr>
      </p:pic>
      <p:cxnSp>
        <p:nvCxnSpPr>
          <p:cNvPr id="231" name="Google Shape;231;p16"/>
          <p:cNvCxnSpPr/>
          <p:nvPr/>
        </p:nvCxnSpPr>
        <p:spPr>
          <a:xfrm flipH="1" rot="10800000">
            <a:off x="171084" y="723331"/>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232" name="Google Shape;232;p16"/>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6" name="Shape 236"/>
        <p:cNvGrpSpPr/>
        <p:nvPr/>
      </p:nvGrpSpPr>
      <p:grpSpPr>
        <a:xfrm>
          <a:off x="0" y="0"/>
          <a:ext cx="0" cy="0"/>
          <a:chOff x="0" y="0"/>
          <a:chExt cx="0" cy="0"/>
        </a:xfrm>
      </p:grpSpPr>
      <p:sp>
        <p:nvSpPr>
          <p:cNvPr id="237" name="Google Shape;237;p17"/>
          <p:cNvSpPr txBox="1"/>
          <p:nvPr>
            <p:ph idx="1" type="body"/>
          </p:nvPr>
        </p:nvSpPr>
        <p:spPr>
          <a:xfrm>
            <a:off x="497006" y="1006759"/>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first rule begins with the selector em, which selects all </a:t>
            </a:r>
            <a:r>
              <a:rPr b="1" lang="en-US"/>
              <a:t>em elements </a:t>
            </a:r>
            <a:r>
              <a:rPr lang="en-US"/>
              <a:t>in the document.</a:t>
            </a:r>
            <a:endParaRPr/>
          </a:p>
          <a:p>
            <a:pPr indent="-228600" lvl="0" marL="228600" rtl="0" algn="l">
              <a:lnSpc>
                <a:spcPct val="90000"/>
              </a:lnSpc>
              <a:spcBef>
                <a:spcPts val="1000"/>
              </a:spcBef>
              <a:spcAft>
                <a:spcPts val="0"/>
              </a:spcAft>
              <a:buClr>
                <a:schemeClr val="dk1"/>
              </a:buClr>
              <a:buSzPts val="2800"/>
              <a:buChar char="•"/>
            </a:pPr>
            <a:r>
              <a:rPr lang="en-US"/>
              <a:t>An </a:t>
            </a:r>
            <a:r>
              <a:rPr b="1" lang="en-US"/>
              <a:t>em element </a:t>
            </a:r>
            <a:r>
              <a:rPr lang="en-US"/>
              <a:t>indicates that its contents should be </a:t>
            </a:r>
            <a:r>
              <a:rPr i="1" lang="en-US"/>
              <a:t>emphasized</a:t>
            </a:r>
            <a:r>
              <a:rPr lang="en-US"/>
              <a:t>.</a:t>
            </a:r>
            <a:endParaRPr/>
          </a:p>
          <a:p>
            <a:pPr indent="-228600" lvl="0" marL="228600" rtl="0" algn="l">
              <a:lnSpc>
                <a:spcPct val="90000"/>
              </a:lnSpc>
              <a:spcBef>
                <a:spcPts val="1000"/>
              </a:spcBef>
              <a:spcAft>
                <a:spcPts val="0"/>
              </a:spcAft>
              <a:buClr>
                <a:schemeClr val="dk1"/>
              </a:buClr>
              <a:buSzPts val="2800"/>
              <a:buChar char="•"/>
            </a:pPr>
            <a:r>
              <a:rPr lang="en-US"/>
              <a:t>Browsers usually render em elements in an </a:t>
            </a:r>
            <a:r>
              <a:rPr i="1" lang="en-US">
                <a:solidFill>
                  <a:srgbClr val="0070C0"/>
                </a:solidFill>
              </a:rPr>
              <a:t>italic </a:t>
            </a:r>
            <a:r>
              <a:rPr lang="en-US">
                <a:solidFill>
                  <a:srgbClr val="0070C0"/>
                </a:solidFill>
              </a:rPr>
              <a:t>font</a:t>
            </a:r>
            <a:r>
              <a:rPr lang="en-US"/>
              <a:t>.</a:t>
            </a:r>
            <a:endParaRPr/>
          </a:p>
          <a:p>
            <a:pPr indent="-228600" lvl="0" marL="228600" rtl="0" algn="l">
              <a:lnSpc>
                <a:spcPct val="90000"/>
              </a:lnSpc>
              <a:spcBef>
                <a:spcPts val="1000"/>
              </a:spcBef>
              <a:spcAft>
                <a:spcPts val="0"/>
              </a:spcAft>
              <a:buClr>
                <a:schemeClr val="dk1"/>
              </a:buClr>
              <a:buSzPts val="2800"/>
              <a:buChar char="•"/>
            </a:pPr>
            <a:r>
              <a:rPr lang="en-US"/>
              <a:t>Each rule’s body is enclosed in </a:t>
            </a:r>
            <a:r>
              <a:rPr i="1" lang="en-US"/>
              <a:t>curly braces </a:t>
            </a:r>
            <a:r>
              <a:rPr lang="en-US"/>
              <a:t>({ and }).</a:t>
            </a:r>
            <a:endParaRPr/>
          </a:p>
          <a:p>
            <a:pPr indent="-228600" lvl="0" marL="228600" rtl="0" algn="l">
              <a:lnSpc>
                <a:spcPct val="90000"/>
              </a:lnSpc>
              <a:spcBef>
                <a:spcPts val="1000"/>
              </a:spcBef>
              <a:spcAft>
                <a:spcPts val="0"/>
              </a:spcAft>
              <a:buClr>
                <a:schemeClr val="dk1"/>
              </a:buClr>
              <a:buSzPts val="2800"/>
              <a:buChar char="•"/>
            </a:pPr>
            <a:r>
              <a:rPr lang="en-US"/>
              <a:t>The property name is followed by a colon (:) and the property value. Multiple properties are separated by semicolons (;).</a:t>
            </a:r>
            <a:endParaRPr/>
          </a:p>
          <a:p>
            <a:pPr indent="-228600" lvl="0" marL="228600" rtl="0" algn="l">
              <a:lnSpc>
                <a:spcPct val="90000"/>
              </a:lnSpc>
              <a:spcBef>
                <a:spcPts val="1000"/>
              </a:spcBef>
              <a:spcAft>
                <a:spcPts val="0"/>
              </a:spcAft>
              <a:buClr>
                <a:schemeClr val="dk1"/>
              </a:buClr>
              <a:buSzPts val="2800"/>
              <a:buChar char="•"/>
            </a:pPr>
            <a:r>
              <a:rPr lang="en-US"/>
              <a:t>The </a:t>
            </a:r>
            <a:r>
              <a:rPr b="1" lang="en-US"/>
              <a:t>font-weight </a:t>
            </a:r>
            <a:r>
              <a:rPr lang="en-US"/>
              <a:t>property possible values are bold, normal (the default), bolder (bolder than bold text) and lighter (lighter than normal text).</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238" name="Google Shape;238;p17"/>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3" name="Shape 243"/>
        <p:cNvGrpSpPr/>
        <p:nvPr/>
      </p:nvGrpSpPr>
      <p:grpSpPr>
        <a:xfrm>
          <a:off x="0" y="0"/>
          <a:ext cx="0" cy="0"/>
          <a:chOff x="0" y="0"/>
          <a:chExt cx="0" cy="0"/>
        </a:xfrm>
      </p:grpSpPr>
      <p:sp>
        <p:nvSpPr>
          <p:cNvPr id="244" name="Google Shape;244;p18"/>
          <p:cNvSpPr txBox="1"/>
          <p:nvPr>
            <p:ph type="title"/>
          </p:nvPr>
        </p:nvSpPr>
        <p:spPr>
          <a:xfrm>
            <a:off x="196756" y="105818"/>
            <a:ext cx="10515600" cy="87682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i="1" lang="en-US">
                <a:solidFill>
                  <a:srgbClr val="0070C0"/>
                </a:solidFill>
              </a:rPr>
              <a:t>Style Classes</a:t>
            </a:r>
            <a:endParaRPr>
              <a:solidFill>
                <a:srgbClr val="0070C0"/>
              </a:solidFill>
            </a:endParaRPr>
          </a:p>
        </p:txBody>
      </p:sp>
      <p:sp>
        <p:nvSpPr>
          <p:cNvPr id="245" name="Google Shape;245;p18"/>
          <p:cNvSpPr txBox="1"/>
          <p:nvPr>
            <p:ph idx="1" type="body"/>
          </p:nvPr>
        </p:nvSpPr>
        <p:spPr>
          <a:xfrm>
            <a:off x="824552" y="982639"/>
            <a:ext cx="10515600" cy="1201003"/>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Line 17 declares a selector for a </a:t>
            </a:r>
            <a:r>
              <a:rPr b="1" lang="en-US"/>
              <a:t>style class </a:t>
            </a:r>
            <a:r>
              <a:rPr lang="en-US"/>
              <a:t>named special.</a:t>
            </a:r>
            <a:endParaRPr/>
          </a:p>
          <a:p>
            <a:pPr indent="-228600" lvl="0" marL="228600" rtl="0" algn="l">
              <a:lnSpc>
                <a:spcPct val="90000"/>
              </a:lnSpc>
              <a:spcBef>
                <a:spcPts val="1000"/>
              </a:spcBef>
              <a:spcAft>
                <a:spcPts val="0"/>
              </a:spcAft>
              <a:buClr>
                <a:schemeClr val="dk1"/>
              </a:buClr>
              <a:buSzPts val="2800"/>
              <a:buChar char="•"/>
            </a:pPr>
            <a:r>
              <a:rPr lang="en-US"/>
              <a:t>Style-class declarations are preceded by a period (.).</a:t>
            </a:r>
            <a:endParaRPr/>
          </a:p>
          <a:p>
            <a:pPr indent="-50800" lvl="0" marL="228600" rtl="0" algn="l">
              <a:lnSpc>
                <a:spcPct val="90000"/>
              </a:lnSpc>
              <a:spcBef>
                <a:spcPts val="1000"/>
              </a:spcBef>
              <a:spcAft>
                <a:spcPts val="0"/>
              </a:spcAft>
              <a:buClr>
                <a:schemeClr val="dk1"/>
              </a:buClr>
              <a:buSzPts val="2800"/>
              <a:buNone/>
            </a:pPr>
            <a:r>
              <a:t/>
            </a:r>
            <a:endParaRPr/>
          </a:p>
        </p:txBody>
      </p:sp>
      <p:sp>
        <p:nvSpPr>
          <p:cNvPr id="246" name="Google Shape;246;p18"/>
          <p:cNvSpPr txBox="1"/>
          <p:nvPr/>
        </p:nvSpPr>
        <p:spPr>
          <a:xfrm>
            <a:off x="308213" y="1745231"/>
            <a:ext cx="10515600" cy="876821"/>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rgbClr val="0070C0"/>
              </a:buClr>
              <a:buSzPts val="4400"/>
              <a:buFont typeface="Calibri"/>
              <a:buNone/>
            </a:pPr>
            <a:r>
              <a:rPr b="1" i="1" lang="en-US" sz="4400" u="none" cap="none" strike="noStrike">
                <a:solidFill>
                  <a:srgbClr val="0070C0"/>
                </a:solidFill>
                <a:latin typeface="Calibri"/>
                <a:ea typeface="Calibri"/>
                <a:cs typeface="Calibri"/>
                <a:sym typeface="Calibri"/>
              </a:rPr>
              <a:t>font-family Property</a:t>
            </a:r>
            <a:endParaRPr b="0" i="0" sz="4400" u="none" cap="none" strike="noStrike">
              <a:solidFill>
                <a:srgbClr val="0070C0"/>
              </a:solidFill>
              <a:latin typeface="Calibri"/>
              <a:ea typeface="Calibri"/>
              <a:cs typeface="Calibri"/>
              <a:sym typeface="Calibri"/>
            </a:endParaRPr>
          </a:p>
        </p:txBody>
      </p:sp>
      <p:sp>
        <p:nvSpPr>
          <p:cNvPr id="247" name="Google Shape;247;p18"/>
          <p:cNvSpPr txBox="1"/>
          <p:nvPr/>
        </p:nvSpPr>
        <p:spPr>
          <a:xfrm>
            <a:off x="824552" y="2459961"/>
            <a:ext cx="10515600" cy="2958200"/>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a:t>
            </a:r>
            <a:r>
              <a:rPr b="1" i="0" lang="en-US" sz="2800" u="none" cap="none" strike="noStrike">
                <a:solidFill>
                  <a:schemeClr val="dk1"/>
                </a:solidFill>
                <a:latin typeface="Calibri"/>
                <a:ea typeface="Calibri"/>
                <a:cs typeface="Calibri"/>
                <a:sym typeface="Calibri"/>
              </a:rPr>
              <a:t>font-family </a:t>
            </a:r>
            <a:r>
              <a:rPr b="0" i="0" lang="en-US" sz="2800" u="none" cap="none" strike="noStrike">
                <a:solidFill>
                  <a:schemeClr val="dk1"/>
                </a:solidFill>
                <a:latin typeface="Calibri"/>
                <a:ea typeface="Calibri"/>
                <a:cs typeface="Calibri"/>
                <a:sym typeface="Calibri"/>
              </a:rPr>
              <a:t>property (line 14) specifies the name of the font to use.</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CSS allows you to specify a comma-separated list of fonts to use for a particular style.</a:t>
            </a:r>
            <a:endParaRPr b="0" i="0" sz="1400" u="none" cap="none" strike="noStrike">
              <a:solidFill>
                <a:srgbClr val="000000"/>
              </a:solidFill>
              <a:latin typeface="Arial"/>
              <a:ea typeface="Arial"/>
              <a:cs typeface="Arial"/>
              <a:sym typeface="Arial"/>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pic>
        <p:nvPicPr>
          <p:cNvPr id="248" name="Google Shape;248;p18"/>
          <p:cNvPicPr preferRelativeResize="0"/>
          <p:nvPr/>
        </p:nvPicPr>
        <p:blipFill rotWithShape="1">
          <a:blip r:embed="rId3">
            <a:alphaModFix/>
          </a:blip>
          <a:srcRect b="0" l="0" r="0" t="0"/>
          <a:stretch/>
        </p:blipFill>
        <p:spPr>
          <a:xfrm>
            <a:off x="3605852" y="3939061"/>
            <a:ext cx="5633682" cy="2676525"/>
          </a:xfrm>
          <a:prstGeom prst="rect">
            <a:avLst/>
          </a:prstGeom>
          <a:noFill/>
          <a:ln>
            <a:noFill/>
          </a:ln>
        </p:spPr>
      </p:pic>
      <p:pic>
        <p:nvPicPr>
          <p:cNvPr id="249" name="Google Shape;249;p18"/>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53" name="Shape 253"/>
        <p:cNvGrpSpPr/>
        <p:nvPr/>
      </p:nvGrpSpPr>
      <p:grpSpPr>
        <a:xfrm>
          <a:off x="0" y="0"/>
          <a:ext cx="0" cy="0"/>
          <a:chOff x="0" y="0"/>
          <a:chExt cx="0" cy="0"/>
        </a:xfrm>
      </p:grpSpPr>
      <p:sp>
        <p:nvSpPr>
          <p:cNvPr id="254" name="Google Shape;254;p19"/>
          <p:cNvSpPr txBox="1"/>
          <p:nvPr>
            <p:ph type="title"/>
          </p:nvPr>
        </p:nvSpPr>
        <p:spPr>
          <a:xfrm>
            <a:off x="196756" y="11946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i="1" lang="en-US">
                <a:solidFill>
                  <a:srgbClr val="0070C0"/>
                </a:solidFill>
              </a:rPr>
              <a:t>font-size Property</a:t>
            </a:r>
            <a:endParaRPr>
              <a:solidFill>
                <a:srgbClr val="0070C0"/>
              </a:solidFill>
            </a:endParaRPr>
          </a:p>
        </p:txBody>
      </p:sp>
      <p:sp>
        <p:nvSpPr>
          <p:cNvPr id="255" name="Google Shape;255;p19"/>
          <p:cNvSpPr txBox="1"/>
          <p:nvPr>
            <p:ph idx="1" type="body"/>
          </p:nvPr>
        </p:nvSpPr>
        <p:spPr>
          <a:xfrm>
            <a:off x="783608" y="1293362"/>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Property </a:t>
            </a:r>
            <a:r>
              <a:rPr b="1" lang="en-US"/>
              <a:t>font-size </a:t>
            </a:r>
            <a:r>
              <a:rPr lang="en-US"/>
              <a:t>(line 15) specifies a 12-point font.</a:t>
            </a:r>
            <a:endParaRPr/>
          </a:p>
          <a:p>
            <a:pPr indent="-228600" lvl="0" marL="228600" rtl="0" algn="l">
              <a:lnSpc>
                <a:spcPct val="90000"/>
              </a:lnSpc>
              <a:spcBef>
                <a:spcPts val="1000"/>
              </a:spcBef>
              <a:spcAft>
                <a:spcPts val="0"/>
              </a:spcAft>
              <a:buClr>
                <a:schemeClr val="dk1"/>
              </a:buClr>
              <a:buSzPts val="2800"/>
              <a:buChar char="•"/>
            </a:pPr>
            <a:r>
              <a:rPr lang="en-US"/>
              <a:t>Generally, </a:t>
            </a:r>
            <a:r>
              <a:rPr i="1" lang="en-US"/>
              <a:t>relative font-size values are preferred over points, because an author does not know the specific measurements of each client’s display</a:t>
            </a:r>
            <a:r>
              <a:rPr lang="en-US"/>
              <a:t>.</a:t>
            </a:r>
            <a:endParaRPr/>
          </a:p>
          <a:p>
            <a:pPr indent="-228600" lvl="0" marL="228600" rtl="0" algn="l">
              <a:lnSpc>
                <a:spcPct val="90000"/>
              </a:lnSpc>
              <a:spcBef>
                <a:spcPts val="1000"/>
              </a:spcBef>
              <a:spcAft>
                <a:spcPts val="0"/>
              </a:spcAft>
              <a:buClr>
                <a:schemeClr val="dk1"/>
              </a:buClr>
              <a:buSzPts val="2800"/>
              <a:buChar char="•"/>
            </a:pPr>
            <a:r>
              <a:rPr lang="en-US"/>
              <a:t>Relative values permit more flexible viewing of web pages.</a:t>
            </a:r>
            <a:endParaRPr/>
          </a:p>
          <a:p>
            <a:pPr indent="-228600" lvl="0" marL="228600" rtl="0" algn="l">
              <a:lnSpc>
                <a:spcPct val="90000"/>
              </a:lnSpc>
              <a:spcBef>
                <a:spcPts val="1000"/>
              </a:spcBef>
              <a:spcAft>
                <a:spcPts val="0"/>
              </a:spcAft>
              <a:buClr>
                <a:schemeClr val="dk1"/>
              </a:buClr>
              <a:buSzPts val="2800"/>
              <a:buChar char="•"/>
            </a:pPr>
            <a:r>
              <a:rPr lang="en-US"/>
              <a:t>A user may view a web page on a handheld device with a small screen.</a:t>
            </a:r>
            <a:endParaRPr/>
          </a:p>
          <a:p>
            <a:pPr indent="-50800" lvl="0" marL="228600" rtl="0" algn="l">
              <a:lnSpc>
                <a:spcPct val="90000"/>
              </a:lnSpc>
              <a:spcBef>
                <a:spcPts val="1000"/>
              </a:spcBef>
              <a:spcAft>
                <a:spcPts val="0"/>
              </a:spcAft>
              <a:buClr>
                <a:schemeClr val="dk1"/>
              </a:buClr>
              <a:buSzPts val="2800"/>
              <a:buNone/>
            </a:pPr>
            <a:r>
              <a:t/>
            </a:r>
            <a:endParaRPr/>
          </a:p>
        </p:txBody>
      </p:sp>
      <p:cxnSp>
        <p:nvCxnSpPr>
          <p:cNvPr id="256" name="Google Shape;256;p19"/>
          <p:cNvCxnSpPr/>
          <p:nvPr/>
        </p:nvCxnSpPr>
        <p:spPr>
          <a:xfrm>
            <a:off x="0" y="1238426"/>
            <a:ext cx="7457014" cy="0"/>
          </a:xfrm>
          <a:prstGeom prst="straightConnector1">
            <a:avLst/>
          </a:prstGeom>
          <a:noFill/>
          <a:ln cap="flat" cmpd="sng" w="38100">
            <a:solidFill>
              <a:srgbClr val="DFA267"/>
            </a:solidFill>
            <a:prstDash val="solid"/>
            <a:miter lim="800000"/>
            <a:headEnd len="sm" w="sm" type="none"/>
            <a:tailEnd len="sm" w="sm" type="none"/>
          </a:ln>
        </p:spPr>
      </p:cxnSp>
      <p:pic>
        <p:nvPicPr>
          <p:cNvPr id="257" name="Google Shape;257;p19"/>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1" name="Shape 261"/>
        <p:cNvGrpSpPr/>
        <p:nvPr/>
      </p:nvGrpSpPr>
      <p:grpSpPr>
        <a:xfrm>
          <a:off x="0" y="0"/>
          <a:ext cx="0" cy="0"/>
          <a:chOff x="0" y="0"/>
          <a:chExt cx="0" cy="0"/>
        </a:xfrm>
      </p:grpSpPr>
      <p:sp>
        <p:nvSpPr>
          <p:cNvPr id="262" name="Google Shape;262;p20"/>
          <p:cNvSpPr txBox="1"/>
          <p:nvPr>
            <p:ph type="title"/>
          </p:nvPr>
        </p:nvSpPr>
        <p:spPr>
          <a:xfrm>
            <a:off x="0" y="-112547"/>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400"/>
              <a:buFont typeface="Calibri"/>
              <a:buNone/>
            </a:pPr>
            <a:r>
              <a:rPr b="1" i="1" lang="en-US">
                <a:solidFill>
                  <a:srgbClr val="0070C0"/>
                </a:solidFill>
              </a:rPr>
              <a:t>Applying a Style Class</a:t>
            </a:r>
            <a:endParaRPr>
              <a:solidFill>
                <a:srgbClr val="0070C0"/>
              </a:solidFill>
            </a:endParaRPr>
          </a:p>
        </p:txBody>
      </p:sp>
      <p:sp>
        <p:nvSpPr>
          <p:cNvPr id="263" name="Google Shape;263;p20"/>
          <p:cNvSpPr txBox="1"/>
          <p:nvPr>
            <p:ph idx="1" type="body"/>
          </p:nvPr>
        </p:nvSpPr>
        <p:spPr>
          <a:xfrm>
            <a:off x="592541" y="938520"/>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Line 22 uses the HTML5 attribute </a:t>
            </a:r>
            <a:r>
              <a:rPr b="1" lang="en-US"/>
              <a:t>class </a:t>
            </a:r>
            <a:r>
              <a:rPr lang="en-US"/>
              <a:t>in an h1 element to apply a style class.</a:t>
            </a:r>
            <a:endParaRPr/>
          </a:p>
          <a:p>
            <a:pPr indent="-228600" lvl="0" marL="228600" rtl="0" algn="l">
              <a:lnSpc>
                <a:spcPct val="90000"/>
              </a:lnSpc>
              <a:spcBef>
                <a:spcPts val="1000"/>
              </a:spcBef>
              <a:spcAft>
                <a:spcPts val="0"/>
              </a:spcAft>
              <a:buClr>
                <a:schemeClr val="dk1"/>
              </a:buClr>
              <a:buSzPts val="2800"/>
              <a:buChar char="•"/>
            </a:pPr>
            <a:r>
              <a:rPr lang="en-US"/>
              <a:t>When the browser renders the h1 element, the text appears on screen with the properties of both an h1 element and the .special style class applied.</a:t>
            </a:r>
            <a:endParaRPr/>
          </a:p>
          <a:p>
            <a:pPr indent="-50800" lvl="0" marL="228600" rtl="0" algn="l">
              <a:lnSpc>
                <a:spcPct val="90000"/>
              </a:lnSpc>
              <a:spcBef>
                <a:spcPts val="1000"/>
              </a:spcBef>
              <a:spcAft>
                <a:spcPts val="0"/>
              </a:spcAft>
              <a:buClr>
                <a:schemeClr val="dk1"/>
              </a:buClr>
              <a:buSzPts val="2800"/>
              <a:buNone/>
            </a:pPr>
            <a:r>
              <a:t/>
            </a:r>
            <a:endParaRPr/>
          </a:p>
        </p:txBody>
      </p:sp>
      <p:cxnSp>
        <p:nvCxnSpPr>
          <p:cNvPr id="264" name="Google Shape;264;p20"/>
          <p:cNvCxnSpPr/>
          <p:nvPr/>
        </p:nvCxnSpPr>
        <p:spPr>
          <a:xfrm flipH="1" rot="10800000">
            <a:off x="0" y="869983"/>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265" name="Google Shape;265;p20"/>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9" name="Shape 269"/>
        <p:cNvGrpSpPr/>
        <p:nvPr/>
      </p:nvGrpSpPr>
      <p:grpSpPr>
        <a:xfrm>
          <a:off x="0" y="0"/>
          <a:ext cx="0" cy="0"/>
          <a:chOff x="0" y="0"/>
          <a:chExt cx="0" cy="0"/>
        </a:xfrm>
      </p:grpSpPr>
      <p:sp>
        <p:nvSpPr>
          <p:cNvPr id="270" name="Google Shape;270;p21"/>
          <p:cNvSpPr txBox="1"/>
          <p:nvPr>
            <p:ph idx="1" type="body"/>
          </p:nvPr>
        </p:nvSpPr>
        <p:spPr>
          <a:xfrm>
            <a:off x="333232" y="1339139"/>
            <a:ext cx="10525267" cy="329411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With </a:t>
            </a:r>
            <a:r>
              <a:rPr b="1" lang="en-US" sz="2400"/>
              <a:t>external style sheets </a:t>
            </a:r>
            <a:r>
              <a:rPr lang="en-US" sz="2400"/>
              <a:t>(i.e., </a:t>
            </a:r>
            <a:r>
              <a:rPr i="1" lang="en-US" sz="2400"/>
              <a:t>separate </a:t>
            </a:r>
            <a:r>
              <a:rPr lang="en-US" sz="2400"/>
              <a:t>documents that contain only CSS rules), you can provide a </a:t>
            </a:r>
            <a:r>
              <a:rPr i="1" lang="en-US" sz="2400"/>
              <a:t>uniform look and feel </a:t>
            </a:r>
            <a:r>
              <a:rPr lang="en-US" sz="2400"/>
              <a:t>to all pages in the website (or to a portion of it).</a:t>
            </a:r>
            <a:endParaRPr/>
          </a:p>
          <a:p>
            <a:pPr indent="-228600" lvl="0" marL="228600" rtl="0" algn="l">
              <a:lnSpc>
                <a:spcPct val="90000"/>
              </a:lnSpc>
              <a:spcBef>
                <a:spcPts val="1000"/>
              </a:spcBef>
              <a:spcAft>
                <a:spcPts val="0"/>
              </a:spcAft>
              <a:buClr>
                <a:schemeClr val="dk1"/>
              </a:buClr>
              <a:buSzPts val="2400"/>
              <a:buChar char="•"/>
            </a:pPr>
            <a:r>
              <a:rPr lang="en-US" sz="2400"/>
              <a:t>You can also </a:t>
            </a:r>
            <a:r>
              <a:rPr i="1" lang="en-US" sz="2400" u="sng"/>
              <a:t>reuse</a:t>
            </a:r>
            <a:r>
              <a:rPr i="1" lang="en-US" sz="2400"/>
              <a:t> </a:t>
            </a:r>
            <a:r>
              <a:rPr lang="en-US" sz="2400"/>
              <a:t>the same external style sheet across multiple websites.</a:t>
            </a:r>
            <a:endParaRPr/>
          </a:p>
          <a:p>
            <a:pPr indent="-228600" lvl="0" marL="228600" rtl="0" algn="l">
              <a:lnSpc>
                <a:spcPct val="90000"/>
              </a:lnSpc>
              <a:spcBef>
                <a:spcPts val="1000"/>
              </a:spcBef>
              <a:spcAft>
                <a:spcPts val="0"/>
              </a:spcAft>
              <a:buClr>
                <a:schemeClr val="dk1"/>
              </a:buClr>
              <a:buSzPts val="2400"/>
              <a:buChar char="•"/>
            </a:pPr>
            <a:r>
              <a:rPr lang="en-US" sz="2400"/>
              <a:t>When changes to the styles are required, you need to modify only a single CSS file to make style changes across </a:t>
            </a:r>
            <a:r>
              <a:rPr i="1" lang="en-US" sz="2400"/>
              <a:t>all </a:t>
            </a:r>
            <a:r>
              <a:rPr lang="en-US" sz="2400"/>
              <a:t>the pages that use those styles.</a:t>
            </a:r>
            <a:endParaRPr/>
          </a:p>
          <a:p>
            <a:pPr indent="-228600" lvl="0" marL="228600" rtl="0" algn="l">
              <a:lnSpc>
                <a:spcPct val="90000"/>
              </a:lnSpc>
              <a:spcBef>
                <a:spcPts val="1000"/>
              </a:spcBef>
              <a:spcAft>
                <a:spcPts val="0"/>
              </a:spcAft>
              <a:buClr>
                <a:schemeClr val="dk1"/>
              </a:buClr>
              <a:buSzPts val="2400"/>
              <a:buChar char="•"/>
            </a:pPr>
            <a:r>
              <a:rPr lang="en-US" sz="2400"/>
              <a:t>Linking done using &lt;link rel=“stylesheet” type=“text/css” href=“styles.css” /&gt;</a:t>
            </a:r>
            <a:endParaRPr/>
          </a:p>
        </p:txBody>
      </p:sp>
      <p:sp>
        <p:nvSpPr>
          <p:cNvPr id="271" name="Google Shape;271;p21"/>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External Style Sheets</a:t>
            </a:r>
            <a:endParaRPr b="0" i="0" sz="1400" u="none" cap="none" strike="noStrike">
              <a:solidFill>
                <a:srgbClr val="000000"/>
              </a:solidFill>
              <a:latin typeface="Arial"/>
              <a:ea typeface="Arial"/>
              <a:cs typeface="Arial"/>
              <a:sym typeface="Arial"/>
            </a:endParaRPr>
          </a:p>
        </p:txBody>
      </p:sp>
      <p:cxnSp>
        <p:nvCxnSpPr>
          <p:cNvPr id="272" name="Google Shape;272;p21"/>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273" name="Google Shape;273;p21"/>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274" name="Google Shape;274;p21"/>
          <p:cNvPicPr preferRelativeResize="0"/>
          <p:nvPr/>
        </p:nvPicPr>
        <p:blipFill rotWithShape="1">
          <a:blip r:embed="rId3">
            <a:alphaModFix/>
          </a:blip>
          <a:srcRect b="0" l="0" r="0" t="0"/>
          <a:stretch/>
        </p:blipFill>
        <p:spPr>
          <a:xfrm>
            <a:off x="623888" y="4576763"/>
            <a:ext cx="6486525" cy="1933575"/>
          </a:xfrm>
          <a:prstGeom prst="rect">
            <a:avLst/>
          </a:prstGeom>
          <a:noFill/>
          <a:ln>
            <a:noFill/>
          </a:ln>
        </p:spPr>
      </p:pic>
      <p:pic>
        <p:nvPicPr>
          <p:cNvPr id="275" name="Google Shape;275;p21"/>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9" name="Shape 279"/>
        <p:cNvGrpSpPr/>
        <p:nvPr/>
      </p:nvGrpSpPr>
      <p:grpSpPr>
        <a:xfrm>
          <a:off x="0" y="0"/>
          <a:ext cx="0" cy="0"/>
          <a:chOff x="0" y="0"/>
          <a:chExt cx="0" cy="0"/>
        </a:xfrm>
      </p:grpSpPr>
      <p:pic>
        <p:nvPicPr>
          <p:cNvPr id="280" name="Google Shape;280;p22"/>
          <p:cNvPicPr preferRelativeResize="0"/>
          <p:nvPr/>
        </p:nvPicPr>
        <p:blipFill rotWithShape="1">
          <a:blip r:embed="rId3">
            <a:alphaModFix/>
          </a:blip>
          <a:srcRect b="0" l="0" r="0" t="0"/>
          <a:stretch/>
        </p:blipFill>
        <p:spPr>
          <a:xfrm>
            <a:off x="482931" y="576404"/>
            <a:ext cx="5657850" cy="5606032"/>
          </a:xfrm>
          <a:prstGeom prst="rect">
            <a:avLst/>
          </a:prstGeom>
          <a:noFill/>
          <a:ln>
            <a:noFill/>
          </a:ln>
        </p:spPr>
      </p:pic>
      <p:pic>
        <p:nvPicPr>
          <p:cNvPr id="281" name="Google Shape;281;p22"/>
          <p:cNvPicPr preferRelativeResize="0"/>
          <p:nvPr/>
        </p:nvPicPr>
        <p:blipFill rotWithShape="1">
          <a:blip r:embed="rId4">
            <a:alphaModFix/>
          </a:blip>
          <a:srcRect b="0" l="0" r="0" t="0"/>
          <a:stretch/>
        </p:blipFill>
        <p:spPr>
          <a:xfrm>
            <a:off x="5932369" y="130577"/>
            <a:ext cx="6259631" cy="2447925"/>
          </a:xfrm>
          <a:prstGeom prst="rect">
            <a:avLst/>
          </a:prstGeom>
          <a:noFill/>
          <a:ln>
            <a:noFill/>
          </a:ln>
        </p:spPr>
      </p:pic>
      <p:pic>
        <p:nvPicPr>
          <p:cNvPr id="282" name="Google Shape;282;p22"/>
          <p:cNvPicPr preferRelativeResize="0"/>
          <p:nvPr/>
        </p:nvPicPr>
        <p:blipFill rotWithShape="1">
          <a:blip r:embed="rId5">
            <a:alphaModFix/>
          </a:blip>
          <a:srcRect b="0" l="0" r="0" t="0"/>
          <a:stretch/>
        </p:blipFill>
        <p:spPr>
          <a:xfrm>
            <a:off x="9156084" y="1810673"/>
            <a:ext cx="3035916" cy="2283655"/>
          </a:xfrm>
          <a:prstGeom prst="rect">
            <a:avLst/>
          </a:prstGeom>
          <a:noFill/>
          <a:ln>
            <a:noFill/>
          </a:ln>
        </p:spPr>
      </p:pic>
      <p:pic>
        <p:nvPicPr>
          <p:cNvPr id="283" name="Google Shape;283;p22"/>
          <p:cNvPicPr preferRelativeResize="0"/>
          <p:nvPr/>
        </p:nvPicPr>
        <p:blipFill rotWithShape="1">
          <a:blip r:embed="rId6">
            <a:alphaModFix/>
          </a:blip>
          <a:srcRect b="0" l="0" r="0" t="0"/>
          <a:stretch/>
        </p:blipFill>
        <p:spPr>
          <a:xfrm>
            <a:off x="5717843" y="4094328"/>
            <a:ext cx="4486275" cy="276367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cxnSp>
        <p:nvCxnSpPr>
          <p:cNvPr id="288" name="Google Shape;288;p23"/>
          <p:cNvCxnSpPr/>
          <p:nvPr/>
        </p:nvCxnSpPr>
        <p:spPr>
          <a:xfrm>
            <a:off x="1524000" y="1793634"/>
            <a:ext cx="9144000" cy="0"/>
          </a:xfrm>
          <a:prstGeom prst="straightConnector1">
            <a:avLst/>
          </a:prstGeom>
          <a:noFill/>
          <a:ln cap="flat" cmpd="sng" w="15875">
            <a:solidFill>
              <a:schemeClr val="lt2"/>
            </a:solidFill>
            <a:prstDash val="solid"/>
            <a:round/>
            <a:headEnd len="sm" w="sm" type="none"/>
            <a:tailEnd len="sm" w="sm" type="none"/>
          </a:ln>
        </p:spPr>
      </p:cxnSp>
      <p:sp>
        <p:nvSpPr>
          <p:cNvPr id="289" name="Google Shape;289;p23"/>
          <p:cNvSpPr txBox="1"/>
          <p:nvPr/>
        </p:nvSpPr>
        <p:spPr>
          <a:xfrm>
            <a:off x="1905000" y="1793634"/>
            <a:ext cx="830580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The real power of using an external style sheet is that multiple web pages on our site can link to the same style sheet:</a:t>
            </a:r>
            <a:endParaRPr b="0" i="0" sz="1400" u="none" cap="none" strike="noStrike">
              <a:solidFill>
                <a:srgbClr val="000000"/>
              </a:solidFill>
              <a:latin typeface="Arial"/>
              <a:ea typeface="Arial"/>
              <a:cs typeface="Arial"/>
              <a:sym typeface="Arial"/>
            </a:endParaRPr>
          </a:p>
        </p:txBody>
      </p:sp>
      <p:grpSp>
        <p:nvGrpSpPr>
          <p:cNvPr id="290" name="Google Shape;290;p23"/>
          <p:cNvGrpSpPr/>
          <p:nvPr/>
        </p:nvGrpSpPr>
        <p:grpSpPr>
          <a:xfrm>
            <a:off x="257176" y="2517534"/>
            <a:ext cx="8162924" cy="4321416"/>
            <a:chOff x="1952626" y="2536584"/>
            <a:chExt cx="8162924" cy="4321416"/>
          </a:xfrm>
        </p:grpSpPr>
        <p:sp>
          <p:nvSpPr>
            <p:cNvPr id="291" name="Google Shape;291;p23"/>
            <p:cNvSpPr txBox="1"/>
            <p:nvPr/>
          </p:nvSpPr>
          <p:spPr>
            <a:xfrm>
              <a:off x="4191000" y="2536584"/>
              <a:ext cx="3657600" cy="3365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style.css :</a:t>
              </a:r>
              <a:endParaRPr b="0" i="0" sz="1400" u="none" cap="none" strike="noStrike">
                <a:solidFill>
                  <a:srgbClr val="000000"/>
                </a:solidFill>
                <a:latin typeface="Arial"/>
                <a:ea typeface="Arial"/>
                <a:cs typeface="Arial"/>
                <a:sym typeface="Arial"/>
              </a:endParaRPr>
            </a:p>
          </p:txBody>
        </p:sp>
        <p:cxnSp>
          <p:nvCxnSpPr>
            <p:cNvPr id="292" name="Google Shape;292;p23"/>
            <p:cNvCxnSpPr/>
            <p:nvPr/>
          </p:nvCxnSpPr>
          <p:spPr>
            <a:xfrm rot="10800000">
              <a:off x="6248400" y="3317635"/>
              <a:ext cx="0" cy="276225"/>
            </a:xfrm>
            <a:prstGeom prst="straightConnector1">
              <a:avLst/>
            </a:prstGeom>
            <a:noFill/>
            <a:ln cap="flat" cmpd="sng" w="9525">
              <a:solidFill>
                <a:schemeClr val="dk1"/>
              </a:solidFill>
              <a:prstDash val="solid"/>
              <a:round/>
              <a:headEnd len="sm" w="sm" type="none"/>
              <a:tailEnd len="med" w="med" type="triangle"/>
            </a:ln>
          </p:spPr>
        </p:cxnSp>
        <p:grpSp>
          <p:nvGrpSpPr>
            <p:cNvPr id="293" name="Google Shape;293;p23"/>
            <p:cNvGrpSpPr/>
            <p:nvPr/>
          </p:nvGrpSpPr>
          <p:grpSpPr>
            <a:xfrm>
              <a:off x="1952626" y="2555634"/>
              <a:ext cx="8162924" cy="4302366"/>
              <a:chOff x="2047876" y="2555634"/>
              <a:chExt cx="8162924" cy="4302366"/>
            </a:xfrm>
          </p:grpSpPr>
          <p:sp>
            <p:nvSpPr>
              <p:cNvPr id="294" name="Google Shape;294;p23"/>
              <p:cNvSpPr txBox="1"/>
              <p:nvPr/>
            </p:nvSpPr>
            <p:spPr>
              <a:xfrm>
                <a:off x="4191000" y="3593859"/>
                <a:ext cx="1219200" cy="34925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page1.html</a:t>
                </a:r>
                <a:endParaRPr b="0" i="0" sz="1400" u="none" cap="none" strike="noStrike">
                  <a:solidFill>
                    <a:srgbClr val="000000"/>
                  </a:solidFill>
                  <a:latin typeface="Arial"/>
                  <a:ea typeface="Arial"/>
                  <a:cs typeface="Arial"/>
                  <a:sym typeface="Arial"/>
                </a:endParaRPr>
              </a:p>
            </p:txBody>
          </p:sp>
          <p:sp>
            <p:nvSpPr>
              <p:cNvPr id="295" name="Google Shape;295;p23"/>
              <p:cNvSpPr/>
              <p:nvPr/>
            </p:nvSpPr>
            <p:spPr>
              <a:xfrm>
                <a:off x="4267200" y="2873134"/>
                <a:ext cx="4191000" cy="304800"/>
              </a:xfrm>
              <a:prstGeom prst="rect">
                <a:avLst/>
              </a:prstGeom>
              <a:solidFill>
                <a:schemeClr val="accent4"/>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lt2"/>
                  </a:buClr>
                  <a:buSzPts val="1050"/>
                  <a:buFont typeface="Noto Sans Symbols"/>
                  <a:buNone/>
                </a:pPr>
                <a:r>
                  <a:rPr b="1" i="0" lang="en-US" sz="1400" u="none" cap="none" strike="noStrike">
                    <a:solidFill>
                      <a:schemeClr val="dk1"/>
                    </a:solidFill>
                    <a:latin typeface="Courier New"/>
                    <a:ea typeface="Courier New"/>
                    <a:cs typeface="Courier New"/>
                    <a:sym typeface="Courier New"/>
                  </a:rPr>
                  <a:t>h2 {color:red;}</a:t>
                </a:r>
                <a:endParaRPr b="0" i="0" sz="1400" u="none" cap="none" strike="noStrike">
                  <a:solidFill>
                    <a:srgbClr val="000000"/>
                  </a:solidFill>
                  <a:latin typeface="Arial"/>
                  <a:ea typeface="Arial"/>
                  <a:cs typeface="Arial"/>
                  <a:sym typeface="Arial"/>
                </a:endParaRPr>
              </a:p>
            </p:txBody>
          </p:sp>
          <p:sp>
            <p:nvSpPr>
              <p:cNvPr id="296" name="Google Shape;296;p23"/>
              <p:cNvSpPr txBox="1"/>
              <p:nvPr/>
            </p:nvSpPr>
            <p:spPr>
              <a:xfrm>
                <a:off x="2057400" y="5916613"/>
                <a:ext cx="8077200" cy="941387"/>
              </a:xfrm>
              <a:prstGeom prst="rect">
                <a:avLst/>
              </a:prstGeom>
              <a:solidFill>
                <a:srgbClr val="FBE4D4"/>
              </a:solidFill>
              <a:ln cap="flat" cmpd="sng" w="254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Styles declared in an external style sheet will affect all matching elements on </a:t>
                </a:r>
                <a:r>
                  <a:rPr b="0" i="0" lang="en-US" sz="1800" u="sng" cap="none" strike="noStrike">
                    <a:solidFill>
                      <a:schemeClr val="dk1"/>
                    </a:solidFill>
                    <a:latin typeface="Calibri"/>
                    <a:ea typeface="Calibri"/>
                    <a:cs typeface="Calibri"/>
                    <a:sym typeface="Calibri"/>
                  </a:rPr>
                  <a:t>all web pages that link to the style sheet</a:t>
                </a:r>
                <a:r>
                  <a:rPr b="0" i="0" lang="en-US" sz="1800" u="none" cap="none" strike="noStrike">
                    <a:solidFill>
                      <a:schemeClr val="dk1"/>
                    </a:solidFill>
                    <a:latin typeface="Calibri"/>
                    <a:ea typeface="Calibri"/>
                    <a:cs typeface="Calibri"/>
                    <a:sym typeface="Calibri"/>
                  </a:rPr>
                  <a:t>.  By editing the external style sheet, we can make site-wide changes (even to hundreds of pages) instantly.</a:t>
                </a:r>
                <a:endParaRPr b="0" i="0" sz="1400" u="none" cap="none" strike="noStrike">
                  <a:solidFill>
                    <a:srgbClr val="000000"/>
                  </a:solidFill>
                  <a:latin typeface="Arial"/>
                  <a:ea typeface="Arial"/>
                  <a:cs typeface="Arial"/>
                  <a:sym typeface="Arial"/>
                </a:endParaRPr>
              </a:p>
            </p:txBody>
          </p:sp>
          <p:sp>
            <p:nvSpPr>
              <p:cNvPr id="297" name="Google Shape;297;p23"/>
              <p:cNvSpPr txBox="1"/>
              <p:nvPr/>
            </p:nvSpPr>
            <p:spPr>
              <a:xfrm>
                <a:off x="5638800" y="3593859"/>
                <a:ext cx="1219200" cy="34925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page2.html</a:t>
                </a:r>
                <a:endParaRPr b="0" i="0" sz="1400" u="none" cap="none" strike="noStrike">
                  <a:solidFill>
                    <a:srgbClr val="000000"/>
                  </a:solidFill>
                  <a:latin typeface="Arial"/>
                  <a:ea typeface="Arial"/>
                  <a:cs typeface="Arial"/>
                  <a:sym typeface="Arial"/>
                </a:endParaRPr>
              </a:p>
            </p:txBody>
          </p:sp>
          <p:sp>
            <p:nvSpPr>
              <p:cNvPr id="298" name="Google Shape;298;p23"/>
              <p:cNvSpPr/>
              <p:nvPr/>
            </p:nvSpPr>
            <p:spPr>
              <a:xfrm>
                <a:off x="4038600" y="2555634"/>
                <a:ext cx="4572000" cy="762000"/>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9" name="Google Shape;299;p23"/>
              <p:cNvSpPr txBox="1"/>
              <p:nvPr/>
            </p:nvSpPr>
            <p:spPr>
              <a:xfrm>
                <a:off x="7086600" y="3593859"/>
                <a:ext cx="1219200" cy="349250"/>
              </a:xfrm>
              <a:prstGeom prst="rect">
                <a:avLst/>
              </a:prstGeom>
              <a:no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page3.html</a:t>
                </a:r>
                <a:endParaRPr b="0" i="0" sz="1400" u="none" cap="none" strike="noStrike">
                  <a:solidFill>
                    <a:srgbClr val="000000"/>
                  </a:solidFill>
                  <a:latin typeface="Arial"/>
                  <a:ea typeface="Arial"/>
                  <a:cs typeface="Arial"/>
                  <a:sym typeface="Arial"/>
                </a:endParaRPr>
              </a:p>
            </p:txBody>
          </p:sp>
          <p:pic>
            <p:nvPicPr>
              <p:cNvPr descr="CSS4a" id="300" name="Google Shape;300;p23"/>
              <p:cNvPicPr preferRelativeResize="0"/>
              <p:nvPr/>
            </p:nvPicPr>
            <p:blipFill rotWithShape="1">
              <a:blip r:embed="rId3">
                <a:alphaModFix/>
              </a:blip>
              <a:srcRect b="0" l="0" r="0" t="0"/>
              <a:stretch/>
            </p:blipFill>
            <p:spPr>
              <a:xfrm>
                <a:off x="2047876" y="4314584"/>
                <a:ext cx="2600325" cy="1517650"/>
              </a:xfrm>
              <a:prstGeom prst="rect">
                <a:avLst/>
              </a:prstGeom>
              <a:noFill/>
              <a:ln>
                <a:noFill/>
              </a:ln>
            </p:spPr>
          </p:pic>
          <p:pic>
            <p:nvPicPr>
              <p:cNvPr descr="CSS4b" id="301" name="Google Shape;301;p23"/>
              <p:cNvPicPr preferRelativeResize="0"/>
              <p:nvPr/>
            </p:nvPicPr>
            <p:blipFill rotWithShape="1">
              <a:blip r:embed="rId4">
                <a:alphaModFix/>
              </a:blip>
              <a:srcRect b="0" l="0" r="0" t="0"/>
              <a:stretch/>
            </p:blipFill>
            <p:spPr>
              <a:xfrm>
                <a:off x="4876800" y="4308235"/>
                <a:ext cx="2514600" cy="1427163"/>
              </a:xfrm>
              <a:prstGeom prst="rect">
                <a:avLst/>
              </a:prstGeom>
              <a:noFill/>
              <a:ln>
                <a:noFill/>
              </a:ln>
            </p:spPr>
          </p:pic>
          <p:pic>
            <p:nvPicPr>
              <p:cNvPr descr="CSS4c" id="302" name="Google Shape;302;p23"/>
              <p:cNvPicPr preferRelativeResize="0"/>
              <p:nvPr/>
            </p:nvPicPr>
            <p:blipFill rotWithShape="1">
              <a:blip r:embed="rId5">
                <a:alphaModFix/>
              </a:blip>
              <a:srcRect b="0" l="0" r="0" t="0"/>
              <a:stretch/>
            </p:blipFill>
            <p:spPr>
              <a:xfrm>
                <a:off x="7620000" y="4308234"/>
                <a:ext cx="2590800" cy="1511300"/>
              </a:xfrm>
              <a:prstGeom prst="rect">
                <a:avLst/>
              </a:prstGeom>
              <a:noFill/>
              <a:ln>
                <a:noFill/>
              </a:ln>
            </p:spPr>
          </p:pic>
          <p:cxnSp>
            <p:nvCxnSpPr>
              <p:cNvPr id="303" name="Google Shape;303;p23"/>
              <p:cNvCxnSpPr/>
              <p:nvPr/>
            </p:nvCxnSpPr>
            <p:spPr>
              <a:xfrm flipH="1">
                <a:off x="3657600" y="3927234"/>
                <a:ext cx="533400" cy="381000"/>
              </a:xfrm>
              <a:prstGeom prst="straightConnector1">
                <a:avLst/>
              </a:prstGeom>
              <a:noFill/>
              <a:ln cap="flat" cmpd="sng" w="9525">
                <a:solidFill>
                  <a:schemeClr val="dk1"/>
                </a:solidFill>
                <a:prstDash val="solid"/>
                <a:round/>
                <a:headEnd len="sm" w="sm" type="none"/>
                <a:tailEnd len="med" w="med" type="triangle"/>
              </a:ln>
            </p:spPr>
          </p:cxnSp>
          <p:cxnSp>
            <p:nvCxnSpPr>
              <p:cNvPr id="304" name="Google Shape;304;p23"/>
              <p:cNvCxnSpPr/>
              <p:nvPr/>
            </p:nvCxnSpPr>
            <p:spPr>
              <a:xfrm>
                <a:off x="8305800" y="3927234"/>
                <a:ext cx="457200" cy="381000"/>
              </a:xfrm>
              <a:prstGeom prst="straightConnector1">
                <a:avLst/>
              </a:prstGeom>
              <a:noFill/>
              <a:ln cap="flat" cmpd="sng" w="9525">
                <a:solidFill>
                  <a:schemeClr val="dk1"/>
                </a:solidFill>
                <a:prstDash val="solid"/>
                <a:round/>
                <a:headEnd len="sm" w="sm" type="none"/>
                <a:tailEnd len="med" w="med" type="triangle"/>
              </a:ln>
            </p:spPr>
          </p:cxnSp>
          <p:cxnSp>
            <p:nvCxnSpPr>
              <p:cNvPr id="305" name="Google Shape;305;p23"/>
              <p:cNvCxnSpPr/>
              <p:nvPr/>
            </p:nvCxnSpPr>
            <p:spPr>
              <a:xfrm>
                <a:off x="6248400" y="3936759"/>
                <a:ext cx="0" cy="381000"/>
              </a:xfrm>
              <a:prstGeom prst="straightConnector1">
                <a:avLst/>
              </a:prstGeom>
              <a:noFill/>
              <a:ln cap="flat" cmpd="sng" w="9525">
                <a:solidFill>
                  <a:schemeClr val="dk1"/>
                </a:solidFill>
                <a:prstDash val="solid"/>
                <a:round/>
                <a:headEnd len="sm" w="sm" type="none"/>
                <a:tailEnd len="med" w="med" type="triangle"/>
              </a:ln>
            </p:spPr>
          </p:cxnSp>
        </p:grpSp>
        <p:cxnSp>
          <p:nvCxnSpPr>
            <p:cNvPr id="306" name="Google Shape;306;p23"/>
            <p:cNvCxnSpPr/>
            <p:nvPr/>
          </p:nvCxnSpPr>
          <p:spPr>
            <a:xfrm rot="10800000">
              <a:off x="7696200" y="3317635"/>
              <a:ext cx="0" cy="276225"/>
            </a:xfrm>
            <a:prstGeom prst="straightConnector1">
              <a:avLst/>
            </a:prstGeom>
            <a:noFill/>
            <a:ln cap="flat" cmpd="sng" w="9525">
              <a:solidFill>
                <a:schemeClr val="dk1"/>
              </a:solidFill>
              <a:prstDash val="solid"/>
              <a:round/>
              <a:headEnd len="sm" w="sm" type="none"/>
              <a:tailEnd len="med" w="med" type="triangle"/>
            </a:ln>
          </p:spPr>
        </p:cxnSp>
        <p:cxnSp>
          <p:nvCxnSpPr>
            <p:cNvPr id="307" name="Google Shape;307;p23"/>
            <p:cNvCxnSpPr/>
            <p:nvPr/>
          </p:nvCxnSpPr>
          <p:spPr>
            <a:xfrm rot="10800000">
              <a:off x="4800600" y="3317635"/>
              <a:ext cx="0" cy="276225"/>
            </a:xfrm>
            <a:prstGeom prst="straightConnector1">
              <a:avLst/>
            </a:prstGeom>
            <a:noFill/>
            <a:ln cap="flat" cmpd="sng" w="9525">
              <a:solidFill>
                <a:schemeClr val="dk1"/>
              </a:solidFill>
              <a:prstDash val="solid"/>
              <a:round/>
              <a:headEnd len="sm" w="sm" type="none"/>
              <a:tailEnd len="med" w="med" type="triangle"/>
            </a:ln>
          </p:spPr>
        </p:cxnSp>
      </p:grpSp>
      <p:sp>
        <p:nvSpPr>
          <p:cNvPr id="308" name="Google Shape;308;p23"/>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Benefits of External Style Sheets</a:t>
            </a:r>
            <a:endParaRPr b="0" i="0" sz="1400" u="none" cap="none" strike="noStrike">
              <a:solidFill>
                <a:srgbClr val="000000"/>
              </a:solidFill>
              <a:latin typeface="Arial"/>
              <a:ea typeface="Arial"/>
              <a:cs typeface="Arial"/>
              <a:sym typeface="Arial"/>
            </a:endParaRPr>
          </a:p>
        </p:txBody>
      </p:sp>
      <p:cxnSp>
        <p:nvCxnSpPr>
          <p:cNvPr id="309" name="Google Shape;309;p23"/>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10" name="Google Shape;310;p23"/>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311" name="Google Shape;311;p23"/>
          <p:cNvPicPr preferRelativeResize="0"/>
          <p:nvPr/>
        </p:nvPicPr>
        <p:blipFill rotWithShape="1">
          <a:blip r:embed="rId6">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4"/>
          <p:cNvSpPr txBox="1"/>
          <p:nvPr>
            <p:ph idx="1" type="body"/>
          </p:nvPr>
        </p:nvSpPr>
        <p:spPr>
          <a:xfrm>
            <a:off x="354037" y="1842400"/>
            <a:ext cx="9704361" cy="1752600"/>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1800"/>
              <a:buFont typeface="Noto Sans Symbols"/>
              <a:buChar char="■"/>
            </a:pPr>
            <a:r>
              <a:rPr lang="en-US" sz="2400"/>
              <a:t>are appropriate for very small sites, especially those that have just a single page.</a:t>
            </a:r>
            <a:endParaRPr/>
          </a:p>
          <a:p>
            <a:pPr indent="-342900" lvl="0" marL="342900" rtl="0" algn="l">
              <a:lnSpc>
                <a:spcPct val="100000"/>
              </a:lnSpc>
              <a:spcBef>
                <a:spcPts val="0"/>
              </a:spcBef>
              <a:spcAft>
                <a:spcPts val="0"/>
              </a:spcAft>
              <a:buClr>
                <a:schemeClr val="dk1"/>
              </a:buClr>
              <a:buSzPts val="1800"/>
              <a:buFont typeface="Noto Sans Symbols"/>
              <a:buChar char="■"/>
            </a:pPr>
            <a:r>
              <a:rPr lang="en-US" sz="2400"/>
              <a:t>might also make sense when each page of a site needs to have a completely different look.</a:t>
            </a:r>
            <a:endParaRPr/>
          </a:p>
        </p:txBody>
      </p:sp>
      <p:sp>
        <p:nvSpPr>
          <p:cNvPr id="317" name="Google Shape;317;p24"/>
          <p:cNvSpPr txBox="1"/>
          <p:nvPr/>
        </p:nvSpPr>
        <p:spPr>
          <a:xfrm>
            <a:off x="345831" y="1470130"/>
            <a:ext cx="3200400" cy="51593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Internal Style Sheets</a:t>
            </a:r>
            <a:endParaRPr b="0" i="0" sz="1400" u="none" cap="none" strike="noStrike">
              <a:solidFill>
                <a:srgbClr val="000000"/>
              </a:solidFill>
              <a:latin typeface="Arial"/>
              <a:ea typeface="Arial"/>
              <a:cs typeface="Arial"/>
              <a:sym typeface="Arial"/>
            </a:endParaRPr>
          </a:p>
        </p:txBody>
      </p:sp>
      <p:sp>
        <p:nvSpPr>
          <p:cNvPr id="318" name="Google Shape;318;p24"/>
          <p:cNvSpPr/>
          <p:nvPr/>
        </p:nvSpPr>
        <p:spPr>
          <a:xfrm>
            <a:off x="457200" y="3988514"/>
            <a:ext cx="9029700" cy="131057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1800"/>
              <a:buFont typeface="Noto Sans Symbols"/>
              <a:buChar char="■"/>
            </a:pPr>
            <a:r>
              <a:rPr b="0" i="0" lang="en-US" sz="2400" u="none" cap="none" strike="noStrike">
                <a:solidFill>
                  <a:schemeClr val="dk1"/>
                </a:solidFill>
                <a:latin typeface="Calibri"/>
                <a:ea typeface="Calibri"/>
                <a:cs typeface="Calibri"/>
                <a:sym typeface="Calibri"/>
              </a:rPr>
              <a:t>are better for multi-page websites that need to have a uniform look and feel to all pages.</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n-US" sz="2400" u="none" cap="none" strike="noStrike">
                <a:solidFill>
                  <a:schemeClr val="dk1"/>
                </a:solidFill>
                <a:latin typeface="Calibri"/>
                <a:ea typeface="Calibri"/>
                <a:cs typeface="Calibri"/>
                <a:sym typeface="Calibri"/>
              </a:rPr>
              <a:t>make for faster-loading sites (less redundant code).</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chemeClr val="dk1"/>
              </a:buClr>
              <a:buSzPts val="1800"/>
              <a:buFont typeface="Noto Sans Symbols"/>
              <a:buChar char="■"/>
            </a:pPr>
            <a:r>
              <a:rPr b="0" i="0" lang="en-US" sz="2400" u="none" cap="none" strike="noStrike">
                <a:solidFill>
                  <a:schemeClr val="dk1"/>
                </a:solidFill>
                <a:latin typeface="Calibri"/>
                <a:ea typeface="Calibri"/>
                <a:cs typeface="Calibri"/>
                <a:sym typeface="Calibri"/>
              </a:rPr>
              <a:t>allow designers to make site-wide changes quickly and easily.</a:t>
            </a:r>
            <a:endParaRPr b="0" i="0" sz="1400" u="none" cap="none" strike="noStrike">
              <a:solidFill>
                <a:srgbClr val="000000"/>
              </a:solidFill>
              <a:latin typeface="Arial"/>
              <a:ea typeface="Arial"/>
              <a:cs typeface="Arial"/>
              <a:sym typeface="Arial"/>
            </a:endParaRPr>
          </a:p>
        </p:txBody>
      </p:sp>
      <p:sp>
        <p:nvSpPr>
          <p:cNvPr id="319" name="Google Shape;319;p24"/>
          <p:cNvSpPr txBox="1"/>
          <p:nvPr/>
        </p:nvSpPr>
        <p:spPr>
          <a:xfrm>
            <a:off x="345831" y="3554613"/>
            <a:ext cx="3200400" cy="51593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External Style Sheets:</a:t>
            </a:r>
            <a:endParaRPr b="0" i="0" sz="1400" u="none" cap="none" strike="noStrike">
              <a:solidFill>
                <a:srgbClr val="000000"/>
              </a:solidFill>
              <a:latin typeface="Arial"/>
              <a:ea typeface="Arial"/>
              <a:cs typeface="Arial"/>
              <a:sym typeface="Arial"/>
            </a:endParaRPr>
          </a:p>
        </p:txBody>
      </p:sp>
      <p:sp>
        <p:nvSpPr>
          <p:cNvPr id="320" name="Google Shape;320;p24"/>
          <p:cNvSpPr txBox="1"/>
          <p:nvPr/>
        </p:nvSpPr>
        <p:spPr>
          <a:xfrm>
            <a:off x="342900" y="5653103"/>
            <a:ext cx="8877300" cy="830997"/>
          </a:xfrm>
          <a:prstGeom prst="rect">
            <a:avLst/>
          </a:prstGeom>
          <a:solidFill>
            <a:srgbClr val="F4B081"/>
          </a:solidFill>
          <a:ln cap="flat" cmpd="sng" w="254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External style sheets create the furthest separation between content and presentation.  Hence, the best option when creating a new site.</a:t>
            </a:r>
            <a:endParaRPr b="0" i="0" sz="1400" u="none" cap="none" strike="noStrike">
              <a:solidFill>
                <a:srgbClr val="000000"/>
              </a:solidFill>
              <a:latin typeface="Arial"/>
              <a:ea typeface="Arial"/>
              <a:cs typeface="Arial"/>
              <a:sym typeface="Arial"/>
            </a:endParaRPr>
          </a:p>
        </p:txBody>
      </p:sp>
      <p:sp>
        <p:nvSpPr>
          <p:cNvPr id="321" name="Google Shape;321;p24"/>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Internal vs. External Style Sheets</a:t>
            </a:r>
            <a:endParaRPr b="0" i="0" sz="1400" u="none" cap="none" strike="noStrike">
              <a:solidFill>
                <a:srgbClr val="000000"/>
              </a:solidFill>
              <a:latin typeface="Arial"/>
              <a:ea typeface="Arial"/>
              <a:cs typeface="Arial"/>
              <a:sym typeface="Arial"/>
            </a:endParaRPr>
          </a:p>
        </p:txBody>
      </p:sp>
      <p:cxnSp>
        <p:nvCxnSpPr>
          <p:cNvPr id="322" name="Google Shape;322;p24"/>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23" name="Google Shape;323;p24"/>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324" name="Google Shape;324;p24"/>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25"/>
          <p:cNvSpPr txBox="1"/>
          <p:nvPr>
            <p:ph idx="1" type="body"/>
          </p:nvPr>
        </p:nvSpPr>
        <p:spPr>
          <a:xfrm>
            <a:off x="514350" y="1600200"/>
            <a:ext cx="8610600" cy="4648200"/>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50000"/>
              </a:lnSpc>
              <a:spcBef>
                <a:spcPts val="0"/>
              </a:spcBef>
              <a:spcAft>
                <a:spcPts val="0"/>
              </a:spcAft>
              <a:buClr>
                <a:schemeClr val="dk1"/>
              </a:buClr>
              <a:buSzPts val="2400"/>
              <a:buChar char="•"/>
            </a:pPr>
            <a:r>
              <a:rPr lang="en-US" sz="2400"/>
              <a:t>Same formatting  rules can be defined in all three locations at the same time.  </a:t>
            </a:r>
            <a:endParaRPr/>
          </a:p>
          <a:p>
            <a:pPr indent="-228600" lvl="0" marL="228600" rtl="0" algn="l">
              <a:lnSpc>
                <a:spcPct val="150000"/>
              </a:lnSpc>
              <a:spcBef>
                <a:spcPts val="1000"/>
              </a:spcBef>
              <a:spcAft>
                <a:spcPts val="0"/>
              </a:spcAft>
              <a:buClr>
                <a:schemeClr val="dk1"/>
              </a:buClr>
              <a:buSzPts val="2400"/>
              <a:buChar char="•"/>
            </a:pPr>
            <a:r>
              <a:rPr lang="en-US" sz="2400"/>
              <a:t>For example, a paragraph element could contain an inline style (color:red) but the internal style sheet (color:blue) and the external style sheet (color:green) give conflicting instructions to the web browser.</a:t>
            </a:r>
            <a:endParaRPr/>
          </a:p>
          <a:p>
            <a:pPr indent="-228600" lvl="0" marL="228600" rtl="0" algn="l">
              <a:lnSpc>
                <a:spcPct val="150000"/>
              </a:lnSpc>
              <a:spcBef>
                <a:spcPts val="1000"/>
              </a:spcBef>
              <a:spcAft>
                <a:spcPts val="0"/>
              </a:spcAft>
              <a:buClr>
                <a:schemeClr val="dk1"/>
              </a:buClr>
              <a:buSzPts val="2400"/>
              <a:buChar char="•"/>
            </a:pPr>
            <a:r>
              <a:rPr lang="en-US" sz="2400"/>
              <a:t>Web browsers need a consistent way of "settling" this disagreement.</a:t>
            </a:r>
            <a:endParaRPr/>
          </a:p>
        </p:txBody>
      </p:sp>
      <p:sp>
        <p:nvSpPr>
          <p:cNvPr id="330" name="Google Shape;330;p25"/>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Conflicts</a:t>
            </a:r>
            <a:endParaRPr b="0" i="0" sz="1400" u="none" cap="none" strike="noStrike">
              <a:solidFill>
                <a:srgbClr val="000000"/>
              </a:solidFill>
              <a:latin typeface="Arial"/>
              <a:ea typeface="Arial"/>
              <a:cs typeface="Arial"/>
              <a:sym typeface="Arial"/>
            </a:endParaRPr>
          </a:p>
        </p:txBody>
      </p:sp>
      <p:cxnSp>
        <p:nvCxnSpPr>
          <p:cNvPr id="331" name="Google Shape;331;p25"/>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32" name="Google Shape;332;p25"/>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333" name="Google Shape;333;p25"/>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7" name="Shape 337"/>
        <p:cNvGrpSpPr/>
        <p:nvPr/>
      </p:nvGrpSpPr>
      <p:grpSpPr>
        <a:xfrm>
          <a:off x="0" y="0"/>
          <a:ext cx="0" cy="0"/>
          <a:chOff x="0" y="0"/>
          <a:chExt cx="0" cy="0"/>
        </a:xfrm>
      </p:grpSpPr>
      <p:sp>
        <p:nvSpPr>
          <p:cNvPr id="338" name="Google Shape;338;p26"/>
          <p:cNvSpPr txBox="1"/>
          <p:nvPr>
            <p:ph idx="1" type="body"/>
          </p:nvPr>
        </p:nvSpPr>
        <p:spPr>
          <a:xfrm>
            <a:off x="457200" y="1934682"/>
            <a:ext cx="8229600" cy="2514600"/>
          </a:xfrm>
          <a:prstGeom prst="rect">
            <a:avLst/>
          </a:prstGeom>
          <a:noFill/>
          <a:ln>
            <a:noFill/>
          </a:ln>
        </p:spPr>
        <p:txBody>
          <a:bodyPr anchorCtr="0" anchor="t" bIns="45700" lIns="91425" spcFirstLastPara="1" rIns="91425" wrap="square" tIns="45700">
            <a:normAutofit/>
          </a:bodyPr>
          <a:lstStyle/>
          <a:p>
            <a:pPr indent="-533400" lvl="0" marL="533400" rtl="0" algn="l">
              <a:lnSpc>
                <a:spcPct val="90000"/>
              </a:lnSpc>
              <a:spcBef>
                <a:spcPts val="0"/>
              </a:spcBef>
              <a:spcAft>
                <a:spcPts val="0"/>
              </a:spcAft>
              <a:buClr>
                <a:schemeClr val="dk1"/>
              </a:buClr>
              <a:buSzPts val="2400"/>
              <a:buChar char="•"/>
            </a:pPr>
            <a:r>
              <a:rPr lang="en-US" sz="2400"/>
              <a:t>We use the term cascading because there is an established order of priority to resolve these formatting conflicts:</a:t>
            </a:r>
            <a:endParaRPr/>
          </a:p>
          <a:p>
            <a:pPr indent="-457200" lvl="1" marL="914400" rtl="0" algn="l">
              <a:lnSpc>
                <a:spcPct val="90000"/>
              </a:lnSpc>
              <a:spcBef>
                <a:spcPts val="500"/>
              </a:spcBef>
              <a:spcAft>
                <a:spcPts val="0"/>
              </a:spcAft>
              <a:buClr>
                <a:schemeClr val="dk1"/>
              </a:buClr>
              <a:buSzPts val="2160"/>
              <a:buFont typeface="Noto Sans Symbols"/>
              <a:buAutoNum type="arabicParenR"/>
            </a:pPr>
            <a:r>
              <a:rPr lang="en-US"/>
              <a:t>Inline style (highest priority)</a:t>
            </a:r>
            <a:endParaRPr/>
          </a:p>
          <a:p>
            <a:pPr indent="-457200" lvl="1" marL="914400" rtl="0" algn="l">
              <a:lnSpc>
                <a:spcPct val="90000"/>
              </a:lnSpc>
              <a:spcBef>
                <a:spcPts val="500"/>
              </a:spcBef>
              <a:spcAft>
                <a:spcPts val="0"/>
              </a:spcAft>
              <a:buClr>
                <a:schemeClr val="dk1"/>
              </a:buClr>
              <a:buSzPts val="2160"/>
              <a:buFont typeface="Noto Sans Symbols"/>
              <a:buAutoNum type="arabicParenR"/>
            </a:pPr>
            <a:r>
              <a:rPr lang="en-US"/>
              <a:t>Internal style sheet (second priority)</a:t>
            </a:r>
            <a:endParaRPr/>
          </a:p>
          <a:p>
            <a:pPr indent="-457200" lvl="1" marL="914400" rtl="0" algn="l">
              <a:lnSpc>
                <a:spcPct val="90000"/>
              </a:lnSpc>
              <a:spcBef>
                <a:spcPts val="500"/>
              </a:spcBef>
              <a:spcAft>
                <a:spcPts val="0"/>
              </a:spcAft>
              <a:buClr>
                <a:schemeClr val="dk1"/>
              </a:buClr>
              <a:buSzPts val="2160"/>
              <a:buFont typeface="Noto Sans Symbols"/>
              <a:buAutoNum type="arabicParenR"/>
            </a:pPr>
            <a:r>
              <a:rPr lang="en-US"/>
              <a:t>External style sheet (third priority)</a:t>
            </a:r>
            <a:endParaRPr/>
          </a:p>
          <a:p>
            <a:pPr indent="-457200" lvl="1" marL="914400" rtl="0" algn="l">
              <a:lnSpc>
                <a:spcPct val="90000"/>
              </a:lnSpc>
              <a:spcBef>
                <a:spcPts val="500"/>
              </a:spcBef>
              <a:spcAft>
                <a:spcPts val="0"/>
              </a:spcAft>
              <a:buClr>
                <a:schemeClr val="dk1"/>
              </a:buClr>
              <a:buSzPts val="2160"/>
              <a:buFont typeface="Noto Sans Symbols"/>
              <a:buAutoNum type="arabicParenR"/>
            </a:pPr>
            <a:r>
              <a:rPr lang="en-US"/>
              <a:t>Web browser default (only if not defined elsewhere)</a:t>
            </a:r>
            <a:endParaRPr/>
          </a:p>
        </p:txBody>
      </p:sp>
      <p:sp>
        <p:nvSpPr>
          <p:cNvPr id="339" name="Google Shape;339;p26"/>
          <p:cNvSpPr txBox="1"/>
          <p:nvPr/>
        </p:nvSpPr>
        <p:spPr>
          <a:xfrm>
            <a:off x="800100" y="4535420"/>
            <a:ext cx="7543800" cy="1216025"/>
          </a:xfrm>
          <a:prstGeom prst="rect">
            <a:avLst/>
          </a:prstGeom>
          <a:solidFill>
            <a:srgbClr val="F4B08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 each XHTML element, the browser will check to see which inline styles are defined, then those styles in the internal style sheet, and finally those styles in the external sheet.  For all conflicts, it will use this priority system to determine which format to display on the page.</a:t>
            </a:r>
            <a:endParaRPr b="0" i="0" sz="1400" u="none" cap="none" strike="noStrike">
              <a:solidFill>
                <a:srgbClr val="000000"/>
              </a:solidFill>
              <a:latin typeface="Arial"/>
              <a:ea typeface="Arial"/>
              <a:cs typeface="Arial"/>
              <a:sym typeface="Arial"/>
            </a:endParaRPr>
          </a:p>
        </p:txBody>
      </p:sp>
      <p:sp>
        <p:nvSpPr>
          <p:cNvPr id="340" name="Google Shape;340;p26"/>
          <p:cNvSpPr txBox="1"/>
          <p:nvPr/>
        </p:nvSpPr>
        <p:spPr>
          <a:xfrm>
            <a:off x="800100" y="5923722"/>
            <a:ext cx="7543800" cy="666750"/>
          </a:xfrm>
          <a:prstGeom prst="rect">
            <a:avLst/>
          </a:prstGeom>
          <a:solidFill>
            <a:srgbClr val="F4B08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 the prior example, the paragraph would display as red, because the inline style "outranks" all the others.</a:t>
            </a:r>
            <a:endParaRPr b="0" i="0" sz="1400" u="none" cap="none" strike="noStrike">
              <a:solidFill>
                <a:srgbClr val="000000"/>
              </a:solidFill>
              <a:latin typeface="Arial"/>
              <a:ea typeface="Arial"/>
              <a:cs typeface="Arial"/>
              <a:sym typeface="Arial"/>
            </a:endParaRPr>
          </a:p>
        </p:txBody>
      </p:sp>
      <p:sp>
        <p:nvSpPr>
          <p:cNvPr id="341" name="Google Shape;341;p26"/>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Cascading in CSS</a:t>
            </a:r>
            <a:endParaRPr b="0" i="0" sz="1400" u="none" cap="none" strike="noStrike">
              <a:solidFill>
                <a:srgbClr val="000000"/>
              </a:solidFill>
              <a:latin typeface="Arial"/>
              <a:ea typeface="Arial"/>
              <a:cs typeface="Arial"/>
              <a:sym typeface="Arial"/>
            </a:endParaRPr>
          </a:p>
        </p:txBody>
      </p:sp>
      <p:cxnSp>
        <p:nvCxnSpPr>
          <p:cNvPr id="342" name="Google Shape;342;p26"/>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43" name="Google Shape;343;p26"/>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344" name="Google Shape;344;p26"/>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27"/>
          <p:cNvSpPr txBox="1"/>
          <p:nvPr>
            <p:ph idx="1" type="body"/>
          </p:nvPr>
        </p:nvSpPr>
        <p:spPr>
          <a:xfrm>
            <a:off x="457200" y="1934682"/>
            <a:ext cx="8229600" cy="2514600"/>
          </a:xfrm>
          <a:prstGeom prst="rect">
            <a:avLst/>
          </a:prstGeom>
          <a:noFill/>
          <a:ln>
            <a:noFill/>
          </a:ln>
        </p:spPr>
        <p:txBody>
          <a:bodyPr anchorCtr="0" anchor="t" bIns="45700" lIns="91425" spcFirstLastPara="1" rIns="91425" wrap="square" tIns="45700">
            <a:normAutofit/>
          </a:bodyPr>
          <a:lstStyle/>
          <a:p>
            <a:pPr indent="-533400" lvl="0" marL="533400" rtl="0" algn="l">
              <a:lnSpc>
                <a:spcPct val="90000"/>
              </a:lnSpc>
              <a:spcBef>
                <a:spcPts val="0"/>
              </a:spcBef>
              <a:spcAft>
                <a:spcPts val="0"/>
              </a:spcAft>
              <a:buClr>
                <a:schemeClr val="dk1"/>
              </a:buClr>
              <a:buSzPts val="2400"/>
              <a:buChar char="•"/>
            </a:pPr>
            <a:r>
              <a:rPr lang="en-US" sz="2400"/>
              <a:t>We use the term cascading because there is an established order of priority to resolve these formatting conflicts:</a:t>
            </a:r>
            <a:endParaRPr/>
          </a:p>
          <a:p>
            <a:pPr indent="-457200" lvl="1" marL="914400" rtl="0" algn="l">
              <a:lnSpc>
                <a:spcPct val="90000"/>
              </a:lnSpc>
              <a:spcBef>
                <a:spcPts val="500"/>
              </a:spcBef>
              <a:spcAft>
                <a:spcPts val="0"/>
              </a:spcAft>
              <a:buClr>
                <a:schemeClr val="dk1"/>
              </a:buClr>
              <a:buSzPts val="2160"/>
              <a:buFont typeface="Noto Sans Symbols"/>
              <a:buAutoNum type="arabicParenR"/>
            </a:pPr>
            <a:r>
              <a:rPr lang="en-US"/>
              <a:t>Inline style (highest priority)</a:t>
            </a:r>
            <a:endParaRPr/>
          </a:p>
          <a:p>
            <a:pPr indent="-457200" lvl="1" marL="914400" rtl="0" algn="l">
              <a:lnSpc>
                <a:spcPct val="90000"/>
              </a:lnSpc>
              <a:spcBef>
                <a:spcPts val="500"/>
              </a:spcBef>
              <a:spcAft>
                <a:spcPts val="0"/>
              </a:spcAft>
              <a:buClr>
                <a:schemeClr val="dk1"/>
              </a:buClr>
              <a:buSzPts val="2160"/>
              <a:buFont typeface="Noto Sans Symbols"/>
              <a:buAutoNum type="arabicParenR"/>
            </a:pPr>
            <a:r>
              <a:rPr lang="en-US"/>
              <a:t>Internal style sheet (second priority)</a:t>
            </a:r>
            <a:endParaRPr/>
          </a:p>
          <a:p>
            <a:pPr indent="-457200" lvl="1" marL="914400" rtl="0" algn="l">
              <a:lnSpc>
                <a:spcPct val="90000"/>
              </a:lnSpc>
              <a:spcBef>
                <a:spcPts val="500"/>
              </a:spcBef>
              <a:spcAft>
                <a:spcPts val="0"/>
              </a:spcAft>
              <a:buClr>
                <a:schemeClr val="dk1"/>
              </a:buClr>
              <a:buSzPts val="2160"/>
              <a:buFont typeface="Noto Sans Symbols"/>
              <a:buAutoNum type="arabicParenR"/>
            </a:pPr>
            <a:r>
              <a:rPr lang="en-US"/>
              <a:t>External style sheet (third priority)</a:t>
            </a:r>
            <a:endParaRPr/>
          </a:p>
          <a:p>
            <a:pPr indent="-457200" lvl="1" marL="914400" rtl="0" algn="l">
              <a:lnSpc>
                <a:spcPct val="90000"/>
              </a:lnSpc>
              <a:spcBef>
                <a:spcPts val="500"/>
              </a:spcBef>
              <a:spcAft>
                <a:spcPts val="0"/>
              </a:spcAft>
              <a:buClr>
                <a:schemeClr val="dk1"/>
              </a:buClr>
              <a:buSzPts val="2160"/>
              <a:buFont typeface="Noto Sans Symbols"/>
              <a:buAutoNum type="arabicParenR"/>
            </a:pPr>
            <a:r>
              <a:rPr lang="en-US"/>
              <a:t>Web browser default (only if not defined elsewhere)</a:t>
            </a:r>
            <a:endParaRPr/>
          </a:p>
        </p:txBody>
      </p:sp>
      <p:sp>
        <p:nvSpPr>
          <p:cNvPr id="350" name="Google Shape;350;p27"/>
          <p:cNvSpPr txBox="1"/>
          <p:nvPr/>
        </p:nvSpPr>
        <p:spPr>
          <a:xfrm>
            <a:off x="800100" y="4764020"/>
            <a:ext cx="7543800" cy="923330"/>
          </a:xfrm>
          <a:prstGeom prst="rect">
            <a:avLst/>
          </a:prstGeom>
          <a:solidFill>
            <a:srgbClr val="F4B08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For each XHTML element, the browser will combine all the styles defined at different levels.  For all conflicts, it will use the above priority system to determine which format to display on the page.</a:t>
            </a:r>
            <a:endParaRPr b="0" i="0" sz="1400" u="none" cap="none" strike="noStrike">
              <a:solidFill>
                <a:srgbClr val="000000"/>
              </a:solidFill>
              <a:latin typeface="Arial"/>
              <a:ea typeface="Arial"/>
              <a:cs typeface="Arial"/>
              <a:sym typeface="Arial"/>
            </a:endParaRPr>
          </a:p>
        </p:txBody>
      </p:sp>
      <p:sp>
        <p:nvSpPr>
          <p:cNvPr id="351" name="Google Shape;351;p27"/>
          <p:cNvSpPr txBox="1"/>
          <p:nvPr/>
        </p:nvSpPr>
        <p:spPr>
          <a:xfrm>
            <a:off x="800100" y="5923722"/>
            <a:ext cx="7543800" cy="666750"/>
          </a:xfrm>
          <a:prstGeom prst="rect">
            <a:avLst/>
          </a:prstGeom>
          <a:solidFill>
            <a:srgbClr val="F4B081"/>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Arial"/>
                <a:ea typeface="Arial"/>
                <a:cs typeface="Arial"/>
                <a:sym typeface="Arial"/>
              </a:rPr>
              <a:t>In the prior example, the paragraph would display as red, because the inline style "outranks" all the others.</a:t>
            </a:r>
            <a:endParaRPr b="0" i="0" sz="1400" u="none" cap="none" strike="noStrike">
              <a:solidFill>
                <a:srgbClr val="000000"/>
              </a:solidFill>
              <a:latin typeface="Arial"/>
              <a:ea typeface="Arial"/>
              <a:cs typeface="Arial"/>
              <a:sym typeface="Arial"/>
            </a:endParaRPr>
          </a:p>
        </p:txBody>
      </p:sp>
      <p:sp>
        <p:nvSpPr>
          <p:cNvPr id="352" name="Google Shape;352;p27"/>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Cascading in CSS</a:t>
            </a:r>
            <a:endParaRPr b="0" i="0" sz="1400" u="none" cap="none" strike="noStrike">
              <a:solidFill>
                <a:srgbClr val="000000"/>
              </a:solidFill>
              <a:latin typeface="Arial"/>
              <a:ea typeface="Arial"/>
              <a:cs typeface="Arial"/>
              <a:sym typeface="Arial"/>
            </a:endParaRPr>
          </a:p>
        </p:txBody>
      </p:sp>
      <p:cxnSp>
        <p:nvCxnSpPr>
          <p:cNvPr id="353" name="Google Shape;353;p27"/>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54" name="Google Shape;354;p27"/>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355" name="Google Shape;355;p27"/>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9" name="Shape 359"/>
        <p:cNvGrpSpPr/>
        <p:nvPr/>
      </p:nvGrpSpPr>
      <p:grpSpPr>
        <a:xfrm>
          <a:off x="0" y="0"/>
          <a:ext cx="0" cy="0"/>
          <a:chOff x="0" y="0"/>
          <a:chExt cx="0" cy="0"/>
        </a:xfrm>
      </p:grpSpPr>
      <p:grpSp>
        <p:nvGrpSpPr>
          <p:cNvPr id="360" name="Google Shape;360;p28"/>
          <p:cNvGrpSpPr/>
          <p:nvPr/>
        </p:nvGrpSpPr>
        <p:grpSpPr>
          <a:xfrm>
            <a:off x="495300" y="2008164"/>
            <a:ext cx="8305800" cy="4073526"/>
            <a:chOff x="1905000" y="2008164"/>
            <a:chExt cx="8305800" cy="4073526"/>
          </a:xfrm>
        </p:grpSpPr>
        <p:sp>
          <p:nvSpPr>
            <p:cNvPr id="361" name="Google Shape;361;p28"/>
            <p:cNvSpPr/>
            <p:nvPr/>
          </p:nvSpPr>
          <p:spPr>
            <a:xfrm>
              <a:off x="3886200" y="2922564"/>
              <a:ext cx="4191000" cy="304800"/>
            </a:xfrm>
            <a:prstGeom prst="rect">
              <a:avLst/>
            </a:prstGeom>
            <a:solidFill>
              <a:schemeClr val="accent4"/>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lt2"/>
                </a:buClr>
                <a:buSzPts val="1050"/>
                <a:buFont typeface="Noto Sans Symbols"/>
                <a:buNone/>
              </a:pPr>
              <a:r>
                <a:rPr b="1" i="0" lang="en-US" sz="1400" u="none" cap="none" strike="noStrike">
                  <a:solidFill>
                    <a:schemeClr val="dk1"/>
                  </a:solidFill>
                  <a:latin typeface="Courier New"/>
                  <a:ea typeface="Courier New"/>
                  <a:cs typeface="Courier New"/>
                  <a:sym typeface="Courier New"/>
                </a:rPr>
                <a:t>p {color:red;}</a:t>
              </a:r>
              <a:endParaRPr b="0" i="0" sz="1400" u="none" cap="none" strike="noStrike">
                <a:solidFill>
                  <a:srgbClr val="000000"/>
                </a:solidFill>
                <a:latin typeface="Arial"/>
                <a:ea typeface="Arial"/>
                <a:cs typeface="Arial"/>
                <a:sym typeface="Arial"/>
              </a:endParaRPr>
            </a:p>
          </p:txBody>
        </p:sp>
        <p:sp>
          <p:nvSpPr>
            <p:cNvPr id="362" name="Google Shape;362;p28"/>
            <p:cNvSpPr txBox="1"/>
            <p:nvPr/>
          </p:nvSpPr>
          <p:spPr>
            <a:xfrm>
              <a:off x="1905000" y="2008164"/>
              <a:ext cx="8305800" cy="68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The correct syntax of a CSS declaration is:   </a:t>
              </a:r>
              <a:r>
                <a:rPr b="1" i="0" lang="en-US" sz="2000" u="none" cap="none" strike="noStrike">
                  <a:solidFill>
                    <a:schemeClr val="dk1"/>
                  </a:solidFill>
                  <a:latin typeface="Calibri"/>
                  <a:ea typeface="Calibri"/>
                  <a:cs typeface="Calibri"/>
                  <a:sym typeface="Calibri"/>
                </a:rPr>
                <a:t>selector {property:value;}</a:t>
              </a:r>
              <a:endParaRPr b="0" i="0" sz="1400" u="none" cap="none" strike="noStrike">
                <a:solidFill>
                  <a:srgbClr val="000000"/>
                </a:solidFill>
                <a:latin typeface="Arial"/>
                <a:ea typeface="Arial"/>
                <a:cs typeface="Arial"/>
                <a:sym typeface="Arial"/>
              </a:endParaRPr>
            </a:p>
          </p:txBody>
        </p:sp>
        <p:sp>
          <p:nvSpPr>
            <p:cNvPr id="363" name="Google Shape;363;p28"/>
            <p:cNvSpPr txBox="1"/>
            <p:nvPr/>
          </p:nvSpPr>
          <p:spPr>
            <a:xfrm>
              <a:off x="1924050" y="5475265"/>
              <a:ext cx="8077200" cy="606425"/>
            </a:xfrm>
            <a:prstGeom prst="rect">
              <a:avLst/>
            </a:prstGeom>
            <a:solidFill>
              <a:srgbClr val="F4B081"/>
            </a:solidFill>
            <a:ln cap="flat" cmpd="sng" w="254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A semicolon must be placed after each CSS declaration.  Omitting this semicolon is the single most common mistake made by those learning CSS.</a:t>
              </a:r>
              <a:endParaRPr b="0" i="0" sz="1400" u="none" cap="none" strike="noStrike">
                <a:solidFill>
                  <a:srgbClr val="000000"/>
                </a:solidFill>
                <a:latin typeface="Arial"/>
                <a:ea typeface="Arial"/>
                <a:cs typeface="Arial"/>
                <a:sym typeface="Arial"/>
              </a:endParaRPr>
            </a:p>
          </p:txBody>
        </p:sp>
        <p:cxnSp>
          <p:nvCxnSpPr>
            <p:cNvPr id="364" name="Google Shape;364;p28"/>
            <p:cNvCxnSpPr/>
            <p:nvPr/>
          </p:nvCxnSpPr>
          <p:spPr>
            <a:xfrm rot="10800000">
              <a:off x="4038600" y="3151164"/>
              <a:ext cx="0" cy="457200"/>
            </a:xfrm>
            <a:prstGeom prst="straightConnector1">
              <a:avLst/>
            </a:prstGeom>
            <a:noFill/>
            <a:ln cap="flat" cmpd="sng" w="9525">
              <a:solidFill>
                <a:schemeClr val="dk1"/>
              </a:solidFill>
              <a:prstDash val="solid"/>
              <a:round/>
              <a:headEnd len="sm" w="sm" type="none"/>
              <a:tailEnd len="med" w="med" type="triangle"/>
            </a:ln>
          </p:spPr>
        </p:cxnSp>
        <p:sp>
          <p:nvSpPr>
            <p:cNvPr id="365" name="Google Shape;365;p28"/>
            <p:cNvSpPr txBox="1"/>
            <p:nvPr/>
          </p:nvSpPr>
          <p:spPr>
            <a:xfrm>
              <a:off x="3429000" y="3570265"/>
              <a:ext cx="1066800" cy="36671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selector</a:t>
              </a:r>
              <a:endParaRPr b="0" i="0" sz="1400" u="none" cap="none" strike="noStrike">
                <a:solidFill>
                  <a:srgbClr val="000000"/>
                </a:solidFill>
                <a:latin typeface="Arial"/>
                <a:ea typeface="Arial"/>
                <a:cs typeface="Arial"/>
                <a:sym typeface="Arial"/>
              </a:endParaRPr>
            </a:p>
          </p:txBody>
        </p:sp>
        <p:sp>
          <p:nvSpPr>
            <p:cNvPr id="366" name="Google Shape;366;p28"/>
            <p:cNvSpPr txBox="1"/>
            <p:nvPr/>
          </p:nvSpPr>
          <p:spPr>
            <a:xfrm>
              <a:off x="3962400" y="3927452"/>
              <a:ext cx="12192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property</a:t>
              </a:r>
              <a:endParaRPr b="0" i="0" sz="1400" u="none" cap="none" strike="noStrike">
                <a:solidFill>
                  <a:srgbClr val="000000"/>
                </a:solidFill>
                <a:latin typeface="Arial"/>
                <a:ea typeface="Arial"/>
                <a:cs typeface="Arial"/>
                <a:sym typeface="Arial"/>
              </a:endParaRPr>
            </a:p>
          </p:txBody>
        </p:sp>
        <p:sp>
          <p:nvSpPr>
            <p:cNvPr id="367" name="Google Shape;367;p28"/>
            <p:cNvSpPr txBox="1"/>
            <p:nvPr/>
          </p:nvSpPr>
          <p:spPr>
            <a:xfrm>
              <a:off x="4724400" y="4308452"/>
              <a:ext cx="838200" cy="3667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dk1"/>
                  </a:solidFill>
                  <a:latin typeface="Calibri"/>
                  <a:ea typeface="Calibri"/>
                  <a:cs typeface="Calibri"/>
                  <a:sym typeface="Calibri"/>
                </a:rPr>
                <a:t>value</a:t>
              </a:r>
              <a:endParaRPr b="0" i="0" sz="1400" u="none" cap="none" strike="noStrike">
                <a:solidFill>
                  <a:srgbClr val="000000"/>
                </a:solidFill>
                <a:latin typeface="Arial"/>
                <a:ea typeface="Arial"/>
                <a:cs typeface="Arial"/>
                <a:sym typeface="Arial"/>
              </a:endParaRPr>
            </a:p>
          </p:txBody>
        </p:sp>
        <p:cxnSp>
          <p:nvCxnSpPr>
            <p:cNvPr id="368" name="Google Shape;368;p28"/>
            <p:cNvCxnSpPr/>
            <p:nvPr/>
          </p:nvCxnSpPr>
          <p:spPr>
            <a:xfrm rot="10800000">
              <a:off x="5105400" y="3151164"/>
              <a:ext cx="0" cy="1219200"/>
            </a:xfrm>
            <a:prstGeom prst="straightConnector1">
              <a:avLst/>
            </a:prstGeom>
            <a:noFill/>
            <a:ln cap="flat" cmpd="sng" w="9525">
              <a:solidFill>
                <a:schemeClr val="dk1"/>
              </a:solidFill>
              <a:prstDash val="solid"/>
              <a:round/>
              <a:headEnd len="sm" w="sm" type="none"/>
              <a:tailEnd len="med" w="med" type="triangle"/>
            </a:ln>
          </p:spPr>
        </p:cxnSp>
        <p:cxnSp>
          <p:nvCxnSpPr>
            <p:cNvPr id="369" name="Google Shape;369;p28"/>
            <p:cNvCxnSpPr/>
            <p:nvPr/>
          </p:nvCxnSpPr>
          <p:spPr>
            <a:xfrm rot="10800000">
              <a:off x="4495800" y="3151164"/>
              <a:ext cx="0" cy="838200"/>
            </a:xfrm>
            <a:prstGeom prst="straightConnector1">
              <a:avLst/>
            </a:prstGeom>
            <a:noFill/>
            <a:ln cap="flat" cmpd="sng" w="9525">
              <a:solidFill>
                <a:schemeClr val="dk1"/>
              </a:solidFill>
              <a:prstDash val="solid"/>
              <a:round/>
              <a:headEnd len="sm" w="sm" type="none"/>
              <a:tailEnd len="med" w="med" type="triangle"/>
            </a:ln>
          </p:spPr>
        </p:cxnSp>
      </p:grpSp>
      <p:sp>
        <p:nvSpPr>
          <p:cNvPr id="370" name="Google Shape;370;p28"/>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CSS Terminologies</a:t>
            </a:r>
            <a:endParaRPr b="0" i="0" sz="1400" u="none" cap="none" strike="noStrike">
              <a:solidFill>
                <a:srgbClr val="000000"/>
              </a:solidFill>
              <a:latin typeface="Arial"/>
              <a:ea typeface="Arial"/>
              <a:cs typeface="Arial"/>
              <a:sym typeface="Arial"/>
            </a:endParaRPr>
          </a:p>
        </p:txBody>
      </p:sp>
      <p:cxnSp>
        <p:nvCxnSpPr>
          <p:cNvPr id="371" name="Google Shape;371;p28"/>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72" name="Google Shape;372;p28"/>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pic>
        <p:nvPicPr>
          <p:cNvPr id="373" name="Google Shape;373;p28"/>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7" name="Shape 377"/>
        <p:cNvGrpSpPr/>
        <p:nvPr/>
      </p:nvGrpSpPr>
      <p:grpSpPr>
        <a:xfrm>
          <a:off x="0" y="0"/>
          <a:ext cx="0" cy="0"/>
          <a:chOff x="0" y="0"/>
          <a:chExt cx="0" cy="0"/>
        </a:xfrm>
      </p:grpSpPr>
      <p:sp>
        <p:nvSpPr>
          <p:cNvPr id="378" name="Google Shape;378;p29"/>
          <p:cNvSpPr txBox="1"/>
          <p:nvPr>
            <p:ph type="title"/>
          </p:nvPr>
        </p:nvSpPr>
        <p:spPr>
          <a:xfrm>
            <a:off x="1981200" y="760829"/>
            <a:ext cx="8229600" cy="9906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000"/>
              <a:buFont typeface="Calibri"/>
              <a:buNone/>
            </a:pPr>
            <a:r>
              <a:rPr lang="en-US" sz="4000"/>
              <a:t>Setting Multiple Properties</a:t>
            </a:r>
            <a:endParaRPr/>
          </a:p>
        </p:txBody>
      </p:sp>
      <p:cxnSp>
        <p:nvCxnSpPr>
          <p:cNvPr id="379" name="Google Shape;379;p29"/>
          <p:cNvCxnSpPr/>
          <p:nvPr/>
        </p:nvCxnSpPr>
        <p:spPr>
          <a:xfrm>
            <a:off x="1524000" y="1751429"/>
            <a:ext cx="9144000" cy="0"/>
          </a:xfrm>
          <a:prstGeom prst="straightConnector1">
            <a:avLst/>
          </a:prstGeom>
          <a:noFill/>
          <a:ln cap="flat" cmpd="sng" w="15875">
            <a:solidFill>
              <a:schemeClr val="lt2"/>
            </a:solidFill>
            <a:prstDash val="solid"/>
            <a:round/>
            <a:headEnd len="sm" w="sm" type="none"/>
            <a:tailEnd len="sm" w="sm" type="none"/>
          </a:ln>
        </p:spPr>
      </p:cxnSp>
      <p:sp>
        <p:nvSpPr>
          <p:cNvPr id="380" name="Google Shape;380;p29"/>
          <p:cNvSpPr txBox="1"/>
          <p:nvPr/>
        </p:nvSpPr>
        <p:spPr>
          <a:xfrm>
            <a:off x="1905000" y="1827629"/>
            <a:ext cx="83058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We can define as many properties as we wish for a selector:</a:t>
            </a:r>
            <a:endParaRPr b="1" i="0" sz="2000" u="none" cap="none" strike="noStrike">
              <a:solidFill>
                <a:schemeClr val="dk1"/>
              </a:solidFill>
              <a:latin typeface="Calibri"/>
              <a:ea typeface="Calibri"/>
              <a:cs typeface="Calibri"/>
              <a:sym typeface="Calibri"/>
            </a:endParaRPr>
          </a:p>
        </p:txBody>
      </p:sp>
      <p:sp>
        <p:nvSpPr>
          <p:cNvPr id="381" name="Google Shape;381;p29"/>
          <p:cNvSpPr txBox="1"/>
          <p:nvPr/>
        </p:nvSpPr>
        <p:spPr>
          <a:xfrm>
            <a:off x="2057400" y="2913479"/>
            <a:ext cx="8077200" cy="666750"/>
          </a:xfrm>
          <a:prstGeom prst="rect">
            <a:avLst/>
          </a:prstGeom>
          <a:solidFill>
            <a:srgbClr val="F4B081"/>
          </a:solidFill>
          <a:ln cap="flat" cmpd="sng" w="254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In this example, all text within paragraph elements will show in red italics that  is centered on the page.</a:t>
            </a:r>
            <a:endParaRPr b="0" i="0" sz="1400" u="none" cap="none" strike="noStrike">
              <a:solidFill>
                <a:srgbClr val="000000"/>
              </a:solidFill>
              <a:latin typeface="Arial"/>
              <a:ea typeface="Arial"/>
              <a:cs typeface="Arial"/>
              <a:sym typeface="Arial"/>
            </a:endParaRPr>
          </a:p>
        </p:txBody>
      </p:sp>
      <p:sp>
        <p:nvSpPr>
          <p:cNvPr id="382" name="Google Shape;382;p29"/>
          <p:cNvSpPr/>
          <p:nvPr/>
        </p:nvSpPr>
        <p:spPr>
          <a:xfrm>
            <a:off x="2057400" y="2284829"/>
            <a:ext cx="8077200" cy="323850"/>
          </a:xfrm>
          <a:prstGeom prst="rect">
            <a:avLst/>
          </a:prstGeom>
          <a:solidFill>
            <a:schemeClr val="accent4"/>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lt2"/>
              </a:buClr>
              <a:buSzPts val="1050"/>
              <a:buFont typeface="Noto Sans Symbols"/>
              <a:buNone/>
            </a:pPr>
            <a:r>
              <a:rPr b="1" i="0" lang="en-US" sz="1400" u="none" cap="none" strike="noStrike">
                <a:solidFill>
                  <a:schemeClr val="dk1"/>
                </a:solidFill>
                <a:latin typeface="Courier New"/>
                <a:ea typeface="Courier New"/>
                <a:cs typeface="Courier New"/>
                <a:sym typeface="Courier New"/>
              </a:rPr>
              <a:t>p {color:red;font-style:bold;text-align:center;}</a:t>
            </a:r>
            <a:endParaRPr b="0" i="0" sz="1400" u="none" cap="none" strike="noStrike">
              <a:solidFill>
                <a:srgbClr val="000000"/>
              </a:solidFill>
              <a:latin typeface="Arial"/>
              <a:ea typeface="Arial"/>
              <a:cs typeface="Arial"/>
              <a:sym typeface="Arial"/>
            </a:endParaRPr>
          </a:p>
        </p:txBody>
      </p:sp>
      <p:sp>
        <p:nvSpPr>
          <p:cNvPr id="383" name="Google Shape;383;p29"/>
          <p:cNvSpPr/>
          <p:nvPr/>
        </p:nvSpPr>
        <p:spPr>
          <a:xfrm>
            <a:off x="2057400" y="3808829"/>
            <a:ext cx="8077200" cy="1314450"/>
          </a:xfrm>
          <a:prstGeom prst="rect">
            <a:avLst/>
          </a:prstGeom>
          <a:solidFill>
            <a:schemeClr val="accent4"/>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lt2"/>
              </a:buClr>
              <a:buSzPts val="1050"/>
              <a:buFont typeface="Noto Sans Symbols"/>
              <a:buNone/>
            </a:pPr>
            <a:r>
              <a:rPr b="1" i="0" lang="en-US" sz="1400" u="none" cap="none" strike="noStrike">
                <a:solidFill>
                  <a:schemeClr val="dk1"/>
                </a:solidFill>
                <a:latin typeface="Courier New"/>
                <a:ea typeface="Courier New"/>
                <a:cs typeface="Courier New"/>
                <a:sym typeface="Courier New"/>
              </a:rPr>
              <a:t>p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80"/>
              </a:spcBef>
              <a:spcAft>
                <a:spcPts val="0"/>
              </a:spcAft>
              <a:buClr>
                <a:schemeClr val="lt2"/>
              </a:buClr>
              <a:buSzPts val="1050"/>
              <a:buFont typeface="Noto Sans Symbols"/>
              <a:buNone/>
            </a:pPr>
            <a:r>
              <a:rPr b="1" i="0" lang="en-US" sz="1400" u="none" cap="none" strike="noStrike">
                <a:solidFill>
                  <a:schemeClr val="dk1"/>
                </a:solidFill>
                <a:latin typeface="Courier New"/>
                <a:ea typeface="Courier New"/>
                <a:cs typeface="Courier New"/>
                <a:sym typeface="Courier New"/>
              </a:rPr>
              <a:t>  color: red;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80"/>
              </a:spcBef>
              <a:spcAft>
                <a:spcPts val="0"/>
              </a:spcAft>
              <a:buClr>
                <a:schemeClr val="lt2"/>
              </a:buClr>
              <a:buSzPts val="1050"/>
              <a:buFont typeface="Noto Sans Symbols"/>
              <a:buNone/>
            </a:pPr>
            <a:r>
              <a:rPr b="1" i="0" lang="en-US" sz="1400" u="none" cap="none" strike="noStrike">
                <a:solidFill>
                  <a:schemeClr val="dk1"/>
                </a:solidFill>
                <a:latin typeface="Courier New"/>
                <a:ea typeface="Courier New"/>
                <a:cs typeface="Courier New"/>
                <a:sym typeface="Courier New"/>
              </a:rPr>
              <a:t>  font-style: bold;</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80"/>
              </a:spcBef>
              <a:spcAft>
                <a:spcPts val="0"/>
              </a:spcAft>
              <a:buClr>
                <a:schemeClr val="lt2"/>
              </a:buClr>
              <a:buSzPts val="1050"/>
              <a:buFont typeface="Noto Sans Symbols"/>
              <a:buNone/>
            </a:pPr>
            <a:r>
              <a:rPr b="1" i="0" lang="en-US" sz="1400" u="none" cap="none" strike="noStrike">
                <a:solidFill>
                  <a:schemeClr val="dk1"/>
                </a:solidFill>
                <a:latin typeface="Courier New"/>
                <a:ea typeface="Courier New"/>
                <a:cs typeface="Courier New"/>
                <a:sym typeface="Courier New"/>
              </a:rPr>
              <a:t>  text-align: center;</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80"/>
              </a:spcBef>
              <a:spcAft>
                <a:spcPts val="0"/>
              </a:spcAft>
              <a:buClr>
                <a:schemeClr val="lt2"/>
              </a:buClr>
              <a:buSzPts val="1050"/>
              <a:buFont typeface="Noto Sans Symbols"/>
              <a:buNone/>
            </a:pPr>
            <a:r>
              <a:rPr b="1" i="0" lang="en-US" sz="1400" u="none" cap="none" strike="noStrike">
                <a:solidFill>
                  <a:schemeClr val="dk1"/>
                </a:solidFill>
                <a:latin typeface="Courier New"/>
                <a:ea typeface="Courier New"/>
                <a:cs typeface="Courier New"/>
                <a:sym typeface="Courier New"/>
              </a:rPr>
              <a:t>}</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280"/>
              </a:spcBef>
              <a:spcAft>
                <a:spcPts val="0"/>
              </a:spcAft>
              <a:buClr>
                <a:schemeClr val="lt2"/>
              </a:buClr>
              <a:buSzPts val="1050"/>
              <a:buFont typeface="Noto Sans Symbols"/>
              <a:buNone/>
            </a:pPr>
            <a:r>
              <a:t/>
            </a:r>
            <a:endParaRPr b="1" i="0" sz="1400" u="none" cap="none" strike="noStrike">
              <a:solidFill>
                <a:schemeClr val="dk1"/>
              </a:solidFill>
              <a:latin typeface="Courier New"/>
              <a:ea typeface="Courier New"/>
              <a:cs typeface="Courier New"/>
              <a:sym typeface="Courier New"/>
            </a:endParaRPr>
          </a:p>
        </p:txBody>
      </p:sp>
      <p:cxnSp>
        <p:nvCxnSpPr>
          <p:cNvPr id="384" name="Google Shape;384;p29"/>
          <p:cNvCxnSpPr/>
          <p:nvPr/>
        </p:nvCxnSpPr>
        <p:spPr>
          <a:xfrm rot="10800000">
            <a:off x="4038600" y="2589629"/>
            <a:ext cx="0" cy="304800"/>
          </a:xfrm>
          <a:prstGeom prst="straightConnector1">
            <a:avLst/>
          </a:prstGeom>
          <a:noFill/>
          <a:ln cap="flat" cmpd="sng" w="9525">
            <a:solidFill>
              <a:schemeClr val="dk1"/>
            </a:solidFill>
            <a:prstDash val="solid"/>
            <a:round/>
            <a:headEnd len="sm" w="sm" type="none"/>
            <a:tailEnd len="med" w="med" type="triangle"/>
          </a:ln>
        </p:spPr>
      </p:cxnSp>
      <p:sp>
        <p:nvSpPr>
          <p:cNvPr id="385" name="Google Shape;385;p29"/>
          <p:cNvSpPr txBox="1"/>
          <p:nvPr/>
        </p:nvSpPr>
        <p:spPr>
          <a:xfrm>
            <a:off x="2057400" y="5409030"/>
            <a:ext cx="8077200" cy="1200329"/>
          </a:xfrm>
          <a:prstGeom prst="rect">
            <a:avLst/>
          </a:prstGeom>
          <a:solidFill>
            <a:srgbClr val="F4B081"/>
          </a:solidFill>
          <a:ln cap="flat" cmpd="sng" w="254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Just as with HTML, browsers ignore space characters in CSS code.  Many designers take advantage of this fact by placing the opening and closing curly brackets on their own dedicated lines.  Each of the property and value pairings are placed on their own indented line, with a space after the colon.  This makes the code far easier to read.</a:t>
            </a:r>
            <a:endParaRPr b="0" i="0" sz="1400" u="none" cap="none" strike="noStrike">
              <a:solidFill>
                <a:srgbClr val="000000"/>
              </a:solidFill>
              <a:latin typeface="Arial"/>
              <a:ea typeface="Arial"/>
              <a:cs typeface="Arial"/>
              <a:sym typeface="Arial"/>
            </a:endParaRPr>
          </a:p>
        </p:txBody>
      </p:sp>
      <p:cxnSp>
        <p:nvCxnSpPr>
          <p:cNvPr id="386" name="Google Shape;386;p29"/>
          <p:cNvCxnSpPr/>
          <p:nvPr/>
        </p:nvCxnSpPr>
        <p:spPr>
          <a:xfrm rot="10800000">
            <a:off x="4038600" y="5104229"/>
            <a:ext cx="0" cy="304800"/>
          </a:xfrm>
          <a:prstGeom prst="straightConnector1">
            <a:avLst/>
          </a:prstGeom>
          <a:noFill/>
          <a:ln cap="flat" cmpd="sng" w="9525">
            <a:solidFill>
              <a:schemeClr val="dk1"/>
            </a:solidFill>
            <a:prstDash val="solid"/>
            <a:round/>
            <a:headEnd len="sm" w="sm" type="none"/>
            <a:tailEnd len="med" w="med" type="triangle"/>
          </a:ln>
        </p:spPr>
      </p:cxnSp>
      <p:cxnSp>
        <p:nvCxnSpPr>
          <p:cNvPr id="387" name="Google Shape;387;p29"/>
          <p:cNvCxnSpPr/>
          <p:nvPr/>
        </p:nvCxnSpPr>
        <p:spPr>
          <a:xfrm flipH="1" rot="10800000">
            <a:off x="2230546" y="1759091"/>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388" name="Google Shape;388;p29"/>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92" name="Shape 392"/>
        <p:cNvGrpSpPr/>
        <p:nvPr/>
      </p:nvGrpSpPr>
      <p:grpSpPr>
        <a:xfrm>
          <a:off x="0" y="0"/>
          <a:ext cx="0" cy="0"/>
          <a:chOff x="0" y="0"/>
          <a:chExt cx="0" cy="0"/>
        </a:xfrm>
      </p:grpSpPr>
      <p:sp>
        <p:nvSpPr>
          <p:cNvPr id="393" name="Google Shape;393;p30"/>
          <p:cNvSpPr txBox="1"/>
          <p:nvPr>
            <p:ph idx="1" type="body"/>
          </p:nvPr>
        </p:nvSpPr>
        <p:spPr>
          <a:xfrm>
            <a:off x="419100" y="1752600"/>
            <a:ext cx="8229600" cy="3733800"/>
          </a:xfrm>
          <a:prstGeom prst="rect">
            <a:avLst/>
          </a:prstGeom>
          <a:noFill/>
          <a:ln>
            <a:noFill/>
          </a:ln>
        </p:spPr>
        <p:txBody>
          <a:bodyPr anchorCtr="0" anchor="t" bIns="45700" lIns="91425" spcFirstLastPara="1" rIns="91425" wrap="square" tIns="45700">
            <a:normAutofit/>
          </a:bodyPr>
          <a:lstStyle/>
          <a:p>
            <a:pPr indent="-228600" lvl="0" marL="228600" rtl="0" algn="l">
              <a:lnSpc>
                <a:spcPct val="150000"/>
              </a:lnSpc>
              <a:spcBef>
                <a:spcPts val="0"/>
              </a:spcBef>
              <a:spcAft>
                <a:spcPts val="0"/>
              </a:spcAft>
              <a:buClr>
                <a:schemeClr val="dk1"/>
              </a:buClr>
              <a:buSzPts val="2000"/>
              <a:buChar char="•"/>
            </a:pPr>
            <a:r>
              <a:rPr lang="en-US" sz="2000"/>
              <a:t>A web browser will process all CSS code it encounters, even if it is from all three methods. </a:t>
            </a:r>
            <a:endParaRPr/>
          </a:p>
          <a:p>
            <a:pPr indent="-228600" lvl="0" marL="228600" rtl="0" algn="l">
              <a:lnSpc>
                <a:spcPct val="150000"/>
              </a:lnSpc>
              <a:spcBef>
                <a:spcPts val="1000"/>
              </a:spcBef>
              <a:spcAft>
                <a:spcPts val="0"/>
              </a:spcAft>
              <a:buClr>
                <a:schemeClr val="dk1"/>
              </a:buClr>
              <a:buSzPts val="2000"/>
              <a:buChar char="•"/>
            </a:pPr>
            <a:r>
              <a:rPr lang="en-US" sz="2000"/>
              <a:t>For example, an external style sheet could define the font of a heading, an internal style sheet could specify the font size of the heading, and an inline style could italicize the heading.  All three would be applied.</a:t>
            </a:r>
            <a:endParaRPr/>
          </a:p>
          <a:p>
            <a:pPr indent="-228600" lvl="0" marL="228600" rtl="0" algn="l">
              <a:lnSpc>
                <a:spcPct val="150000"/>
              </a:lnSpc>
              <a:spcBef>
                <a:spcPts val="1000"/>
              </a:spcBef>
              <a:spcAft>
                <a:spcPts val="0"/>
              </a:spcAft>
              <a:buClr>
                <a:schemeClr val="dk1"/>
              </a:buClr>
              <a:buSzPts val="2000"/>
              <a:buChar char="•"/>
            </a:pPr>
            <a:r>
              <a:rPr lang="en-US" sz="2000"/>
              <a:t>Sometimes a browser will receive conflicting instructions from the CSS code.  For example, what if each of the above CSS sources specified a different color for the heading text?</a:t>
            </a:r>
            <a:endParaRPr/>
          </a:p>
        </p:txBody>
      </p:sp>
      <p:sp>
        <p:nvSpPr>
          <p:cNvPr id="394" name="Google Shape;394;p30"/>
          <p:cNvSpPr txBox="1"/>
          <p:nvPr/>
        </p:nvSpPr>
        <p:spPr>
          <a:xfrm>
            <a:off x="495300" y="5688014"/>
            <a:ext cx="8077200" cy="646331"/>
          </a:xfrm>
          <a:prstGeom prst="rect">
            <a:avLst/>
          </a:prstGeom>
          <a:solidFill>
            <a:srgbClr val="F4B081"/>
          </a:solidFill>
          <a:ln cap="flat" cmpd="sng" w="254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chemeClr val="dk1"/>
                </a:solidFill>
                <a:latin typeface="Calibri"/>
                <a:ea typeface="Calibri"/>
                <a:cs typeface="Calibri"/>
                <a:sym typeface="Calibri"/>
              </a:rPr>
              <a:t>Browsers need a consistent way of settling these formatting conflicts in a consistent fashion.  That is where the "cascade" of cascading style sheets comes into effect.</a:t>
            </a:r>
            <a:endParaRPr b="0" i="0" sz="1800" u="none" cap="none" strike="noStrike">
              <a:solidFill>
                <a:schemeClr val="dk1"/>
              </a:solidFill>
              <a:latin typeface="Calibri"/>
              <a:ea typeface="Calibri"/>
              <a:cs typeface="Calibri"/>
              <a:sym typeface="Calibri"/>
            </a:endParaRPr>
          </a:p>
        </p:txBody>
      </p:sp>
      <p:grpSp>
        <p:nvGrpSpPr>
          <p:cNvPr id="395" name="Google Shape;395;p30"/>
          <p:cNvGrpSpPr/>
          <p:nvPr/>
        </p:nvGrpSpPr>
        <p:grpSpPr>
          <a:xfrm>
            <a:off x="-8308" y="252240"/>
            <a:ext cx="8428073" cy="1064218"/>
            <a:chOff x="-8308" y="252240"/>
            <a:chExt cx="8428073" cy="1064218"/>
          </a:xfrm>
        </p:grpSpPr>
        <p:sp>
          <p:nvSpPr>
            <p:cNvPr id="396" name="Google Shape;396;p30"/>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How the browser handles styling?</a:t>
              </a:r>
              <a:endParaRPr b="0" i="0" sz="1400" u="none" cap="none" strike="noStrike">
                <a:solidFill>
                  <a:srgbClr val="000000"/>
                </a:solidFill>
                <a:latin typeface="Arial"/>
                <a:ea typeface="Arial"/>
                <a:cs typeface="Arial"/>
                <a:sym typeface="Arial"/>
              </a:endParaRPr>
            </a:p>
          </p:txBody>
        </p:sp>
        <p:cxnSp>
          <p:nvCxnSpPr>
            <p:cNvPr id="397" name="Google Shape;397;p30"/>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398" name="Google Shape;398;p30"/>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grpSp>
      <p:pic>
        <p:nvPicPr>
          <p:cNvPr id="399" name="Google Shape;399;p30"/>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1"/>
          <p:cNvSpPr txBox="1"/>
          <p:nvPr>
            <p:ph idx="4294967295" type="title"/>
          </p:nvPr>
        </p:nvSpPr>
        <p:spPr>
          <a:xfrm>
            <a:off x="982980" y="4888200"/>
            <a:ext cx="10226040" cy="774883"/>
          </a:xfrm>
          <a:prstGeom prst="rect">
            <a:avLst/>
          </a:prstGeom>
          <a:noFill/>
          <a:ln>
            <a:noFill/>
          </a:ln>
        </p:spPr>
        <p:txBody>
          <a:bodyPr anchorCtr="0" anchor="b" bIns="45700" lIns="91425" spcFirstLastPara="1" rIns="91425" wrap="square" tIns="45700">
            <a:normAutofit fontScale="90000"/>
          </a:bodyPr>
          <a:lstStyle/>
          <a:p>
            <a:pPr indent="0" lvl="0" marL="0" marR="0" rtl="0" algn="ctr">
              <a:lnSpc>
                <a:spcPct val="90000"/>
              </a:lnSpc>
              <a:spcBef>
                <a:spcPts val="0"/>
              </a:spcBef>
              <a:spcAft>
                <a:spcPts val="0"/>
              </a:spcAft>
              <a:buClr>
                <a:schemeClr val="dk1"/>
              </a:buClr>
              <a:buSzPct val="100000"/>
              <a:buFont typeface="Calibri"/>
              <a:buNone/>
            </a:pPr>
            <a:r>
              <a:rPr b="0" i="0" lang="en-US" sz="6000" u="none" cap="none" strike="noStrike">
                <a:solidFill>
                  <a:schemeClr val="dk1"/>
                </a:solidFill>
                <a:latin typeface="Calibri"/>
                <a:ea typeface="Calibri"/>
                <a:cs typeface="Calibri"/>
                <a:sym typeface="Calibri"/>
              </a:rPr>
              <a:t>CSS Selectors</a:t>
            </a:r>
            <a:endParaRPr/>
          </a:p>
        </p:txBody>
      </p:sp>
      <p:sp>
        <p:nvSpPr>
          <p:cNvPr id="407" name="Google Shape;407;p31"/>
          <p:cNvSpPr txBox="1"/>
          <p:nvPr>
            <p:ph idx="4294967295" type="body"/>
          </p:nvPr>
        </p:nvSpPr>
        <p:spPr>
          <a:xfrm>
            <a:off x="982980" y="5707927"/>
            <a:ext cx="10226040" cy="719034"/>
          </a:xfrm>
          <a:prstGeom prst="rect">
            <a:avLst/>
          </a:prstGeom>
          <a:noFill/>
          <a:ln>
            <a:noFill/>
          </a:ln>
        </p:spPr>
        <p:txBody>
          <a:bodyPr anchorCtr="0" anchor="t"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Select the Elements to Apply CSS Rules</a:t>
            </a:r>
            <a:endParaRPr/>
          </a:p>
        </p:txBody>
      </p:sp>
      <p:pic>
        <p:nvPicPr>
          <p:cNvPr descr="Резултат с изображение за CSS selectors" id="408" name="Google Shape;408;p31"/>
          <p:cNvPicPr preferRelativeResize="0"/>
          <p:nvPr/>
        </p:nvPicPr>
        <p:blipFill rotWithShape="1">
          <a:blip r:embed="rId3">
            <a:alphaModFix/>
          </a:blip>
          <a:srcRect b="0" l="0" r="0" t="0"/>
          <a:stretch/>
        </p:blipFill>
        <p:spPr>
          <a:xfrm>
            <a:off x="4371442" y="680976"/>
            <a:ext cx="3777988" cy="2362647"/>
          </a:xfrm>
          <a:prstGeom prst="roundRect">
            <a:avLst>
              <a:gd fmla="val 863" name="adj"/>
            </a:avLst>
          </a:prstGeom>
          <a:noFill/>
          <a:ln>
            <a:noFill/>
          </a:ln>
        </p:spPr>
      </p:pic>
      <p:cxnSp>
        <p:nvCxnSpPr>
          <p:cNvPr id="409" name="Google Shape;409;p31"/>
          <p:cNvCxnSpPr/>
          <p:nvPr/>
        </p:nvCxnSpPr>
        <p:spPr>
          <a:xfrm flipH="1" rot="10800000">
            <a:off x="2550160" y="3931643"/>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410" name="Google Shape;410;p31"/>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Primary Selectors</a:t>
            </a:r>
            <a:endParaRPr/>
          </a:p>
          <a:p>
            <a:pPr indent="-228600" lvl="1" marL="685800" rtl="0" algn="l">
              <a:lnSpc>
                <a:spcPct val="90000"/>
              </a:lnSpc>
              <a:spcBef>
                <a:spcPts val="500"/>
              </a:spcBef>
              <a:spcAft>
                <a:spcPts val="0"/>
              </a:spcAft>
              <a:buClr>
                <a:schemeClr val="dk1"/>
              </a:buClr>
              <a:buSzPts val="2400"/>
              <a:buChar char="•"/>
            </a:pPr>
            <a:r>
              <a:rPr lang="en-US"/>
              <a:t>Element selector</a:t>
            </a:r>
            <a:endParaRPr/>
          </a:p>
          <a:p>
            <a:pPr indent="-228600" lvl="1" marL="685800" rtl="0" algn="l">
              <a:lnSpc>
                <a:spcPct val="90000"/>
              </a:lnSpc>
              <a:spcBef>
                <a:spcPts val="500"/>
              </a:spcBef>
              <a:spcAft>
                <a:spcPts val="0"/>
              </a:spcAft>
              <a:buClr>
                <a:schemeClr val="dk1"/>
              </a:buClr>
              <a:buSzPts val="2400"/>
              <a:buChar char="•"/>
            </a:pPr>
            <a:r>
              <a:rPr lang="en-US"/>
              <a:t>Class Selectors</a:t>
            </a:r>
            <a:endParaRPr/>
          </a:p>
          <a:p>
            <a:pPr indent="-228600" lvl="1" marL="685800" rtl="0" algn="l">
              <a:lnSpc>
                <a:spcPct val="90000"/>
              </a:lnSpc>
              <a:spcBef>
                <a:spcPts val="500"/>
              </a:spcBef>
              <a:spcAft>
                <a:spcPts val="0"/>
              </a:spcAft>
              <a:buClr>
                <a:schemeClr val="dk1"/>
              </a:buClr>
              <a:buSzPts val="2400"/>
              <a:buChar char="•"/>
            </a:pPr>
            <a:r>
              <a:rPr lang="en-US"/>
              <a:t>ID selectors</a:t>
            </a:r>
            <a:endParaRPr/>
          </a:p>
          <a:p>
            <a:pPr indent="-76200" lvl="1" marL="685800" rtl="0" algn="l">
              <a:lnSpc>
                <a:spcPct val="90000"/>
              </a:lnSpc>
              <a:spcBef>
                <a:spcPts val="500"/>
              </a:spcBef>
              <a:spcAft>
                <a:spcPts val="0"/>
              </a:spcAft>
              <a:buClr>
                <a:schemeClr val="dk1"/>
              </a:buClr>
              <a:buSzPts val="2400"/>
              <a:buNone/>
            </a:pPr>
            <a:r>
              <a:t/>
            </a:r>
            <a:endParaRPr/>
          </a:p>
          <a:p>
            <a:pPr indent="-228600" lvl="0" marL="228600" rtl="0" algn="l">
              <a:lnSpc>
                <a:spcPct val="90000"/>
              </a:lnSpc>
              <a:spcBef>
                <a:spcPts val="1000"/>
              </a:spcBef>
              <a:spcAft>
                <a:spcPts val="0"/>
              </a:spcAft>
              <a:buClr>
                <a:schemeClr val="dk1"/>
              </a:buClr>
              <a:buSzPts val="2800"/>
              <a:buChar char="•"/>
            </a:pPr>
            <a:r>
              <a:rPr lang="en-US"/>
              <a:t>Nested Selector</a:t>
            </a:r>
            <a:endParaRPr/>
          </a:p>
          <a:p>
            <a:pPr indent="-228600" lvl="0" marL="228600" rtl="0" algn="l">
              <a:lnSpc>
                <a:spcPct val="90000"/>
              </a:lnSpc>
              <a:spcBef>
                <a:spcPts val="1000"/>
              </a:spcBef>
              <a:spcAft>
                <a:spcPts val="0"/>
              </a:spcAft>
              <a:buClr>
                <a:schemeClr val="dk1"/>
              </a:buClr>
              <a:buSzPts val="2800"/>
              <a:buChar char="•"/>
            </a:pPr>
            <a:r>
              <a:rPr lang="en-US"/>
              <a:t>Multiple Selector</a:t>
            </a:r>
            <a:endParaRPr/>
          </a:p>
          <a:p>
            <a:pPr indent="-228600" lvl="0" marL="228600" rtl="0" algn="l">
              <a:lnSpc>
                <a:spcPct val="90000"/>
              </a:lnSpc>
              <a:spcBef>
                <a:spcPts val="1000"/>
              </a:spcBef>
              <a:spcAft>
                <a:spcPts val="0"/>
              </a:spcAft>
              <a:buClr>
                <a:schemeClr val="dk1"/>
              </a:buClr>
              <a:buSzPts val="2800"/>
              <a:buChar char="•"/>
            </a:pPr>
            <a:r>
              <a:rPr lang="en-US"/>
              <a:t>Pseudo-selector</a:t>
            </a:r>
            <a:endParaRPr/>
          </a:p>
          <a:p>
            <a:pPr indent="-228600" lvl="0" marL="228600" rtl="0" algn="l">
              <a:lnSpc>
                <a:spcPct val="90000"/>
              </a:lnSpc>
              <a:spcBef>
                <a:spcPts val="1000"/>
              </a:spcBef>
              <a:spcAft>
                <a:spcPts val="0"/>
              </a:spcAft>
              <a:buClr>
                <a:schemeClr val="dk1"/>
              </a:buClr>
              <a:buSzPts val="2800"/>
              <a:buChar char="•"/>
            </a:pPr>
            <a:r>
              <a:rPr lang="en-US"/>
              <a:t>Attribute selector</a:t>
            </a:r>
            <a:endParaRPr/>
          </a:p>
          <a:p>
            <a:pPr indent="-50800" lvl="0" marL="228600" rtl="0" algn="l">
              <a:lnSpc>
                <a:spcPct val="90000"/>
              </a:lnSpc>
              <a:spcBef>
                <a:spcPts val="1000"/>
              </a:spcBef>
              <a:spcAft>
                <a:spcPts val="0"/>
              </a:spcAft>
              <a:buClr>
                <a:schemeClr val="dk1"/>
              </a:buClr>
              <a:buSzPts val="2800"/>
              <a:buNone/>
            </a:pPr>
            <a:r>
              <a:t/>
            </a:r>
            <a:endParaRPr/>
          </a:p>
        </p:txBody>
      </p:sp>
      <p:grpSp>
        <p:nvGrpSpPr>
          <p:cNvPr id="416" name="Google Shape;416;p32"/>
          <p:cNvGrpSpPr/>
          <p:nvPr/>
        </p:nvGrpSpPr>
        <p:grpSpPr>
          <a:xfrm>
            <a:off x="-8308" y="252240"/>
            <a:ext cx="8428073" cy="1064218"/>
            <a:chOff x="-8308" y="252240"/>
            <a:chExt cx="8428073" cy="1064218"/>
          </a:xfrm>
        </p:grpSpPr>
        <p:sp>
          <p:nvSpPr>
            <p:cNvPr id="417" name="Google Shape;417;p32"/>
            <p:cNvSpPr/>
            <p:nvPr/>
          </p:nvSpPr>
          <p:spPr>
            <a:xfrm>
              <a:off x="420007" y="700024"/>
              <a:ext cx="7999758"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C55A11"/>
                  </a:solidFill>
                  <a:latin typeface="Calibri"/>
                  <a:ea typeface="Calibri"/>
                  <a:cs typeface="Calibri"/>
                  <a:sym typeface="Calibri"/>
                </a:rPr>
                <a:t>Selectors</a:t>
              </a:r>
              <a:endParaRPr b="1" i="0" sz="2400" u="none" cap="none" strike="noStrike">
                <a:solidFill>
                  <a:srgbClr val="C55A11"/>
                </a:solidFill>
                <a:latin typeface="Calibri"/>
                <a:ea typeface="Calibri"/>
                <a:cs typeface="Calibri"/>
                <a:sym typeface="Calibri"/>
              </a:endParaRPr>
            </a:p>
          </p:txBody>
        </p:sp>
        <p:cxnSp>
          <p:nvCxnSpPr>
            <p:cNvPr id="418" name="Google Shape;418;p32"/>
            <p:cNvCxnSpPr/>
            <p:nvPr/>
          </p:nvCxnSpPr>
          <p:spPr>
            <a:xfrm>
              <a:off x="-8308" y="1316458"/>
              <a:ext cx="8300052" cy="0"/>
            </a:xfrm>
            <a:prstGeom prst="straightConnector1">
              <a:avLst/>
            </a:prstGeom>
            <a:noFill/>
            <a:ln cap="flat" cmpd="sng" w="38100">
              <a:solidFill>
                <a:srgbClr val="C55A11"/>
              </a:solidFill>
              <a:prstDash val="solid"/>
              <a:miter lim="800000"/>
              <a:headEnd len="sm" w="sm" type="none"/>
              <a:tailEnd len="sm" w="sm" type="none"/>
            </a:ln>
          </p:spPr>
        </p:cxnSp>
        <p:sp>
          <p:nvSpPr>
            <p:cNvPr id="419" name="Google Shape;419;p32"/>
            <p:cNvSpPr/>
            <p:nvPr/>
          </p:nvSpPr>
          <p:spPr>
            <a:xfrm>
              <a:off x="393111" y="252240"/>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2E75B5"/>
                  </a:solidFill>
                  <a:latin typeface="Calibri"/>
                  <a:ea typeface="Calibri"/>
                  <a:cs typeface="Calibri"/>
                  <a:sym typeface="Calibri"/>
                </a:rPr>
                <a:t>CSS – Cascading Style Sheets and Selectors</a:t>
              </a:r>
              <a:endParaRPr b="0" i="0" sz="1400" u="none" cap="none" strike="noStrike">
                <a:solidFill>
                  <a:srgbClr val="000000"/>
                </a:solidFill>
                <a:latin typeface="Arial"/>
                <a:ea typeface="Arial"/>
                <a:cs typeface="Arial"/>
                <a:sym typeface="Arial"/>
              </a:endParaRPr>
            </a:p>
          </p:txBody>
        </p:sp>
      </p:grpSp>
      <p:pic>
        <p:nvPicPr>
          <p:cNvPr id="420" name="Google Shape;420;p32"/>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33"/>
          <p:cNvSpPr txBox="1"/>
          <p:nvPr>
            <p:ph idx="12" type="sldNum"/>
          </p:nvPr>
        </p:nvSpPr>
        <p:spPr>
          <a:xfrm>
            <a:off x="11566412" y="7412898"/>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426" name="Google Shape;426;p33"/>
          <p:cNvSpPr txBox="1"/>
          <p:nvPr>
            <p:ph idx="1" type="body"/>
          </p:nvPr>
        </p:nvSpPr>
        <p:spPr>
          <a:xfrm>
            <a:off x="581192" y="3068392"/>
            <a:ext cx="11029615" cy="3678303"/>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Clr>
                <a:schemeClr val="dk1"/>
              </a:buClr>
              <a:buSzPts val="2800"/>
              <a:buNone/>
            </a:pPr>
            <a:r>
              <a:t/>
            </a:r>
            <a:endParaRPr>
              <a:latin typeface="Courier New"/>
              <a:ea typeface="Courier New"/>
              <a:cs typeface="Courier New"/>
              <a:sym typeface="Courier New"/>
            </a:endParaRPr>
          </a:p>
          <a:p>
            <a:pPr indent="0" lvl="0" marL="0" rtl="0" algn="l">
              <a:lnSpc>
                <a:spcPct val="95000"/>
              </a:lnSpc>
              <a:spcBef>
                <a:spcPts val="1000"/>
              </a:spcBef>
              <a:spcAft>
                <a:spcPts val="0"/>
              </a:spcAft>
              <a:buClr>
                <a:schemeClr val="dk1"/>
              </a:buClr>
              <a:buSzPts val="2800"/>
              <a:buNone/>
            </a:pPr>
            <a:r>
              <a:t/>
            </a:r>
            <a:endParaRPr/>
          </a:p>
          <a:p>
            <a:pPr indent="-50800" lvl="0" marL="228600" rtl="0" algn="l">
              <a:lnSpc>
                <a:spcPct val="95000"/>
              </a:lnSpc>
              <a:spcBef>
                <a:spcPts val="1000"/>
              </a:spcBef>
              <a:spcAft>
                <a:spcPts val="0"/>
              </a:spcAft>
              <a:buClr>
                <a:schemeClr val="dk1"/>
              </a:buClr>
              <a:buSzPts val="2800"/>
              <a:buNone/>
            </a:pPr>
            <a:r>
              <a:t/>
            </a:r>
            <a:endParaRPr/>
          </a:p>
          <a:p>
            <a:pPr indent="0" lvl="0" marL="0" rtl="0" algn="l">
              <a:lnSpc>
                <a:spcPct val="95000"/>
              </a:lnSpc>
              <a:spcBef>
                <a:spcPts val="1000"/>
              </a:spcBef>
              <a:spcAft>
                <a:spcPts val="0"/>
              </a:spcAft>
              <a:buClr>
                <a:schemeClr val="dk1"/>
              </a:buClr>
              <a:buSzPts val="2800"/>
              <a:buNone/>
            </a:pPr>
            <a:br>
              <a:rPr lang="en-US"/>
            </a:br>
            <a:endParaRPr/>
          </a:p>
          <a:p>
            <a:pPr indent="0" lvl="0" marL="0" rtl="0" algn="l">
              <a:lnSpc>
                <a:spcPct val="95000"/>
              </a:lnSpc>
              <a:spcBef>
                <a:spcPts val="1000"/>
              </a:spcBef>
              <a:spcAft>
                <a:spcPts val="0"/>
              </a:spcAft>
              <a:buClr>
                <a:schemeClr val="dk1"/>
              </a:buClr>
              <a:buSzPts val="2800"/>
              <a:buNone/>
            </a:pPr>
            <a:br>
              <a:rPr lang="en-US"/>
            </a:br>
            <a:endParaRPr>
              <a:latin typeface="Courier New"/>
              <a:ea typeface="Courier New"/>
              <a:cs typeface="Courier New"/>
              <a:sym typeface="Courier New"/>
            </a:endParaRPr>
          </a:p>
        </p:txBody>
      </p:sp>
      <p:sp>
        <p:nvSpPr>
          <p:cNvPr id="427" name="Google Shape;427;p33"/>
          <p:cNvSpPr txBox="1"/>
          <p:nvPr>
            <p:ph type="title"/>
          </p:nvPr>
        </p:nvSpPr>
        <p:spPr>
          <a:xfrm>
            <a:off x="581192" y="556382"/>
            <a:ext cx="10229048" cy="101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Calibri"/>
              <a:buNone/>
            </a:pPr>
            <a:r>
              <a:rPr lang="en-US" sz="3200"/>
              <a:t>Primary Selectors: Select by Tag – ELEMENT SELECTORS</a:t>
            </a:r>
            <a:endParaRPr sz="3200"/>
          </a:p>
        </p:txBody>
      </p:sp>
      <p:sp>
        <p:nvSpPr>
          <p:cNvPr id="428" name="Google Shape;428;p33"/>
          <p:cNvSpPr/>
          <p:nvPr/>
        </p:nvSpPr>
        <p:spPr>
          <a:xfrm>
            <a:off x="688625" y="2130588"/>
            <a:ext cx="10819865" cy="1384995"/>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3CD60"/>
                </a:solidFill>
                <a:latin typeface="Consolas"/>
                <a:ea typeface="Consolas"/>
                <a:cs typeface="Consolas"/>
                <a:sym typeface="Consolas"/>
              </a:rPr>
              <a:t>&lt;span&gt;</a:t>
            </a:r>
            <a:r>
              <a:rPr b="1" i="0" lang="en-US" sz="2800" u="none" cap="none" strike="noStrike">
                <a:solidFill>
                  <a:schemeClr val="dk2"/>
                </a:solidFill>
                <a:latin typeface="Consolas"/>
                <a:ea typeface="Consolas"/>
                <a:cs typeface="Consolas"/>
                <a:sym typeface="Consolas"/>
              </a:rPr>
              <a:t>Here's a span with some text.</a:t>
            </a:r>
            <a:r>
              <a:rPr b="1" i="0" lang="en-US" sz="2800" u="none" cap="none" strike="noStrike">
                <a:solidFill>
                  <a:srgbClr val="F3CD60"/>
                </a:solidFill>
                <a:latin typeface="Consolas"/>
                <a:ea typeface="Consolas"/>
                <a:cs typeface="Consolas"/>
                <a:sym typeface="Consolas"/>
              </a:rPr>
              <a:t>&lt;/span&gt;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Consolas"/>
                <a:ea typeface="Consolas"/>
                <a:cs typeface="Consolas"/>
                <a:sym typeface="Consolas"/>
              </a:rPr>
              <a:t>  &lt;p&gt;Here's a p with some text.&lt;/p&gt;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3CD60"/>
                </a:solidFill>
                <a:latin typeface="Consolas"/>
                <a:ea typeface="Consolas"/>
                <a:cs typeface="Consolas"/>
                <a:sym typeface="Consolas"/>
              </a:rPr>
              <a:t>&lt;span&gt;</a:t>
            </a:r>
            <a:r>
              <a:rPr b="1" i="0" lang="en-US" sz="2800" u="none" cap="none" strike="noStrike">
                <a:solidFill>
                  <a:schemeClr val="dk2"/>
                </a:solidFill>
                <a:latin typeface="Consolas"/>
                <a:ea typeface="Consolas"/>
                <a:cs typeface="Consolas"/>
                <a:sym typeface="Consolas"/>
              </a:rPr>
              <a:t>Here's a span with more text.</a:t>
            </a:r>
            <a:r>
              <a:rPr b="1" i="0" lang="en-US" sz="2800" u="none" cap="none" strike="noStrike">
                <a:solidFill>
                  <a:srgbClr val="F3CD60"/>
                </a:solidFill>
                <a:latin typeface="Consolas"/>
                <a:ea typeface="Consolas"/>
                <a:cs typeface="Consolas"/>
                <a:sym typeface="Consolas"/>
              </a:rPr>
              <a:t>&lt;/span&gt;</a:t>
            </a:r>
            <a:endParaRPr b="1" i="0" sz="2800" u="none" cap="none" strike="noStrike">
              <a:solidFill>
                <a:srgbClr val="F3CD60"/>
              </a:solidFill>
              <a:latin typeface="Consolas"/>
              <a:ea typeface="Consolas"/>
              <a:cs typeface="Consolas"/>
              <a:sym typeface="Consolas"/>
            </a:endParaRPr>
          </a:p>
        </p:txBody>
      </p:sp>
      <p:sp>
        <p:nvSpPr>
          <p:cNvPr id="429" name="Google Shape;429;p33"/>
          <p:cNvSpPr/>
          <p:nvPr/>
        </p:nvSpPr>
        <p:spPr>
          <a:xfrm>
            <a:off x="6256691" y="4941830"/>
            <a:ext cx="5251799" cy="1815882"/>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3CD60"/>
                </a:solidFill>
                <a:latin typeface="Consolas"/>
                <a:ea typeface="Consolas"/>
                <a:cs typeface="Consolas"/>
                <a:sym typeface="Consolas"/>
              </a:rPr>
              <a:t>span</a:t>
            </a:r>
            <a:r>
              <a:rPr b="1" i="0" lang="en-US" sz="2800" u="none" cap="none" strike="noStrike">
                <a:solidFill>
                  <a:schemeClr val="dk2"/>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Consolas"/>
                <a:ea typeface="Consolas"/>
                <a:cs typeface="Consolas"/>
                <a:sym typeface="Consolas"/>
              </a:rPr>
              <a:t>  background: DodgerBlue;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Consolas"/>
                <a:ea typeface="Consolas"/>
                <a:cs typeface="Consolas"/>
                <a:sym typeface="Consolas"/>
              </a:rPr>
              <a:t>  color: #ffffff;</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Consolas"/>
                <a:ea typeface="Consolas"/>
                <a:cs typeface="Consolas"/>
                <a:sym typeface="Consolas"/>
              </a:rPr>
              <a:t>}</a:t>
            </a:r>
            <a:endParaRPr b="1" i="0" sz="2800" u="none" cap="none" strike="noStrike">
              <a:solidFill>
                <a:schemeClr val="dk2"/>
              </a:solidFill>
              <a:latin typeface="Consolas"/>
              <a:ea typeface="Consolas"/>
              <a:cs typeface="Consolas"/>
              <a:sym typeface="Consolas"/>
            </a:endParaRPr>
          </a:p>
        </p:txBody>
      </p:sp>
      <p:sp>
        <p:nvSpPr>
          <p:cNvPr id="430" name="Google Shape;430;p33"/>
          <p:cNvSpPr/>
          <p:nvPr/>
        </p:nvSpPr>
        <p:spPr>
          <a:xfrm>
            <a:off x="7372543" y="3633732"/>
            <a:ext cx="3015514" cy="1142158"/>
          </a:xfrm>
          <a:prstGeom prst="wedgeRoundRectCallout">
            <a:avLst>
              <a:gd fmla="val -65351" name="adj1"/>
              <a:gd fmla="val 63149" name="adj2"/>
              <a:gd fmla="val 16667" name="adj3"/>
            </a:avLst>
          </a:prstGeom>
          <a:solidFill>
            <a:srgbClr val="663606">
              <a:alpha val="94509"/>
            </a:srgbClr>
          </a:solidFill>
          <a:ln cap="flat" cmpd="sng" w="19050">
            <a:solidFill>
              <a:srgbClr val="F8D49E">
                <a:alpha val="8000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Calibri"/>
                <a:ea typeface="Calibri"/>
                <a:cs typeface="Calibri"/>
                <a:sym typeface="Calibri"/>
              </a:rPr>
              <a:t>Select all</a:t>
            </a:r>
            <a:br>
              <a:rPr b="1" i="0" lang="en-US" sz="2800" u="none" cap="none" strike="noStrike">
                <a:solidFill>
                  <a:schemeClr val="dk2"/>
                </a:solidFill>
                <a:latin typeface="Calibri"/>
                <a:ea typeface="Calibri"/>
                <a:cs typeface="Calibri"/>
                <a:sym typeface="Calibri"/>
              </a:rPr>
            </a:br>
            <a:r>
              <a:rPr b="1" i="0" lang="en-US" sz="2800" u="none" cap="none" strike="noStrike">
                <a:solidFill>
                  <a:srgbClr val="F3CD60"/>
                </a:solidFill>
                <a:latin typeface="Consolas"/>
                <a:ea typeface="Consolas"/>
                <a:cs typeface="Consolas"/>
                <a:sym typeface="Consolas"/>
              </a:rPr>
              <a:t>&lt;span&gt;</a:t>
            </a:r>
            <a:r>
              <a:rPr b="0" i="0" lang="en-US" sz="2800" u="none" cap="none" strike="noStrike">
                <a:solidFill>
                  <a:schemeClr val="lt1"/>
                </a:solidFill>
                <a:latin typeface="Calibri"/>
                <a:ea typeface="Calibri"/>
                <a:cs typeface="Calibri"/>
                <a:sym typeface="Calibri"/>
              </a:rPr>
              <a:t> </a:t>
            </a:r>
            <a:r>
              <a:rPr b="1" i="0" lang="en-US" sz="2800" u="none" cap="none" strike="noStrike">
                <a:solidFill>
                  <a:schemeClr val="dk2"/>
                </a:solidFill>
                <a:latin typeface="Calibri"/>
                <a:ea typeface="Calibri"/>
                <a:cs typeface="Calibri"/>
                <a:sym typeface="Calibri"/>
              </a:rPr>
              <a:t>elements</a:t>
            </a:r>
            <a:endParaRPr b="0" i="0" sz="1400" u="none" cap="none" strike="noStrike">
              <a:solidFill>
                <a:srgbClr val="000000"/>
              </a:solidFill>
              <a:latin typeface="Arial"/>
              <a:ea typeface="Arial"/>
              <a:cs typeface="Arial"/>
              <a:sym typeface="Arial"/>
            </a:endParaRPr>
          </a:p>
        </p:txBody>
      </p:sp>
      <p:pic>
        <p:nvPicPr>
          <p:cNvPr id="431" name="Google Shape;431;p33"/>
          <p:cNvPicPr preferRelativeResize="0"/>
          <p:nvPr/>
        </p:nvPicPr>
        <p:blipFill rotWithShape="1">
          <a:blip r:embed="rId3">
            <a:alphaModFix/>
          </a:blip>
          <a:srcRect b="0" l="0" r="0" t="0"/>
          <a:stretch/>
        </p:blipFill>
        <p:spPr>
          <a:xfrm>
            <a:off x="800245" y="4018640"/>
            <a:ext cx="4869243" cy="2849127"/>
          </a:xfrm>
          <a:prstGeom prst="rect">
            <a:avLst/>
          </a:prstGeom>
          <a:noFill/>
          <a:ln>
            <a:noFill/>
          </a:ln>
        </p:spPr>
      </p:pic>
      <p:cxnSp>
        <p:nvCxnSpPr>
          <p:cNvPr id="432" name="Google Shape;432;p33"/>
          <p:cNvCxnSpPr/>
          <p:nvPr/>
        </p:nvCxnSpPr>
        <p:spPr>
          <a:xfrm flipH="1" rot="10800000">
            <a:off x="1098166" y="1488868"/>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433" name="Google Shape;433;p33"/>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34"/>
          <p:cNvSpPr txBox="1"/>
          <p:nvPr>
            <p:ph idx="12" type="sldNum"/>
          </p:nvPr>
        </p:nvSpPr>
        <p:spPr>
          <a:xfrm>
            <a:off x="11566412" y="6525002"/>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439" name="Google Shape;439;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Clr>
                <a:schemeClr val="dk1"/>
              </a:buClr>
              <a:buSzPts val="2800"/>
              <a:buNone/>
            </a:pPr>
            <a:r>
              <a:t/>
            </a:r>
            <a:endParaRPr/>
          </a:p>
          <a:p>
            <a:pPr indent="-50800" lvl="0" marL="228600" rtl="0" algn="l">
              <a:lnSpc>
                <a:spcPct val="95000"/>
              </a:lnSpc>
              <a:spcBef>
                <a:spcPts val="1000"/>
              </a:spcBef>
              <a:spcAft>
                <a:spcPts val="0"/>
              </a:spcAft>
              <a:buClr>
                <a:schemeClr val="dk1"/>
              </a:buClr>
              <a:buSzPts val="2800"/>
              <a:buNone/>
            </a:pPr>
            <a:r>
              <a:t/>
            </a:r>
            <a:endParaRPr/>
          </a:p>
          <a:p>
            <a:pPr indent="0" lvl="0" marL="0" rtl="0" algn="l">
              <a:lnSpc>
                <a:spcPct val="95000"/>
              </a:lnSpc>
              <a:spcBef>
                <a:spcPts val="1000"/>
              </a:spcBef>
              <a:spcAft>
                <a:spcPts val="0"/>
              </a:spcAft>
              <a:buClr>
                <a:schemeClr val="dk1"/>
              </a:buClr>
              <a:buSzPts val="2800"/>
              <a:buNone/>
            </a:pPr>
            <a:br>
              <a:rPr lang="en-US"/>
            </a:br>
            <a:endParaRPr/>
          </a:p>
          <a:p>
            <a:pPr indent="0" lvl="0" marL="0" rtl="0" algn="l">
              <a:lnSpc>
                <a:spcPct val="95000"/>
              </a:lnSpc>
              <a:spcBef>
                <a:spcPts val="1000"/>
              </a:spcBef>
              <a:spcAft>
                <a:spcPts val="0"/>
              </a:spcAft>
              <a:buClr>
                <a:schemeClr val="dk1"/>
              </a:buClr>
              <a:buSzPts val="2800"/>
              <a:buNone/>
            </a:pPr>
            <a:br>
              <a:rPr lang="en-US"/>
            </a:br>
            <a:endParaRPr>
              <a:latin typeface="Courier New"/>
              <a:ea typeface="Courier New"/>
              <a:cs typeface="Courier New"/>
              <a:sym typeface="Courier New"/>
            </a:endParaRPr>
          </a:p>
        </p:txBody>
      </p:sp>
      <p:sp>
        <p:nvSpPr>
          <p:cNvPr id="440" name="Google Shape;440;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Primary Selectors: Select by ID</a:t>
            </a:r>
            <a:endParaRPr/>
          </a:p>
        </p:txBody>
      </p:sp>
      <p:sp>
        <p:nvSpPr>
          <p:cNvPr id="441" name="Google Shape;441;p34"/>
          <p:cNvSpPr/>
          <p:nvPr/>
        </p:nvSpPr>
        <p:spPr>
          <a:xfrm>
            <a:off x="654899" y="1973619"/>
            <a:ext cx="10882200" cy="1015663"/>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CC9900"/>
                </a:solidFill>
                <a:latin typeface="Consolas"/>
                <a:ea typeface="Consolas"/>
                <a:cs typeface="Consolas"/>
                <a:sym typeface="Consolas"/>
              </a:rPr>
              <a:t>&lt;span id="top"&gt;Here's</a:t>
            </a:r>
            <a:r>
              <a:rPr b="1" i="0" lang="en-US" sz="3000" u="none" cap="none" strike="noStrike">
                <a:solidFill>
                  <a:srgbClr val="CC9900"/>
                </a:solidFill>
                <a:latin typeface="Calibri"/>
                <a:ea typeface="Calibri"/>
                <a:cs typeface="Calibri"/>
                <a:sym typeface="Calibri"/>
              </a:rPr>
              <a:t> </a:t>
            </a:r>
            <a:r>
              <a:rPr b="1" i="0" lang="en-US" sz="3000" u="none" cap="none" strike="noStrike">
                <a:solidFill>
                  <a:srgbClr val="CC9900"/>
                </a:solidFill>
                <a:latin typeface="Consolas"/>
                <a:ea typeface="Consolas"/>
                <a:cs typeface="Consolas"/>
                <a:sym typeface="Consolas"/>
              </a:rPr>
              <a:t>a</a:t>
            </a:r>
            <a:r>
              <a:rPr b="1" i="0" lang="en-US" sz="3000" u="none" cap="none" strike="noStrike">
                <a:solidFill>
                  <a:srgbClr val="CC9900"/>
                </a:solidFill>
                <a:latin typeface="Calibri"/>
                <a:ea typeface="Calibri"/>
                <a:cs typeface="Calibri"/>
                <a:sym typeface="Calibri"/>
              </a:rPr>
              <a:t> </a:t>
            </a:r>
            <a:r>
              <a:rPr b="1" i="0" lang="en-US" sz="3000" u="none" cap="none" strike="noStrike">
                <a:solidFill>
                  <a:srgbClr val="CC9900"/>
                </a:solidFill>
                <a:latin typeface="Consolas"/>
                <a:ea typeface="Consolas"/>
                <a:cs typeface="Consolas"/>
                <a:sym typeface="Consolas"/>
              </a:rPr>
              <a:t>span</a:t>
            </a:r>
            <a:r>
              <a:rPr b="1" i="0" lang="en-US" sz="3000" u="none" cap="none" strike="noStrike">
                <a:solidFill>
                  <a:srgbClr val="CC9900"/>
                </a:solidFill>
                <a:latin typeface="Calibri"/>
                <a:ea typeface="Calibri"/>
                <a:cs typeface="Calibri"/>
                <a:sym typeface="Calibri"/>
              </a:rPr>
              <a:t> </a:t>
            </a:r>
            <a:r>
              <a:rPr b="1" i="0" lang="en-US" sz="3000" u="none" cap="none" strike="noStrike">
                <a:solidFill>
                  <a:srgbClr val="CC9900"/>
                </a:solidFill>
                <a:latin typeface="Consolas"/>
                <a:ea typeface="Consolas"/>
                <a:cs typeface="Consolas"/>
                <a:sym typeface="Consolas"/>
              </a:rPr>
              <a:t>with</a:t>
            </a:r>
            <a:r>
              <a:rPr b="1" i="0" lang="en-US" sz="3000" u="none" cap="none" strike="noStrike">
                <a:solidFill>
                  <a:srgbClr val="CC9900"/>
                </a:solidFill>
                <a:latin typeface="Calibri"/>
                <a:ea typeface="Calibri"/>
                <a:cs typeface="Calibri"/>
                <a:sym typeface="Calibri"/>
              </a:rPr>
              <a:t> </a:t>
            </a:r>
            <a:r>
              <a:rPr b="1" i="0" lang="en-US" sz="3000" u="none" cap="none" strike="noStrike">
                <a:solidFill>
                  <a:srgbClr val="CC9900"/>
                </a:solidFill>
                <a:latin typeface="Consolas"/>
                <a:ea typeface="Consolas"/>
                <a:cs typeface="Consolas"/>
                <a:sym typeface="Consolas"/>
              </a:rPr>
              <a:t>some</a:t>
            </a:r>
            <a:r>
              <a:rPr b="1" i="0" lang="en-US" sz="3000" u="none" cap="none" strike="noStrike">
                <a:solidFill>
                  <a:srgbClr val="CC9900"/>
                </a:solidFill>
                <a:latin typeface="Calibri"/>
                <a:ea typeface="Calibri"/>
                <a:cs typeface="Calibri"/>
                <a:sym typeface="Calibri"/>
              </a:rPr>
              <a:t> </a:t>
            </a:r>
            <a:r>
              <a:rPr b="1" i="0" lang="en-US" sz="3000" u="none" cap="none" strike="noStrike">
                <a:solidFill>
                  <a:srgbClr val="CC9900"/>
                </a:solidFill>
                <a:latin typeface="Consolas"/>
                <a:ea typeface="Consolas"/>
                <a:cs typeface="Consolas"/>
                <a:sym typeface="Consolas"/>
              </a:rPr>
              <a:t>text.&lt;/span&gt;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000"/>
              <a:buFont typeface="Arial"/>
              <a:buNone/>
            </a:pPr>
            <a:r>
              <a:rPr b="1" i="0" lang="en-US" sz="3000" u="none" cap="none" strike="noStrike">
                <a:solidFill>
                  <a:srgbClr val="CC9900"/>
                </a:solidFill>
                <a:latin typeface="Consolas"/>
                <a:ea typeface="Consolas"/>
                <a:cs typeface="Consolas"/>
                <a:sym typeface="Consolas"/>
              </a:rPr>
              <a:t>&lt;span&gt;Here's another.&lt;/span&gt;</a:t>
            </a:r>
            <a:endParaRPr b="1" i="0" sz="3000" u="none" cap="none" strike="noStrike">
              <a:solidFill>
                <a:srgbClr val="CC9900"/>
              </a:solidFill>
              <a:latin typeface="Consolas"/>
              <a:ea typeface="Consolas"/>
              <a:cs typeface="Consolas"/>
              <a:sym typeface="Consolas"/>
            </a:endParaRPr>
          </a:p>
        </p:txBody>
      </p:sp>
      <p:sp>
        <p:nvSpPr>
          <p:cNvPr id="442" name="Google Shape;442;p34"/>
          <p:cNvSpPr/>
          <p:nvPr/>
        </p:nvSpPr>
        <p:spPr>
          <a:xfrm>
            <a:off x="6019800" y="4613826"/>
            <a:ext cx="5548200" cy="1384995"/>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3CD60"/>
                </a:solidFill>
                <a:latin typeface="Consolas"/>
                <a:ea typeface="Consolas"/>
                <a:cs typeface="Consolas"/>
                <a:sym typeface="Consolas"/>
              </a:rPr>
              <a:t>span#top</a:t>
            </a:r>
            <a:r>
              <a:rPr b="1" i="0" lang="en-US" sz="2800" u="none" cap="none" strike="noStrike">
                <a:solidFill>
                  <a:schemeClr val="dk1"/>
                </a:solidFill>
                <a:latin typeface="Consolas"/>
                <a:ea typeface="Consolas"/>
                <a:cs typeface="Consolas"/>
                <a:sym typeface="Consolas"/>
              </a:rPr>
              <a:t> </a:t>
            </a:r>
            <a:r>
              <a:rPr b="1" i="0" lang="en-US" sz="2800" u="none" cap="none" strike="noStrike">
                <a:solidFill>
                  <a:schemeClr val="dk2"/>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Consolas"/>
                <a:ea typeface="Consolas"/>
                <a:cs typeface="Consolas"/>
                <a:sym typeface="Consolas"/>
              </a:rPr>
              <a:t>  background: DodgerBlue;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Consolas"/>
                <a:ea typeface="Consolas"/>
                <a:cs typeface="Consolas"/>
                <a:sym typeface="Consolas"/>
              </a:rPr>
              <a:t>}</a:t>
            </a:r>
            <a:endParaRPr b="1" i="0" sz="2800" u="none" cap="none" strike="noStrike">
              <a:solidFill>
                <a:schemeClr val="dk2"/>
              </a:solidFill>
              <a:latin typeface="Consolas"/>
              <a:ea typeface="Consolas"/>
              <a:cs typeface="Consolas"/>
              <a:sym typeface="Consolas"/>
            </a:endParaRPr>
          </a:p>
        </p:txBody>
      </p:sp>
      <p:sp>
        <p:nvSpPr>
          <p:cNvPr id="443" name="Google Shape;443;p34"/>
          <p:cNvSpPr/>
          <p:nvPr/>
        </p:nvSpPr>
        <p:spPr>
          <a:xfrm>
            <a:off x="7733144" y="3379494"/>
            <a:ext cx="2819400" cy="1155563"/>
          </a:xfrm>
          <a:prstGeom prst="wedgeRoundRectCallout">
            <a:avLst>
              <a:gd fmla="val -64393" name="adj1"/>
              <a:gd fmla="val 63499" name="adj2"/>
              <a:gd fmla="val 16667" name="adj3"/>
            </a:avLst>
          </a:prstGeom>
          <a:solidFill>
            <a:srgbClr val="663606">
              <a:alpha val="94509"/>
            </a:srgbClr>
          </a:solidFill>
          <a:ln cap="flat" cmpd="sng" w="19050">
            <a:solidFill>
              <a:srgbClr val="F8D49E">
                <a:alpha val="8000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Calibri"/>
                <a:ea typeface="Calibri"/>
                <a:cs typeface="Calibri"/>
                <a:sym typeface="Calibri"/>
              </a:rPr>
              <a:t>Select</a:t>
            </a:r>
            <a:r>
              <a:rPr b="0" i="0" lang="en-US" sz="2800" u="none" cap="none" strike="noStrike">
                <a:solidFill>
                  <a:schemeClr val="lt1"/>
                </a:solidFill>
                <a:latin typeface="Calibri"/>
                <a:ea typeface="Calibri"/>
                <a:cs typeface="Calibri"/>
                <a:sym typeface="Calibri"/>
              </a:rPr>
              <a:t> </a:t>
            </a:r>
            <a:r>
              <a:rPr b="1" i="0" lang="en-US" sz="2800" u="none" cap="none" strike="noStrike">
                <a:solidFill>
                  <a:srgbClr val="F3CD60"/>
                </a:solidFill>
                <a:latin typeface="Consolas"/>
                <a:ea typeface="Consolas"/>
                <a:cs typeface="Consolas"/>
                <a:sym typeface="Consolas"/>
              </a:rPr>
              <a:t>&lt;span&gt;</a:t>
            </a:r>
            <a:r>
              <a:rPr b="0" i="0" lang="en-US" sz="2800" u="none" cap="none" strike="noStrike">
                <a:solidFill>
                  <a:schemeClr val="lt1"/>
                </a:solidFill>
                <a:latin typeface="Calibri"/>
                <a:ea typeface="Calibri"/>
                <a:cs typeface="Calibri"/>
                <a:sym typeface="Calibri"/>
              </a:rPr>
              <a:t> </a:t>
            </a:r>
            <a:r>
              <a:rPr b="1" i="0" lang="en-US" sz="2800" u="none" cap="none" strike="noStrike">
                <a:solidFill>
                  <a:schemeClr val="dk2"/>
                </a:solidFill>
                <a:latin typeface="Calibri"/>
                <a:ea typeface="Calibri"/>
                <a:cs typeface="Calibri"/>
                <a:sym typeface="Calibri"/>
              </a:rPr>
              <a:t>with</a:t>
            </a:r>
            <a:r>
              <a:rPr b="0" i="0" lang="en-US" sz="2800" u="none" cap="none" strike="noStrike">
                <a:solidFill>
                  <a:schemeClr val="lt1"/>
                </a:solidFill>
                <a:latin typeface="Calibri"/>
                <a:ea typeface="Calibri"/>
                <a:cs typeface="Calibri"/>
                <a:sym typeface="Calibri"/>
              </a:rPr>
              <a:t> </a:t>
            </a:r>
            <a:r>
              <a:rPr b="1" i="0" lang="en-US" sz="2800" u="none" cap="none" strike="noStrike">
                <a:solidFill>
                  <a:srgbClr val="F3CD60"/>
                </a:solidFill>
                <a:latin typeface="Consolas"/>
                <a:ea typeface="Consolas"/>
                <a:cs typeface="Consolas"/>
                <a:sym typeface="Consolas"/>
              </a:rPr>
              <a:t>id="top"</a:t>
            </a:r>
            <a:endParaRPr b="0" i="0" sz="1400" u="none" cap="none" strike="noStrike">
              <a:solidFill>
                <a:srgbClr val="000000"/>
              </a:solidFill>
              <a:latin typeface="Arial"/>
              <a:ea typeface="Arial"/>
              <a:cs typeface="Arial"/>
              <a:sym typeface="Arial"/>
            </a:endParaRPr>
          </a:p>
        </p:txBody>
      </p:sp>
      <p:pic>
        <p:nvPicPr>
          <p:cNvPr id="444" name="Google Shape;444;p34"/>
          <p:cNvPicPr preferRelativeResize="0"/>
          <p:nvPr/>
        </p:nvPicPr>
        <p:blipFill rotWithShape="1">
          <a:blip r:embed="rId3">
            <a:alphaModFix/>
          </a:blip>
          <a:srcRect b="0" l="0" r="0" t="0"/>
          <a:stretch/>
        </p:blipFill>
        <p:spPr>
          <a:xfrm>
            <a:off x="709592" y="3221552"/>
            <a:ext cx="4945474" cy="3001588"/>
          </a:xfrm>
          <a:prstGeom prst="rect">
            <a:avLst/>
          </a:prstGeom>
          <a:noFill/>
          <a:ln>
            <a:noFill/>
          </a:ln>
        </p:spPr>
      </p:pic>
      <p:cxnSp>
        <p:nvCxnSpPr>
          <p:cNvPr id="445" name="Google Shape;445;p34"/>
          <p:cNvCxnSpPr/>
          <p:nvPr/>
        </p:nvCxnSpPr>
        <p:spPr>
          <a:xfrm flipH="1" rot="10800000">
            <a:off x="525578" y="1413169"/>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446" name="Google Shape;446;p34"/>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Primary Selectors: Select by Class</a:t>
            </a:r>
            <a:endParaRPr/>
          </a:p>
        </p:txBody>
      </p:sp>
      <p:sp>
        <p:nvSpPr>
          <p:cNvPr id="452" name="Google Shape;452;p35"/>
          <p:cNvSpPr txBox="1"/>
          <p:nvPr>
            <p:ph idx="1" type="body"/>
          </p:nvPr>
        </p:nvSpPr>
        <p:spPr>
          <a:xfrm>
            <a:off x="581192" y="3198774"/>
            <a:ext cx="10036501" cy="1692771"/>
          </a:xfrm>
          <a:prstGeom prst="rect">
            <a:avLst/>
          </a:prstGeom>
          <a:solidFill>
            <a:srgbClr val="F1F1F1"/>
          </a:solid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Times New Roman"/>
                <a:ea typeface="Times New Roman"/>
                <a:cs typeface="Times New Roman"/>
                <a:sym typeface="Times New Roman"/>
              </a:rPr>
              <a:t>The </a:t>
            </a:r>
            <a:r>
              <a:rPr b="0" i="1" lang="en-US" sz="3200" u="none" cap="none" strike="noStrike">
                <a:solidFill>
                  <a:srgbClr val="DC143C"/>
                </a:solidFill>
                <a:latin typeface="Times New Roman"/>
                <a:ea typeface="Times New Roman"/>
                <a:cs typeface="Times New Roman"/>
                <a:sym typeface="Times New Roman"/>
              </a:rPr>
              <a:t>.class</a:t>
            </a:r>
            <a:r>
              <a:rPr b="0" i="0" lang="en-US" sz="2800" u="none" cap="none" strike="noStrike">
                <a:solidFill>
                  <a:srgbClr val="000000"/>
                </a:solidFill>
                <a:latin typeface="Times New Roman"/>
                <a:ea typeface="Times New Roman"/>
                <a:cs typeface="Times New Roman"/>
                <a:sym typeface="Times New Roman"/>
              </a:rPr>
              <a:t> selector selects elements with a specific class attribute.</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Times New Roman"/>
                <a:ea typeface="Times New Roman"/>
                <a:cs typeface="Times New Roman"/>
                <a:sym typeface="Times New Roman"/>
              </a:rPr>
              <a:t>To select elements with a specific class, write a period (.) character, </a:t>
            </a:r>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Times New Roman"/>
                <a:ea typeface="Times New Roman"/>
                <a:cs typeface="Times New Roman"/>
                <a:sym typeface="Times New Roman"/>
              </a:rPr>
              <a:t>followed by the name of the class.</a:t>
            </a:r>
            <a:endParaRPr b="0" i="0" sz="1800" u="none" cap="none" strike="noStrike">
              <a:solidFill>
                <a:schemeClr val="dk1"/>
              </a:solidFill>
              <a:latin typeface="Times New Roman"/>
              <a:ea typeface="Times New Roman"/>
              <a:cs typeface="Times New Roman"/>
              <a:sym typeface="Times New Roman"/>
            </a:endParaRPr>
          </a:p>
        </p:txBody>
      </p:sp>
      <p:cxnSp>
        <p:nvCxnSpPr>
          <p:cNvPr id="453" name="Google Shape;453;p35"/>
          <p:cNvCxnSpPr/>
          <p:nvPr/>
        </p:nvCxnSpPr>
        <p:spPr>
          <a:xfrm flipH="1" rot="10800000">
            <a:off x="838200" y="1656419"/>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454" name="Google Shape;454;p35"/>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36"/>
          <p:cNvSpPr txBox="1"/>
          <p:nvPr>
            <p:ph idx="12" type="sldNum"/>
          </p:nvPr>
        </p:nvSpPr>
        <p:spPr>
          <a:xfrm>
            <a:off x="11566412" y="7041833"/>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460" name="Google Shape;460;p36"/>
          <p:cNvSpPr txBox="1"/>
          <p:nvPr>
            <p:ph idx="1" type="body"/>
          </p:nvPr>
        </p:nvSpPr>
        <p:spPr>
          <a:xfrm>
            <a:off x="581192" y="2697327"/>
            <a:ext cx="11029615" cy="3678303"/>
          </a:xfrm>
          <a:prstGeom prst="rect">
            <a:avLst/>
          </a:prstGeom>
          <a:noFill/>
          <a:ln>
            <a:noFill/>
          </a:ln>
        </p:spPr>
        <p:txBody>
          <a:bodyPr anchorCtr="0" anchor="t" bIns="45700" lIns="91425" spcFirstLastPara="1" rIns="91425" wrap="square" tIns="45700">
            <a:noAutofit/>
          </a:bodyPr>
          <a:lstStyle/>
          <a:p>
            <a:pPr indent="0" lvl="0" marL="0" rtl="0" algn="l">
              <a:lnSpc>
                <a:spcPct val="95000"/>
              </a:lnSpc>
              <a:spcBef>
                <a:spcPts val="0"/>
              </a:spcBef>
              <a:spcAft>
                <a:spcPts val="0"/>
              </a:spcAft>
              <a:buClr>
                <a:schemeClr val="dk1"/>
              </a:buClr>
              <a:buSzPts val="2800"/>
              <a:buNone/>
            </a:pPr>
            <a:r>
              <a:t/>
            </a:r>
            <a:endParaRPr/>
          </a:p>
          <a:p>
            <a:pPr indent="-50800" lvl="0" marL="228600" rtl="0" algn="l">
              <a:lnSpc>
                <a:spcPct val="95000"/>
              </a:lnSpc>
              <a:spcBef>
                <a:spcPts val="1000"/>
              </a:spcBef>
              <a:spcAft>
                <a:spcPts val="0"/>
              </a:spcAft>
              <a:buClr>
                <a:schemeClr val="dk1"/>
              </a:buClr>
              <a:buSzPts val="2800"/>
              <a:buNone/>
            </a:pPr>
            <a:r>
              <a:t/>
            </a:r>
            <a:endParaRPr/>
          </a:p>
          <a:p>
            <a:pPr indent="0" lvl="0" marL="0" rtl="0" algn="l">
              <a:lnSpc>
                <a:spcPct val="95000"/>
              </a:lnSpc>
              <a:spcBef>
                <a:spcPts val="1000"/>
              </a:spcBef>
              <a:spcAft>
                <a:spcPts val="0"/>
              </a:spcAft>
              <a:buClr>
                <a:schemeClr val="dk1"/>
              </a:buClr>
              <a:buSzPts val="2800"/>
              <a:buNone/>
            </a:pPr>
            <a:br>
              <a:rPr lang="en-US"/>
            </a:br>
            <a:endParaRPr/>
          </a:p>
          <a:p>
            <a:pPr indent="0" lvl="0" marL="0" rtl="0" algn="l">
              <a:lnSpc>
                <a:spcPct val="95000"/>
              </a:lnSpc>
              <a:spcBef>
                <a:spcPts val="1000"/>
              </a:spcBef>
              <a:spcAft>
                <a:spcPts val="0"/>
              </a:spcAft>
              <a:buClr>
                <a:schemeClr val="dk1"/>
              </a:buClr>
              <a:buSzPts val="2800"/>
              <a:buNone/>
            </a:pPr>
            <a:br>
              <a:rPr lang="en-US"/>
            </a:br>
            <a:endParaRPr>
              <a:latin typeface="Courier New"/>
              <a:ea typeface="Courier New"/>
              <a:cs typeface="Courier New"/>
              <a:sym typeface="Courier New"/>
            </a:endParaRPr>
          </a:p>
        </p:txBody>
      </p:sp>
      <p:sp>
        <p:nvSpPr>
          <p:cNvPr id="461" name="Google Shape;461;p36"/>
          <p:cNvSpPr txBox="1"/>
          <p:nvPr>
            <p:ph type="title"/>
          </p:nvPr>
        </p:nvSpPr>
        <p:spPr>
          <a:xfrm>
            <a:off x="581192" y="662396"/>
            <a:ext cx="11029616" cy="101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Primary Selectors: Select by Class</a:t>
            </a:r>
            <a:endParaRPr/>
          </a:p>
        </p:txBody>
      </p:sp>
      <p:sp>
        <p:nvSpPr>
          <p:cNvPr id="462" name="Google Shape;462;p36"/>
          <p:cNvSpPr/>
          <p:nvPr/>
        </p:nvSpPr>
        <p:spPr>
          <a:xfrm>
            <a:off x="624001" y="1736031"/>
            <a:ext cx="10944000" cy="1815882"/>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&lt;span class="sky"&gt;Here's a span with some text.&lt;/span&gt;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&lt;span&gt;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  Another &lt;span class="code"&gt;&amp;lt;span&amp;gt;&lt;/span&gt;.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&lt;/span&gt;</a:t>
            </a:r>
            <a:endParaRPr b="0" i="0" sz="1400" u="none" cap="none" strike="noStrike">
              <a:solidFill>
                <a:srgbClr val="000000"/>
              </a:solidFill>
              <a:latin typeface="Arial"/>
              <a:ea typeface="Arial"/>
              <a:cs typeface="Arial"/>
              <a:sym typeface="Arial"/>
            </a:endParaRPr>
          </a:p>
        </p:txBody>
      </p:sp>
      <p:sp>
        <p:nvSpPr>
          <p:cNvPr id="463" name="Google Shape;463;p36"/>
          <p:cNvSpPr/>
          <p:nvPr/>
        </p:nvSpPr>
        <p:spPr>
          <a:xfrm>
            <a:off x="6008346" y="3945310"/>
            <a:ext cx="5559655" cy="289310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span.sky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CC9900"/>
                </a:solidFill>
                <a:latin typeface="Consolas"/>
                <a:ea typeface="Consolas"/>
                <a:cs typeface="Consolas"/>
                <a:sym typeface="Consolas"/>
              </a:rPr>
              <a:t>  </a:t>
            </a:r>
            <a:r>
              <a:rPr b="1" i="0" lang="en-US" sz="2600" u="none" cap="none" strike="noStrike">
                <a:solidFill>
                  <a:srgbClr val="CC9900"/>
                </a:solidFill>
                <a:latin typeface="Consolas"/>
                <a:ea typeface="Consolas"/>
                <a:cs typeface="Consolas"/>
                <a:sym typeface="Consolas"/>
              </a:rPr>
              <a:t>background: DodgerBlue;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a:t>
            </a:r>
            <a:endParaRPr b="1" i="0" sz="2600" u="none" cap="none" strike="noStrike">
              <a:solidFill>
                <a:srgbClr val="CC99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.code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CC9900"/>
                </a:solidFill>
                <a:latin typeface="Consolas"/>
                <a:ea typeface="Consolas"/>
                <a:cs typeface="Consolas"/>
                <a:sym typeface="Consolas"/>
              </a:rPr>
              <a:t>  </a:t>
            </a:r>
            <a:r>
              <a:rPr b="1" i="0" lang="en-US" sz="2600" u="none" cap="none" strike="noStrike">
                <a:solidFill>
                  <a:srgbClr val="CC9900"/>
                </a:solidFill>
                <a:latin typeface="Consolas"/>
                <a:ea typeface="Consolas"/>
                <a:cs typeface="Consolas"/>
                <a:sym typeface="Consolas"/>
              </a:rPr>
              <a:t>font-family: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Consolas;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464" name="Google Shape;464;p36"/>
          <p:cNvSpPr/>
          <p:nvPr/>
        </p:nvSpPr>
        <p:spPr>
          <a:xfrm>
            <a:off x="8658226" y="3220775"/>
            <a:ext cx="2543175" cy="1078934"/>
          </a:xfrm>
          <a:prstGeom prst="wedgeRoundRectCallout">
            <a:avLst>
              <a:gd fmla="val -68280" name="adj1"/>
              <a:gd fmla="val 32962" name="adj2"/>
              <a:gd fmla="val 16667" name="adj3"/>
            </a:avLst>
          </a:prstGeom>
          <a:solidFill>
            <a:srgbClr val="663606">
              <a:alpha val="94509"/>
            </a:srgbClr>
          </a:solidFill>
          <a:ln cap="flat" cmpd="sng" w="19050">
            <a:solidFill>
              <a:srgbClr val="F8D49E">
                <a:alpha val="8000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3CD60"/>
                </a:solidFill>
                <a:latin typeface="Consolas"/>
                <a:ea typeface="Consolas"/>
                <a:cs typeface="Consolas"/>
                <a:sym typeface="Consolas"/>
              </a:rPr>
              <a:t>&lt;span&gt;</a:t>
            </a:r>
            <a:r>
              <a:rPr b="0" i="0" lang="en-US" sz="2800" u="none" cap="none" strike="noStrike">
                <a:solidFill>
                  <a:schemeClr val="lt1"/>
                </a:solidFill>
                <a:latin typeface="Calibri"/>
                <a:ea typeface="Calibri"/>
                <a:cs typeface="Calibri"/>
                <a:sym typeface="Calibri"/>
              </a:rPr>
              <a:t> </a:t>
            </a:r>
            <a:r>
              <a:rPr b="1" i="0" lang="en-US" sz="2800" u="none" cap="none" strike="noStrike">
                <a:solidFill>
                  <a:schemeClr val="dk2"/>
                </a:solidFill>
                <a:latin typeface="Calibri"/>
                <a:ea typeface="Calibri"/>
                <a:cs typeface="Calibri"/>
                <a:sym typeface="Calibri"/>
              </a:rPr>
              <a:t>with</a:t>
            </a:r>
            <a:r>
              <a:rPr b="0" i="0" lang="en-US" sz="2800" u="none" cap="none" strike="noStrike">
                <a:solidFill>
                  <a:schemeClr val="lt1"/>
                </a:solidFill>
                <a:latin typeface="Calibri"/>
                <a:ea typeface="Calibri"/>
                <a:cs typeface="Calibri"/>
                <a:sym typeface="Calibri"/>
              </a:rPr>
              <a:t> </a:t>
            </a:r>
            <a:r>
              <a:rPr b="1" i="0" lang="en-US" sz="2800" u="none" cap="none" strike="noStrike">
                <a:solidFill>
                  <a:srgbClr val="F3CD60"/>
                </a:solidFill>
                <a:latin typeface="Consolas"/>
                <a:ea typeface="Consolas"/>
                <a:cs typeface="Consolas"/>
                <a:sym typeface="Consolas"/>
              </a:rPr>
              <a:t>class="sky"</a:t>
            </a:r>
            <a:endParaRPr b="0" i="0" sz="1400" u="none" cap="none" strike="noStrike">
              <a:solidFill>
                <a:srgbClr val="000000"/>
              </a:solidFill>
              <a:latin typeface="Arial"/>
              <a:ea typeface="Arial"/>
              <a:cs typeface="Arial"/>
              <a:sym typeface="Arial"/>
            </a:endParaRPr>
          </a:p>
        </p:txBody>
      </p:sp>
      <p:sp>
        <p:nvSpPr>
          <p:cNvPr id="465" name="Google Shape;465;p36"/>
          <p:cNvSpPr/>
          <p:nvPr/>
        </p:nvSpPr>
        <p:spPr>
          <a:xfrm>
            <a:off x="8799944" y="5042130"/>
            <a:ext cx="2858656" cy="1078934"/>
          </a:xfrm>
          <a:prstGeom prst="wedgeRoundRectCallout">
            <a:avLst>
              <a:gd fmla="val -82201" name="adj1"/>
              <a:gd fmla="val -14457" name="adj2"/>
              <a:gd fmla="val 16667" name="adj3"/>
            </a:avLst>
          </a:prstGeom>
          <a:solidFill>
            <a:srgbClr val="663606">
              <a:alpha val="94509"/>
            </a:srgbClr>
          </a:solidFill>
          <a:ln cap="flat" cmpd="sng" w="19050">
            <a:solidFill>
              <a:srgbClr val="F8D49E">
                <a:alpha val="8000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dk2"/>
                </a:solidFill>
                <a:latin typeface="Calibri"/>
                <a:ea typeface="Calibri"/>
                <a:cs typeface="Calibri"/>
                <a:sym typeface="Calibri"/>
              </a:rPr>
              <a:t>Elements with</a:t>
            </a:r>
            <a:r>
              <a:rPr b="0" i="0" lang="en-US" sz="2800" u="none" cap="none" strike="noStrike">
                <a:solidFill>
                  <a:schemeClr val="lt1"/>
                </a:solidFill>
                <a:latin typeface="Calibri"/>
                <a:ea typeface="Calibri"/>
                <a:cs typeface="Calibri"/>
                <a:sym typeface="Calibri"/>
              </a:rPr>
              <a:t> </a:t>
            </a:r>
            <a:r>
              <a:rPr b="1" i="0" lang="en-US" sz="2800" u="none" cap="none" strike="noStrike">
                <a:solidFill>
                  <a:srgbClr val="F3CD60"/>
                </a:solidFill>
                <a:latin typeface="Consolas"/>
                <a:ea typeface="Consolas"/>
                <a:cs typeface="Consolas"/>
                <a:sym typeface="Consolas"/>
              </a:rPr>
              <a:t>class="code"</a:t>
            </a:r>
            <a:endParaRPr b="0" i="0" sz="1400" u="none" cap="none" strike="noStrike">
              <a:solidFill>
                <a:srgbClr val="000000"/>
              </a:solidFill>
              <a:latin typeface="Arial"/>
              <a:ea typeface="Arial"/>
              <a:cs typeface="Arial"/>
              <a:sym typeface="Arial"/>
            </a:endParaRPr>
          </a:p>
        </p:txBody>
      </p:sp>
      <p:pic>
        <p:nvPicPr>
          <p:cNvPr id="466" name="Google Shape;466;p36"/>
          <p:cNvPicPr preferRelativeResize="0"/>
          <p:nvPr/>
        </p:nvPicPr>
        <p:blipFill rotWithShape="1">
          <a:blip r:embed="rId3">
            <a:alphaModFix/>
          </a:blip>
          <a:srcRect b="0" l="0" r="0" t="0"/>
          <a:stretch/>
        </p:blipFill>
        <p:spPr>
          <a:xfrm>
            <a:off x="624001" y="3894316"/>
            <a:ext cx="4945474" cy="3001588"/>
          </a:xfrm>
          <a:prstGeom prst="rect">
            <a:avLst/>
          </a:prstGeom>
          <a:noFill/>
          <a:ln>
            <a:noFill/>
          </a:ln>
        </p:spPr>
      </p:pic>
      <p:cxnSp>
        <p:nvCxnSpPr>
          <p:cNvPr id="467" name="Google Shape;467;p36"/>
          <p:cNvCxnSpPr/>
          <p:nvPr/>
        </p:nvCxnSpPr>
        <p:spPr>
          <a:xfrm flipH="1" rot="10800000">
            <a:off x="581192" y="1432928"/>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468" name="Google Shape;468;p36"/>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xEl>
                                              <p:pRg end="0" st="0"/>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xEl>
                                              <p:pRg end="1" st="1"/>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xEl>
                                              <p:pRg end="2" st="2"/>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xEl>
                                              <p:pRg end="3" st="3"/>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xEl>
                                              <p:pRg end="4" st="4"/>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xEl>
                                              <p:pRg end="5" st="5"/>
                                            </p:txEl>
                                          </p:spTgt>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7"/>
          <p:cNvSpPr txBox="1"/>
          <p:nvPr>
            <p:ph idx="12" type="sldNum"/>
          </p:nvPr>
        </p:nvSpPr>
        <p:spPr>
          <a:xfrm>
            <a:off x="11566412" y="7240619"/>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474" name="Google Shape;474;p37"/>
          <p:cNvSpPr txBox="1"/>
          <p:nvPr>
            <p:ph type="title"/>
          </p:nvPr>
        </p:nvSpPr>
        <p:spPr>
          <a:xfrm>
            <a:off x="581192" y="516623"/>
            <a:ext cx="11029616" cy="101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55A11"/>
              </a:buClr>
              <a:buSzPts val="3600"/>
              <a:buFont typeface="Calibri"/>
              <a:buNone/>
            </a:pPr>
            <a:r>
              <a:rPr b="1" lang="en-US" sz="3600">
                <a:solidFill>
                  <a:srgbClr val="C55A11"/>
                </a:solidFill>
                <a:latin typeface="Calibri"/>
                <a:ea typeface="Calibri"/>
                <a:cs typeface="Calibri"/>
                <a:sym typeface="Calibri"/>
              </a:rPr>
              <a:t>Pseudo-class selector</a:t>
            </a:r>
            <a:endParaRPr b="1" sz="3600">
              <a:solidFill>
                <a:srgbClr val="C55A11"/>
              </a:solidFill>
              <a:latin typeface="Calibri"/>
              <a:ea typeface="Calibri"/>
              <a:cs typeface="Calibri"/>
              <a:sym typeface="Calibri"/>
            </a:endParaRPr>
          </a:p>
        </p:txBody>
      </p:sp>
      <p:cxnSp>
        <p:nvCxnSpPr>
          <p:cNvPr id="475" name="Google Shape;475;p37"/>
          <p:cNvCxnSpPr/>
          <p:nvPr/>
        </p:nvCxnSpPr>
        <p:spPr>
          <a:xfrm flipH="1" rot="10800000">
            <a:off x="397074" y="1391167"/>
            <a:ext cx="7904054" cy="68537"/>
          </a:xfrm>
          <a:prstGeom prst="straightConnector1">
            <a:avLst/>
          </a:prstGeom>
          <a:noFill/>
          <a:ln cap="flat" cmpd="sng" w="38100">
            <a:solidFill>
              <a:srgbClr val="DFA267"/>
            </a:solidFill>
            <a:prstDash val="solid"/>
            <a:miter lim="800000"/>
            <a:headEnd len="sm" w="sm" type="none"/>
            <a:tailEnd len="sm" w="sm" type="none"/>
          </a:ln>
        </p:spPr>
      </p:cxnSp>
      <p:sp>
        <p:nvSpPr>
          <p:cNvPr id="476" name="Google Shape;476;p37"/>
          <p:cNvSpPr txBox="1"/>
          <p:nvPr/>
        </p:nvSpPr>
        <p:spPr>
          <a:xfrm>
            <a:off x="397074" y="1853269"/>
            <a:ext cx="8262184" cy="466871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What are Pseudo-classes?</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 pseudo-class is used to define a special state of an element.</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Calibri"/>
                <a:ea typeface="Calibri"/>
                <a:cs typeface="Calibri"/>
                <a:sym typeface="Calibri"/>
              </a:rPr>
              <a:t>For example, it can be used to:</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Style an element when a user hovers over it</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Style visited and unvisited links differently</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Style an element when it gets focus.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rgbClr val="FF0000"/>
              </a:buClr>
              <a:buSzPts val="2400"/>
              <a:buFont typeface="Arial"/>
              <a:buNone/>
            </a:pPr>
            <a:r>
              <a:rPr b="0" i="0" lang="en-US" sz="2400" u="none" cap="none" strike="noStrike">
                <a:solidFill>
                  <a:srgbClr val="FF0000"/>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rgbClr val="FF0000"/>
              </a:buClr>
              <a:buSzPts val="2400"/>
              <a:buFont typeface="Arial"/>
              <a:buNone/>
            </a:pPr>
            <a:r>
              <a:rPr b="0" i="0" lang="en-US" sz="2400" u="none" cap="none" strike="noStrike">
                <a:solidFill>
                  <a:srgbClr val="FF0000"/>
                </a:solidFill>
                <a:latin typeface="Calibri"/>
                <a:ea typeface="Calibri"/>
                <a:cs typeface="Calibri"/>
                <a:sym typeface="Calibri"/>
              </a:rPr>
              <a:t>selector:pseudo-class {   property:value; }</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a:t>
            </a:r>
            <a:r>
              <a:rPr b="1" i="0" lang="en-US" sz="2400" u="none" cap="none" strike="noStrike">
                <a:solidFill>
                  <a:schemeClr val="dk1"/>
                </a:solidFill>
                <a:latin typeface="Calibri"/>
                <a:ea typeface="Calibri"/>
                <a:cs typeface="Calibri"/>
                <a:sym typeface="Calibri"/>
              </a:rPr>
              <a:t>order</a:t>
            </a:r>
            <a:r>
              <a:rPr b="0" i="0" lang="en-US" sz="2400" u="none" cap="none" strike="noStrike">
                <a:solidFill>
                  <a:schemeClr val="dk1"/>
                </a:solidFill>
                <a:latin typeface="Calibri"/>
                <a:ea typeface="Calibri"/>
                <a:cs typeface="Calibri"/>
                <a:sym typeface="Calibri"/>
              </a:rPr>
              <a:t> of these pseudo-class elements is important.</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ts val="2400"/>
              <a:buFont typeface="Arial"/>
              <a:buChar char="•"/>
            </a:pPr>
            <a:r>
              <a:rPr b="1" i="0" lang="en-US" sz="2400" u="none" cap="none" strike="noStrike">
                <a:solidFill>
                  <a:schemeClr val="dk1"/>
                </a:solidFill>
                <a:latin typeface="Calibri"/>
                <a:ea typeface="Calibri"/>
                <a:cs typeface="Calibri"/>
                <a:sym typeface="Calibri"/>
              </a:rPr>
              <a:t>The :Link, :Visited, :Focus, :Hover- </a:t>
            </a:r>
            <a:r>
              <a:rPr b="0" i="0" lang="en-US" sz="2400" u="none" cap="none" strike="noStrike">
                <a:solidFill>
                  <a:schemeClr val="dk1"/>
                </a:solidFill>
                <a:latin typeface="Calibri"/>
                <a:ea typeface="Calibri"/>
                <a:cs typeface="Calibri"/>
                <a:sym typeface="Calibri"/>
              </a:rPr>
              <a:t>Order of pseudo-classes.</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rgbClr val="FF0000"/>
              </a:solidFill>
              <a:latin typeface="Calibri"/>
              <a:ea typeface="Calibri"/>
              <a:cs typeface="Calibri"/>
              <a:sym typeface="Calibri"/>
            </a:endParaRPr>
          </a:p>
        </p:txBody>
      </p:sp>
      <p:pic>
        <p:nvPicPr>
          <p:cNvPr id="477" name="Google Shape;477;p37"/>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8"/>
          <p:cNvSpPr txBox="1"/>
          <p:nvPr>
            <p:ph idx="12" type="sldNum"/>
          </p:nvPr>
        </p:nvSpPr>
        <p:spPr>
          <a:xfrm>
            <a:off x="11566412" y="7240619"/>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483" name="Google Shape;483;p38"/>
          <p:cNvSpPr txBox="1"/>
          <p:nvPr>
            <p:ph type="title"/>
          </p:nvPr>
        </p:nvSpPr>
        <p:spPr>
          <a:xfrm>
            <a:off x="581192" y="516623"/>
            <a:ext cx="11029616" cy="101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55A11"/>
              </a:buClr>
              <a:buSzPts val="3600"/>
              <a:buFont typeface="Calibri"/>
              <a:buNone/>
            </a:pPr>
            <a:r>
              <a:rPr b="1" lang="en-US" sz="3600">
                <a:solidFill>
                  <a:srgbClr val="C55A11"/>
                </a:solidFill>
                <a:latin typeface="Calibri"/>
                <a:ea typeface="Calibri"/>
                <a:cs typeface="Calibri"/>
                <a:sym typeface="Calibri"/>
              </a:rPr>
              <a:t>Pseudo-Element selector</a:t>
            </a:r>
            <a:endParaRPr b="1" sz="3600">
              <a:solidFill>
                <a:srgbClr val="C55A11"/>
              </a:solidFill>
              <a:latin typeface="Calibri"/>
              <a:ea typeface="Calibri"/>
              <a:cs typeface="Calibri"/>
              <a:sym typeface="Calibri"/>
            </a:endParaRPr>
          </a:p>
        </p:txBody>
      </p:sp>
      <p:cxnSp>
        <p:nvCxnSpPr>
          <p:cNvPr id="484" name="Google Shape;484;p38"/>
          <p:cNvCxnSpPr/>
          <p:nvPr/>
        </p:nvCxnSpPr>
        <p:spPr>
          <a:xfrm flipH="1" rot="10800000">
            <a:off x="397074" y="1391167"/>
            <a:ext cx="7904054" cy="68537"/>
          </a:xfrm>
          <a:prstGeom prst="straightConnector1">
            <a:avLst/>
          </a:prstGeom>
          <a:noFill/>
          <a:ln cap="flat" cmpd="sng" w="38100">
            <a:solidFill>
              <a:srgbClr val="DFA267"/>
            </a:solidFill>
            <a:prstDash val="solid"/>
            <a:miter lim="800000"/>
            <a:headEnd len="sm" w="sm" type="none"/>
            <a:tailEnd len="sm" w="sm" type="none"/>
          </a:ln>
        </p:spPr>
      </p:cxnSp>
      <p:sp>
        <p:nvSpPr>
          <p:cNvPr id="485" name="Google Shape;485;p38"/>
          <p:cNvSpPr txBox="1"/>
          <p:nvPr/>
        </p:nvSpPr>
        <p:spPr>
          <a:xfrm>
            <a:off x="397074" y="1978017"/>
            <a:ext cx="8351520" cy="31162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marR="0" rtl="0" algn="l">
              <a:lnSpc>
                <a:spcPct val="90000"/>
              </a:lnSpc>
              <a:spcBef>
                <a:spcPts val="0"/>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A CSS pseudo-element is used to style specified parts of an element.</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ct val="100000"/>
              <a:buFont typeface="Arial"/>
              <a:buNone/>
            </a:pPr>
            <a:r>
              <a:rPr b="0" i="0" lang="en-US" sz="2800" u="none" cap="none" strike="noStrike">
                <a:solidFill>
                  <a:schemeClr val="dk1"/>
                </a:solidFill>
                <a:latin typeface="Calibri"/>
                <a:ea typeface="Calibri"/>
                <a:cs typeface="Calibri"/>
                <a:sym typeface="Calibri"/>
              </a:rPr>
              <a:t>For example, it can be used to:</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Style the first letter, or line, of an element</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Insert content before, or after, the content of an element </a:t>
            </a:r>
            <a:endParaRPr b="0" i="0" sz="1400" u="none" cap="none" strike="noStrike">
              <a:solidFill>
                <a:srgbClr val="000000"/>
              </a:solidFill>
              <a:latin typeface="Arial"/>
              <a:ea typeface="Arial"/>
              <a:cs typeface="Arial"/>
              <a:sym typeface="Arial"/>
            </a:endParaRPr>
          </a:p>
          <a:p>
            <a:pPr indent="-228600" lvl="0" marL="228600" marR="0" rtl="0" algn="l">
              <a:lnSpc>
                <a:spcPct val="90000"/>
              </a:lnSpc>
              <a:spcBef>
                <a:spcPts val="1000"/>
              </a:spcBef>
              <a:spcAft>
                <a:spcPts val="0"/>
              </a:spcAft>
              <a:buClr>
                <a:schemeClr val="dk1"/>
              </a:buClr>
              <a:buSzPct val="100000"/>
              <a:buFont typeface="Arial"/>
              <a:buChar char="•"/>
            </a:pPr>
            <a:r>
              <a:rPr b="0" i="0" lang="en-US" sz="2800" u="none" cap="none" strike="noStrike">
                <a:solidFill>
                  <a:schemeClr val="dk1"/>
                </a:solidFill>
                <a:latin typeface="Calibri"/>
                <a:ea typeface="Calibri"/>
                <a:cs typeface="Calibri"/>
                <a:sym typeface="Calibri"/>
              </a:rPr>
              <a:t>Syntax:</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rgbClr val="FF0000"/>
              </a:buClr>
              <a:buSzPct val="100000"/>
              <a:buFont typeface="Arial"/>
              <a:buNone/>
            </a:pPr>
            <a:r>
              <a:rPr b="0" i="0" lang="en-US" sz="2800" u="none" cap="none" strike="noStrike">
                <a:solidFill>
                  <a:srgbClr val="FF0000"/>
                </a:solidFill>
                <a:latin typeface="Calibri"/>
                <a:ea typeface="Calibri"/>
                <a:cs typeface="Calibri"/>
                <a:sym typeface="Calibri"/>
              </a:rPr>
              <a:t>selector</a:t>
            </a:r>
            <a:r>
              <a:rPr b="0" i="0" lang="en-US" sz="2800" u="none" cap="none" strike="noStrike">
                <a:solidFill>
                  <a:schemeClr val="dk1"/>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pseudo-element {   property:value; }</a:t>
            </a:r>
            <a:endParaRPr b="0" i="0" sz="1400" u="none" cap="none" strike="noStrike">
              <a:solidFill>
                <a:srgbClr val="000000"/>
              </a:solidFill>
              <a:latin typeface="Arial"/>
              <a:ea typeface="Arial"/>
              <a:cs typeface="Arial"/>
              <a:sym typeface="Arial"/>
            </a:endParaRPr>
          </a:p>
        </p:txBody>
      </p:sp>
      <p:pic>
        <p:nvPicPr>
          <p:cNvPr id="486" name="Google Shape;486;p38"/>
          <p:cNvPicPr preferRelativeResize="0"/>
          <p:nvPr/>
        </p:nvPicPr>
        <p:blipFill rotWithShape="1">
          <a:blip r:embed="rId3">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9"/>
          <p:cNvSpPr txBox="1"/>
          <p:nvPr>
            <p:ph idx="12" type="sldNum"/>
          </p:nvPr>
        </p:nvSpPr>
        <p:spPr>
          <a:xfrm>
            <a:off x="11566412" y="7240619"/>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492" name="Google Shape;492;p39"/>
          <p:cNvSpPr txBox="1"/>
          <p:nvPr>
            <p:ph type="title"/>
          </p:nvPr>
        </p:nvSpPr>
        <p:spPr>
          <a:xfrm>
            <a:off x="581192" y="516623"/>
            <a:ext cx="11029616" cy="101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55A11"/>
              </a:buClr>
              <a:buSzPts val="3600"/>
              <a:buFont typeface="Calibri"/>
              <a:buNone/>
            </a:pPr>
            <a:r>
              <a:rPr b="1" lang="en-US" sz="3600">
                <a:solidFill>
                  <a:srgbClr val="C55A11"/>
                </a:solidFill>
                <a:latin typeface="Calibri"/>
                <a:ea typeface="Calibri"/>
                <a:cs typeface="Calibri"/>
                <a:sym typeface="Calibri"/>
              </a:rPr>
              <a:t>Common Pseudo-element &amp; Pseudo-class selectors</a:t>
            </a:r>
            <a:endParaRPr b="1" sz="3600">
              <a:solidFill>
                <a:srgbClr val="C55A11"/>
              </a:solidFill>
              <a:latin typeface="Calibri"/>
              <a:ea typeface="Calibri"/>
              <a:cs typeface="Calibri"/>
              <a:sym typeface="Calibri"/>
            </a:endParaRPr>
          </a:p>
        </p:txBody>
      </p:sp>
      <p:cxnSp>
        <p:nvCxnSpPr>
          <p:cNvPr id="493" name="Google Shape;493;p39"/>
          <p:cNvCxnSpPr/>
          <p:nvPr/>
        </p:nvCxnSpPr>
        <p:spPr>
          <a:xfrm flipH="1" rot="10800000">
            <a:off x="397074" y="1391167"/>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494" name="Google Shape;494;p39"/>
          <p:cNvPicPr preferRelativeResize="0"/>
          <p:nvPr/>
        </p:nvPicPr>
        <p:blipFill rotWithShape="1">
          <a:blip r:embed="rId3">
            <a:alphaModFix/>
          </a:blip>
          <a:srcRect b="0" l="0" r="0" t="0"/>
          <a:stretch/>
        </p:blipFill>
        <p:spPr>
          <a:xfrm>
            <a:off x="581192" y="1652530"/>
            <a:ext cx="8442959" cy="4450815"/>
          </a:xfrm>
          <a:prstGeom prst="rect">
            <a:avLst/>
          </a:prstGeom>
          <a:noFill/>
          <a:ln>
            <a:noFill/>
          </a:ln>
        </p:spPr>
      </p:pic>
      <p:pic>
        <p:nvPicPr>
          <p:cNvPr id="495" name="Google Shape;495;p39"/>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40"/>
          <p:cNvSpPr txBox="1"/>
          <p:nvPr>
            <p:ph idx="12" type="sldNum"/>
          </p:nvPr>
        </p:nvSpPr>
        <p:spPr>
          <a:xfrm>
            <a:off x="11566412" y="7240619"/>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501" name="Google Shape;501;p40"/>
          <p:cNvSpPr txBox="1"/>
          <p:nvPr>
            <p:ph type="title"/>
          </p:nvPr>
        </p:nvSpPr>
        <p:spPr>
          <a:xfrm>
            <a:off x="581192" y="516623"/>
            <a:ext cx="11029616" cy="101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C55A11"/>
              </a:buClr>
              <a:buSzPts val="3600"/>
              <a:buFont typeface="Calibri"/>
              <a:buNone/>
            </a:pPr>
            <a:r>
              <a:rPr b="1" lang="en-US" sz="3600">
                <a:solidFill>
                  <a:srgbClr val="C55A11"/>
                </a:solidFill>
                <a:latin typeface="Calibri"/>
                <a:ea typeface="Calibri"/>
                <a:cs typeface="Calibri"/>
                <a:sym typeface="Calibri"/>
              </a:rPr>
              <a:t>Common Pseudo-element &amp; Pseudo-class selectors</a:t>
            </a:r>
            <a:endParaRPr b="1" sz="3600">
              <a:solidFill>
                <a:srgbClr val="C55A11"/>
              </a:solidFill>
            </a:endParaRPr>
          </a:p>
        </p:txBody>
      </p:sp>
      <p:cxnSp>
        <p:nvCxnSpPr>
          <p:cNvPr id="502" name="Google Shape;502;p40"/>
          <p:cNvCxnSpPr/>
          <p:nvPr/>
        </p:nvCxnSpPr>
        <p:spPr>
          <a:xfrm flipH="1" rot="10800000">
            <a:off x="397074" y="1391167"/>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503" name="Google Shape;503;p40"/>
          <p:cNvPicPr preferRelativeResize="0"/>
          <p:nvPr/>
        </p:nvPicPr>
        <p:blipFill rotWithShape="1">
          <a:blip r:embed="rId3">
            <a:alphaModFix/>
          </a:blip>
          <a:srcRect b="0" l="0" r="0" t="0"/>
          <a:stretch/>
        </p:blipFill>
        <p:spPr>
          <a:xfrm>
            <a:off x="581191" y="1983556"/>
            <a:ext cx="9190769" cy="3800299"/>
          </a:xfrm>
          <a:prstGeom prst="rect">
            <a:avLst/>
          </a:prstGeom>
          <a:noFill/>
          <a:ln>
            <a:noFill/>
          </a:ln>
        </p:spPr>
      </p:pic>
      <p:pic>
        <p:nvPicPr>
          <p:cNvPr id="504" name="Google Shape;504;p40"/>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1"/>
          <p:cNvSpPr txBox="1"/>
          <p:nvPr>
            <p:ph type="title"/>
          </p:nvPr>
        </p:nvSpPr>
        <p:spPr>
          <a:xfrm>
            <a:off x="838200" y="365126"/>
            <a:ext cx="10515600" cy="46114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rPr lang="en-US" sz="3600"/>
              <a:t>Attribute Selectors</a:t>
            </a:r>
            <a:endParaRPr/>
          </a:p>
        </p:txBody>
      </p:sp>
      <p:sp>
        <p:nvSpPr>
          <p:cNvPr id="510" name="Google Shape;510;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511" name="Google Shape;511;p41"/>
          <p:cNvPicPr preferRelativeResize="0"/>
          <p:nvPr/>
        </p:nvPicPr>
        <p:blipFill rotWithShape="1">
          <a:blip r:embed="rId3">
            <a:alphaModFix/>
          </a:blip>
          <a:srcRect b="0" l="0" r="0" t="0"/>
          <a:stretch/>
        </p:blipFill>
        <p:spPr>
          <a:xfrm>
            <a:off x="451693" y="969484"/>
            <a:ext cx="10515600" cy="5207479"/>
          </a:xfrm>
          <a:prstGeom prst="rect">
            <a:avLst/>
          </a:prstGeom>
          <a:noFill/>
          <a:ln>
            <a:noFill/>
          </a:ln>
        </p:spPr>
      </p:pic>
      <p:pic>
        <p:nvPicPr>
          <p:cNvPr id="512" name="Google Shape;512;p41"/>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2"/>
          <p:cNvSpPr txBox="1"/>
          <p:nvPr>
            <p:ph idx="12" type="sldNum"/>
          </p:nvPr>
        </p:nvSpPr>
        <p:spPr>
          <a:xfrm>
            <a:off x="11566412" y="7240619"/>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518" name="Google Shape;518;p42"/>
          <p:cNvSpPr txBox="1"/>
          <p:nvPr>
            <p:ph type="title"/>
          </p:nvPr>
        </p:nvSpPr>
        <p:spPr>
          <a:xfrm>
            <a:off x="581192" y="516623"/>
            <a:ext cx="11029616" cy="101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Nested Selectors: Descendant</a:t>
            </a:r>
            <a:endParaRPr/>
          </a:p>
        </p:txBody>
      </p:sp>
      <p:sp>
        <p:nvSpPr>
          <p:cNvPr id="519" name="Google Shape;519;p42"/>
          <p:cNvSpPr/>
          <p:nvPr/>
        </p:nvSpPr>
        <p:spPr>
          <a:xfrm>
            <a:off x="4953000" y="2869314"/>
            <a:ext cx="6538800" cy="4093428"/>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&lt;div class="items"&gt;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&lt;a href="#"&gt;Item1&lt;/a&gt;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&lt;a href="#"&gt;Item2&lt;/a&gt;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&lt;a href="#"&gt;Item3&lt;/a&gt;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&lt;ul&gt;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&lt;li&gt;&lt;a href="#"&gt;Item4&lt;/a&gt;&lt;/li&gt;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&lt;li&gt;&lt;a href="#"&gt;Item5&lt;/a&gt;&lt;/li&gt;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&lt;li&gt;&lt;a href="#"&gt;Item6&lt;/a&gt;&lt;/li&gt;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&lt;/ul&gt;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&lt;/div&gt;</a:t>
            </a:r>
            <a:endParaRPr b="1" i="0" sz="2600" u="none" cap="none" strike="noStrike">
              <a:solidFill>
                <a:srgbClr val="CC9900"/>
              </a:solidFill>
              <a:latin typeface="Consolas"/>
              <a:ea typeface="Consolas"/>
              <a:cs typeface="Consolas"/>
              <a:sym typeface="Consolas"/>
            </a:endParaRPr>
          </a:p>
        </p:txBody>
      </p:sp>
      <p:sp>
        <p:nvSpPr>
          <p:cNvPr id="520" name="Google Shape;520;p42"/>
          <p:cNvSpPr/>
          <p:nvPr/>
        </p:nvSpPr>
        <p:spPr>
          <a:xfrm>
            <a:off x="685800" y="2163418"/>
            <a:ext cx="3962400" cy="1692771"/>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3CD60"/>
                </a:solidFill>
                <a:latin typeface="Consolas"/>
                <a:ea typeface="Consolas"/>
                <a:cs typeface="Consolas"/>
                <a:sym typeface="Consolas"/>
              </a:rPr>
              <a:t>div.items a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3CD60"/>
                </a:solidFill>
                <a:latin typeface="Consolas"/>
                <a:ea typeface="Consolas"/>
                <a:cs typeface="Consolas"/>
                <a:sym typeface="Consolas"/>
              </a:rPr>
              <a:t>  </a:t>
            </a:r>
            <a:r>
              <a:rPr b="1" i="0" lang="en-US" sz="2600" u="none" cap="none" strike="noStrike">
                <a:solidFill>
                  <a:srgbClr val="CC9900"/>
                </a:solidFill>
                <a:latin typeface="Consolas"/>
                <a:ea typeface="Consolas"/>
                <a:cs typeface="Consolas"/>
                <a:sym typeface="Consolas"/>
              </a:rPr>
              <a:t>color: green;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font-weight: bold;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F3CD60"/>
                </a:solidFill>
                <a:latin typeface="Consolas"/>
                <a:ea typeface="Consolas"/>
                <a:cs typeface="Consolas"/>
                <a:sym typeface="Consolas"/>
              </a:rPr>
              <a:t>}</a:t>
            </a:r>
            <a:endParaRPr b="1" i="0" sz="2600" u="none" cap="none" strike="noStrike">
              <a:solidFill>
                <a:schemeClr val="dk1"/>
              </a:solidFill>
              <a:latin typeface="Consolas"/>
              <a:ea typeface="Consolas"/>
              <a:cs typeface="Consolas"/>
              <a:sym typeface="Consolas"/>
            </a:endParaRPr>
          </a:p>
        </p:txBody>
      </p:sp>
      <p:sp>
        <p:nvSpPr>
          <p:cNvPr id="521" name="Google Shape;521;p42"/>
          <p:cNvSpPr/>
          <p:nvPr/>
        </p:nvSpPr>
        <p:spPr>
          <a:xfrm>
            <a:off x="4038601" y="1925783"/>
            <a:ext cx="6257763" cy="628381"/>
          </a:xfrm>
          <a:prstGeom prst="wedgeRoundRectCallout">
            <a:avLst>
              <a:gd fmla="val -61072" name="adj1"/>
              <a:gd fmla="val 30101" name="adj2"/>
              <a:gd fmla="val 16667" name="adj3"/>
            </a:avLst>
          </a:prstGeom>
          <a:solidFill>
            <a:srgbClr val="663606">
              <a:alpha val="94509"/>
            </a:srgbClr>
          </a:solidFill>
          <a:ln cap="flat" cmpd="sng" w="19050">
            <a:solidFill>
              <a:srgbClr val="F8D49E">
                <a:alpha val="8000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000"/>
              <a:buFont typeface="Arial"/>
              <a:buNone/>
            </a:pPr>
            <a:r>
              <a:rPr b="1" i="0" lang="en-US" sz="3000" u="none" cap="none" strike="noStrike">
                <a:solidFill>
                  <a:srgbClr val="F3CD60"/>
                </a:solidFill>
                <a:latin typeface="Consolas"/>
                <a:ea typeface="Consolas"/>
                <a:cs typeface="Consolas"/>
                <a:sym typeface="Consolas"/>
              </a:rPr>
              <a:t>&lt;a&gt;</a:t>
            </a:r>
            <a:r>
              <a:rPr b="0" i="0" lang="en-US" sz="3000" u="none" cap="none" strike="noStrike">
                <a:solidFill>
                  <a:schemeClr val="lt1"/>
                </a:solidFill>
                <a:latin typeface="Calibri"/>
                <a:ea typeface="Calibri"/>
                <a:cs typeface="Calibri"/>
                <a:sym typeface="Calibri"/>
              </a:rPr>
              <a:t> </a:t>
            </a:r>
            <a:r>
              <a:rPr b="1" i="0" lang="en-US" sz="3000" u="none" cap="none" strike="noStrike">
                <a:solidFill>
                  <a:srgbClr val="FBEEDC"/>
                </a:solidFill>
                <a:latin typeface="Calibri"/>
                <a:ea typeface="Calibri"/>
                <a:cs typeface="Calibri"/>
                <a:sym typeface="Calibri"/>
              </a:rPr>
              <a:t>inside</a:t>
            </a:r>
            <a:r>
              <a:rPr b="0" i="0" lang="en-US" sz="3000" u="none" cap="none" strike="noStrike">
                <a:solidFill>
                  <a:schemeClr val="lt1"/>
                </a:solidFill>
                <a:latin typeface="Calibri"/>
                <a:ea typeface="Calibri"/>
                <a:cs typeface="Calibri"/>
                <a:sym typeface="Calibri"/>
              </a:rPr>
              <a:t> </a:t>
            </a:r>
            <a:r>
              <a:rPr b="1" i="0" lang="en-US" sz="3000" u="none" cap="none" strike="noStrike">
                <a:solidFill>
                  <a:srgbClr val="F3CD60"/>
                </a:solidFill>
                <a:latin typeface="Consolas"/>
                <a:ea typeface="Consolas"/>
                <a:cs typeface="Consolas"/>
                <a:sym typeface="Consolas"/>
              </a:rPr>
              <a:t>&lt;div class="items"&gt;</a:t>
            </a:r>
            <a:endParaRPr b="0" i="0" sz="1400" u="none" cap="none" strike="noStrike">
              <a:solidFill>
                <a:srgbClr val="000000"/>
              </a:solidFill>
              <a:latin typeface="Arial"/>
              <a:ea typeface="Arial"/>
              <a:cs typeface="Arial"/>
              <a:sym typeface="Arial"/>
            </a:endParaRPr>
          </a:p>
        </p:txBody>
      </p:sp>
      <p:pic>
        <p:nvPicPr>
          <p:cNvPr id="522" name="Google Shape;522;p42"/>
          <p:cNvPicPr preferRelativeResize="0"/>
          <p:nvPr/>
        </p:nvPicPr>
        <p:blipFill rotWithShape="1">
          <a:blip r:embed="rId3">
            <a:alphaModFix/>
          </a:blip>
          <a:srcRect b="0" l="0" r="0" t="0"/>
          <a:stretch/>
        </p:blipFill>
        <p:spPr>
          <a:xfrm>
            <a:off x="894165" y="3970810"/>
            <a:ext cx="3545671" cy="2859412"/>
          </a:xfrm>
          <a:prstGeom prst="rect">
            <a:avLst/>
          </a:prstGeom>
          <a:noFill/>
          <a:ln>
            <a:noFill/>
          </a:ln>
        </p:spPr>
      </p:pic>
      <p:cxnSp>
        <p:nvCxnSpPr>
          <p:cNvPr id="523" name="Google Shape;523;p42"/>
          <p:cNvCxnSpPr/>
          <p:nvPr/>
        </p:nvCxnSpPr>
        <p:spPr>
          <a:xfrm flipH="1" rot="10800000">
            <a:off x="397074" y="1391167"/>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524" name="Google Shape;524;p42"/>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3"/>
          <p:cNvSpPr txBox="1"/>
          <p:nvPr>
            <p:ph idx="12" type="sldNum"/>
          </p:nvPr>
        </p:nvSpPr>
        <p:spPr>
          <a:xfrm>
            <a:off x="11566412" y="7240623"/>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530" name="Google Shape;530;p43"/>
          <p:cNvSpPr txBox="1"/>
          <p:nvPr>
            <p:ph type="title"/>
          </p:nvPr>
        </p:nvSpPr>
        <p:spPr>
          <a:xfrm>
            <a:off x="581192" y="569637"/>
            <a:ext cx="11029616" cy="10138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Nested Selectors: Direct Child</a:t>
            </a:r>
            <a:endParaRPr/>
          </a:p>
        </p:txBody>
      </p:sp>
      <p:sp>
        <p:nvSpPr>
          <p:cNvPr id="531" name="Google Shape;531;p43"/>
          <p:cNvSpPr/>
          <p:nvPr/>
        </p:nvSpPr>
        <p:spPr>
          <a:xfrm>
            <a:off x="1059297" y="4373221"/>
            <a:ext cx="10073409" cy="249299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&lt;div&gt;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&lt;span&gt;Span #1, in the div.</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&lt;span&gt;Span #2, in the span that's…&lt;/span&gt;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  &lt;/span&gt;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&lt;/div&gt;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rgbClr val="CC9900"/>
                </a:solidFill>
                <a:latin typeface="Consolas"/>
                <a:ea typeface="Consolas"/>
                <a:cs typeface="Consolas"/>
                <a:sym typeface="Consolas"/>
              </a:rPr>
              <a:t>&lt;span&gt;Span #3, not in the div at all.&lt;/span&gt;</a:t>
            </a:r>
            <a:endParaRPr b="1" i="0" sz="2600" u="none" cap="none" strike="noStrike">
              <a:solidFill>
                <a:srgbClr val="CC9900"/>
              </a:solidFill>
              <a:latin typeface="Consolas"/>
              <a:ea typeface="Consolas"/>
              <a:cs typeface="Consolas"/>
              <a:sym typeface="Consolas"/>
            </a:endParaRPr>
          </a:p>
        </p:txBody>
      </p:sp>
      <p:sp>
        <p:nvSpPr>
          <p:cNvPr id="532" name="Google Shape;532;p43"/>
          <p:cNvSpPr/>
          <p:nvPr/>
        </p:nvSpPr>
        <p:spPr>
          <a:xfrm>
            <a:off x="1059295" y="2176339"/>
            <a:ext cx="10073410" cy="1815882"/>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div &gt; span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  background: DodgerBlue;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span { background:</a:t>
            </a:r>
            <a:r>
              <a:rPr b="1" i="0" lang="en-US" sz="2800" u="none" cap="none" strike="noStrike">
                <a:solidFill>
                  <a:srgbClr val="CC9900"/>
                </a:solidFill>
                <a:latin typeface="Calibri"/>
                <a:ea typeface="Calibri"/>
                <a:cs typeface="Calibri"/>
                <a:sym typeface="Calibri"/>
              </a:rPr>
              <a:t> </a:t>
            </a:r>
            <a:r>
              <a:rPr b="1" i="0" lang="en-US" sz="2800" u="none" cap="none" strike="noStrike">
                <a:solidFill>
                  <a:srgbClr val="CC9900"/>
                </a:solidFill>
                <a:latin typeface="Consolas"/>
                <a:ea typeface="Consolas"/>
                <a:cs typeface="Consolas"/>
                <a:sym typeface="Consolas"/>
              </a:rPr>
              <a:t>#fff; }</a:t>
            </a:r>
            <a:endParaRPr b="0" i="0" sz="1400" u="none" cap="none" strike="noStrike">
              <a:solidFill>
                <a:srgbClr val="000000"/>
              </a:solidFill>
              <a:latin typeface="Arial"/>
              <a:ea typeface="Arial"/>
              <a:cs typeface="Arial"/>
              <a:sym typeface="Arial"/>
            </a:endParaRPr>
          </a:p>
        </p:txBody>
      </p:sp>
      <p:sp>
        <p:nvSpPr>
          <p:cNvPr id="533" name="Google Shape;533;p43"/>
          <p:cNvSpPr/>
          <p:nvPr/>
        </p:nvSpPr>
        <p:spPr>
          <a:xfrm>
            <a:off x="2667001" y="4144621"/>
            <a:ext cx="3684273" cy="609600"/>
          </a:xfrm>
          <a:prstGeom prst="wedgeRoundRectCallout">
            <a:avLst>
              <a:gd fmla="val -58344" name="adj1"/>
              <a:gd fmla="val 54815" name="adj2"/>
              <a:gd fmla="val 16667" name="adj3"/>
            </a:avLst>
          </a:prstGeom>
          <a:solidFill>
            <a:srgbClr val="663606">
              <a:alpha val="94509"/>
            </a:srgbClr>
          </a:solidFill>
          <a:ln cap="flat" cmpd="sng" w="19050">
            <a:solidFill>
              <a:srgbClr val="F8D49E">
                <a:alpha val="8000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FBEEDC"/>
                </a:solidFill>
                <a:latin typeface="Calibri"/>
                <a:ea typeface="Calibri"/>
                <a:cs typeface="Calibri"/>
                <a:sym typeface="Calibri"/>
              </a:rPr>
              <a:t>Direct child of </a:t>
            </a:r>
            <a:r>
              <a:rPr b="1" i="0" lang="en-US" sz="2800" u="none" cap="none" strike="noStrike">
                <a:solidFill>
                  <a:srgbClr val="323F4F"/>
                </a:solidFill>
                <a:latin typeface="Consolas"/>
                <a:ea typeface="Consolas"/>
                <a:cs typeface="Consolas"/>
                <a:sym typeface="Consolas"/>
              </a:rPr>
              <a:t>&lt;div&gt;</a:t>
            </a:r>
            <a:endParaRPr b="0" i="0" sz="1400" u="none" cap="none" strike="noStrike">
              <a:solidFill>
                <a:srgbClr val="000000"/>
              </a:solidFill>
              <a:latin typeface="Arial"/>
              <a:ea typeface="Arial"/>
              <a:cs typeface="Arial"/>
              <a:sym typeface="Arial"/>
            </a:endParaRPr>
          </a:p>
        </p:txBody>
      </p:sp>
      <p:pic>
        <p:nvPicPr>
          <p:cNvPr id="534" name="Google Shape;534;p43"/>
          <p:cNvPicPr preferRelativeResize="0"/>
          <p:nvPr/>
        </p:nvPicPr>
        <p:blipFill rotWithShape="1">
          <a:blip r:embed="rId3">
            <a:alphaModFix/>
          </a:blip>
          <a:srcRect b="0" l="0" r="0" t="0"/>
          <a:stretch/>
        </p:blipFill>
        <p:spPr>
          <a:xfrm>
            <a:off x="7711496" y="2849221"/>
            <a:ext cx="4480504" cy="2218916"/>
          </a:xfrm>
          <a:prstGeom prst="rect">
            <a:avLst/>
          </a:prstGeom>
          <a:noFill/>
          <a:ln>
            <a:noFill/>
          </a:ln>
        </p:spPr>
      </p:pic>
      <p:sp>
        <p:nvSpPr>
          <p:cNvPr id="535" name="Google Shape;535;p43"/>
          <p:cNvSpPr/>
          <p:nvPr/>
        </p:nvSpPr>
        <p:spPr>
          <a:xfrm>
            <a:off x="4302760" y="1812901"/>
            <a:ext cx="5943600" cy="655320"/>
          </a:xfrm>
          <a:prstGeom prst="wedgeRoundRectCallout">
            <a:avLst>
              <a:gd fmla="val -60424" name="adj1"/>
              <a:gd fmla="val 44994" name="adj2"/>
              <a:gd fmla="val 16667" name="adj3"/>
            </a:avLst>
          </a:prstGeom>
          <a:solidFill>
            <a:srgbClr val="663606">
              <a:alpha val="94509"/>
            </a:srgbClr>
          </a:solidFill>
          <a:ln cap="flat" cmpd="sng" w="19050">
            <a:solidFill>
              <a:srgbClr val="F8D49E">
                <a:alpha val="80000"/>
              </a:srgbClr>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323F4F"/>
                </a:solidFill>
                <a:latin typeface="Consolas"/>
                <a:ea typeface="Consolas"/>
                <a:cs typeface="Consolas"/>
                <a:sym typeface="Consolas"/>
              </a:rPr>
              <a:t>&lt;span&gt;</a:t>
            </a:r>
            <a:r>
              <a:rPr b="1" i="0" lang="en-US" sz="2800" u="none" cap="none" strike="noStrike">
                <a:solidFill>
                  <a:schemeClr val="lt1"/>
                </a:solidFill>
                <a:latin typeface="Calibri"/>
                <a:ea typeface="Calibri"/>
                <a:cs typeface="Calibri"/>
                <a:sym typeface="Calibri"/>
              </a:rPr>
              <a:t> </a:t>
            </a:r>
            <a:r>
              <a:rPr b="1" i="0" lang="en-US" sz="2800" u="none" cap="none" strike="noStrike">
                <a:solidFill>
                  <a:srgbClr val="FBEEDC"/>
                </a:solidFill>
                <a:latin typeface="Calibri"/>
                <a:ea typeface="Calibri"/>
                <a:cs typeface="Calibri"/>
                <a:sym typeface="Calibri"/>
              </a:rPr>
              <a:t>directly contained in a </a:t>
            </a:r>
            <a:r>
              <a:rPr b="1" i="0" lang="en-US" sz="2800" u="none" cap="none" strike="noStrike">
                <a:solidFill>
                  <a:srgbClr val="323F4F"/>
                </a:solidFill>
                <a:latin typeface="Consolas"/>
                <a:ea typeface="Consolas"/>
                <a:cs typeface="Consolas"/>
                <a:sym typeface="Consolas"/>
              </a:rPr>
              <a:t>&lt;div&gt;</a:t>
            </a:r>
            <a:endParaRPr b="0" i="0" sz="1400" u="none" cap="none" strike="noStrike">
              <a:solidFill>
                <a:srgbClr val="000000"/>
              </a:solidFill>
              <a:latin typeface="Arial"/>
              <a:ea typeface="Arial"/>
              <a:cs typeface="Arial"/>
              <a:sym typeface="Arial"/>
            </a:endParaRPr>
          </a:p>
        </p:txBody>
      </p:sp>
      <p:cxnSp>
        <p:nvCxnSpPr>
          <p:cNvPr id="536" name="Google Shape;536;p43"/>
          <p:cNvCxnSpPr/>
          <p:nvPr/>
        </p:nvCxnSpPr>
        <p:spPr>
          <a:xfrm flipH="1" rot="10800000">
            <a:off x="397074" y="1407923"/>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537" name="Google Shape;537;p43"/>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sp>
        <p:nvSpPr>
          <p:cNvPr id="542" name="Google Shape;542;p44"/>
          <p:cNvSpPr txBox="1"/>
          <p:nvPr>
            <p:ph idx="12" type="sldNum"/>
          </p:nvPr>
        </p:nvSpPr>
        <p:spPr>
          <a:xfrm>
            <a:off x="11566412" y="6525002"/>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543" name="Google Shape;543;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Multiple Selectors (Element, Element)</a:t>
            </a:r>
            <a:endParaRPr/>
          </a:p>
        </p:txBody>
      </p:sp>
      <p:sp>
        <p:nvSpPr>
          <p:cNvPr id="544" name="Google Shape;544;p44"/>
          <p:cNvSpPr/>
          <p:nvPr/>
        </p:nvSpPr>
        <p:spPr>
          <a:xfrm>
            <a:off x="6553200" y="5092006"/>
            <a:ext cx="4876800" cy="1384995"/>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h1, h2, 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  background: yellow;</a:t>
            </a:r>
            <a:endParaRPr b="1" i="0" sz="2800" u="none" cap="none" strike="noStrike">
              <a:solidFill>
                <a:srgbClr val="CC99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545" name="Google Shape;545;p44"/>
          <p:cNvSpPr/>
          <p:nvPr/>
        </p:nvSpPr>
        <p:spPr>
          <a:xfrm>
            <a:off x="762000" y="4661118"/>
            <a:ext cx="5365156" cy="1815882"/>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&lt;h1&gt;Welcome…&lt;/h1&gt;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&lt;h2&gt;My name is…&lt;/h2&gt;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&lt;p&gt;I live in Duckburg.&lt;/p&gt;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&lt;p&gt;My best friend is…&lt;/p&gt;</a:t>
            </a:r>
            <a:endParaRPr b="0" i="0" sz="1400" u="none" cap="none" strike="noStrike">
              <a:solidFill>
                <a:srgbClr val="000000"/>
              </a:solidFill>
              <a:latin typeface="Arial"/>
              <a:ea typeface="Arial"/>
              <a:cs typeface="Arial"/>
              <a:sym typeface="Arial"/>
            </a:endParaRPr>
          </a:p>
        </p:txBody>
      </p:sp>
      <p:pic>
        <p:nvPicPr>
          <p:cNvPr id="546" name="Google Shape;546;p44"/>
          <p:cNvPicPr preferRelativeResize="0"/>
          <p:nvPr/>
        </p:nvPicPr>
        <p:blipFill rotWithShape="1">
          <a:blip r:embed="rId3">
            <a:alphaModFix/>
          </a:blip>
          <a:srcRect b="0" l="0" r="0" t="0"/>
          <a:stretch/>
        </p:blipFill>
        <p:spPr>
          <a:xfrm>
            <a:off x="3152849" y="1925998"/>
            <a:ext cx="4876800" cy="2597624"/>
          </a:xfrm>
          <a:prstGeom prst="rect">
            <a:avLst/>
          </a:prstGeom>
          <a:noFill/>
          <a:ln>
            <a:noFill/>
          </a:ln>
        </p:spPr>
      </p:pic>
      <p:cxnSp>
        <p:nvCxnSpPr>
          <p:cNvPr id="547" name="Google Shape;547;p44"/>
          <p:cNvCxnSpPr/>
          <p:nvPr/>
        </p:nvCxnSpPr>
        <p:spPr>
          <a:xfrm flipH="1" rot="10800000">
            <a:off x="955040" y="1323345"/>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548" name="Google Shape;548;p44"/>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2" name="Shape 552"/>
        <p:cNvGrpSpPr/>
        <p:nvPr/>
      </p:nvGrpSpPr>
      <p:grpSpPr>
        <a:xfrm>
          <a:off x="0" y="0"/>
          <a:ext cx="0" cy="0"/>
          <a:chOff x="0" y="0"/>
          <a:chExt cx="0" cy="0"/>
        </a:xfrm>
      </p:grpSpPr>
      <p:sp>
        <p:nvSpPr>
          <p:cNvPr id="553" name="Google Shape;553;p45"/>
          <p:cNvSpPr/>
          <p:nvPr/>
        </p:nvSpPr>
        <p:spPr>
          <a:xfrm>
            <a:off x="878145" y="2319523"/>
            <a:ext cx="4934664" cy="2834622"/>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FBEEDC"/>
                </a:solidFill>
                <a:latin typeface="Consolas"/>
                <a:ea typeface="Consolas"/>
                <a:cs typeface="Consolas"/>
                <a:sym typeface="Consolas"/>
              </a:rPr>
              <a:t>h1</a:t>
            </a:r>
            <a:r>
              <a:rPr b="1" i="0" lang="en-US" sz="3400" u="none" cap="none" strike="noStrike">
                <a:solidFill>
                  <a:srgbClr val="323F4F"/>
                </a:solidFill>
                <a:latin typeface="Consolas"/>
                <a:ea typeface="Consolas"/>
                <a:cs typeface="Consolas"/>
                <a:sym typeface="Consolas"/>
              </a:rPr>
              <a:t>#</a:t>
            </a:r>
            <a:r>
              <a:rPr b="1" i="0" lang="en-US" sz="3200" u="none" cap="none" strike="noStrike">
                <a:solidFill>
                  <a:srgbClr val="323F4F"/>
                </a:solidFill>
                <a:latin typeface="Consolas"/>
                <a:ea typeface="Consolas"/>
                <a:cs typeface="Consolas"/>
                <a:sym typeface="Consolas"/>
              </a:rPr>
              <a:t>header.intro</a:t>
            </a:r>
            <a:r>
              <a:rPr b="1" i="0" lang="en-US" sz="3200" u="none" cap="none" strike="noStrike">
                <a:solidFill>
                  <a:srgbClr val="FBEEDC"/>
                </a:solidFill>
                <a:latin typeface="Consolas"/>
                <a:ea typeface="Consolas"/>
                <a:cs typeface="Consolas"/>
                <a:sym typeface="Consolas"/>
              </a:rPr>
              <a:t> </a:t>
            </a:r>
            <a:r>
              <a:rPr b="1" i="0" lang="en-US" sz="3200" u="none" cap="none" strike="noStrike">
                <a:solidFill>
                  <a:srgbClr val="CC99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FBEEDC"/>
                </a:solidFill>
                <a:latin typeface="Consolas"/>
                <a:ea typeface="Consolas"/>
                <a:cs typeface="Consolas"/>
                <a:sym typeface="Consolas"/>
              </a:rPr>
              <a:t>  </a:t>
            </a:r>
            <a:r>
              <a:rPr b="1" i="0" lang="en-US" sz="3200" u="none" cap="none" strike="noStrike">
                <a:solidFill>
                  <a:srgbClr val="CC9900"/>
                </a:solidFill>
                <a:latin typeface="Consolas"/>
                <a:ea typeface="Consolas"/>
                <a:cs typeface="Consolas"/>
                <a:sym typeface="Consolas"/>
              </a:rPr>
              <a:t>text-decoration:</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CC9900"/>
                </a:solidFill>
                <a:latin typeface="Consolas"/>
                <a:ea typeface="Consolas"/>
                <a:cs typeface="Consolas"/>
                <a:sym typeface="Consolas"/>
              </a:rPr>
              <a:t>    underline;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CC9900"/>
                </a:solidFill>
                <a:latin typeface="Consolas"/>
                <a:ea typeface="Consolas"/>
                <a:cs typeface="Consolas"/>
                <a:sym typeface="Consolas"/>
              </a:rPr>
              <a:t>  color: #C00;</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CC9900"/>
                </a:solidFill>
                <a:latin typeface="Consolas"/>
                <a:ea typeface="Consolas"/>
                <a:cs typeface="Consolas"/>
                <a:sym typeface="Consolas"/>
              </a:rPr>
              <a:t>}</a:t>
            </a:r>
            <a:endParaRPr b="0" i="0" sz="1400" u="none" cap="none" strike="noStrike">
              <a:solidFill>
                <a:srgbClr val="000000"/>
              </a:solidFill>
              <a:latin typeface="Arial"/>
              <a:ea typeface="Arial"/>
              <a:cs typeface="Arial"/>
              <a:sym typeface="Arial"/>
            </a:endParaRPr>
          </a:p>
        </p:txBody>
      </p:sp>
      <p:sp>
        <p:nvSpPr>
          <p:cNvPr id="554" name="Google Shape;554;p45"/>
          <p:cNvSpPr/>
          <p:nvPr/>
        </p:nvSpPr>
        <p:spPr>
          <a:xfrm>
            <a:off x="834376" y="6217442"/>
            <a:ext cx="10867800" cy="60414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FBEEDC"/>
                </a:solidFill>
                <a:latin typeface="Consolas"/>
                <a:ea typeface="Consolas"/>
                <a:cs typeface="Consolas"/>
                <a:sym typeface="Consolas"/>
              </a:rPr>
              <a:t>&lt;h1 id="</a:t>
            </a:r>
            <a:r>
              <a:rPr b="1" i="0" lang="en-US" sz="3200" u="none" cap="none" strike="noStrike">
                <a:solidFill>
                  <a:srgbClr val="323F4F"/>
                </a:solidFill>
                <a:latin typeface="Consolas"/>
                <a:ea typeface="Consolas"/>
                <a:cs typeface="Consolas"/>
                <a:sym typeface="Consolas"/>
              </a:rPr>
              <a:t>header</a:t>
            </a:r>
            <a:r>
              <a:rPr b="1" i="0" lang="en-US" sz="3200" u="none" cap="none" strike="noStrike">
                <a:solidFill>
                  <a:srgbClr val="FBEEDC"/>
                </a:solidFill>
                <a:latin typeface="Consolas"/>
                <a:ea typeface="Consolas"/>
                <a:cs typeface="Consolas"/>
                <a:sym typeface="Consolas"/>
              </a:rPr>
              <a:t>" class="</a:t>
            </a:r>
            <a:r>
              <a:rPr b="1" i="0" lang="en-US" sz="3200" u="none" cap="none" strike="noStrike">
                <a:solidFill>
                  <a:srgbClr val="323F4F"/>
                </a:solidFill>
                <a:latin typeface="Consolas"/>
                <a:ea typeface="Consolas"/>
                <a:cs typeface="Consolas"/>
                <a:sym typeface="Consolas"/>
              </a:rPr>
              <a:t>intro</a:t>
            </a:r>
            <a:r>
              <a:rPr b="1" i="0" lang="en-US" sz="3200" u="none" cap="none" strike="noStrike">
                <a:solidFill>
                  <a:srgbClr val="FBEEDC"/>
                </a:solidFill>
                <a:latin typeface="Consolas"/>
                <a:ea typeface="Consolas"/>
                <a:cs typeface="Consolas"/>
                <a:sym typeface="Consolas"/>
              </a:rPr>
              <a:t>"&gt;HTML and CSS&lt;/h1&gt;</a:t>
            </a:r>
            <a:endParaRPr b="0" i="0" sz="1400" u="none" cap="none" strike="noStrike">
              <a:solidFill>
                <a:srgbClr val="000000"/>
              </a:solidFill>
              <a:latin typeface="Arial"/>
              <a:ea typeface="Arial"/>
              <a:cs typeface="Arial"/>
              <a:sym typeface="Arial"/>
            </a:endParaRPr>
          </a:p>
        </p:txBody>
      </p:sp>
      <p:sp>
        <p:nvSpPr>
          <p:cNvPr id="555" name="Google Shape;555;p45"/>
          <p:cNvSpPr/>
          <p:nvPr/>
        </p:nvSpPr>
        <p:spPr>
          <a:xfrm>
            <a:off x="1662145" y="2358374"/>
            <a:ext cx="1352548" cy="60414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FBEEDC"/>
              </a:solidFill>
              <a:latin typeface="Consolas"/>
              <a:ea typeface="Consolas"/>
              <a:cs typeface="Consolas"/>
              <a:sym typeface="Consolas"/>
            </a:endParaRPr>
          </a:p>
        </p:txBody>
      </p:sp>
      <p:sp>
        <p:nvSpPr>
          <p:cNvPr id="556" name="Google Shape;556;p45"/>
          <p:cNvSpPr/>
          <p:nvPr/>
        </p:nvSpPr>
        <p:spPr>
          <a:xfrm>
            <a:off x="2740853" y="6196478"/>
            <a:ext cx="1373980" cy="60414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FBEEDC"/>
              </a:solidFill>
              <a:latin typeface="Consolas"/>
              <a:ea typeface="Consolas"/>
              <a:cs typeface="Consolas"/>
              <a:sym typeface="Consolas"/>
            </a:endParaRPr>
          </a:p>
        </p:txBody>
      </p:sp>
      <p:sp>
        <p:nvSpPr>
          <p:cNvPr id="557" name="Google Shape;557;p45"/>
          <p:cNvSpPr/>
          <p:nvPr/>
        </p:nvSpPr>
        <p:spPr>
          <a:xfrm>
            <a:off x="3181383" y="2371227"/>
            <a:ext cx="1185862" cy="60414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FBEEDC"/>
              </a:solidFill>
              <a:latin typeface="Consolas"/>
              <a:ea typeface="Consolas"/>
              <a:cs typeface="Consolas"/>
              <a:sym typeface="Consolas"/>
            </a:endParaRPr>
          </a:p>
        </p:txBody>
      </p:sp>
      <p:sp>
        <p:nvSpPr>
          <p:cNvPr id="558" name="Google Shape;558;p45"/>
          <p:cNvSpPr/>
          <p:nvPr/>
        </p:nvSpPr>
        <p:spPr>
          <a:xfrm>
            <a:off x="969203" y="2361787"/>
            <a:ext cx="440531" cy="60414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CC9900"/>
              </a:solidFill>
              <a:latin typeface="Consolas"/>
              <a:ea typeface="Consolas"/>
              <a:cs typeface="Consolas"/>
              <a:sym typeface="Consolas"/>
            </a:endParaRPr>
          </a:p>
        </p:txBody>
      </p:sp>
      <p:sp>
        <p:nvSpPr>
          <p:cNvPr id="559" name="Google Shape;559;p45"/>
          <p:cNvSpPr/>
          <p:nvPr/>
        </p:nvSpPr>
        <p:spPr>
          <a:xfrm>
            <a:off x="6096034" y="6197545"/>
            <a:ext cx="1152525" cy="60414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FBEEDC"/>
              </a:solidFill>
              <a:latin typeface="Consolas"/>
              <a:ea typeface="Consolas"/>
              <a:cs typeface="Consolas"/>
              <a:sym typeface="Consolas"/>
            </a:endParaRPr>
          </a:p>
        </p:txBody>
      </p:sp>
      <p:sp>
        <p:nvSpPr>
          <p:cNvPr id="560" name="Google Shape;560;p45"/>
          <p:cNvSpPr txBox="1"/>
          <p:nvPr>
            <p:ph idx="12" type="sldNum"/>
          </p:nvPr>
        </p:nvSpPr>
        <p:spPr>
          <a:xfrm>
            <a:off x="11738688" y="7200864"/>
            <a:ext cx="428822" cy="196477"/>
          </a:xfrm>
          <a:prstGeom prst="rect">
            <a:avLst/>
          </a:prstGeom>
          <a:noFill/>
          <a:ln>
            <a:noFill/>
          </a:ln>
        </p:spPr>
        <p:txBody>
          <a:bodyPr anchorCtr="0" anchor="ctr" bIns="36000" lIns="36000" spcFirstLastPara="1" rIns="36000" wrap="square" tIns="36000">
            <a:noAutofit/>
          </a:bodyPr>
          <a:lstStyle/>
          <a:p>
            <a:pPr indent="0" lvl="0" marL="0" marR="0" rtl="0" algn="r">
              <a:lnSpc>
                <a:spcPct val="100000"/>
              </a:lnSpc>
              <a:spcBef>
                <a:spcPts val="0"/>
              </a:spcBef>
              <a:spcAft>
                <a:spcPts val="0"/>
              </a:spcAft>
              <a:buSzPts val="1000"/>
              <a:buNone/>
            </a:pPr>
            <a:fld id="{00000000-1234-1234-1234-123412341234}" type="slidenum">
              <a:rPr lang="en-US" sz="1000">
                <a:solidFill>
                  <a:srgbClr val="888888"/>
                </a:solidFill>
                <a:latin typeface="Calibri"/>
                <a:ea typeface="Calibri"/>
                <a:cs typeface="Calibri"/>
                <a:sym typeface="Calibri"/>
              </a:rPr>
              <a:t>‹#›</a:t>
            </a:fld>
            <a:endParaRPr sz="1000">
              <a:solidFill>
                <a:srgbClr val="888888"/>
              </a:solidFill>
              <a:latin typeface="Calibri"/>
              <a:ea typeface="Calibri"/>
              <a:cs typeface="Calibri"/>
              <a:sym typeface="Calibri"/>
            </a:endParaRPr>
          </a:p>
        </p:txBody>
      </p:sp>
      <p:sp>
        <p:nvSpPr>
          <p:cNvPr id="561" name="Google Shape;561;p45"/>
          <p:cNvSpPr txBox="1"/>
          <p:nvPr>
            <p:ph type="title"/>
          </p:nvPr>
        </p:nvSpPr>
        <p:spPr>
          <a:xfrm>
            <a:off x="362680" y="716203"/>
            <a:ext cx="9577597" cy="11107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Combining Multiple Selectors</a:t>
            </a:r>
            <a:endParaRPr/>
          </a:p>
        </p:txBody>
      </p:sp>
      <p:sp>
        <p:nvSpPr>
          <p:cNvPr id="562" name="Google Shape;562;p45"/>
          <p:cNvSpPr/>
          <p:nvPr/>
        </p:nvSpPr>
        <p:spPr>
          <a:xfrm>
            <a:off x="1176370" y="6196478"/>
            <a:ext cx="471586" cy="60414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10000"/>
              </a:lnSpc>
              <a:spcBef>
                <a:spcPts val="0"/>
              </a:spcBef>
              <a:spcAft>
                <a:spcPts val="0"/>
              </a:spcAft>
              <a:buClr>
                <a:srgbClr val="000000"/>
              </a:buClr>
              <a:buSzPts val="3200"/>
              <a:buFont typeface="Arial"/>
              <a:buNone/>
            </a:pPr>
            <a:r>
              <a:t/>
            </a:r>
            <a:endParaRPr b="1" i="0" sz="3200" u="none" cap="none" strike="noStrike">
              <a:solidFill>
                <a:srgbClr val="FBEEDC"/>
              </a:solidFill>
              <a:latin typeface="Consolas"/>
              <a:ea typeface="Consolas"/>
              <a:cs typeface="Consolas"/>
              <a:sym typeface="Consolas"/>
            </a:endParaRPr>
          </a:p>
        </p:txBody>
      </p:sp>
      <p:pic>
        <p:nvPicPr>
          <p:cNvPr id="563" name="Google Shape;563;p45"/>
          <p:cNvPicPr preferRelativeResize="0"/>
          <p:nvPr/>
        </p:nvPicPr>
        <p:blipFill rotWithShape="1">
          <a:blip r:embed="rId3">
            <a:alphaModFix/>
          </a:blip>
          <a:srcRect b="0" l="0" r="0" t="0"/>
          <a:stretch/>
        </p:blipFill>
        <p:spPr>
          <a:xfrm>
            <a:off x="6074531" y="2481155"/>
            <a:ext cx="5793542" cy="2477501"/>
          </a:xfrm>
          <a:prstGeom prst="rect">
            <a:avLst/>
          </a:prstGeom>
          <a:noFill/>
          <a:ln>
            <a:noFill/>
          </a:ln>
        </p:spPr>
      </p:pic>
      <p:cxnSp>
        <p:nvCxnSpPr>
          <p:cNvPr id="564" name="Google Shape;564;p45"/>
          <p:cNvCxnSpPr/>
          <p:nvPr/>
        </p:nvCxnSpPr>
        <p:spPr>
          <a:xfrm flipH="1" rot="10800000">
            <a:off x="29287" y="1723920"/>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565" name="Google Shape;565;p45"/>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9" name="Shape 569"/>
        <p:cNvGrpSpPr/>
        <p:nvPr/>
      </p:nvGrpSpPr>
      <p:grpSpPr>
        <a:xfrm>
          <a:off x="0" y="0"/>
          <a:ext cx="0" cy="0"/>
          <a:chOff x="0" y="0"/>
          <a:chExt cx="0" cy="0"/>
        </a:xfrm>
      </p:grpSpPr>
      <p:sp>
        <p:nvSpPr>
          <p:cNvPr id="570" name="Google Shape;570;p46"/>
          <p:cNvSpPr txBox="1"/>
          <p:nvPr>
            <p:ph type="ctrTitle"/>
          </p:nvPr>
        </p:nvSpPr>
        <p:spPr>
          <a:xfrm>
            <a:off x="2133600" y="1272695"/>
            <a:ext cx="7924800" cy="820600"/>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r>
              <a:rPr lang="en-US"/>
              <a:t>Pseudo Selectors</a:t>
            </a:r>
            <a:endParaRPr/>
          </a:p>
        </p:txBody>
      </p:sp>
      <p:sp>
        <p:nvSpPr>
          <p:cNvPr id="571" name="Google Shape;571;p46"/>
          <p:cNvSpPr txBox="1"/>
          <p:nvPr>
            <p:ph idx="1" type="subTitle"/>
          </p:nvPr>
        </p:nvSpPr>
        <p:spPr>
          <a:xfrm>
            <a:off x="1371600" y="2169495"/>
            <a:ext cx="9448800" cy="721520"/>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a:t>Relative to Element Content or State</a:t>
            </a:r>
            <a:endParaRPr/>
          </a:p>
        </p:txBody>
      </p:sp>
      <p:pic>
        <p:nvPicPr>
          <p:cNvPr id="572" name="Google Shape;572;p46"/>
          <p:cNvPicPr preferRelativeResize="0"/>
          <p:nvPr/>
        </p:nvPicPr>
        <p:blipFill rotWithShape="1">
          <a:blip r:embed="rId3">
            <a:alphaModFix/>
          </a:blip>
          <a:srcRect b="0" l="0" r="0" t="0"/>
          <a:stretch/>
        </p:blipFill>
        <p:spPr>
          <a:xfrm>
            <a:off x="3399973" y="3124200"/>
            <a:ext cx="5392057" cy="3276424"/>
          </a:xfrm>
          <a:prstGeom prst="roundRect">
            <a:avLst>
              <a:gd fmla="val 3156" name="adj"/>
            </a:avLst>
          </a:prstGeom>
          <a:solidFill>
            <a:srgbClr val="ECECEC"/>
          </a:solidFill>
          <a:ln>
            <a:noFill/>
          </a:ln>
        </p:spPr>
      </p:pic>
      <p:cxnSp>
        <p:nvCxnSpPr>
          <p:cNvPr id="573" name="Google Shape;573;p46"/>
          <p:cNvCxnSpPr/>
          <p:nvPr/>
        </p:nvCxnSpPr>
        <p:spPr>
          <a:xfrm flipH="1" rot="10800000">
            <a:off x="2438400" y="2024758"/>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574" name="Google Shape;574;p46"/>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78" name="Shape 578"/>
        <p:cNvGrpSpPr/>
        <p:nvPr/>
      </p:nvGrpSpPr>
      <p:grpSpPr>
        <a:xfrm>
          <a:off x="0" y="0"/>
          <a:ext cx="0" cy="0"/>
          <a:chOff x="0" y="0"/>
          <a:chExt cx="0" cy="0"/>
        </a:xfrm>
      </p:grpSpPr>
      <p:sp>
        <p:nvSpPr>
          <p:cNvPr id="579" name="Google Shape;579;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Pseudo Selector (:hover)</a:t>
            </a:r>
            <a:endParaRPr/>
          </a:p>
        </p:txBody>
      </p:sp>
      <p:sp>
        <p:nvSpPr>
          <p:cNvPr id="580" name="Google Shape;580;p47"/>
          <p:cNvSpPr/>
          <p:nvPr/>
        </p:nvSpPr>
        <p:spPr>
          <a:xfrm>
            <a:off x="655348" y="3579118"/>
            <a:ext cx="6705600" cy="2554545"/>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a:hover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  </a:t>
            </a:r>
            <a:r>
              <a:rPr b="1" i="0" lang="en-US" sz="3200" u="none" cap="none" strike="noStrike">
                <a:solidFill>
                  <a:srgbClr val="CC9900"/>
                </a:solidFill>
                <a:latin typeface="Consolas"/>
                <a:ea typeface="Consolas"/>
                <a:cs typeface="Consolas"/>
                <a:sym typeface="Consolas"/>
              </a:rPr>
              <a:t>color: #D48F29;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CC9900"/>
                </a:solidFill>
                <a:latin typeface="Consolas"/>
                <a:ea typeface="Consolas"/>
                <a:cs typeface="Consolas"/>
                <a:sym typeface="Consolas"/>
              </a:rPr>
              <a:t>  text-decoration: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CC9900"/>
                </a:solidFill>
                <a:latin typeface="Consolas"/>
                <a:ea typeface="Consolas"/>
                <a:cs typeface="Consolas"/>
                <a:sym typeface="Consolas"/>
              </a:rPr>
              <a:t>    underline overline;</a:t>
            </a:r>
            <a:endParaRPr b="1" i="0" sz="3200" u="none" cap="none" strike="noStrike">
              <a:solidFill>
                <a:srgbClr val="CC99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a:t>
            </a:r>
            <a:endParaRPr b="1" i="0" sz="3200" u="none" cap="none" strike="noStrike">
              <a:solidFill>
                <a:srgbClr val="FBEEDC"/>
              </a:solidFill>
              <a:latin typeface="Consolas"/>
              <a:ea typeface="Consolas"/>
              <a:cs typeface="Consolas"/>
              <a:sym typeface="Consolas"/>
            </a:endParaRPr>
          </a:p>
        </p:txBody>
      </p:sp>
      <p:sp>
        <p:nvSpPr>
          <p:cNvPr id="581" name="Google Shape;581;p47"/>
          <p:cNvSpPr/>
          <p:nvPr/>
        </p:nvSpPr>
        <p:spPr>
          <a:xfrm>
            <a:off x="655348" y="1796266"/>
            <a:ext cx="6705600" cy="584775"/>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&lt;a href="#"&gt;</a:t>
            </a:r>
            <a:r>
              <a:rPr b="1" i="0" lang="en-US" sz="3200" u="none" cap="none" strike="noStrike">
                <a:solidFill>
                  <a:srgbClr val="CC9900"/>
                </a:solidFill>
                <a:latin typeface="Consolas"/>
                <a:ea typeface="Consolas"/>
                <a:cs typeface="Consolas"/>
                <a:sym typeface="Consolas"/>
              </a:rPr>
              <a:t>Go to Google</a:t>
            </a:r>
            <a:r>
              <a:rPr b="1" i="0" lang="en-US" sz="3200" u="none" cap="none" strike="noStrike">
                <a:solidFill>
                  <a:srgbClr val="F3CD60"/>
                </a:solidFill>
                <a:latin typeface="Consolas"/>
                <a:ea typeface="Consolas"/>
                <a:cs typeface="Consolas"/>
                <a:sym typeface="Consolas"/>
              </a:rPr>
              <a:t>&lt;/a&gt;</a:t>
            </a:r>
            <a:endParaRPr b="1" i="0" sz="3200" u="none" cap="none" strike="noStrike">
              <a:solidFill>
                <a:srgbClr val="F3CD60"/>
              </a:solidFill>
              <a:latin typeface="Consolas"/>
              <a:ea typeface="Consolas"/>
              <a:cs typeface="Consolas"/>
              <a:sym typeface="Consolas"/>
            </a:endParaRPr>
          </a:p>
        </p:txBody>
      </p:sp>
      <p:sp>
        <p:nvSpPr>
          <p:cNvPr id="582" name="Google Shape;582;p47"/>
          <p:cNvSpPr/>
          <p:nvPr/>
        </p:nvSpPr>
        <p:spPr>
          <a:xfrm>
            <a:off x="9465978" y="3225453"/>
            <a:ext cx="415528" cy="498901"/>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alibri"/>
              <a:ea typeface="Calibri"/>
              <a:cs typeface="Calibri"/>
              <a:sym typeface="Calibri"/>
            </a:endParaRPr>
          </a:p>
        </p:txBody>
      </p:sp>
      <p:pic>
        <p:nvPicPr>
          <p:cNvPr id="583" name="Google Shape;583;p47"/>
          <p:cNvPicPr preferRelativeResize="0"/>
          <p:nvPr/>
        </p:nvPicPr>
        <p:blipFill rotWithShape="1">
          <a:blip r:embed="rId3">
            <a:alphaModFix/>
          </a:blip>
          <a:srcRect b="0" l="0" r="0" t="0"/>
          <a:stretch/>
        </p:blipFill>
        <p:spPr>
          <a:xfrm>
            <a:off x="8168185" y="1345403"/>
            <a:ext cx="3011117" cy="1486501"/>
          </a:xfrm>
          <a:prstGeom prst="rect">
            <a:avLst/>
          </a:prstGeom>
          <a:noFill/>
          <a:ln>
            <a:noFill/>
          </a:ln>
        </p:spPr>
      </p:pic>
      <p:pic>
        <p:nvPicPr>
          <p:cNvPr id="584" name="Google Shape;584;p47"/>
          <p:cNvPicPr preferRelativeResize="0"/>
          <p:nvPr/>
        </p:nvPicPr>
        <p:blipFill rotWithShape="1">
          <a:blip r:embed="rId4">
            <a:alphaModFix/>
          </a:blip>
          <a:srcRect b="0" l="0" r="0" t="0"/>
          <a:stretch/>
        </p:blipFill>
        <p:spPr>
          <a:xfrm>
            <a:off x="8172948" y="4117903"/>
            <a:ext cx="3001588" cy="1476972"/>
          </a:xfrm>
          <a:prstGeom prst="rect">
            <a:avLst/>
          </a:prstGeom>
          <a:noFill/>
          <a:ln>
            <a:noFill/>
          </a:ln>
        </p:spPr>
      </p:pic>
      <p:cxnSp>
        <p:nvCxnSpPr>
          <p:cNvPr id="585" name="Google Shape;585;p47"/>
          <p:cNvCxnSpPr/>
          <p:nvPr/>
        </p:nvCxnSpPr>
        <p:spPr>
          <a:xfrm flipH="1" rot="10800000">
            <a:off x="0" y="1393916"/>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586" name="Google Shape;586;p47"/>
          <p:cNvPicPr preferRelativeResize="0"/>
          <p:nvPr/>
        </p:nvPicPr>
        <p:blipFill rotWithShape="1">
          <a:blip r:embed="rId5">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0" name="Shape 590"/>
        <p:cNvGrpSpPr/>
        <p:nvPr/>
      </p:nvGrpSpPr>
      <p:grpSpPr>
        <a:xfrm>
          <a:off x="0" y="0"/>
          <a:ext cx="0" cy="0"/>
          <a:chOff x="0" y="0"/>
          <a:chExt cx="0" cy="0"/>
        </a:xfrm>
      </p:grpSpPr>
      <p:sp>
        <p:nvSpPr>
          <p:cNvPr id="591" name="Google Shape;591;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Pseudo Selector (:visited)</a:t>
            </a:r>
            <a:endParaRPr/>
          </a:p>
        </p:txBody>
      </p:sp>
      <p:sp>
        <p:nvSpPr>
          <p:cNvPr id="592" name="Google Shape;592;p48"/>
          <p:cNvSpPr/>
          <p:nvPr/>
        </p:nvSpPr>
        <p:spPr>
          <a:xfrm>
            <a:off x="762000" y="4489551"/>
            <a:ext cx="6477000" cy="156966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a:visited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  </a:t>
            </a:r>
            <a:r>
              <a:rPr b="1" i="0" lang="en-US" sz="3200" u="none" cap="none" strike="noStrike">
                <a:solidFill>
                  <a:srgbClr val="CC9900"/>
                </a:solidFill>
                <a:latin typeface="Consolas"/>
                <a:ea typeface="Consolas"/>
                <a:cs typeface="Consolas"/>
                <a:sym typeface="Consolas"/>
              </a:rPr>
              <a:t>color:#D48F29;</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a:t>
            </a:r>
            <a:endParaRPr b="1" i="0" sz="3200" u="none" cap="none" strike="noStrike">
              <a:solidFill>
                <a:srgbClr val="FBEEDC"/>
              </a:solidFill>
              <a:latin typeface="Consolas"/>
              <a:ea typeface="Consolas"/>
              <a:cs typeface="Consolas"/>
              <a:sym typeface="Consolas"/>
            </a:endParaRPr>
          </a:p>
        </p:txBody>
      </p:sp>
      <p:sp>
        <p:nvSpPr>
          <p:cNvPr id="593" name="Google Shape;593;p48"/>
          <p:cNvSpPr/>
          <p:nvPr/>
        </p:nvSpPr>
        <p:spPr>
          <a:xfrm>
            <a:off x="762000" y="1917771"/>
            <a:ext cx="6477000" cy="584775"/>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&lt;a href="#"&gt;</a:t>
            </a:r>
            <a:r>
              <a:rPr b="1" i="0" lang="en-US" sz="3200" u="none" cap="none" strike="noStrike">
                <a:solidFill>
                  <a:srgbClr val="CC9900"/>
                </a:solidFill>
                <a:latin typeface="Consolas"/>
                <a:ea typeface="Consolas"/>
                <a:cs typeface="Consolas"/>
                <a:sym typeface="Consolas"/>
              </a:rPr>
              <a:t>Go to Google</a:t>
            </a:r>
            <a:r>
              <a:rPr b="1" i="0" lang="en-US" sz="3200" u="none" cap="none" strike="noStrike">
                <a:solidFill>
                  <a:srgbClr val="F3CD60"/>
                </a:solidFill>
                <a:latin typeface="Consolas"/>
                <a:ea typeface="Consolas"/>
                <a:cs typeface="Consolas"/>
                <a:sym typeface="Consolas"/>
              </a:rPr>
              <a:t>&lt;/a&gt;</a:t>
            </a:r>
            <a:endParaRPr b="1" i="0" sz="3200" u="none" cap="none" strike="noStrike">
              <a:solidFill>
                <a:srgbClr val="F3CD60"/>
              </a:solidFill>
              <a:latin typeface="Consolas"/>
              <a:ea typeface="Consolas"/>
              <a:cs typeface="Consolas"/>
              <a:sym typeface="Consolas"/>
            </a:endParaRPr>
          </a:p>
        </p:txBody>
      </p:sp>
      <p:sp>
        <p:nvSpPr>
          <p:cNvPr id="594" name="Google Shape;594;p48"/>
          <p:cNvSpPr/>
          <p:nvPr/>
        </p:nvSpPr>
        <p:spPr>
          <a:xfrm>
            <a:off x="9309748" y="3500101"/>
            <a:ext cx="444562" cy="490403"/>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alibri"/>
              <a:ea typeface="Calibri"/>
              <a:cs typeface="Calibri"/>
              <a:sym typeface="Calibri"/>
            </a:endParaRPr>
          </a:p>
        </p:txBody>
      </p:sp>
      <p:pic>
        <p:nvPicPr>
          <p:cNvPr id="595" name="Google Shape;595;p48"/>
          <p:cNvPicPr preferRelativeResize="0"/>
          <p:nvPr/>
        </p:nvPicPr>
        <p:blipFill rotWithShape="1">
          <a:blip r:embed="rId3">
            <a:alphaModFix/>
          </a:blip>
          <a:srcRect b="0" l="0" r="0" t="0"/>
          <a:stretch/>
        </p:blipFill>
        <p:spPr>
          <a:xfrm>
            <a:off x="8197990" y="1419265"/>
            <a:ext cx="2668078" cy="1581789"/>
          </a:xfrm>
          <a:prstGeom prst="rect">
            <a:avLst/>
          </a:prstGeom>
          <a:noFill/>
          <a:ln>
            <a:noFill/>
          </a:ln>
        </p:spPr>
      </p:pic>
      <p:pic>
        <p:nvPicPr>
          <p:cNvPr id="596" name="Google Shape;596;p48"/>
          <p:cNvPicPr preferRelativeResize="0"/>
          <p:nvPr/>
        </p:nvPicPr>
        <p:blipFill rotWithShape="1">
          <a:blip r:embed="rId4">
            <a:alphaModFix/>
          </a:blip>
          <a:srcRect b="0" l="0" r="0" t="0"/>
          <a:stretch/>
        </p:blipFill>
        <p:spPr>
          <a:xfrm>
            <a:off x="8197990" y="4489552"/>
            <a:ext cx="2668078" cy="1569660"/>
          </a:xfrm>
          <a:prstGeom prst="rect">
            <a:avLst/>
          </a:prstGeom>
          <a:noFill/>
          <a:ln>
            <a:noFill/>
          </a:ln>
        </p:spPr>
      </p:pic>
      <p:cxnSp>
        <p:nvCxnSpPr>
          <p:cNvPr id="597" name="Google Shape;597;p48"/>
          <p:cNvCxnSpPr/>
          <p:nvPr/>
        </p:nvCxnSpPr>
        <p:spPr>
          <a:xfrm flipH="1" rot="10800000">
            <a:off x="0" y="1520278"/>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598" name="Google Shape;598;p48"/>
          <p:cNvPicPr preferRelativeResize="0"/>
          <p:nvPr/>
        </p:nvPicPr>
        <p:blipFill rotWithShape="1">
          <a:blip r:embed="rId5">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02" name="Shape 602"/>
        <p:cNvGrpSpPr/>
        <p:nvPr/>
      </p:nvGrpSpPr>
      <p:grpSpPr>
        <a:xfrm>
          <a:off x="0" y="0"/>
          <a:ext cx="0" cy="0"/>
          <a:chOff x="0" y="0"/>
          <a:chExt cx="0" cy="0"/>
        </a:xfrm>
      </p:grpSpPr>
      <p:sp>
        <p:nvSpPr>
          <p:cNvPr id="603" name="Google Shape;603;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Pseudo Selector (:active)</a:t>
            </a:r>
            <a:endParaRPr/>
          </a:p>
        </p:txBody>
      </p:sp>
      <p:sp>
        <p:nvSpPr>
          <p:cNvPr id="604" name="Google Shape;604;p49"/>
          <p:cNvSpPr/>
          <p:nvPr/>
        </p:nvSpPr>
        <p:spPr>
          <a:xfrm>
            <a:off x="608012" y="4506634"/>
            <a:ext cx="5486400" cy="1569660"/>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html:active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  </a:t>
            </a:r>
            <a:r>
              <a:rPr b="1" i="0" lang="en-US" sz="3200" u="none" cap="none" strike="noStrike">
                <a:solidFill>
                  <a:srgbClr val="CC9900"/>
                </a:solidFill>
                <a:latin typeface="Consolas"/>
                <a:ea typeface="Consolas"/>
                <a:cs typeface="Consolas"/>
                <a:sym typeface="Consolas"/>
              </a:rPr>
              <a:t>background: yellow;</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a:t>
            </a:r>
            <a:endParaRPr b="1" i="0" sz="3200" u="none" cap="none" strike="noStrike">
              <a:solidFill>
                <a:srgbClr val="FBEEDC"/>
              </a:solidFill>
              <a:latin typeface="Consolas"/>
              <a:ea typeface="Consolas"/>
              <a:cs typeface="Consolas"/>
              <a:sym typeface="Consolas"/>
            </a:endParaRPr>
          </a:p>
        </p:txBody>
      </p:sp>
      <p:sp>
        <p:nvSpPr>
          <p:cNvPr id="605" name="Google Shape;605;p49"/>
          <p:cNvSpPr/>
          <p:nvPr/>
        </p:nvSpPr>
        <p:spPr>
          <a:xfrm>
            <a:off x="608012" y="1958641"/>
            <a:ext cx="5486400" cy="584775"/>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3CD60"/>
                </a:solidFill>
                <a:latin typeface="Consolas"/>
                <a:ea typeface="Consolas"/>
                <a:cs typeface="Consolas"/>
                <a:sym typeface="Consolas"/>
              </a:rPr>
              <a:t>&lt;h2&gt;</a:t>
            </a:r>
            <a:r>
              <a:rPr b="1" i="0" lang="en-US" sz="3200" u="none" cap="none" strike="noStrike">
                <a:solidFill>
                  <a:srgbClr val="CC9900"/>
                </a:solidFill>
                <a:latin typeface="Consolas"/>
                <a:ea typeface="Consolas"/>
                <a:cs typeface="Consolas"/>
                <a:sym typeface="Consolas"/>
              </a:rPr>
              <a:t>click anywhere</a:t>
            </a:r>
            <a:r>
              <a:rPr b="1" i="0" lang="en-US" sz="3200" u="none" cap="none" strike="noStrike">
                <a:solidFill>
                  <a:srgbClr val="F3CD60"/>
                </a:solidFill>
                <a:latin typeface="Consolas"/>
                <a:ea typeface="Consolas"/>
                <a:cs typeface="Consolas"/>
                <a:sym typeface="Consolas"/>
              </a:rPr>
              <a:t>&lt;/h2&gt;</a:t>
            </a:r>
            <a:endParaRPr b="1" i="0" sz="3200" u="none" cap="none" strike="noStrike">
              <a:solidFill>
                <a:srgbClr val="F3CD60"/>
              </a:solidFill>
              <a:latin typeface="Consolas"/>
              <a:ea typeface="Consolas"/>
              <a:cs typeface="Consolas"/>
              <a:sym typeface="Consolas"/>
            </a:endParaRPr>
          </a:p>
        </p:txBody>
      </p:sp>
      <p:sp>
        <p:nvSpPr>
          <p:cNvPr id="606" name="Google Shape;606;p49"/>
          <p:cNvSpPr/>
          <p:nvPr/>
        </p:nvSpPr>
        <p:spPr>
          <a:xfrm>
            <a:off x="8915462" y="3468271"/>
            <a:ext cx="496657" cy="602471"/>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lt1"/>
              </a:solidFill>
              <a:latin typeface="Calibri"/>
              <a:ea typeface="Calibri"/>
              <a:cs typeface="Calibri"/>
              <a:sym typeface="Calibri"/>
            </a:endParaRPr>
          </a:p>
        </p:txBody>
      </p:sp>
      <p:pic>
        <p:nvPicPr>
          <p:cNvPr id="607" name="Google Shape;607;p49"/>
          <p:cNvPicPr preferRelativeResize="0"/>
          <p:nvPr/>
        </p:nvPicPr>
        <p:blipFill rotWithShape="1">
          <a:blip r:embed="rId3">
            <a:alphaModFix/>
          </a:blip>
          <a:srcRect b="0" l="0" r="0" t="0"/>
          <a:stretch/>
        </p:blipFill>
        <p:spPr>
          <a:xfrm>
            <a:off x="6648395" y="1547286"/>
            <a:ext cx="5030788" cy="2047124"/>
          </a:xfrm>
          <a:prstGeom prst="rect">
            <a:avLst/>
          </a:prstGeom>
          <a:noFill/>
          <a:ln>
            <a:noFill/>
          </a:ln>
        </p:spPr>
      </p:pic>
      <p:pic>
        <p:nvPicPr>
          <p:cNvPr id="608" name="Google Shape;608;p49"/>
          <p:cNvPicPr preferRelativeResize="0"/>
          <p:nvPr/>
        </p:nvPicPr>
        <p:blipFill rotWithShape="1">
          <a:blip r:embed="rId4">
            <a:alphaModFix/>
          </a:blip>
          <a:srcRect b="0" l="0" r="0" t="0"/>
          <a:stretch/>
        </p:blipFill>
        <p:spPr>
          <a:xfrm>
            <a:off x="6648395" y="4267902"/>
            <a:ext cx="5030788" cy="2047124"/>
          </a:xfrm>
          <a:prstGeom prst="rect">
            <a:avLst/>
          </a:prstGeom>
          <a:noFill/>
          <a:ln>
            <a:noFill/>
          </a:ln>
        </p:spPr>
      </p:pic>
      <p:sp>
        <p:nvSpPr>
          <p:cNvPr id="609" name="Google Shape;609;p49"/>
          <p:cNvSpPr txBox="1"/>
          <p:nvPr/>
        </p:nvSpPr>
        <p:spPr>
          <a:xfrm>
            <a:off x="836612" y="34480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Pseudo Selector (:active)</a:t>
            </a:r>
            <a:endParaRPr b="0" i="0" sz="4400" u="none" cap="none" strike="noStrike">
              <a:solidFill>
                <a:schemeClr val="dk1"/>
              </a:solidFill>
              <a:latin typeface="Calibri"/>
              <a:ea typeface="Calibri"/>
              <a:cs typeface="Calibri"/>
              <a:sym typeface="Calibri"/>
            </a:endParaRPr>
          </a:p>
        </p:txBody>
      </p:sp>
      <p:cxnSp>
        <p:nvCxnSpPr>
          <p:cNvPr id="610" name="Google Shape;610;p49"/>
          <p:cNvCxnSpPr/>
          <p:nvPr/>
        </p:nvCxnSpPr>
        <p:spPr>
          <a:xfrm flipH="1" rot="10800000">
            <a:off x="0" y="1334612"/>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611" name="Google Shape;611;p49"/>
          <p:cNvPicPr preferRelativeResize="0"/>
          <p:nvPr/>
        </p:nvPicPr>
        <p:blipFill rotWithShape="1">
          <a:blip r:embed="rId5">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Pseudo Selector (:first-line)</a:t>
            </a:r>
            <a:endParaRPr/>
          </a:p>
        </p:txBody>
      </p:sp>
      <p:sp>
        <p:nvSpPr>
          <p:cNvPr id="617" name="Google Shape;617;p50"/>
          <p:cNvSpPr/>
          <p:nvPr/>
        </p:nvSpPr>
        <p:spPr>
          <a:xfrm>
            <a:off x="5410201" y="4651458"/>
            <a:ext cx="6103031" cy="1815882"/>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3CD60"/>
                </a:solidFill>
                <a:latin typeface="Consolas"/>
                <a:ea typeface="Consolas"/>
                <a:cs typeface="Consolas"/>
                <a:sym typeface="Consolas"/>
              </a:rPr>
              <a:t>p:first-line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BEEDC"/>
                </a:solidFill>
                <a:latin typeface="Consolas"/>
                <a:ea typeface="Consolas"/>
                <a:cs typeface="Consolas"/>
                <a:sym typeface="Consolas"/>
              </a:rPr>
              <a:t>  </a:t>
            </a:r>
            <a:r>
              <a:rPr b="1" i="0" lang="en-US" sz="2800" u="none" cap="none" strike="noStrike">
                <a:solidFill>
                  <a:srgbClr val="CC9900"/>
                </a:solidFill>
                <a:latin typeface="Consolas"/>
                <a:ea typeface="Consolas"/>
                <a:cs typeface="Consolas"/>
                <a:sym typeface="Consolas"/>
              </a:rPr>
              <a:t>color:blue;</a:t>
            </a:r>
            <a:endParaRPr b="1" i="0" sz="2800" u="none" cap="none" strike="noStrike">
              <a:solidFill>
                <a:srgbClr val="CC99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CC9900"/>
                </a:solidFill>
                <a:latin typeface="Consolas"/>
                <a:ea typeface="Consolas"/>
                <a:cs typeface="Consolas"/>
                <a:sym typeface="Consolas"/>
              </a:rPr>
              <a:t>  background-color: lightblue;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3CD60"/>
                </a:solidFill>
                <a:latin typeface="Consolas"/>
                <a:ea typeface="Consolas"/>
                <a:cs typeface="Consolas"/>
                <a:sym typeface="Consolas"/>
              </a:rPr>
              <a:t>}</a:t>
            </a:r>
            <a:endParaRPr b="1" i="0" sz="2800" u="none" cap="none" strike="noStrike">
              <a:solidFill>
                <a:srgbClr val="FBEEDC"/>
              </a:solidFill>
              <a:latin typeface="Consolas"/>
              <a:ea typeface="Consolas"/>
              <a:cs typeface="Consolas"/>
              <a:sym typeface="Consolas"/>
            </a:endParaRPr>
          </a:p>
        </p:txBody>
      </p:sp>
      <p:sp>
        <p:nvSpPr>
          <p:cNvPr id="618" name="Google Shape;618;p50"/>
          <p:cNvSpPr/>
          <p:nvPr/>
        </p:nvSpPr>
        <p:spPr>
          <a:xfrm>
            <a:off x="685800" y="4651458"/>
            <a:ext cx="4484912" cy="1815882"/>
          </a:xfrm>
          <a:prstGeom prst="rect">
            <a:avLst/>
          </a:prstGeom>
          <a:solidFill>
            <a:srgbClr val="B3C6E7">
              <a:alpha val="14509"/>
            </a:srgbClr>
          </a:solidFill>
          <a:ln cap="flat" cmpd="sng" w="12700">
            <a:solidFill>
              <a:srgbClr val="8DA9DB"/>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3CD60"/>
                </a:solidFill>
                <a:latin typeface="Consolas"/>
                <a:ea typeface="Consolas"/>
                <a:cs typeface="Consolas"/>
                <a:sym typeface="Consolas"/>
              </a:rPr>
              <a:t>&lt;p&gt;</a:t>
            </a:r>
            <a:r>
              <a:rPr b="1" i="0" lang="en-US" sz="2800" u="none" cap="none" strike="noStrike">
                <a:solidFill>
                  <a:srgbClr val="CC9900"/>
                </a:solidFill>
                <a:latin typeface="Consolas"/>
                <a:ea typeface="Consolas"/>
                <a:cs typeface="Consolas"/>
                <a:sym typeface="Consolas"/>
              </a:rPr>
              <a:t>Lorem ipsum dolor sit amet, consectetur adipiscing elit.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F3CD60"/>
                </a:solidFill>
                <a:latin typeface="Consolas"/>
                <a:ea typeface="Consolas"/>
                <a:cs typeface="Consolas"/>
                <a:sym typeface="Consolas"/>
              </a:rPr>
              <a:t>&lt;/p&gt;</a:t>
            </a:r>
            <a:endParaRPr b="0" i="0" sz="1400" u="none" cap="none" strike="noStrike">
              <a:solidFill>
                <a:srgbClr val="000000"/>
              </a:solidFill>
              <a:latin typeface="Arial"/>
              <a:ea typeface="Arial"/>
              <a:cs typeface="Arial"/>
              <a:sym typeface="Arial"/>
            </a:endParaRPr>
          </a:p>
        </p:txBody>
      </p:sp>
      <p:pic>
        <p:nvPicPr>
          <p:cNvPr id="619" name="Google Shape;619;p50"/>
          <p:cNvPicPr preferRelativeResize="0"/>
          <p:nvPr/>
        </p:nvPicPr>
        <p:blipFill rotWithShape="1">
          <a:blip r:embed="rId3">
            <a:alphaModFix/>
          </a:blip>
          <a:srcRect b="0" l="0" r="0" t="0"/>
          <a:stretch/>
        </p:blipFill>
        <p:spPr>
          <a:xfrm>
            <a:off x="2298856" y="1954621"/>
            <a:ext cx="6765631" cy="2696837"/>
          </a:xfrm>
          <a:prstGeom prst="rect">
            <a:avLst/>
          </a:prstGeom>
          <a:noFill/>
          <a:ln>
            <a:noFill/>
          </a:ln>
        </p:spPr>
      </p:pic>
      <p:cxnSp>
        <p:nvCxnSpPr>
          <p:cNvPr id="620" name="Google Shape;620;p50"/>
          <p:cNvCxnSpPr/>
          <p:nvPr/>
        </p:nvCxnSpPr>
        <p:spPr>
          <a:xfrm flipH="1" rot="10800000">
            <a:off x="0" y="1754117"/>
            <a:ext cx="7904054" cy="68537"/>
          </a:xfrm>
          <a:prstGeom prst="straightConnector1">
            <a:avLst/>
          </a:prstGeom>
          <a:noFill/>
          <a:ln cap="flat" cmpd="sng" w="38100">
            <a:solidFill>
              <a:srgbClr val="DFA267"/>
            </a:solidFill>
            <a:prstDash val="solid"/>
            <a:miter lim="800000"/>
            <a:headEnd len="sm" w="sm" type="none"/>
            <a:tailEnd len="sm" w="sm" type="none"/>
          </a:ln>
        </p:spPr>
      </p:cxnSp>
      <p:pic>
        <p:nvPicPr>
          <p:cNvPr id="621" name="Google Shape;621;p50"/>
          <p:cNvPicPr preferRelativeResize="0"/>
          <p:nvPr/>
        </p:nvPicPr>
        <p:blipFill rotWithShape="1">
          <a:blip r:embed="rId4">
            <a:alphaModFix/>
          </a:blip>
          <a:srcRect b="0" l="0" r="0" t="0"/>
          <a:stretch/>
        </p:blipFill>
        <p:spPr>
          <a:xfrm>
            <a:off x="11072553" y="10586"/>
            <a:ext cx="940229" cy="139896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cxnSp>
        <p:nvCxnSpPr>
          <p:cNvPr id="626" name="Google Shape;626;p51"/>
          <p:cNvCxnSpPr/>
          <p:nvPr/>
        </p:nvCxnSpPr>
        <p:spPr>
          <a:xfrm flipH="1" rot="10800000">
            <a:off x="5448168" y="2887307"/>
            <a:ext cx="4581449" cy="1"/>
          </a:xfrm>
          <a:prstGeom prst="straightConnector1">
            <a:avLst/>
          </a:prstGeom>
          <a:noFill/>
          <a:ln cap="flat" cmpd="sng" w="38100">
            <a:solidFill>
              <a:srgbClr val="C55A11"/>
            </a:solidFill>
            <a:prstDash val="solid"/>
            <a:miter lim="800000"/>
            <a:headEnd len="sm" w="sm" type="none"/>
            <a:tailEnd len="sm" w="sm" type="none"/>
          </a:ln>
        </p:spPr>
      </p:cxnSp>
      <p:grpSp>
        <p:nvGrpSpPr>
          <p:cNvPr id="627" name="Google Shape;627;p51"/>
          <p:cNvGrpSpPr/>
          <p:nvPr/>
        </p:nvGrpSpPr>
        <p:grpSpPr>
          <a:xfrm>
            <a:off x="313844" y="349466"/>
            <a:ext cx="11518407" cy="6218388"/>
            <a:chOff x="313844" y="349466"/>
            <a:chExt cx="11518407" cy="6218388"/>
          </a:xfrm>
        </p:grpSpPr>
        <p:sp>
          <p:nvSpPr>
            <p:cNvPr id="628" name="Google Shape;628;p51"/>
            <p:cNvSpPr/>
            <p:nvPr/>
          </p:nvSpPr>
          <p:spPr>
            <a:xfrm>
              <a:off x="11786532" y="360726"/>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29" name="Google Shape;629;p51"/>
            <p:cNvSpPr/>
            <p:nvPr/>
          </p:nvSpPr>
          <p:spPr>
            <a:xfrm rot="5400000">
              <a:off x="11275944" y="-161122"/>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0" name="Google Shape;630;p51"/>
            <p:cNvSpPr/>
            <p:nvPr/>
          </p:nvSpPr>
          <p:spPr>
            <a:xfrm rot="5400000">
              <a:off x="824432" y="6011547"/>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631" name="Google Shape;631;p51"/>
            <p:cNvSpPr/>
            <p:nvPr/>
          </p:nvSpPr>
          <p:spPr>
            <a:xfrm rot="10800000">
              <a:off x="313844" y="5489699"/>
              <a:ext cx="45719" cy="1066895"/>
            </a:xfrm>
            <a:prstGeom prst="rect">
              <a:avLst/>
            </a:prstGeom>
            <a:solidFill>
              <a:srgbClr val="C55A1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grpSp>
      <p:pic>
        <p:nvPicPr>
          <p:cNvPr id="632" name="Google Shape;632;p51"/>
          <p:cNvPicPr preferRelativeResize="0"/>
          <p:nvPr/>
        </p:nvPicPr>
        <p:blipFill rotWithShape="1">
          <a:blip r:embed="rId3">
            <a:alphaModFix/>
          </a:blip>
          <a:srcRect b="0" l="0" r="0" t="0"/>
          <a:stretch/>
        </p:blipFill>
        <p:spPr>
          <a:xfrm>
            <a:off x="2394066" y="1606241"/>
            <a:ext cx="2161204" cy="3550188"/>
          </a:xfrm>
          <a:prstGeom prst="rect">
            <a:avLst/>
          </a:prstGeom>
          <a:noFill/>
          <a:ln>
            <a:noFill/>
          </a:ln>
        </p:spPr>
      </p:pic>
      <p:sp>
        <p:nvSpPr>
          <p:cNvPr id="633" name="Google Shape;633;p51"/>
          <p:cNvSpPr/>
          <p:nvPr/>
        </p:nvSpPr>
        <p:spPr>
          <a:xfrm>
            <a:off x="5448168" y="2049518"/>
            <a:ext cx="4603806" cy="6652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Arial"/>
              <a:buNone/>
            </a:pPr>
            <a:r>
              <a:rPr b="1" i="0" lang="en-US" sz="3600" u="none" cap="none" strike="noStrike">
                <a:solidFill>
                  <a:srgbClr val="C55A11"/>
                </a:solidFill>
                <a:latin typeface="Calibri"/>
                <a:ea typeface="Calibri"/>
                <a:cs typeface="Calibri"/>
                <a:sym typeface="Calibri"/>
              </a:rPr>
              <a:t>THANK YOU</a:t>
            </a:r>
            <a:endParaRPr b="0" i="0" sz="1400" u="none" cap="none" strike="noStrike">
              <a:solidFill>
                <a:srgbClr val="000000"/>
              </a:solidFill>
              <a:latin typeface="Arial"/>
              <a:ea typeface="Arial"/>
              <a:cs typeface="Arial"/>
              <a:sym typeface="Arial"/>
            </a:endParaRPr>
          </a:p>
        </p:txBody>
      </p:sp>
      <p:sp>
        <p:nvSpPr>
          <p:cNvPr id="634" name="Google Shape;634;p51"/>
          <p:cNvSpPr/>
          <p:nvPr/>
        </p:nvSpPr>
        <p:spPr>
          <a:xfrm>
            <a:off x="5448168" y="3128242"/>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chemeClr val="dk1"/>
                </a:solidFill>
                <a:latin typeface="Calibri"/>
                <a:ea typeface="Calibri"/>
                <a:cs typeface="Calibri"/>
                <a:sym typeface="Calibri"/>
              </a:rPr>
              <a:t>Prof.Vinay Joshi </a:t>
            </a:r>
            <a:endParaRPr b="1" i="0" sz="2400" u="none" cap="none" strike="noStrike">
              <a:solidFill>
                <a:schemeClr val="dk1"/>
              </a:solidFill>
              <a:latin typeface="Calibri"/>
              <a:ea typeface="Calibri"/>
              <a:cs typeface="Calibri"/>
              <a:sym typeface="Calibri"/>
            </a:endParaRPr>
          </a:p>
        </p:txBody>
      </p:sp>
      <p:sp>
        <p:nvSpPr>
          <p:cNvPr id="635" name="Google Shape;635;p51"/>
          <p:cNvSpPr/>
          <p:nvPr/>
        </p:nvSpPr>
        <p:spPr>
          <a:xfrm>
            <a:off x="5448168" y="3525847"/>
            <a:ext cx="7497214"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Department of Computer Science and Engineering</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2017-07-04T14:53:10Z</dcterms:created>
  <dc:creator>SureshVikki</dc:creator>
</cp:coreProperties>
</file>