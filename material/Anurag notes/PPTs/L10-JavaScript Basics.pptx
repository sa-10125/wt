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34" r:id="rId2"/>
    <p:sldId id="336" r:id="rId3"/>
    <p:sldId id="348" r:id="rId4"/>
    <p:sldId id="337" r:id="rId5"/>
    <p:sldId id="362" r:id="rId6"/>
    <p:sldId id="355" r:id="rId7"/>
    <p:sldId id="353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7" r:id="rId16"/>
    <p:sldId id="366" r:id="rId17"/>
    <p:sldId id="361" r:id="rId18"/>
    <p:sldId id="346" r:id="rId19"/>
    <p:sldId id="363" r:id="rId20"/>
    <p:sldId id="357" r:id="rId21"/>
    <p:sldId id="359" r:id="rId22"/>
    <p:sldId id="360" r:id="rId23"/>
    <p:sldId id="364" r:id="rId24"/>
    <p:sldId id="365" r:id="rId25"/>
    <p:sldId id="33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FFFD"/>
    <a:srgbClr val="DFA267"/>
    <a:srgbClr val="FEDC32"/>
    <a:srgbClr val="FDBA53"/>
    <a:srgbClr val="F4B350"/>
    <a:srgbClr val="10B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9839" autoAdjust="0"/>
  </p:normalViewPr>
  <p:slideViewPr>
    <p:cSldViewPr snapToGrid="0">
      <p:cViewPr>
        <p:scale>
          <a:sx n="50" d="100"/>
          <a:sy n="50" d="100"/>
        </p:scale>
        <p:origin x="124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3CB51-9A86-4C01-A0DB-13EF6F656B51}" type="datetimeFigureOut">
              <a:rPr lang="en-US" smtClean="0"/>
              <a:pPr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0C0E-3071-47FE-83D9-FB70EE300A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8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you have seen so far is pages with just HTML and</a:t>
            </a:r>
            <a:r>
              <a:rPr lang="en-US" baseline="0" dirty="0"/>
              <a:t> CSS. They are primarily static pages with contents predefined. </a:t>
            </a:r>
          </a:p>
          <a:p>
            <a:r>
              <a:rPr lang="en-US" baseline="0" dirty="0"/>
              <a:t>You have seen links been clicked and forms been submitted but loading the response in a new page.</a:t>
            </a:r>
          </a:p>
          <a:p>
            <a:r>
              <a:rPr lang="en-US" baseline="0" dirty="0"/>
              <a:t>Take an example of this page, where the contents change on the same page based on user actions and most likely without loading a new page.</a:t>
            </a:r>
          </a:p>
          <a:p>
            <a:r>
              <a:rPr lang="en-US" baseline="0" dirty="0"/>
              <a:t>This is achieved through the use of client side scripting languages like JavaScript.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Datatypes – primitive and objects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Datatypes</a:t>
            </a:r>
            <a:r>
              <a:rPr lang="en-US" dirty="0"/>
              <a:t> – primitive and objects</a:t>
            </a:r>
          </a:p>
          <a:p>
            <a:r>
              <a:rPr lang="en-US" dirty="0"/>
              <a:t>Objects discussed in detail in L9 and L10</a:t>
            </a:r>
          </a:p>
          <a:p>
            <a:r>
              <a:rPr lang="en-US" dirty="0"/>
              <a:t>Mention</a:t>
            </a:r>
            <a:r>
              <a:rPr lang="en-US" baseline="0" dirty="0"/>
              <a:t> that objects are collection of properties (</a:t>
            </a:r>
            <a:r>
              <a:rPr lang="en-US" baseline="0" dirty="0" err="1"/>
              <a:t>key:value</a:t>
            </a:r>
            <a:r>
              <a:rPr lang="en-US" baseline="0" dirty="0"/>
              <a:t>) accessed as </a:t>
            </a:r>
            <a:r>
              <a:rPr lang="en-US" baseline="0" dirty="0" err="1"/>
              <a:t>object.key</a:t>
            </a:r>
            <a:r>
              <a:rPr lang="en-US" baseline="0" dirty="0"/>
              <a:t> or object[“key”]</a:t>
            </a:r>
          </a:p>
          <a:p>
            <a:r>
              <a:rPr lang="en-US" baseline="0" dirty="0"/>
              <a:t>Number and String objects are wrapper around number and string primitive types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Datatypes</a:t>
            </a:r>
            <a:r>
              <a:rPr lang="en-US" dirty="0"/>
              <a:t> – primitive and objects</a:t>
            </a:r>
          </a:p>
          <a:p>
            <a:r>
              <a:rPr lang="en-US" dirty="0"/>
              <a:t>Objects discussed in detail in L9 and L10</a:t>
            </a:r>
          </a:p>
          <a:p>
            <a:r>
              <a:rPr lang="en-US" dirty="0"/>
              <a:t>Mention</a:t>
            </a:r>
            <a:r>
              <a:rPr lang="en-US" baseline="0" dirty="0"/>
              <a:t> that objects are collection of properties (</a:t>
            </a:r>
            <a:r>
              <a:rPr lang="en-US" baseline="0" dirty="0" err="1"/>
              <a:t>key:value</a:t>
            </a:r>
            <a:r>
              <a:rPr lang="en-US" baseline="0" dirty="0"/>
              <a:t>) accessed as </a:t>
            </a:r>
            <a:r>
              <a:rPr lang="en-US" baseline="0" dirty="0" err="1"/>
              <a:t>object.key</a:t>
            </a:r>
            <a:r>
              <a:rPr lang="en-US" baseline="0" dirty="0"/>
              <a:t> or object[“key”]</a:t>
            </a:r>
          </a:p>
          <a:p>
            <a:r>
              <a:rPr lang="en-US" baseline="0" dirty="0"/>
              <a:t>Number and String objects are wrapper around number and string primitive types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3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3D4B-626B-4009-8192-CEAEED142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1827C-B164-4C81-9990-CA48A6D69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F93E-677D-48F6-8B5A-46E43F2C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4446-763D-4DB5-A60E-E76234DD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2FF9A-F0E6-4BE5-A785-09D93A75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7D49-DB18-4481-BBAD-3CCDB0B6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8B0F-E770-4648-80B0-0B9A17734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9BBA6-35F4-4C69-B817-8B6D5B3C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119B-E4E0-4014-B1F1-495E208A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5A5E-AE1B-4A92-B64A-2F8A4786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0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196D-BED0-4BD8-AB4C-B2B3CCC7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13EC-F0A0-4466-A6C2-D28B863D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F7A95-22EE-4F22-AEDA-C190D2F8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85F91-0601-4D65-A3E8-CFDC20A7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0A9F0-9DDE-4015-8C5C-5C9D6B60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6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85AF-03C6-4B44-A538-43B0427D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3EE5-59F6-4A1A-AE1E-8765B2B76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D6861-A242-46E3-9BF3-A0C8A8DB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D4037-319B-46C2-9889-B7EE9142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E4E15-6B43-42E0-9689-9D809E77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B8A2C-7787-42C7-9053-9FAC4980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9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7F82-17CF-402C-A83C-9BB0B045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925B8-18E2-4648-9C7D-9A50568E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AC91-5516-49CF-ABB2-BDCA1101D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B518C-5424-4D17-AE61-73B5540B3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8E488-5143-4637-878A-8024B768B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92FE0-EADD-43E3-B191-7F6FEA9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4604E9-CD41-4846-B48F-03B22B37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E060F-933B-49D3-8FF3-B0DEF9DC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1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33CA-B572-4BA7-A189-A42C96F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A2B92-6276-46C5-8418-92622914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7E3F1-B21B-41C5-BFFE-A0D23D01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3B9AF-625C-4788-81E5-2B790AE3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4E3B9-7089-4D8E-9F92-ED9350E7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D6F49-DBB0-4783-8669-C7B8A703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75C0C-F413-41B7-B055-646B0BFD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19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262E-9CC6-4471-87B5-E96BB4A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306A-CD4B-46EE-9161-2B0A130F2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59BE6-9514-4D99-A003-32E53BED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144FC-DE55-4C66-B467-EE320664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C472B-5E7F-485E-A706-89B79D41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6C44B-3BC6-40D9-94ED-B0796F8E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9C2A-444C-4E85-BF34-29BD3E3F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688350-F59A-41DF-B2EF-F9EEA2470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D8DC2-A933-46C8-BE16-322CE1A3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7E0BD-405F-407D-AAE8-84A2C672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94B3E-2DAE-4C72-9B6F-EE43965D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4055D-9410-4E28-8C54-90B4F6E7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5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96CC-24D7-4AC0-845A-98CA572F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61921-3E80-4007-9849-91F4F1D9C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91F3-2079-48AC-A58B-4C729775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6A67-7BBF-4557-B86C-E3D43DA8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F2A7F-20B3-4FEC-B2FB-22B3B56A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0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74505-5F88-4C68-B044-B90A875A1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54938-180F-400A-A444-2DAC9B404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4BC1C-22DF-43AD-B4A1-B55EB4C0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9F43-011E-4BE1-A79A-17FE1495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5448-2680-4648-B696-07B726E5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03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9A4AD-9C61-4A2F-99E0-675E3359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F732A-189B-4AC1-886A-23584A50B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EE23-AF03-4903-9219-60875A711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7723-E498-4D64-BBB6-490ED1364AC9}" type="datetimeFigureOut">
              <a:rPr lang="en-IN" smtClean="0"/>
              <a:pPr/>
              <a:t>18-08-2023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C4B0-FF26-4AB9-BACD-041A24DCD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8E684-F46A-48CC-BAD8-663F8E117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10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WEB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4781916" y="2841955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 </a:t>
            </a:r>
            <a:r>
              <a:rPr lang="en-US" sz="2400" b="1" dirty="0" err="1"/>
              <a:t>Prof.Vinay</a:t>
            </a:r>
            <a:r>
              <a:rPr lang="en-US" sz="2400" b="1" dirty="0"/>
              <a:t> Joshi and </a:t>
            </a:r>
            <a:r>
              <a:rPr lang="en-US" sz="2400" b="1" dirty="0" err="1"/>
              <a:t>Dr.Sarasvathi</a:t>
            </a:r>
            <a:r>
              <a:rPr lang="en-US" sz="2400" b="1" dirty="0"/>
              <a:t> V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114940" y="4813108"/>
            <a:ext cx="8164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 Computer Science and Engineering</a:t>
            </a:r>
            <a:endParaRPr lang="en-IN" sz="2400" dirty="0"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7360" y="1606241"/>
            <a:ext cx="2151657" cy="3550188"/>
          </a:xfrm>
          <a:prstGeom prst="rect">
            <a:avLst/>
          </a:prstGeom>
        </p:spPr>
      </p:pic>
      <p:grpSp>
        <p:nvGrpSpPr>
          <p:cNvPr id="3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 to JavaScript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16386" name="Picture 2" descr="configuring same button for multiple events - Stack Overfl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996" y="1560787"/>
            <a:ext cx="8440422" cy="4745420"/>
          </a:xfrm>
          <a:prstGeom prst="rect">
            <a:avLst/>
          </a:prstGeom>
          <a:noFill/>
        </p:spPr>
      </p:pic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E41A4A07-6949-A083-807E-F2521CF4EC01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10562816" cy="47972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US" altLang="en-US" sz="2400" dirty="0"/>
              <a:t>Client Side Scripting Language</a:t>
            </a:r>
          </a:p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US" altLang="en-US" sz="2400" dirty="0"/>
              <a:t>Originally, </a:t>
            </a:r>
            <a:r>
              <a:rPr lang="en-US" altLang="en-US" sz="2400" dirty="0" err="1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LiveScript</a:t>
            </a:r>
            <a:r>
              <a:rPr lang="en-US" altLang="en-US" sz="24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in </a:t>
            </a:r>
            <a:r>
              <a:rPr lang="en-US" altLang="en-US" sz="2400" dirty="0" err="1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NetScape</a:t>
            </a:r>
            <a:r>
              <a:rPr lang="en-US" altLang="en-US" sz="24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altLang="en-US" sz="2400" dirty="0"/>
              <a:t>Browser</a:t>
            </a:r>
          </a:p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GB" sz="2400" dirty="0"/>
              <a:t>JavaScript programs are run by an interpreter built into the user's web browser</a:t>
            </a:r>
          </a:p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US" altLang="en-US" sz="2400" dirty="0"/>
              <a:t>Now the language has evolved with additional Server Side Scripting capabilities (</a:t>
            </a:r>
            <a:r>
              <a:rPr lang="en-US" alt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like in Node.JS</a:t>
            </a:r>
            <a:r>
              <a:rPr lang="en-US" altLang="en-US" sz="2400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 to JavaScript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4" name="Google Shape;105;p2">
            <a:extLst>
              <a:ext uri="{FF2B5EF4-FFF2-40B4-BE49-F238E27FC236}">
                <a16:creationId xmlns:a16="http://schemas.microsoft.com/office/drawing/2014/main" id="{ECCBBD08-14E2-3C7A-DE90-A3AB69863FB6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47972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GB" sz="2400" dirty="0"/>
              <a:t>Client renders (displays) the response received from server (mix of HTML and JavaScript)</a:t>
            </a:r>
          </a:p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GB" sz="2400" dirty="0"/>
              <a:t>Browser displays HTML</a:t>
            </a:r>
          </a:p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GB" sz="2400" dirty="0"/>
              <a:t>And runs any JavaScript code within the HTML</a:t>
            </a:r>
          </a:p>
          <a:p>
            <a:pPr>
              <a:lnSpc>
                <a:spcPct val="150000"/>
              </a:lnSpc>
              <a:buSzTx/>
              <a:buFontTx/>
              <a:buChar char="-"/>
            </a:pPr>
            <a:r>
              <a:rPr lang="en-US" sz="2400" dirty="0"/>
              <a:t> dynamic programming language that can add interactivity to a website.</a:t>
            </a:r>
            <a:endParaRPr lang="en-US" alt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 to JavaScript…(</a:t>
            </a:r>
            <a:r>
              <a:rPr lang="en-GB" sz="2400" b="1" dirty="0" err="1">
                <a:solidFill>
                  <a:schemeClr val="accent2">
                    <a:lumMod val="75000"/>
                  </a:schemeClr>
                </a:solidFill>
              </a:rPr>
              <a:t>cntd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.)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C0A6112D-FE80-454D-93B3-73BB490773A1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47972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SzTx/>
              <a:buNone/>
            </a:pPr>
            <a:r>
              <a:rPr lang="en-GB" sz="2400" dirty="0"/>
              <a:t>Pros and Cons of JavaScript</a:t>
            </a:r>
          </a:p>
          <a:p>
            <a:pPr>
              <a:lnSpc>
                <a:spcPct val="100000"/>
              </a:lnSpc>
              <a:buSzTx/>
              <a:buFontTx/>
              <a:buChar char="-"/>
            </a:pPr>
            <a:r>
              <a:rPr lang="en-GB" sz="2400" dirty="0"/>
              <a:t>Pros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GB" dirty="0"/>
              <a:t>Allows more dynamic HTML pages, even complete web applications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2400" dirty="0"/>
              <a:t>Cons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GB" dirty="0"/>
              <a:t>Requires a JavaScript-enabled browser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GB" dirty="0"/>
              <a:t>Requires a client who trusts the server enough to run the code the server provides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GB" sz="2400" dirty="0"/>
              <a:t>JavaScript has some protection in place but can still cause security problems for clients</a:t>
            </a:r>
            <a:endParaRPr lang="en-US" alt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 to JavaScript…(</a:t>
            </a:r>
            <a:r>
              <a:rPr lang="en-GB" sz="2400" b="1" dirty="0" err="1">
                <a:solidFill>
                  <a:schemeClr val="accent2">
                    <a:lumMod val="75000"/>
                  </a:schemeClr>
                </a:solidFill>
              </a:rPr>
              <a:t>cntd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.)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1BF96ED5-9294-32DC-1AEF-54FB8B9AB07D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506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B766BE6-9A09-429E-8DB4-3D2811EEF27C}"/>
              </a:ext>
            </a:extLst>
          </p:cNvPr>
          <p:cNvSpPr txBox="1">
            <a:spLocks/>
          </p:cNvSpPr>
          <p:nvPr/>
        </p:nvSpPr>
        <p:spPr>
          <a:xfrm>
            <a:off x="529541" y="1713052"/>
            <a:ext cx="8046389" cy="3634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1. </a:t>
            </a:r>
            <a:r>
              <a:rPr lang="en-IN" b="1" dirty="0"/>
              <a:t>HTML</a:t>
            </a:r>
            <a:r>
              <a:rPr lang="en-IN" dirty="0"/>
              <a:t> to define the content of web pages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b="1" dirty="0"/>
              <a:t>CSS</a:t>
            </a:r>
            <a:r>
              <a:rPr lang="en-IN" dirty="0"/>
              <a:t> to specify the layout of web pages and give a good look.</a:t>
            </a:r>
          </a:p>
          <a:p>
            <a:pPr marL="0" indent="0">
              <a:buNone/>
            </a:pPr>
            <a:r>
              <a:rPr lang="en-IN" dirty="0"/>
              <a:t>3. </a:t>
            </a:r>
            <a:r>
              <a:rPr lang="en-IN" b="1" dirty="0"/>
              <a:t>JavaScript</a:t>
            </a:r>
            <a:r>
              <a:rPr lang="en-IN" dirty="0"/>
              <a:t> to program the behaviour of web pages </a:t>
            </a:r>
          </a:p>
          <a:p>
            <a:endParaRPr lang="en-IN" dirty="0"/>
          </a:p>
          <a:p>
            <a:pPr algn="just"/>
            <a:r>
              <a:rPr lang="en-IN" dirty="0"/>
              <a:t>Web pages are not the only place where JavaScript is used. Many desktop and server programs use JavaScript.</a:t>
            </a:r>
          </a:p>
          <a:p>
            <a:pPr algn="just"/>
            <a:r>
              <a:rPr lang="en-IN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Node.js </a:t>
            </a:r>
            <a:r>
              <a:rPr lang="en-IN" dirty="0"/>
              <a:t>is the best known.</a:t>
            </a:r>
          </a:p>
          <a:p>
            <a:pPr algn="just"/>
            <a:r>
              <a:rPr lang="en-IN" dirty="0"/>
              <a:t>Some databases, like </a:t>
            </a:r>
            <a:r>
              <a:rPr lang="en-IN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MongoDB and CouchDB</a:t>
            </a:r>
            <a:r>
              <a:rPr lang="en-IN" dirty="0"/>
              <a:t>, also use JavaScript as their programming language.</a:t>
            </a:r>
          </a:p>
          <a:p>
            <a:endParaRPr lang="en-IN" dirty="0"/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EB2DB225-4E04-D820-CABE-62259B21D1A6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498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Client side scripting</a:t>
            </a:r>
          </a:p>
          <a:p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33CA307-0EC2-421E-8DD1-7912BCECA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025" y="1620456"/>
            <a:ext cx="7731125" cy="4585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Google Shape;105;p2">
            <a:extLst>
              <a:ext uri="{FF2B5EF4-FFF2-40B4-BE49-F238E27FC236}">
                <a16:creationId xmlns:a16="http://schemas.microsoft.com/office/drawing/2014/main" id="{62662AD0-8B89-D4CD-B32C-B06C27A6F08B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65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8866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SzTx/>
              <a:buNone/>
            </a:pPr>
            <a:r>
              <a:rPr lang="en-GB" sz="2400" dirty="0"/>
              <a:t>JavaScript can be inserted into documents by using the </a:t>
            </a:r>
            <a:r>
              <a:rPr lang="en-GB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&lt;SCRIPT&gt; tag</a:t>
            </a:r>
          </a:p>
          <a:p>
            <a:pPr>
              <a:lnSpc>
                <a:spcPct val="100000"/>
              </a:lnSpc>
              <a:spcBef>
                <a:spcPts val="600"/>
              </a:spcBef>
              <a:buSzTx/>
              <a:buNone/>
            </a:pPr>
            <a:endParaRPr lang="en-US" alt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739" y="2898504"/>
            <a:ext cx="6511611" cy="3170099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&lt;html&gt;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&lt;head&gt;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	&lt;title&gt;Hello World in JavaScript&lt;/title&gt;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&lt;/head&gt;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&lt;body&gt;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	&lt;script type="text/</a:t>
            </a:r>
            <a:r>
              <a:rPr lang="en-GB" sz="2000" dirty="0" err="1"/>
              <a:t>javascript</a:t>
            </a:r>
            <a:r>
              <a:rPr lang="en-GB" sz="2000" dirty="0"/>
              <a:t>"&gt;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		</a:t>
            </a:r>
            <a:r>
              <a:rPr lang="en-GB" sz="2000" dirty="0" err="1"/>
              <a:t>document.write</a:t>
            </a:r>
            <a:r>
              <a:rPr lang="en-GB" sz="2000" dirty="0"/>
              <a:t>("Hello World!");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	&lt;/script&gt;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	&lt;/body&gt;</a:t>
            </a:r>
          </a:p>
          <a:p>
            <a:pPr>
              <a:lnSpc>
                <a:spcPct val="100000"/>
              </a:lnSpc>
              <a:buSzTx/>
              <a:buNone/>
            </a:pPr>
            <a:r>
              <a:rPr lang="en-GB" sz="2000" dirty="0"/>
              <a:t>&lt;/html&gt;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96FD0A41-4849-E9DD-08BA-98E0C1F29171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8866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SzTx/>
              <a:buNone/>
            </a:pPr>
            <a:r>
              <a:rPr lang="en-GB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Where to Put your Scripts</a:t>
            </a:r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r>
              <a:rPr lang="en-GB" sz="2400" dirty="0"/>
              <a:t>You can have any number of script tags at any position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GB" sz="2400" dirty="0"/>
              <a:t>Scripts can be placed in the </a:t>
            </a:r>
            <a:r>
              <a:rPr lang="en-GB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HEAD or in the BODY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GB" dirty="0"/>
              <a:t>In the HEAD, scripts are run before the page is displayed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GB" dirty="0"/>
              <a:t>In the BODY, scripts are run as the page is displayed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GB" dirty="0"/>
              <a:t>In the HEAD is the right place to define functions and variables that are used by scripts within the BODY</a:t>
            </a:r>
            <a:endParaRPr lang="en-US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A691EA0B-8829-1B7E-533B-B94ECC55053E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8866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r>
              <a:rPr lang="en-GB" dirty="0"/>
              <a:t>Scripts can also be loaded from an external file</a:t>
            </a:r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r>
              <a:rPr lang="en-GB" dirty="0"/>
              <a:t>This is useful if you have a complicated script or set of subroutines that are used in several different documents</a:t>
            </a:r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&lt;script </a:t>
            </a:r>
            <a:r>
              <a:rPr lang="en-GB" dirty="0" err="1"/>
              <a:t>src</a:t>
            </a:r>
            <a:r>
              <a:rPr lang="en-GB" dirty="0"/>
              <a:t>="myscript.js"&gt;&lt;/script&gt;</a:t>
            </a:r>
            <a:endParaRPr lang="en-US" altLang="en-US" dirty="0"/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r>
              <a:rPr lang="en-US" dirty="0"/>
              <a:t>The myscript.js should not include the script tags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External Scripts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C0C7049F-D578-E98A-9311-DC28E3D8D204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676395"/>
            <a:ext cx="7731535" cy="8866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400" dirty="0"/>
              <a:t>Debugging JavaScript Errors</a:t>
            </a:r>
          </a:p>
          <a:p>
            <a:pPr>
              <a:buNone/>
            </a:pPr>
            <a:r>
              <a:rPr lang="en-GB" sz="2400" dirty="0"/>
              <a:t>- When you’re learning or using JavaScript, it’s important to be able to track typing or other coding errors.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- Debugging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1782" y="3130357"/>
          <a:ext cx="8317346" cy="363601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05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/>
                        <a:t>Browser 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u="none" strike="noStrike" dirty="0"/>
                        <a:t>How to access JavaScript error messages</a:t>
                      </a:r>
                      <a:endParaRPr lang="en-GB" sz="2000" b="1" i="0" u="none" strike="noStrike" dirty="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1125" indent="0" algn="l" fontAlgn="b"/>
                      <a:r>
                        <a:rPr lang="en-GB" sz="2000" u="none" strike="noStrike" dirty="0"/>
                        <a:t>Apple Safari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r>
                        <a:rPr lang="en-GB" sz="2000" u="none" strike="noStrike" dirty="0"/>
                        <a:t>Select Safari → Preferences → Advanced → “Show Developer menu in menu bar.” You may prefer to use the Firebug Lite JavaScript module, which many people find easier to use.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Google Chrome 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Press Ctrl-Shift-J on a PC, or Command-Shift-J on a Mac.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Mozilla Firefox 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Press Ctrl-Shift-J on a PC, or Command-Shift-J on a Mac.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Microsoft Internet Explorer &amp; Edge 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Press F12 to call up the DevTools Console.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Opera 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11125" indent="0" algn="l" defTabSz="914400" rtl="0" eaLnBrk="1" fontAlgn="b" latinLnBrk="0" hangingPunct="1"/>
                      <a:r>
                        <a:rPr lang="en-GB" sz="2000" u="none" strike="noStrike" kern="1200" dirty="0"/>
                        <a:t>Select Tools → Advanced → Error Console.</a:t>
                      </a:r>
                      <a:endParaRPr lang="en-GB" sz="2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4CB50074-4464-A590-66EC-023FDEF8B319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8866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SzTx/>
              <a:buNone/>
            </a:pPr>
            <a:r>
              <a:rPr lang="en-GB" dirty="0"/>
              <a:t>Comments in JavaScript</a:t>
            </a:r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r>
              <a:rPr lang="en-GB" dirty="0"/>
              <a:t>Single line comment : // </a:t>
            </a:r>
          </a:p>
          <a:p>
            <a:pPr>
              <a:lnSpc>
                <a:spcPct val="100000"/>
              </a:lnSpc>
              <a:spcBef>
                <a:spcPts val="600"/>
              </a:spcBef>
              <a:buSzTx/>
              <a:buFontTx/>
              <a:buChar char="-"/>
            </a:pPr>
            <a:r>
              <a:rPr lang="en-GB" dirty="0"/>
              <a:t>Multiline comments : /* */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- Comments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9A275D99-87AE-E393-9F6B-8826ECA7A47C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7731535" cy="886691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GB" sz="2400" dirty="0"/>
              <a:t>JavaScript generally automatically inserts semicolons at the end of line</a:t>
            </a:r>
          </a:p>
          <a:p>
            <a:pPr>
              <a:buNone/>
            </a:pPr>
            <a:r>
              <a:rPr lang="en-GB" sz="2400" dirty="0"/>
              <a:t>		x += 10 =&gt; x += 10;</a:t>
            </a:r>
          </a:p>
          <a:p>
            <a:pPr>
              <a:buFontTx/>
              <a:buChar char="-"/>
            </a:pPr>
            <a:r>
              <a:rPr lang="en-GB" sz="2400" dirty="0"/>
              <a:t>However, when you wish to place more than one statement on a line, you must separate them with semicolons, like this:</a:t>
            </a:r>
          </a:p>
          <a:p>
            <a:pPr>
              <a:buNone/>
            </a:pPr>
            <a:r>
              <a:rPr lang="en-US" sz="2400" dirty="0"/>
              <a:t>		</a:t>
            </a:r>
            <a:r>
              <a:rPr lang="pl-PL" sz="2400" dirty="0"/>
              <a:t>x += 10; y -= 5; z = 0</a:t>
            </a:r>
            <a:endParaRPr lang="en-US" sz="2400" dirty="0"/>
          </a:p>
          <a:p>
            <a:pPr>
              <a:buFontTx/>
              <a:buChar char="-"/>
            </a:pPr>
            <a:r>
              <a:rPr lang="en-GB" sz="2400" dirty="0"/>
              <a:t>When a statement spans across multiple lines, JavaScript will not raise error if the next line has a valid symbol/literal/token</a:t>
            </a:r>
          </a:p>
          <a:p>
            <a:pPr>
              <a:buNone/>
            </a:pPr>
            <a:r>
              <a:rPr lang="en-US" sz="2400" dirty="0"/>
              <a:t>		return a</a:t>
            </a:r>
          </a:p>
          <a:p>
            <a:pPr>
              <a:buNone/>
            </a:pPr>
            <a:r>
              <a:rPr lang="en-US" sz="2400" dirty="0"/>
              <a:t>		+ b</a:t>
            </a:r>
            <a:endParaRPr lang="en-GB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Using Semicolon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FD07D03C-ABEB-5B54-4621-A46BBEF3CCB7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3" y="1828800"/>
            <a:ext cx="6286968" cy="4377300"/>
          </a:xfrm>
        </p:spPr>
        <p:txBody>
          <a:bodyPr>
            <a:noAutofit/>
          </a:bodyPr>
          <a:lstStyle/>
          <a:p>
            <a:pPr algn="just">
              <a:buFont typeface="Calibri" pitchFamily="34" charset="0"/>
              <a:buChar char="−"/>
            </a:pPr>
            <a:r>
              <a:rPr lang="en-GB" sz="2400" dirty="0"/>
              <a:t>The first character of a variable name can be only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a-z, A-Z, $, or _ </a:t>
            </a:r>
            <a:r>
              <a:rPr lang="en-GB" sz="2400" dirty="0"/>
              <a:t>.</a:t>
            </a:r>
          </a:p>
          <a:p>
            <a:pPr marL="0" indent="0" algn="just">
              <a:buNone/>
            </a:pPr>
            <a:r>
              <a:rPr lang="en-GB" sz="2400" dirty="0"/>
              <a:t>-- Then followed by only the letters a-z, A-Z, 0-9, the $ symbol, and the underscore _.</a:t>
            </a:r>
          </a:p>
          <a:p>
            <a:pPr algn="just">
              <a:buFont typeface="Calibri" pitchFamily="34" charset="0"/>
              <a:buChar char="−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Variable names are case-sensitive. </a:t>
            </a:r>
            <a:r>
              <a:rPr lang="en-US" sz="2400" dirty="0"/>
              <a:t>Count, count and COUNT are three different variables</a:t>
            </a:r>
          </a:p>
          <a:p>
            <a:pPr algn="just">
              <a:buFont typeface="Calibri" pitchFamily="34" charset="0"/>
              <a:buChar char="−"/>
            </a:pPr>
            <a:r>
              <a:rPr lang="en-US" sz="2400" dirty="0"/>
              <a:t>Variable can be declared using </a:t>
            </a:r>
          </a:p>
          <a:p>
            <a:pPr lvl="1" algn="just">
              <a:buFont typeface="Calibri" pitchFamily="34" charset="0"/>
              <a:buChar char="−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let (block scope)</a:t>
            </a:r>
          </a:p>
          <a:p>
            <a:pPr lvl="1" algn="just">
              <a:buFont typeface="Calibri" pitchFamily="34" charset="0"/>
              <a:buChar char="−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var (function or global scope)</a:t>
            </a:r>
          </a:p>
          <a:p>
            <a:pPr lvl="1" algn="just">
              <a:buFont typeface="Calibri" pitchFamily="34" charset="0"/>
              <a:buChar char="−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Const(block scope)</a:t>
            </a:r>
          </a:p>
          <a:p>
            <a:pPr lvl="1" algn="just">
              <a:buFont typeface="Calibri" pitchFamily="34" charset="0"/>
              <a:buChar char="−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use without declaring (global scope)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Variable Declaration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1266BA7-F442-4497-AEEB-ED67CE702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744608"/>
              </p:ext>
            </p:extLst>
          </p:nvPr>
        </p:nvGraphicFramePr>
        <p:xfrm>
          <a:off x="5232400" y="4265506"/>
          <a:ext cx="6845204" cy="174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1301">
                  <a:extLst>
                    <a:ext uri="{9D8B030D-6E8A-4147-A177-3AD203B41FA5}">
                      <a16:colId xmlns:a16="http://schemas.microsoft.com/office/drawing/2014/main" val="2998917670"/>
                    </a:ext>
                  </a:extLst>
                </a:gridCol>
                <a:gridCol w="1711301">
                  <a:extLst>
                    <a:ext uri="{9D8B030D-6E8A-4147-A177-3AD203B41FA5}">
                      <a16:colId xmlns:a16="http://schemas.microsoft.com/office/drawing/2014/main" val="2483700504"/>
                    </a:ext>
                  </a:extLst>
                </a:gridCol>
                <a:gridCol w="1711301">
                  <a:extLst>
                    <a:ext uri="{9D8B030D-6E8A-4147-A177-3AD203B41FA5}">
                      <a16:colId xmlns:a16="http://schemas.microsoft.com/office/drawing/2014/main" val="2191335215"/>
                    </a:ext>
                  </a:extLst>
                </a:gridCol>
                <a:gridCol w="1711301">
                  <a:extLst>
                    <a:ext uri="{9D8B030D-6E8A-4147-A177-3AD203B41FA5}">
                      <a16:colId xmlns:a16="http://schemas.microsoft.com/office/drawing/2014/main" val="1808995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KEYWORD</a:t>
                      </a:r>
                    </a:p>
                  </a:txBody>
                  <a:tcPr>
                    <a:solidFill>
                      <a:srgbClr val="A7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SCOPE</a:t>
                      </a:r>
                    </a:p>
                  </a:txBody>
                  <a:tcPr>
                    <a:solidFill>
                      <a:srgbClr val="A7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CAN BE REASSIGNED</a:t>
                      </a:r>
                    </a:p>
                  </a:txBody>
                  <a:tcPr>
                    <a:solidFill>
                      <a:srgbClr val="A7FF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CAN BE REDECLARED</a:t>
                      </a:r>
                    </a:p>
                  </a:txBody>
                  <a:tcPr>
                    <a:solidFill>
                      <a:srgbClr val="A7F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9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024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68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const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020496"/>
                  </a:ext>
                </a:extLst>
              </a:tr>
            </a:tbl>
          </a:graphicData>
        </a:graphic>
      </p:graphicFrame>
      <p:pic>
        <p:nvPicPr>
          <p:cNvPr id="4" name="Google Shape;105;p2">
            <a:extLst>
              <a:ext uri="{FF2B5EF4-FFF2-40B4-BE49-F238E27FC236}">
                <a16:creationId xmlns:a16="http://schemas.microsoft.com/office/drawing/2014/main" id="{C4882270-1D3E-7BEF-4142-C5FA50A8146D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</a:t>
            </a:r>
            <a:r>
              <a:rPr lang="en-GB" sz="2400" b="1" dirty="0" err="1">
                <a:solidFill>
                  <a:schemeClr val="accent2">
                    <a:lumMod val="75000"/>
                  </a:schemeClr>
                </a:solidFill>
              </a:rPr>
              <a:t>Datatypes</a:t>
            </a:r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B7497CD1-F58C-046E-9EBA-0434F6E656AE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0088A3-0541-2AFA-C526-1C01C6261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11" y="1409549"/>
            <a:ext cx="9665289" cy="53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655373"/>
            <a:ext cx="7731535" cy="5034787"/>
          </a:xfrm>
        </p:spPr>
        <p:txBody>
          <a:bodyPr>
            <a:noAutofit/>
          </a:bodyPr>
          <a:lstStyle/>
          <a:p>
            <a:pPr>
              <a:buFont typeface="Calibri" pitchFamily="34" charset="0"/>
              <a:buChar char="−"/>
            </a:pPr>
            <a:r>
              <a:rPr lang="en-US" sz="2400" dirty="0"/>
              <a:t>JS is loosely typed or dynamic typed</a:t>
            </a:r>
          </a:p>
          <a:p>
            <a:pPr>
              <a:buFont typeface="Calibri" pitchFamily="34" charset="0"/>
              <a:buChar char="−"/>
            </a:pPr>
            <a:r>
              <a:rPr lang="en-US" sz="2400" b="1" dirty="0">
                <a:solidFill>
                  <a:schemeClr val="accent1"/>
                </a:solidFill>
              </a:rPr>
              <a:t>Primitive </a:t>
            </a:r>
            <a:r>
              <a:rPr lang="en-US" sz="2400" b="1" dirty="0" err="1">
                <a:solidFill>
                  <a:schemeClr val="accent1"/>
                </a:solidFill>
              </a:rPr>
              <a:t>Datatypes</a:t>
            </a:r>
            <a:endParaRPr lang="en-US" sz="2400" b="1" dirty="0">
              <a:solidFill>
                <a:schemeClr val="accent1"/>
              </a:solidFill>
            </a:endParaRP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1"/>
                </a:solidFill>
              </a:rPr>
              <a:t>number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1"/>
                </a:solidFill>
              </a:rPr>
              <a:t>string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 err="1">
                <a:solidFill>
                  <a:schemeClr val="accent1"/>
                </a:solidFill>
              </a:rPr>
              <a:t>boolean</a:t>
            </a:r>
            <a:endParaRPr lang="en-US" sz="2200" b="1" dirty="0">
              <a:solidFill>
                <a:schemeClr val="accent1"/>
              </a:solidFill>
            </a:endParaRP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1"/>
                </a:solidFill>
              </a:rPr>
              <a:t>null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1"/>
                </a:solidFill>
              </a:rPr>
              <a:t>undefined</a:t>
            </a:r>
          </a:p>
          <a:p>
            <a:pPr>
              <a:buFont typeface="Calibri" pitchFamily="34" charset="0"/>
              <a:buChar char="−"/>
            </a:pPr>
            <a:r>
              <a:rPr lang="en-US" sz="2400" b="1" dirty="0">
                <a:solidFill>
                  <a:schemeClr val="accent6"/>
                </a:solidFill>
              </a:rPr>
              <a:t>Non-Primitive </a:t>
            </a:r>
            <a:r>
              <a:rPr lang="en-US" sz="2400" b="1" dirty="0" err="1">
                <a:solidFill>
                  <a:schemeClr val="accent6"/>
                </a:solidFill>
              </a:rPr>
              <a:t>Datatypes</a:t>
            </a:r>
            <a:r>
              <a:rPr lang="en-US" sz="2400" b="1" dirty="0">
                <a:solidFill>
                  <a:schemeClr val="accent6"/>
                </a:solidFill>
              </a:rPr>
              <a:t> (used with </a:t>
            </a:r>
            <a:r>
              <a:rPr lang="en-US" sz="2400" b="1" dirty="0">
                <a:solidFill>
                  <a:srgbClr val="FF0000"/>
                </a:solidFill>
              </a:rPr>
              <a:t>new</a:t>
            </a:r>
            <a:r>
              <a:rPr lang="en-US" sz="2400" b="1" dirty="0">
                <a:solidFill>
                  <a:schemeClr val="accent6"/>
                </a:solidFill>
              </a:rPr>
              <a:t> keyword)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6"/>
                </a:solidFill>
              </a:rPr>
              <a:t>Object  		- Boolean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6"/>
                </a:solidFill>
              </a:rPr>
              <a:t>Number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6"/>
                </a:solidFill>
              </a:rPr>
              <a:t>String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6"/>
                </a:solidFill>
              </a:rPr>
              <a:t>Date</a:t>
            </a:r>
          </a:p>
          <a:p>
            <a:pPr lvl="1">
              <a:buFont typeface="Calibri" pitchFamily="34" charset="0"/>
              <a:buChar char="−"/>
            </a:pPr>
            <a:r>
              <a:rPr lang="en-US" sz="2200" b="1" dirty="0">
                <a:solidFill>
                  <a:schemeClr val="accent6"/>
                </a:solidFill>
              </a:rPr>
              <a:t>Array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</a:t>
            </a:r>
            <a:r>
              <a:rPr lang="en-GB" sz="2400" b="1" dirty="0" err="1">
                <a:solidFill>
                  <a:schemeClr val="accent2">
                    <a:lumMod val="75000"/>
                  </a:schemeClr>
                </a:solidFill>
              </a:rPr>
              <a:t>Datatypes</a:t>
            </a:r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B7497CD1-F58C-046E-9EBA-0434F6E656AE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080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461A-B031-4414-931D-E0317441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240"/>
          </a:xfrm>
        </p:spPr>
        <p:txBody>
          <a:bodyPr>
            <a:normAutofit fontScale="90000"/>
          </a:bodyPr>
          <a:lstStyle/>
          <a:p>
            <a:r>
              <a:rPr lang="en-GB" sz="4400" b="1" dirty="0">
                <a:solidFill>
                  <a:schemeClr val="accent2">
                    <a:lumMod val="75000"/>
                  </a:schemeClr>
                </a:solidFill>
              </a:rPr>
              <a:t>JavaScript – Objects</a:t>
            </a:r>
            <a:br>
              <a:rPr lang="en-GB" sz="4400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A86C-1B73-4B0B-B524-522A3D48B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114"/>
            <a:ext cx="10515600" cy="46898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JavaScript, almost "everything" is an object.</a:t>
            </a:r>
          </a:p>
          <a:p>
            <a:endParaRPr lang="en-US" dirty="0"/>
          </a:p>
          <a:p>
            <a:r>
              <a:rPr lang="en-US" dirty="0"/>
              <a:t>Booleans can be objects (if defined with the new keyword)</a:t>
            </a:r>
          </a:p>
          <a:p>
            <a:r>
              <a:rPr lang="en-US" dirty="0"/>
              <a:t>Numbers can be objects (if defined with the new keyword)</a:t>
            </a:r>
          </a:p>
          <a:p>
            <a:r>
              <a:rPr lang="en-US" dirty="0"/>
              <a:t>Strings can be objects (if defined with the new keyword)</a:t>
            </a:r>
          </a:p>
          <a:p>
            <a:r>
              <a:rPr lang="en-US" dirty="0"/>
              <a:t>Dates are always objects</a:t>
            </a:r>
          </a:p>
          <a:p>
            <a:r>
              <a:rPr lang="en-US" dirty="0"/>
              <a:t>Math are always objects</a:t>
            </a:r>
          </a:p>
          <a:p>
            <a:r>
              <a:rPr lang="en-US" dirty="0"/>
              <a:t>Regular expressions are always objects</a:t>
            </a:r>
          </a:p>
          <a:p>
            <a:r>
              <a:rPr lang="en-US" dirty="0"/>
              <a:t>Arrays are always objects</a:t>
            </a:r>
          </a:p>
          <a:p>
            <a:r>
              <a:rPr lang="en-US" dirty="0"/>
              <a:t>Functions are always objects</a:t>
            </a:r>
          </a:p>
          <a:p>
            <a:r>
              <a:rPr lang="en-US" dirty="0"/>
              <a:t>Objects are always objects</a:t>
            </a:r>
          </a:p>
          <a:p>
            <a:r>
              <a:rPr lang="en-US" dirty="0"/>
              <a:t>All JavaScript values, except primitives, are objects.</a:t>
            </a:r>
            <a:endParaRPr lang="en-IN" dirty="0"/>
          </a:p>
        </p:txBody>
      </p:sp>
      <p:pic>
        <p:nvPicPr>
          <p:cNvPr id="5" name="Google Shape;105;p2">
            <a:extLst>
              <a:ext uri="{FF2B5EF4-FFF2-40B4-BE49-F238E27FC236}">
                <a16:creationId xmlns:a16="http://schemas.microsoft.com/office/drawing/2014/main" id="{9038A1A6-7DCF-4822-FCAE-9012109FC72F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5129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828800"/>
            <a:ext cx="8521865" cy="8866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400" dirty="0"/>
              <a:t>JavaScript has most of the operators we're used to from C/Java</a:t>
            </a:r>
          </a:p>
          <a:p>
            <a:pPr>
              <a:buFont typeface="Calibri" pitchFamily="34" charset="0"/>
              <a:buChar char="−"/>
            </a:pPr>
            <a:r>
              <a:rPr lang="en-GB" sz="2400" dirty="0"/>
              <a:t>Arithmetic (+, - , *, /, %) .</a:t>
            </a:r>
          </a:p>
          <a:p>
            <a:pPr>
              <a:buFont typeface="Calibri" pitchFamily="34" charset="0"/>
              <a:buChar char="−"/>
            </a:pPr>
            <a:r>
              <a:rPr lang="en-GB" sz="2400" dirty="0"/>
              <a:t>Assignment (=, +=, -=, *=/=, %=, ++, --)</a:t>
            </a:r>
          </a:p>
          <a:p>
            <a:pPr>
              <a:buFont typeface="Calibri" pitchFamily="34" charset="0"/>
              <a:buChar char="−"/>
            </a:pPr>
            <a:r>
              <a:rPr lang="en-GB" sz="2400" dirty="0"/>
              <a:t>Logical (&amp;&amp;, ||, !)</a:t>
            </a:r>
          </a:p>
          <a:p>
            <a:pPr>
              <a:buFont typeface="Calibri" pitchFamily="34" charset="0"/>
              <a:buChar char="−"/>
            </a:pPr>
            <a:r>
              <a:rPr lang="en-GB" sz="2400" dirty="0"/>
              <a:t>Comparison (&lt;, &gt;, &lt;=, &gt;=, ==, ===,!=,!==)</a:t>
            </a:r>
          </a:p>
          <a:p>
            <a:pPr>
              <a:buFont typeface="Calibri" pitchFamily="34" charset="0"/>
              <a:buChar char="−"/>
            </a:pPr>
            <a:endParaRPr lang="en-GB" sz="2400" dirty="0"/>
          </a:p>
          <a:p>
            <a:pPr>
              <a:buNone/>
            </a:pPr>
            <a:r>
              <a:rPr lang="en-GB" sz="2400" dirty="0"/>
              <a:t>Note: + also does concatenation if one of the operands is string </a:t>
            </a:r>
          </a:p>
          <a:p>
            <a:pPr>
              <a:buFont typeface="Calibri" pitchFamily="34" charset="0"/>
              <a:buChar char="−"/>
            </a:pPr>
            <a:endParaRPr lang="en-GB" sz="2400" dirty="0"/>
          </a:p>
          <a:p>
            <a:pPr>
              <a:buFont typeface="Calibri" pitchFamily="34" charset="0"/>
              <a:buChar char="−"/>
            </a:pPr>
            <a:r>
              <a:rPr lang="en-GB" sz="2400" dirty="0"/>
              <a:t>Constructs:  if, else, while, for, switch, case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Operators and Constructs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D6424AA7-8759-C1A5-5C9E-9F4FDC097DA0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1487114"/>
            <a:ext cx="10030101" cy="338259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length = 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                       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Number</a:t>
            </a:r>
          </a:p>
          <a:p>
            <a:pPr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"Johnson"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              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</a:t>
            </a:r>
          </a:p>
          <a:p>
            <a:pPr>
              <a:buNone/>
            </a:pPr>
            <a:r>
              <a:rPr lang="en-IN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IN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Output: 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16Volve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adding a number and a string, JavaScript will treat the number as a string.</a:t>
            </a:r>
          </a:p>
          <a:p>
            <a:pPr>
              <a:buNone/>
            </a:pPr>
            <a:r>
              <a:rPr lang="en-IN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IN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Output: Volve16</a:t>
            </a:r>
          </a:p>
          <a:p>
            <a:pPr>
              <a:buNone/>
            </a:pPr>
            <a:r>
              <a:rPr lang="da-DK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da-DK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Output: 20Volve</a:t>
            </a:r>
          </a:p>
          <a:p>
            <a:pPr>
              <a:buNone/>
            </a:pPr>
            <a:r>
              <a:rPr lang="da-DK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da-DK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a-DK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</a:rPr>
              <a:t>Output: Volve164</a:t>
            </a:r>
          </a:p>
          <a:p>
            <a:pPr algn="l"/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the first example, JavaScript treats 16 and 4 as numbers, until it reaches "Volvo".</a:t>
            </a:r>
          </a:p>
          <a:p>
            <a:pPr algn="l"/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the second example, since the first operand is a string, all operands are treated as strings.</a:t>
            </a:r>
          </a:p>
          <a:p>
            <a:pPr>
              <a:buNone/>
            </a:pPr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None/>
            </a:pP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JavaScript Code – Data types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4EEBECE8-8633-6B6A-1749-CEA172BEBA47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946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JS concatenation and Addition (+)</a:t>
            </a:r>
          </a:p>
          <a:p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7B26DA7-6EDB-4EC2-89F9-497AA06C633C}"/>
              </a:ext>
            </a:extLst>
          </p:cNvPr>
          <p:cNvSpPr txBox="1">
            <a:spLocks/>
          </p:cNvSpPr>
          <p:nvPr/>
        </p:nvSpPr>
        <p:spPr>
          <a:xfrm>
            <a:off x="685800" y="1736203"/>
            <a:ext cx="9268428" cy="40164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r>
              <a:rPr lang="en-IN" sz="3100" dirty="0"/>
              <a:t>The + operator can also be used to add (concatenate) strings.</a:t>
            </a:r>
          </a:p>
          <a:p>
            <a:r>
              <a:rPr lang="sv-SE" sz="3100" dirty="0">
                <a:solidFill>
                  <a:srgbClr val="FF0000"/>
                </a:solidFill>
              </a:rPr>
              <a:t>var txt1 = ”A";</a:t>
            </a:r>
            <a:br>
              <a:rPr lang="sv-SE" sz="3100" dirty="0">
                <a:solidFill>
                  <a:srgbClr val="FF0000"/>
                </a:solidFill>
              </a:rPr>
            </a:br>
            <a:r>
              <a:rPr lang="sv-SE" sz="3100" dirty="0">
                <a:solidFill>
                  <a:srgbClr val="FF0000"/>
                </a:solidFill>
              </a:rPr>
              <a:t>var txt2 = ”SECTION";</a:t>
            </a:r>
            <a:br>
              <a:rPr lang="sv-SE" sz="3100" dirty="0">
                <a:solidFill>
                  <a:srgbClr val="FF0000"/>
                </a:solidFill>
              </a:rPr>
            </a:br>
            <a:r>
              <a:rPr lang="sv-SE" sz="3100" dirty="0">
                <a:solidFill>
                  <a:srgbClr val="FF0000"/>
                </a:solidFill>
              </a:rPr>
              <a:t>var txt3 = txt1 + " " + txt2;   // A SECTION</a:t>
            </a:r>
          </a:p>
          <a:p>
            <a:endParaRPr lang="sv-SE" sz="3100" dirty="0">
              <a:solidFill>
                <a:srgbClr val="FF0000"/>
              </a:solidFill>
            </a:endParaRPr>
          </a:p>
          <a:p>
            <a:r>
              <a:rPr lang="en-IN" sz="3100" dirty="0">
                <a:solidFill>
                  <a:srgbClr val="FF0000"/>
                </a:solidFill>
              </a:rPr>
              <a:t>var txt1 = "What a very ";</a:t>
            </a:r>
            <a:br>
              <a:rPr lang="en-IN" sz="3100" dirty="0">
                <a:solidFill>
                  <a:srgbClr val="FF0000"/>
                </a:solidFill>
              </a:rPr>
            </a:br>
            <a:r>
              <a:rPr lang="en-IN" sz="3100" dirty="0">
                <a:solidFill>
                  <a:srgbClr val="FF0000"/>
                </a:solidFill>
              </a:rPr>
              <a:t>txt1 += "nice day";  // What a very nice day</a:t>
            </a:r>
          </a:p>
          <a:p>
            <a:endParaRPr lang="en-IN" sz="3100" dirty="0">
              <a:solidFill>
                <a:srgbClr val="FF0000"/>
              </a:solidFill>
            </a:endParaRPr>
          </a:p>
          <a:p>
            <a:r>
              <a:rPr lang="en-IN" sz="3100" dirty="0">
                <a:solidFill>
                  <a:srgbClr val="FF0000"/>
                </a:solidFill>
              </a:rPr>
              <a:t>var x = 5 + 5;    // 10</a:t>
            </a:r>
            <a:br>
              <a:rPr lang="en-IN" sz="3100" dirty="0">
                <a:solidFill>
                  <a:srgbClr val="FF0000"/>
                </a:solidFill>
              </a:rPr>
            </a:br>
            <a:r>
              <a:rPr lang="en-IN" sz="3100" dirty="0">
                <a:solidFill>
                  <a:srgbClr val="FF0000"/>
                </a:solidFill>
              </a:rPr>
              <a:t>var y = "5" + 5;    //55  </a:t>
            </a:r>
            <a:br>
              <a:rPr lang="en-IN" sz="3100" dirty="0">
                <a:solidFill>
                  <a:srgbClr val="FF0000"/>
                </a:solidFill>
              </a:rPr>
            </a:br>
            <a:r>
              <a:rPr lang="en-IN" sz="3100" dirty="0">
                <a:solidFill>
                  <a:srgbClr val="FF0000"/>
                </a:solidFill>
              </a:rPr>
              <a:t>var z = "Hello" + 5;    // Hello5</a:t>
            </a:r>
          </a:p>
          <a:p>
            <a:endParaRPr lang="en-IN" dirty="0"/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21C5FDC7-5AC4-4F52-E3FD-5A4396A5FF6C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822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Loops</a:t>
            </a:r>
          </a:p>
          <a:p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455067B-ED00-44C9-98AA-6D45898B3686}"/>
              </a:ext>
            </a:extLst>
          </p:cNvPr>
          <p:cNvSpPr txBox="1">
            <a:spLocks/>
          </p:cNvSpPr>
          <p:nvPr/>
        </p:nvSpPr>
        <p:spPr>
          <a:xfrm>
            <a:off x="869010" y="1713053"/>
            <a:ext cx="8807425" cy="3102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JavaScript supports different kinds of loops: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for </a:t>
            </a:r>
            <a:r>
              <a:rPr lang="en-IN" sz="2400" dirty="0"/>
              <a:t>- loops through a block of code a number of times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for/in </a:t>
            </a:r>
            <a:r>
              <a:rPr lang="en-IN" sz="2400" dirty="0"/>
              <a:t>- loops through the properties of an object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while </a:t>
            </a:r>
            <a:r>
              <a:rPr lang="en-IN" sz="2400" dirty="0"/>
              <a:t>- loops through a block of code while a specified condition is true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do/while</a:t>
            </a:r>
            <a:r>
              <a:rPr lang="en-IN" sz="2400" dirty="0"/>
              <a:t> - also loops through a block of code while a specified condition is true</a:t>
            </a:r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894FA35B-4028-F5EB-A6DE-C72EC31874CA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9163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</a:rPr>
              <a:t>For/in loop:</a:t>
            </a:r>
          </a:p>
          <a:p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F6C00-EF9F-4124-B084-CC2BB2C3989B}"/>
              </a:ext>
            </a:extLst>
          </p:cNvPr>
          <p:cNvSpPr txBox="1"/>
          <p:nvPr/>
        </p:nvSpPr>
        <p:spPr>
          <a:xfrm>
            <a:off x="914400" y="2000732"/>
            <a:ext cx="82238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</a:rPr>
              <a:t>For/in loop:</a:t>
            </a:r>
          </a:p>
          <a:p>
            <a:r>
              <a:rPr lang="en-IN" sz="2400" dirty="0"/>
              <a:t>The JavaScript for/in statement loops through the properties of an object.</a:t>
            </a:r>
          </a:p>
          <a:p>
            <a:endParaRPr lang="en-IN" sz="2400" u="sng" dirty="0">
              <a:solidFill>
                <a:srgbClr val="FF0000"/>
              </a:solidFill>
            </a:endParaRPr>
          </a:p>
          <a:p>
            <a:r>
              <a:rPr lang="en-IN" sz="2400" dirty="0"/>
              <a:t>var person = {</a:t>
            </a:r>
            <a:r>
              <a:rPr lang="en-IN" sz="2400" dirty="0" err="1"/>
              <a:t>fname</a:t>
            </a:r>
            <a:r>
              <a:rPr lang="en-IN" sz="2400" dirty="0"/>
              <a:t>:"John", </a:t>
            </a:r>
            <a:r>
              <a:rPr lang="en-IN" sz="2400" dirty="0" err="1"/>
              <a:t>lname</a:t>
            </a:r>
            <a:r>
              <a:rPr lang="en-IN" sz="2400" dirty="0"/>
              <a:t>:"Doe", age:25}; </a:t>
            </a:r>
            <a:br>
              <a:rPr lang="en-IN" sz="2400" dirty="0"/>
            </a:br>
            <a:r>
              <a:rPr lang="en-IN" sz="2400" dirty="0"/>
              <a:t>var text = "";</a:t>
            </a:r>
            <a:br>
              <a:rPr lang="en-IN" sz="2400" dirty="0"/>
            </a:br>
            <a:r>
              <a:rPr lang="en-IN" sz="2400" dirty="0"/>
              <a:t>var x;</a:t>
            </a:r>
            <a:br>
              <a:rPr lang="en-IN" sz="2400" dirty="0"/>
            </a:br>
            <a:r>
              <a:rPr lang="en-IN" sz="2400" dirty="0"/>
              <a:t>for (x in person) {</a:t>
            </a:r>
            <a:br>
              <a:rPr lang="en-IN" sz="2400" dirty="0"/>
            </a:br>
            <a:r>
              <a:rPr lang="en-IN" sz="2400" dirty="0"/>
              <a:t>    text += person[x];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52B21CBA-7B46-9A4A-3AAC-511A28A60C77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035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</a:rPr>
              <a:t>Equality</a:t>
            </a:r>
          </a:p>
          <a:p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F6C00-EF9F-4124-B084-CC2BB2C3989B}"/>
              </a:ext>
            </a:extLst>
          </p:cNvPr>
          <p:cNvSpPr txBox="1"/>
          <p:nvPr/>
        </p:nvSpPr>
        <p:spPr>
          <a:xfrm>
            <a:off x="914400" y="2072922"/>
            <a:ext cx="822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F94A29-6E0B-4219-8926-0798859F9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15000"/>
            <a:ext cx="5518484" cy="4726479"/>
          </a:xfrm>
          <a:prstGeom prst="rect">
            <a:avLst/>
          </a:prstGeom>
        </p:spPr>
      </p:pic>
      <p:pic>
        <p:nvPicPr>
          <p:cNvPr id="4" name="Google Shape;105;p2">
            <a:extLst>
              <a:ext uri="{FF2B5EF4-FFF2-40B4-BE49-F238E27FC236}">
                <a16:creationId xmlns:a16="http://schemas.microsoft.com/office/drawing/2014/main" id="{7E5E7796-6DFC-5D02-DB9C-A9E86EEF2187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479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rgbClr val="FF0000"/>
                </a:solidFill>
              </a:rPr>
              <a:t>Strict Equality</a:t>
            </a:r>
          </a:p>
          <a:p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JavaScript - Basics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F6C00-EF9F-4124-B084-CC2BB2C3989B}"/>
              </a:ext>
            </a:extLst>
          </p:cNvPr>
          <p:cNvSpPr txBox="1"/>
          <p:nvPr/>
        </p:nvSpPr>
        <p:spPr>
          <a:xfrm>
            <a:off x="914400" y="2072922"/>
            <a:ext cx="822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D8384-7EE9-46BD-87B5-E77DBAB0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84" y="1781174"/>
            <a:ext cx="5525753" cy="4435987"/>
          </a:xfrm>
          <a:prstGeom prst="rect">
            <a:avLst/>
          </a:prstGeom>
        </p:spPr>
      </p:pic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829F6796-1C46-3294-D03C-BE62D26AA356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7393" y="10586"/>
            <a:ext cx="875390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0759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0026" y="1606241"/>
            <a:ext cx="2415243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err="1"/>
              <a:t>Prof.Vinay</a:t>
            </a:r>
            <a:r>
              <a:rPr lang="en-IN" sz="2400" b="1" dirty="0"/>
              <a:t> Joshi and </a:t>
            </a:r>
            <a:r>
              <a:rPr lang="en-IN" sz="2400" b="1" dirty="0" err="1"/>
              <a:t>Dr.Sarasvathi</a:t>
            </a:r>
            <a:r>
              <a:rPr lang="en-IN" sz="2400" b="1" dirty="0"/>
              <a:t> 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2584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Computer Science and 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12252</TotalTime>
  <Words>1623</Words>
  <Application>Microsoft Office PowerPoint</Application>
  <PresentationFormat>Widescreen</PresentationFormat>
  <Paragraphs>225</Paragraphs>
  <Slides>25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JavaScript – Objects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Prahallad Nith</dc:creator>
  <cp:lastModifiedBy>Ramasubramanian Srinivasan</cp:lastModifiedBy>
  <cp:revision>264</cp:revision>
  <dcterms:created xsi:type="dcterms:W3CDTF">2019-05-30T23:14:36Z</dcterms:created>
  <dcterms:modified xsi:type="dcterms:W3CDTF">2023-08-18T05:43:49Z</dcterms:modified>
</cp:coreProperties>
</file>