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hMhg0AaDH4poIIKcHJgzHao78J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D8DCEC-E7FE-4570-940D-20390CA37B27}">
  <a:tblStyle styleId="{B4D8DCEC-E7FE-4570-940D-20390CA37B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5.jp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WEB TECHNOLOGIES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781916" y="2841955"/>
            <a:ext cx="69944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Vinay Joshi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781916" y="4813108"/>
            <a:ext cx="749721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Science and Engineering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89" name="Google Shape;89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1" name="Google Shape;91;p1"/>
          <p:cNvCxnSpPr/>
          <p:nvPr/>
        </p:nvCxnSpPr>
        <p:spPr>
          <a:xfrm flipH="1" rot="10800000">
            <a:off x="4781916" y="4112436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938" y="1606241"/>
            <a:ext cx="2103079" cy="35501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4" name="Google Shape;94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598488" y="1849438"/>
            <a:ext cx="7497762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98488" y="2889250"/>
            <a:ext cx="74977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Basic Concepts and Definitions</a:t>
            </a:r>
            <a:endParaRPr b="1" i="0" sz="36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98488" y="5489575"/>
            <a:ext cx="749776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Spurthi N Anjan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98488" y="5888038"/>
            <a:ext cx="74977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5" name="Google Shape;105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7" name="Google Shape;107;p2"/>
          <p:cNvCxnSpPr/>
          <p:nvPr/>
        </p:nvCxnSpPr>
        <p:spPr>
          <a:xfrm flipH="1" rot="10800000">
            <a:off x="0" y="2597150"/>
            <a:ext cx="7904163" cy="68263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cooler Gaming Mouse Wired RGB Ergonomic Game Mouse USB Computer ...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503" y="2660073"/>
            <a:ext cx="4197927" cy="41979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y Hyperx Alloy Core Wired Gaming Keyboard | PC keyboards ...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11948"/>
            <a:ext cx="5790029" cy="339681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are Events?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3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4"/>
          <p:cNvSpPr/>
          <p:nvPr/>
        </p:nvSpPr>
        <p:spPr>
          <a:xfrm>
            <a:off x="598487" y="1683823"/>
            <a:ext cx="9286875" cy="3959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HTML events: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 user clicks the mouse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 web page has loaded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an image has been loaded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mouse moves over an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an input field is changed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an HTML form is submitted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 user strokes a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8001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are Events?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5775" y="2700338"/>
            <a:ext cx="51054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are Events?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6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6050" y="2322513"/>
            <a:ext cx="5010150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What are Events?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7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0" y="2589213"/>
            <a:ext cx="52197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 simple event handler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p8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8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63" y="2165350"/>
            <a:ext cx="7289800" cy="29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Handlers and Event Listeners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>
            <a:off x="0" y="1481715"/>
            <a:ext cx="11698288" cy="505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are created by activities associated with specific HTML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connecting an event handler to an event is called 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distinct approaches to event handler registration,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element attributes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event handlers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handler addresses to object properties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2" marL="12573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handler properties and Event listeners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80010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371475" y="65246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Handlers and Event Listeners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0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10"/>
          <p:cNvSpPr/>
          <p:nvPr/>
        </p:nvSpPr>
        <p:spPr>
          <a:xfrm>
            <a:off x="200025" y="1093788"/>
            <a:ext cx="11698288" cy="55546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are created by activities associated with specific HTML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For example, the click event can be caused by the browser user clicking a radio button or the link of an anchor tag.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connecting an event handler to an event is called registration.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distinct approaches to event handler registration,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that assigns tag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that assigns handler addresses to object properties.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371475" y="70485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Assigning events to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1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11"/>
          <p:cNvSpPr/>
          <p:nvPr/>
        </p:nvSpPr>
        <p:spPr>
          <a:xfrm>
            <a:off x="200025" y="1524000"/>
            <a:ext cx="11698288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20688" y="1492250"/>
            <a:ext cx="8723312" cy="3278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ways to assign events to elements: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event handlers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handler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Event listeners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371475" y="70485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Assigning events to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2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12"/>
          <p:cNvSpPr/>
          <p:nvPr/>
        </p:nvSpPr>
        <p:spPr>
          <a:xfrm>
            <a:off x="200025" y="1524000"/>
            <a:ext cx="11698288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420688" y="1492250"/>
            <a:ext cx="8723312" cy="154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Inline event handlers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838" y="2627312"/>
            <a:ext cx="110299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371475" y="652463"/>
            <a:ext cx="79994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Handler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3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9" name="Google Shape;209;p13"/>
          <p:cNvSpPr/>
          <p:nvPr/>
        </p:nvSpPr>
        <p:spPr>
          <a:xfrm>
            <a:off x="200025" y="1376363"/>
            <a:ext cx="8081963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346075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element can be assigned the event handler property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0" marL="346075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element.on&lt;event&gt; = handler;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0" marL="346075" marR="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involves two parts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correct event name it is to be listening for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handler callback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40163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40163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div.onclick = change;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401638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div.onmouseover = function(){ …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/>
          <p:nvPr/>
        </p:nvSpPr>
        <p:spPr>
          <a:xfrm>
            <a:off x="371475" y="70485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Assigning events to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4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14"/>
          <p:cNvSpPr/>
          <p:nvPr/>
        </p:nvSpPr>
        <p:spPr>
          <a:xfrm>
            <a:off x="200025" y="1524000"/>
            <a:ext cx="11698288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20688" y="1492250"/>
            <a:ext cx="8723312" cy="154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handler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475" y="2795587"/>
            <a:ext cx="110871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"/>
          <p:cNvSpPr/>
          <p:nvPr/>
        </p:nvSpPr>
        <p:spPr>
          <a:xfrm>
            <a:off x="371475" y="652463"/>
            <a:ext cx="79994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Listeners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5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9" name="Google Shape;229;p15"/>
          <p:cNvSpPr/>
          <p:nvPr/>
        </p:nvSpPr>
        <p:spPr>
          <a:xfrm>
            <a:off x="200025" y="1376363"/>
            <a:ext cx="8081963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346075" lvl="0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event listener watches for an event on an element.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0" marL="346075" marR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element.addEventListener(event, handler)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0" marL="346075" marR="0" rtl="0" algn="just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 takes two mandatory parameters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event it is to be listening for.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2" marL="8032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handler callback function.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1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1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div.addEventListener(“click”, change);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1" marL="346075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div.addEventListener(“keypress”, function(){ … });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/>
          <p:nvPr/>
        </p:nvSpPr>
        <p:spPr>
          <a:xfrm>
            <a:off x="371475" y="70485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Assigning events to elements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16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16"/>
          <p:cNvSpPr/>
          <p:nvPr/>
        </p:nvSpPr>
        <p:spPr>
          <a:xfrm>
            <a:off x="200025" y="1524000"/>
            <a:ext cx="11698288" cy="738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393700" y="1363663"/>
            <a:ext cx="8723312" cy="154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listeners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5240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00" y="2370139"/>
            <a:ext cx="112395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200" y="5097465"/>
            <a:ext cx="110585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17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p17"/>
          <p:cNvSpPr/>
          <p:nvPr/>
        </p:nvSpPr>
        <p:spPr>
          <a:xfrm>
            <a:off x="371475" y="652463"/>
            <a:ext cx="79994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Sources and example events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1" name="Google Shape;251;p17"/>
          <p:cNvGraphicFramePr/>
          <p:nvPr/>
        </p:nvGraphicFramePr>
        <p:xfrm>
          <a:off x="438727" y="1676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{B4D8DCEC-E7FE-4570-940D-20390CA37B27}</a:tableStyleId>
              </a:tblPr>
              <a:tblGrid>
                <a:gridCol w="1390075"/>
                <a:gridCol w="1537850"/>
                <a:gridCol w="5721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Source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Event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Fires When…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  <a:tr h="1425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Mouse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click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the mouse is clicked and released on an element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dblclick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an element is clicked twice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mousemove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every time a mouse pointer moves inside an element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mouseover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every time a mouse pointer is placed over an element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Keyboard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keydown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when a key is pressed down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keyup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when a key pressed is released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keypress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when a key is pressed and released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Form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submit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a form is submitted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reset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a form reset button is clicked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focus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an input element is clicked and receives focus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blur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u="none" cap="none" strike="noStrike"/>
                        <a:t>an input element loses focus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Mouse Events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8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825" y="2111375"/>
            <a:ext cx="9305925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Form Events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9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7" name="Google Shape;2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2249488"/>
            <a:ext cx="9344025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Keyboard Events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20"/>
          <p:cNvCxnSpPr/>
          <p:nvPr/>
        </p:nvCxnSpPr>
        <p:spPr>
          <a:xfrm>
            <a:off x="0" y="822325"/>
            <a:ext cx="8299450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5" name="Google Shape;2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088" y="2225675"/>
            <a:ext cx="9344025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Concepts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1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21"/>
          <p:cNvSpPr txBox="1"/>
          <p:nvPr/>
        </p:nvSpPr>
        <p:spPr>
          <a:xfrm>
            <a:off x="430213" y="1587500"/>
            <a:ext cx="8008937" cy="397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Objects have properties and methods, and respond to events.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– specify attributes or characteristic of object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– specify functions object can perform.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– methods corresponding to user actions.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These nodes can be elements, attributes, text content, comments.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22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92" name="Google Shape;292;p22"/>
          <p:cNvGraphicFramePr/>
          <p:nvPr/>
        </p:nvGraphicFramePr>
        <p:xfrm>
          <a:off x="387640" y="2135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{B4D8DCEC-E7FE-4570-940D-20390CA37B27}</a:tableStyleId>
              </a:tblPr>
              <a:tblGrid>
                <a:gridCol w="1981500"/>
                <a:gridCol w="1565575"/>
                <a:gridCol w="5181600"/>
              </a:tblGrid>
              <a:tr h="13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N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N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IE5-8 Equivalent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N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Specifies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51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srcElement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target of the event (most specific element).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name of event fired (without the on prefix)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altKey / shiftKey / ctrlKey / metaKey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true/false to signify if Alt Key or Shift Key or Ctrl Key or Meta Key was pressed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charCode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keyCode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Unicode character code of the pressed key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Character Name (‘a’ or ‘F1’ or ‘CAPS LOCK’)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button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/>
                        <a:t>Returns which mouse button was pressed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clientX, clientY / offsetX, offsetY / screenX, screenY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coordinates of the mouse pointer when the event triggered, relative to, the current window / target element / screen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</a:tbl>
          </a:graphicData>
        </a:graphic>
      </p:graphicFrame>
      <p:sp>
        <p:nvSpPr>
          <p:cNvPr id="293" name="Google Shape;293;p22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Object Properties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471055" y="1524000"/>
            <a:ext cx="7924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Event object holds the context or details of the event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/>
          <p:nvPr/>
        </p:nvSpPr>
        <p:spPr>
          <a:xfrm>
            <a:off x="371475" y="652463"/>
            <a:ext cx="79994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Object Properties (contd.)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23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23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Events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138" y="2586038"/>
            <a:ext cx="9344025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Concept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24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11" name="Google Shape;311;p24"/>
          <p:cNvGraphicFramePr/>
          <p:nvPr/>
        </p:nvGraphicFramePr>
        <p:xfrm>
          <a:off x="650875" y="1774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{B4D8DCEC-E7FE-4570-940D-20390CA37B27}</a:tableStyleId>
              </a:tblPr>
              <a:tblGrid>
                <a:gridCol w="2634600"/>
                <a:gridCol w="2634600"/>
                <a:gridCol w="2634600"/>
              </a:tblGrid>
              <a:tr h="80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IE5-8 Equivalent Property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150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preventDefault()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cancels the default behavior of the event (if possible).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114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stopPropogation()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cancelBubble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stops any further bubbling/ capturing of the event.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</a:tbl>
          </a:graphicData>
        </a:graphic>
      </p:graphicFrame>
      <p:sp>
        <p:nvSpPr>
          <p:cNvPr id="312" name="Google Shape;312;p24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Object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Concepts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25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0" name="Google Shape;320;p25"/>
          <p:cNvSpPr txBox="1"/>
          <p:nvPr/>
        </p:nvSpPr>
        <p:spPr>
          <a:xfrm>
            <a:off x="430213" y="1587500"/>
            <a:ext cx="9218612" cy="5078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an event occurs in an element inside another element, and both elements have registered a handle for that event.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Propagation is the process of calling all the listeners for the given event type, attached to the nodes on the branch.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listener will be called with an event object that gathers information relevant to the event.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listeners can be registered on a node for the same event type.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propagation reaches one such node, listeners are invoked in the order of their registration.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Delegation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6"/>
          <p:cNvSpPr/>
          <p:nvPr/>
        </p:nvSpPr>
        <p:spPr>
          <a:xfrm>
            <a:off x="393700" y="368300"/>
            <a:ext cx="7496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26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329" name="Google Shape;329;p26"/>
          <p:cNvGraphicFramePr/>
          <p:nvPr/>
        </p:nvGraphicFramePr>
        <p:xfrm>
          <a:off x="387640" y="2135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{B4D8DCEC-E7FE-4570-940D-20390CA37B27}</a:tableStyleId>
              </a:tblPr>
              <a:tblGrid>
                <a:gridCol w="1981500"/>
                <a:gridCol w="1565575"/>
                <a:gridCol w="5181600"/>
              </a:tblGrid>
              <a:tr h="13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N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Property/ Method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N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IE5-8 Equivalent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IN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</a:tr>
              <a:tr h="51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srcElement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specifies the target of the event (most specific element).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specifies the type of event fired.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cancelable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supported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specifies whether you can cancel the default behaviour of an element.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preventDefault()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returnValue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cancels the default behavior of the event (if possible).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  <a:tr h="555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stopPropogation()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cancelBubble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7625" marB="47625" marR="47625" marL="4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stops any further bubbling/ capturing of the event.</a:t>
                      </a:r>
                      <a:endParaRPr sz="1400" u="none" cap="none" strike="noStrike"/>
                    </a:p>
                  </a:txBody>
                  <a:tcPr marT="47625" marB="47625" marR="47625" marL="47625" anchor="ctr"/>
                </a:tc>
              </a:tr>
            </a:tbl>
          </a:graphicData>
        </a:graphic>
      </p:graphicFrame>
      <p:sp>
        <p:nvSpPr>
          <p:cNvPr id="330" name="Google Shape;330;p26"/>
          <p:cNvSpPr/>
          <p:nvPr/>
        </p:nvSpPr>
        <p:spPr>
          <a:xfrm>
            <a:off x="371475" y="735013"/>
            <a:ext cx="7999413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Object Properties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471055" y="1524000"/>
            <a:ext cx="7924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Event object holds the context or details of the event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27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8" name="Google Shape;338;p27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168275" y="1492250"/>
            <a:ext cx="9428163" cy="5078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There are two ways in which an event can function: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Event Bubbling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Event Capturing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Why the event flow matters?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flow of events only really matters when the code has event handlers on both an element and one of its ancestor/descendant elements. If the Boolean value is true, it sets the capturing phase but if false, it is the bubbling phase.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"/>
          <p:cNvSpPr/>
          <p:nvPr/>
        </p:nvSpPr>
        <p:spPr>
          <a:xfrm>
            <a:off x="371475" y="60960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Event Bubbling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28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28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71638"/>
            <a:ext cx="4775200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/>
          <p:nvPr/>
        </p:nvSpPr>
        <p:spPr>
          <a:xfrm>
            <a:off x="371475" y="609600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Event Capturing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9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6" name="Google Shape;356;p29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Event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513" y="1828800"/>
            <a:ext cx="5443537" cy="411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49115" y="469900"/>
            <a:ext cx="952348" cy="1398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3" name="Google Shape;363;p30"/>
          <p:cNvCxnSpPr/>
          <p:nvPr/>
        </p:nvCxnSpPr>
        <p:spPr>
          <a:xfrm flipH="1" rot="10800000">
            <a:off x="5448168" y="2887307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" name="Google Shape;364;p30"/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vinayj@pes.edu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5460537" y="457301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+91 80 2672 6622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2384" y="1606241"/>
            <a:ext cx="2392886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Vinay Joshi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5448168" y="3525847"/>
            <a:ext cx="749721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0" name="Google Shape;370;p30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71" name="Google Shape;371;p30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0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0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