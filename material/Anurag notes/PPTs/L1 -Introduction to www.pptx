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7" roundtripDataSignature="AMtx7mh0ooUgvnhWCVxaeKc42AWWD6L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xample.com/images/pic.jpg" TargetMode="External"/><Relationship Id="rId3" Type="http://schemas.openxmlformats.org/officeDocument/2006/relationships/hyperlink" Target="http://www.example.com/" TargetMode="External"/><Relationship Id="rId4" Type="http://schemas.openxmlformats.org/officeDocument/2006/relationships/hyperlink" Target="mailto:john@example.com" TargetMode="External"/><Relationship Id="rId5" Type="http://schemas.openxmlformats.org/officeDocument/2006/relationships/hyperlink" Target="https://www.example.com/page.html" TargetMode="External"/><Relationship Id="rId6" Type="http://schemas.openxmlformats.org/officeDocument/2006/relationships/hyperlink" Target="https://www.example.com/page.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24f336b21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g3724f336b21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The Internet is a global network of interconnected computers and servers that spans the entire globe. It is a massive infrastructure that allows various devices and networks to communicate with each other, enabling data exchange, communication, and information sharing. The Internet operates using a set of protocols, such as TCP/IP (Transmission Control Protocol/Internet Protocol), which govern the way data is transmitted and received between devices.</a:t>
            </a:r>
            <a:endParaRPr/>
          </a:p>
          <a:p>
            <a:pPr indent="0" lvl="0" marL="0" rtl="0" algn="l">
              <a:lnSpc>
                <a:spcPct val="100000"/>
              </a:lnSpc>
              <a:spcBef>
                <a:spcPts val="0"/>
              </a:spcBef>
              <a:spcAft>
                <a:spcPts val="0"/>
              </a:spcAft>
              <a:buSzPts val="1400"/>
              <a:buNone/>
            </a:pPr>
            <a:r>
              <a:t/>
            </a:r>
            <a:endParaRPr b="0" i="0">
              <a:solidFill>
                <a:srgbClr val="374151"/>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The World Wide Web, commonly known as the Web, is a subset of the Internet. It is a system of interconnected hypertext documents and resources that are accessed through the Internet using web browsers. The Web was invented by Sir Tim Berners-Lee in 1989 as a means to share and access information more efficiently.</a:t>
            </a:r>
            <a:endParaRPr/>
          </a:p>
          <a:p>
            <a:pPr indent="0" lvl="0" marL="0" rtl="0" algn="l">
              <a:lnSpc>
                <a:spcPct val="100000"/>
              </a:lnSpc>
              <a:spcBef>
                <a:spcPts val="0"/>
              </a:spcBef>
              <a:spcAft>
                <a:spcPts val="0"/>
              </a:spcAft>
              <a:buSzPts val="1400"/>
              <a:buNone/>
            </a:pPr>
            <a:r>
              <a:t/>
            </a:r>
            <a:endParaRPr b="0" i="0">
              <a:solidFill>
                <a:srgbClr val="374151"/>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the Internet is the underlying infrastructure, a vast global network of interconnected devices, while the World Wide Web is a specific application that runs on top of the Internet, allowing users to access and navigate web pages through hyperlinks and web browsers. The Web is just one of many services that operate on the Internet. Other services, like email, online gaming, and video conferencing, also rely on the Internet to function.</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Uniform Resource Locators (URLs): Each resource on the Web is identified by a unique address called a URL. URLs help users locate and access specific web pages or resources.</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URL stands for "Uniform Resource Locator," and URI stands for "Uniform Resource Identifier." While these terms are often used interchangeably, there is a subtle difference between them:</a:t>
            </a:r>
            <a:endParaRPr/>
          </a:p>
          <a:p>
            <a:pPr indent="-228600" lvl="0" marL="457200" rtl="0" algn="l">
              <a:lnSpc>
                <a:spcPct val="100000"/>
              </a:lnSpc>
              <a:spcBef>
                <a:spcPts val="0"/>
              </a:spcBef>
              <a:spcAft>
                <a:spcPts val="0"/>
              </a:spcAft>
              <a:buSzPts val="1400"/>
              <a:buFont typeface="Arial"/>
              <a:buAutoNum type="arabicPeriod"/>
            </a:pPr>
            <a:r>
              <a:rPr b="0" i="0" lang="en-US">
                <a:solidFill>
                  <a:srgbClr val="374151"/>
                </a:solidFill>
                <a:latin typeface="Arial"/>
                <a:ea typeface="Arial"/>
                <a:cs typeface="Arial"/>
                <a:sym typeface="Arial"/>
              </a:rPr>
              <a:t>URI (Uniform Resource Identifier): A URI is a broader term that encompasses both URLs and URNs (Uniform Resource Names). URIs are used to identify resources on the internet or any other system, and they provide a way to uniquely identify a resource. URIs consist of a string of characters that serve as a reference to a resource.</a:t>
            </a:r>
            <a:endParaRPr/>
          </a:p>
          <a:p>
            <a:pPr indent="-228600" lvl="0" marL="457200" rtl="0" algn="l">
              <a:lnSpc>
                <a:spcPct val="100000"/>
              </a:lnSpc>
              <a:spcBef>
                <a:spcPts val="0"/>
              </a:spcBef>
              <a:spcAft>
                <a:spcPts val="0"/>
              </a:spcAft>
              <a:buSzPts val="1400"/>
              <a:buFont typeface="Arial"/>
              <a:buAutoNum type="arabicPeriod"/>
            </a:pPr>
            <a:r>
              <a:rPr b="0" i="0" lang="en-US">
                <a:solidFill>
                  <a:srgbClr val="374151"/>
                </a:solidFill>
                <a:latin typeface="Arial"/>
                <a:ea typeface="Arial"/>
                <a:cs typeface="Arial"/>
                <a:sym typeface="Arial"/>
              </a:rPr>
              <a:t>URL (Uniform Resource Locator): A URL is a specific type of URI that not only identifies a resource's location but also provides a means to locate and retrieve that resource. In other words, a URL includes information about how to access the resource, such as the protocol (e.g., HTTP, HTTPS), the domain name (or IP address), the port number, and the path to the resource.</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Here's an example to illustrate the difference between a URL and a URI:</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URI: urn:isbn:0451450523 This is a URI in the form of a URN (Uniform Resource Name). It uniquely identifies a resource as an ISBN (International Standard Book Number) and provides information about the format of the identifier.</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URL: </a:t>
            </a:r>
            <a:r>
              <a:rPr b="0" i="0" lang="en-US" u="sng">
                <a:solidFill>
                  <a:srgbClr val="374151"/>
                </a:solidFill>
                <a:latin typeface="Arial"/>
                <a:ea typeface="Arial"/>
                <a:cs typeface="Arial"/>
                <a:sym typeface="Arial"/>
                <a:hlinkClick r:id="rId2">
                  <a:extLst>
                    <a:ext uri="{A12FA001-AC4F-418D-AE19-62706E023703}">
                      <ahyp:hlinkClr val="tx"/>
                    </a:ext>
                  </a:extLst>
                </a:hlinkClick>
              </a:rPr>
              <a:t>https://www.example.com/images/pic.jpg</a:t>
            </a:r>
            <a:r>
              <a:rPr b="0" i="0" lang="en-US">
                <a:solidFill>
                  <a:srgbClr val="374151"/>
                </a:solidFill>
                <a:latin typeface="Arial"/>
                <a:ea typeface="Arial"/>
                <a:cs typeface="Arial"/>
                <a:sym typeface="Arial"/>
              </a:rPr>
              <a:t> This is a URL that points to an image file. It includes the protocol (HTTP), the domain name (</a:t>
            </a:r>
            <a:r>
              <a:rPr b="0" i="0" lang="en-US" u="sng">
                <a:solidFill>
                  <a:srgbClr val="374151"/>
                </a:solidFill>
                <a:latin typeface="Arial"/>
                <a:ea typeface="Arial"/>
                <a:cs typeface="Arial"/>
                <a:sym typeface="Arial"/>
                <a:hlinkClick r:id="rId3">
                  <a:extLst>
                    <a:ext uri="{A12FA001-AC4F-418D-AE19-62706E023703}">
                      <ahyp:hlinkClr val="tx"/>
                    </a:ext>
                  </a:extLst>
                </a:hlinkClick>
              </a:rPr>
              <a:t>www.example.com</a:t>
            </a:r>
            <a:r>
              <a:rPr b="0" i="0" lang="en-US">
                <a:solidFill>
                  <a:srgbClr val="374151"/>
                </a:solidFill>
                <a:latin typeface="Arial"/>
                <a:ea typeface="Arial"/>
                <a:cs typeface="Arial"/>
                <a:sym typeface="Arial"/>
              </a:rPr>
              <a:t>), the path to the resource (/images/pic.jpg), and potentially additional components like query parameters or fragments.</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In summary, all URLs are URIs, but not all URIs are URLs. URIs serve as a general concept for identifying resources, while URLs are a specific subset of URIs that provide information on how to access those resources.</a:t>
            </a:r>
            <a:endParaRPr/>
          </a:p>
          <a:p>
            <a:pPr indent="-228600" lvl="0" marL="457200" rtl="0" algn="l">
              <a:lnSpc>
                <a:spcPct val="100000"/>
              </a:lnSpc>
              <a:spcBef>
                <a:spcPts val="0"/>
              </a:spcBef>
              <a:spcAft>
                <a:spcPts val="0"/>
              </a:spcAft>
              <a:buSzPts val="1400"/>
              <a:buNone/>
            </a:pPr>
            <a:r>
              <a:rPr b="1" i="0" lang="en-US">
                <a:solidFill>
                  <a:srgbClr val="000000"/>
                </a:solidFill>
                <a:latin typeface="Arial"/>
                <a:ea typeface="Arial"/>
                <a:cs typeface="Arial"/>
                <a:sym typeface="Arial"/>
              </a:rPr>
              <a:t>URI (Uniform Resource Identifier):</a:t>
            </a:r>
            <a:r>
              <a:rPr b="0" i="0" lang="en-US">
                <a:solidFill>
                  <a:srgbClr val="000000"/>
                </a:solidFill>
                <a:latin typeface="Arial"/>
                <a:ea typeface="Arial"/>
                <a:cs typeface="Arial"/>
                <a:sym typeface="Arial"/>
              </a:rPr>
              <a:t> A URI is a string of characters that identifies a resource, whether it's a web page, a file, or any other item that can be accessed over a network. URIs are further divided into two subcategories: URLs and URNs.</a:t>
            </a:r>
            <a:endParaRPr/>
          </a:p>
          <a:p>
            <a:pPr indent="-228600" lvl="0" marL="457200" rtl="0" algn="l">
              <a:lnSpc>
                <a:spcPct val="100000"/>
              </a:lnSpc>
              <a:spcBef>
                <a:spcPts val="0"/>
              </a:spcBef>
              <a:spcAft>
                <a:spcPts val="0"/>
              </a:spcAft>
              <a:buSzPts val="1400"/>
              <a:buNone/>
            </a:pPr>
            <a:r>
              <a:rPr b="1" i="0" lang="en-US">
                <a:solidFill>
                  <a:srgbClr val="000000"/>
                </a:solidFill>
                <a:latin typeface="Arial"/>
                <a:ea typeface="Arial"/>
                <a:cs typeface="Arial"/>
                <a:sym typeface="Arial"/>
              </a:rPr>
              <a:t>URL (Uniform Resource Locator):</a:t>
            </a:r>
            <a:r>
              <a:rPr b="0" i="0" lang="en-US">
                <a:solidFill>
                  <a:srgbClr val="000000"/>
                </a:solidFill>
                <a:latin typeface="Arial"/>
                <a:ea typeface="Arial"/>
                <a:cs typeface="Arial"/>
                <a:sym typeface="Arial"/>
              </a:rPr>
              <a:t> A URL is a specific type of URI that not only identifies a resource but also provides a means to locate the resource by describing its address. URLs include information about the protocol to be used (e.g., HTTP, HTTPS, FTP), the domain or IP address, the port number (if necessary), the path to the resource, and potentially query parameters or fragments.</a:t>
            </a:r>
            <a:endParaRPr/>
          </a:p>
          <a:p>
            <a:pPr indent="-228600" lvl="0" marL="457200" rtl="0" algn="l">
              <a:lnSpc>
                <a:spcPct val="100000"/>
              </a:lnSpc>
              <a:spcBef>
                <a:spcPts val="0"/>
              </a:spcBef>
              <a:spcAft>
                <a:spcPts val="0"/>
              </a:spcAft>
              <a:buSzPts val="1400"/>
              <a:buNone/>
            </a:pPr>
            <a:r>
              <a:rPr b="0" i="0" lang="en-US">
                <a:solidFill>
                  <a:srgbClr val="000000"/>
                </a:solidFill>
                <a:latin typeface="Arial"/>
                <a:ea typeface="Arial"/>
                <a:cs typeface="Arial"/>
                <a:sym typeface="Arial"/>
              </a:rPr>
              <a:t>Here's a brief comparison:</a:t>
            </a:r>
            <a:endParaRPr/>
          </a:p>
          <a:p>
            <a:pPr indent="-228600" lvl="0" marL="457200" rtl="0" algn="l">
              <a:lnSpc>
                <a:spcPct val="100000"/>
              </a:lnSpc>
              <a:spcBef>
                <a:spcPts val="0"/>
              </a:spcBef>
              <a:spcAft>
                <a:spcPts val="0"/>
              </a:spcAft>
              <a:buSzPts val="1400"/>
              <a:buNone/>
            </a:pPr>
            <a:r>
              <a:rPr b="1" i="0" lang="en-US">
                <a:solidFill>
                  <a:srgbClr val="000000"/>
                </a:solidFill>
                <a:latin typeface="Arial"/>
                <a:ea typeface="Arial"/>
                <a:cs typeface="Arial"/>
                <a:sym typeface="Arial"/>
              </a:rPr>
              <a:t>URI:</a:t>
            </a:r>
            <a:endParaRPr b="0" i="0">
              <a:solidFill>
                <a:srgbClr val="000000"/>
              </a:solidFill>
              <a:latin typeface="Arial"/>
              <a:ea typeface="Arial"/>
              <a:cs typeface="Arial"/>
              <a:sym typeface="Arial"/>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A broader concept that includes both URLs and URNs.</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Focuses on identifying a resource.</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May or may not include information about how to access the resource.</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Examples of URIs: isbn:0451450523 (URN), mailto:</a:t>
            </a:r>
            <a:r>
              <a:rPr b="0" i="0" lang="en-US" u="sng">
                <a:solidFill>
                  <a:srgbClr val="000000"/>
                </a:solidFill>
                <a:latin typeface="Arial"/>
                <a:ea typeface="Arial"/>
                <a:cs typeface="Arial"/>
                <a:sym typeface="Arial"/>
                <a:hlinkClick r:id="rId4">
                  <a:extLst>
                    <a:ext uri="{A12FA001-AC4F-418D-AE19-62706E023703}">
                      <ahyp:hlinkClr val="tx"/>
                    </a:ext>
                  </a:extLst>
                </a:hlinkClick>
              </a:rPr>
              <a:t>john@example.com</a:t>
            </a:r>
            <a:r>
              <a:rPr b="0" i="0" lang="en-US">
                <a:solidFill>
                  <a:srgbClr val="000000"/>
                </a:solidFill>
                <a:latin typeface="Arial"/>
                <a:ea typeface="Arial"/>
                <a:cs typeface="Arial"/>
                <a:sym typeface="Arial"/>
              </a:rPr>
              <a:t> (URL with 'mailto' scheme), tel:+123456789 (URL with 'tel' scheme).</a:t>
            </a:r>
            <a:endParaRPr/>
          </a:p>
          <a:p>
            <a:pPr indent="-228600" lvl="0" marL="457200" rtl="0" algn="l">
              <a:lnSpc>
                <a:spcPct val="100000"/>
              </a:lnSpc>
              <a:spcBef>
                <a:spcPts val="0"/>
              </a:spcBef>
              <a:spcAft>
                <a:spcPts val="0"/>
              </a:spcAft>
              <a:buSzPts val="1400"/>
              <a:buNone/>
            </a:pPr>
            <a:r>
              <a:rPr b="1" i="0" lang="en-US">
                <a:solidFill>
                  <a:srgbClr val="000000"/>
                </a:solidFill>
                <a:latin typeface="Arial"/>
                <a:ea typeface="Arial"/>
                <a:cs typeface="Arial"/>
                <a:sym typeface="Arial"/>
              </a:rPr>
              <a:t>URL:</a:t>
            </a:r>
            <a:endParaRPr b="0" i="0">
              <a:solidFill>
                <a:srgbClr val="000000"/>
              </a:solidFill>
              <a:latin typeface="Arial"/>
              <a:ea typeface="Arial"/>
              <a:cs typeface="Arial"/>
              <a:sym typeface="Arial"/>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A specific subset of URIs.</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Not only identifies a resource but also includes information to locate and retrieve it.</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Contains details like the protocol, domain, port, path, query parameters, and fragments.</a:t>
            </a:r>
            <a:endParaRPr/>
          </a:p>
          <a:p>
            <a:pPr indent="-228600" lvl="0" marL="457200" rtl="0" algn="l">
              <a:lnSpc>
                <a:spcPct val="100000"/>
              </a:lnSpc>
              <a:spcBef>
                <a:spcPts val="0"/>
              </a:spcBef>
              <a:spcAft>
                <a:spcPts val="0"/>
              </a:spcAft>
              <a:buSzPts val="1400"/>
              <a:buFont typeface="Arial"/>
              <a:buChar char="•"/>
            </a:pPr>
            <a:r>
              <a:rPr b="0" i="0" lang="en-US">
                <a:solidFill>
                  <a:srgbClr val="000000"/>
                </a:solidFill>
                <a:latin typeface="Arial"/>
                <a:ea typeface="Arial"/>
                <a:cs typeface="Arial"/>
                <a:sym typeface="Arial"/>
              </a:rPr>
              <a:t>Examples of URLs: </a:t>
            </a:r>
            <a:r>
              <a:rPr b="0" i="0" lang="en-US" u="sng">
                <a:solidFill>
                  <a:srgbClr val="000000"/>
                </a:solidFill>
                <a:latin typeface="Arial"/>
                <a:ea typeface="Arial"/>
                <a:cs typeface="Arial"/>
                <a:sym typeface="Arial"/>
                <a:hlinkClick r:id="rId5">
                  <a:extLst>
                    <a:ext uri="{A12FA001-AC4F-418D-AE19-62706E023703}">
                      <ahyp:hlinkClr val="tx"/>
                    </a:ext>
                  </a:extLst>
                </a:hlinkClick>
              </a:rPr>
              <a:t>https://www.example.com/page.html</a:t>
            </a:r>
            <a:r>
              <a:rPr b="0" i="0" lang="en-US">
                <a:solidFill>
                  <a:srgbClr val="000000"/>
                </a:solidFill>
                <a:latin typeface="Arial"/>
                <a:ea typeface="Arial"/>
                <a:cs typeface="Arial"/>
                <a:sym typeface="Arial"/>
              </a:rPr>
              <a:t>, ftp://ftp.example.com/file.zip, file:///path/to/local/file.txt.</a:t>
            </a:r>
            <a:endParaRPr/>
          </a:p>
          <a:p>
            <a:pPr indent="-228600" lvl="0" marL="457200" rtl="0" algn="l">
              <a:lnSpc>
                <a:spcPct val="100000"/>
              </a:lnSpc>
              <a:spcBef>
                <a:spcPts val="0"/>
              </a:spcBef>
              <a:spcAft>
                <a:spcPts val="0"/>
              </a:spcAft>
              <a:buSzPts val="1400"/>
              <a:buNone/>
            </a:pPr>
            <a:r>
              <a:rPr b="0" i="0" lang="en-US">
                <a:solidFill>
                  <a:srgbClr val="000000"/>
                </a:solidFill>
                <a:latin typeface="Arial"/>
                <a:ea typeface="Arial"/>
                <a:cs typeface="Arial"/>
                <a:sym typeface="Arial"/>
              </a:rPr>
              <a:t>In summary, while all URLs are URIs, not all URIs are URLs. URIs encompass a broader range of resource identifiers, including URLs for resource location and URNs for resource naming. URLs provide additional information beyond identification, detailing how to access the resource.</a:t>
            </a:r>
            <a:endParaRPr/>
          </a:p>
          <a:p>
            <a:pPr indent="-228600" lvl="0" marL="457200" rtl="0" algn="l">
              <a:lnSpc>
                <a:spcPct val="100000"/>
              </a:lnSpc>
              <a:spcBef>
                <a:spcPts val="0"/>
              </a:spcBef>
              <a:spcAft>
                <a:spcPts val="0"/>
              </a:spcAft>
              <a:buSzPts val="1400"/>
              <a:buNone/>
            </a:pPr>
            <a:br>
              <a:rPr b="0" i="0" lang="en-US">
                <a:solidFill>
                  <a:srgbClr val="000000"/>
                </a:solidFill>
                <a:latin typeface="Arial"/>
                <a:ea typeface="Arial"/>
                <a:cs typeface="Arial"/>
                <a:sym typeface="Arial"/>
              </a:rPr>
            </a:br>
            <a:r>
              <a:rPr b="1" i="0" lang="en-US">
                <a:solidFill>
                  <a:srgbClr val="374151"/>
                </a:solidFill>
                <a:latin typeface="Arial"/>
                <a:ea typeface="Arial"/>
                <a:cs typeface="Arial"/>
                <a:sym typeface="Arial"/>
              </a:rPr>
              <a:t>URL:</a:t>
            </a:r>
            <a:endParaRPr b="0" i="0">
              <a:solidFill>
                <a:srgbClr val="374151"/>
              </a:solidFill>
              <a:latin typeface="Arial"/>
              <a:ea typeface="Arial"/>
              <a:cs typeface="Arial"/>
              <a:sym typeface="Arial"/>
            </a:endParaRPr>
          </a:p>
          <a:p>
            <a:pPr indent="-228600" lvl="0" marL="457200" rtl="0" algn="l">
              <a:lnSpc>
                <a:spcPct val="100000"/>
              </a:lnSpc>
              <a:spcBef>
                <a:spcPts val="0"/>
              </a:spcBef>
              <a:spcAft>
                <a:spcPts val="0"/>
              </a:spcAft>
              <a:buSzPts val="1400"/>
              <a:buFont typeface="Arial"/>
              <a:buChar char="•"/>
            </a:pPr>
            <a:r>
              <a:rPr b="0" i="0" lang="en-US">
                <a:solidFill>
                  <a:srgbClr val="374151"/>
                </a:solidFill>
                <a:latin typeface="Arial"/>
                <a:ea typeface="Arial"/>
                <a:cs typeface="Arial"/>
                <a:sym typeface="Arial"/>
              </a:rPr>
              <a:t>A specific subset of URIs.</a:t>
            </a:r>
            <a:endParaRPr/>
          </a:p>
          <a:p>
            <a:pPr indent="-228600" lvl="0" marL="457200" rtl="0" algn="l">
              <a:lnSpc>
                <a:spcPct val="100000"/>
              </a:lnSpc>
              <a:spcBef>
                <a:spcPts val="0"/>
              </a:spcBef>
              <a:spcAft>
                <a:spcPts val="0"/>
              </a:spcAft>
              <a:buSzPts val="1400"/>
              <a:buFont typeface="Arial"/>
              <a:buChar char="•"/>
            </a:pPr>
            <a:r>
              <a:rPr b="0" i="0" lang="en-US">
                <a:solidFill>
                  <a:srgbClr val="374151"/>
                </a:solidFill>
                <a:latin typeface="Arial"/>
                <a:ea typeface="Arial"/>
                <a:cs typeface="Arial"/>
                <a:sym typeface="Arial"/>
              </a:rPr>
              <a:t>Not only identifies a resource but also includes information to locate and retrieve it.</a:t>
            </a:r>
            <a:endParaRPr/>
          </a:p>
          <a:p>
            <a:pPr indent="-228600" lvl="0" marL="457200" rtl="0" algn="l">
              <a:lnSpc>
                <a:spcPct val="100000"/>
              </a:lnSpc>
              <a:spcBef>
                <a:spcPts val="0"/>
              </a:spcBef>
              <a:spcAft>
                <a:spcPts val="0"/>
              </a:spcAft>
              <a:buSzPts val="1400"/>
              <a:buFont typeface="Arial"/>
              <a:buChar char="•"/>
            </a:pPr>
            <a:r>
              <a:rPr b="0" i="0" lang="en-US">
                <a:solidFill>
                  <a:srgbClr val="374151"/>
                </a:solidFill>
                <a:latin typeface="Arial"/>
                <a:ea typeface="Arial"/>
                <a:cs typeface="Arial"/>
                <a:sym typeface="Arial"/>
              </a:rPr>
              <a:t>Contains details like the protocol, domain, port, path, query parameters, and fragments.</a:t>
            </a:r>
            <a:endParaRPr/>
          </a:p>
          <a:p>
            <a:pPr indent="-228600" lvl="0" marL="457200" rtl="0" algn="l">
              <a:lnSpc>
                <a:spcPct val="100000"/>
              </a:lnSpc>
              <a:spcBef>
                <a:spcPts val="0"/>
              </a:spcBef>
              <a:spcAft>
                <a:spcPts val="0"/>
              </a:spcAft>
              <a:buSzPts val="1400"/>
              <a:buFont typeface="Arial"/>
              <a:buChar char="•"/>
            </a:pPr>
            <a:r>
              <a:rPr b="0" i="0" lang="en-US">
                <a:solidFill>
                  <a:srgbClr val="374151"/>
                </a:solidFill>
                <a:latin typeface="Arial"/>
                <a:ea typeface="Arial"/>
                <a:cs typeface="Arial"/>
                <a:sym typeface="Arial"/>
              </a:rPr>
              <a:t>Examples of URLs: </a:t>
            </a:r>
            <a:r>
              <a:rPr b="0" i="0" lang="en-US" u="sng">
                <a:solidFill>
                  <a:srgbClr val="374151"/>
                </a:solidFill>
                <a:latin typeface="Arial"/>
                <a:ea typeface="Arial"/>
                <a:cs typeface="Arial"/>
                <a:sym typeface="Arial"/>
                <a:hlinkClick r:id="rId6">
                  <a:extLst>
                    <a:ext uri="{A12FA001-AC4F-418D-AE19-62706E023703}">
                      <ahyp:hlinkClr val="tx"/>
                    </a:ext>
                  </a:extLst>
                </a:hlinkClick>
              </a:rPr>
              <a:t>https://www.example.com/page.html</a:t>
            </a:r>
            <a:r>
              <a:rPr b="0" i="0" lang="en-US">
                <a:solidFill>
                  <a:srgbClr val="374151"/>
                </a:solidFill>
                <a:latin typeface="Arial"/>
                <a:ea typeface="Arial"/>
                <a:cs typeface="Arial"/>
                <a:sym typeface="Arial"/>
              </a:rPr>
              <a:t>, ftp://ftp.example.com/file.zip, file:///path/to/local/file.txt.</a:t>
            </a:r>
            <a:endParaRPr/>
          </a:p>
          <a:p>
            <a:pPr indent="-228600" lvl="0" marL="457200" rtl="0" algn="l">
              <a:lnSpc>
                <a:spcPct val="100000"/>
              </a:lnSpc>
              <a:spcBef>
                <a:spcPts val="0"/>
              </a:spcBef>
              <a:spcAft>
                <a:spcPts val="0"/>
              </a:spcAft>
              <a:buSzPts val="1400"/>
              <a:buNone/>
            </a:pPr>
            <a:r>
              <a:rPr b="0" i="0" lang="en-US">
                <a:solidFill>
                  <a:srgbClr val="374151"/>
                </a:solidFill>
                <a:latin typeface="Arial"/>
                <a:ea typeface="Arial"/>
                <a:cs typeface="Arial"/>
                <a:sym typeface="Arial"/>
              </a:rPr>
              <a:t>In summary, while all URLs are URIs, not all URIs are URLs. URIs encompass a broader range of resource identifiers, including URLs for resource location and URNs for resource naming. URLs provide additional information beyond identification, detailing how to access the resource.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4" name="Shape 44"/>
        <p:cNvGrpSpPr/>
        <p:nvPr/>
      </p:nvGrpSpPr>
      <p:grpSpPr>
        <a:xfrm>
          <a:off x="0" y="0"/>
          <a:ext cx="0" cy="0"/>
          <a:chOff x="0" y="0"/>
          <a:chExt cx="0" cy="0"/>
        </a:xfrm>
      </p:grpSpPr>
      <p:sp>
        <p:nvSpPr>
          <p:cNvPr id="45" name="Google Shape;45;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7" name="Google Shape;47;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8" name="Google Shape;4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1" name="Shape 51"/>
        <p:cNvGrpSpPr/>
        <p:nvPr/>
      </p:nvGrpSpPr>
      <p:grpSpPr>
        <a:xfrm>
          <a:off x="0" y="0"/>
          <a:ext cx="0" cy="0"/>
          <a:chOff x="0" y="0"/>
          <a:chExt cx="0" cy="0"/>
        </a:xfrm>
      </p:grpSpPr>
      <p:sp>
        <p:nvSpPr>
          <p:cNvPr id="52" name="Google Shape;52;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p:nvPr>
            <p:ph idx="2" type="pic"/>
          </p:nvPr>
        </p:nvSpPr>
        <p:spPr>
          <a:xfrm>
            <a:off x="5183188" y="987425"/>
            <a:ext cx="6172200" cy="4873625"/>
          </a:xfrm>
          <a:prstGeom prst="rect">
            <a:avLst/>
          </a:prstGeom>
          <a:noFill/>
          <a:ln>
            <a:noFill/>
          </a:ln>
        </p:spPr>
      </p:sp>
      <p:sp>
        <p:nvSpPr>
          <p:cNvPr id="54" name="Google Shape;54;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 name="Google Shape;5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4" name="Shape 64"/>
        <p:cNvGrpSpPr/>
        <p:nvPr/>
      </p:nvGrpSpPr>
      <p:grpSpPr>
        <a:xfrm>
          <a:off x="0" y="0"/>
          <a:ext cx="0" cy="0"/>
          <a:chOff x="0" y="0"/>
          <a:chExt cx="0" cy="0"/>
        </a:xfrm>
      </p:grpSpPr>
      <p:sp>
        <p:nvSpPr>
          <p:cNvPr id="65" name="Google Shape;65;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1"/>
          <p:cNvPicPr preferRelativeResize="0"/>
          <p:nvPr/>
        </p:nvPicPr>
        <p:blipFill rotWithShape="1">
          <a:blip r:embed="rId1">
            <a:alphaModFix/>
          </a:blip>
          <a:srcRect b="0" l="0" r="0" t="0"/>
          <a:stretch/>
        </p:blipFill>
        <p:spPr>
          <a:xfrm>
            <a:off x="11257235" y="10586"/>
            <a:ext cx="812845" cy="139896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medium.com/@fulldive/a-brief-history-of-browsers-57669527c0cf" TargetMode="External"/><Relationship Id="rId4" Type="http://schemas.openxmlformats.org/officeDocument/2006/relationships/image" Target="../media/image1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www.donmouth.co.uk/web_design/browsermuseum/browsermuseum.html" TargetMode="External"/><Relationship Id="rId4" Type="http://schemas.openxmlformats.org/officeDocument/2006/relationships/image" Target="../media/image15.jpg"/><Relationship Id="rId5" Type="http://schemas.openxmlformats.org/officeDocument/2006/relationships/image" Target="../media/image13.jp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mailto:vinayj@pes.edu" TargetMode="External"/><Relationship Id="rId4" Type="http://schemas.openxmlformats.org/officeDocument/2006/relationships/hyperlink" Target="mailto:pavithra.s@pes.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
          <p:cNvSpPr/>
          <p:nvPr/>
        </p:nvSpPr>
        <p:spPr>
          <a:xfrm>
            <a:off x="4781916" y="1688267"/>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WEB TECHNOLOGIES</a:t>
            </a:r>
            <a:endParaRPr b="1" i="0" sz="3600" u="none" cap="none" strike="noStrike">
              <a:solidFill>
                <a:srgbClr val="C55A11"/>
              </a:solidFill>
              <a:latin typeface="Calibri"/>
              <a:ea typeface="Calibri"/>
              <a:cs typeface="Calibri"/>
              <a:sym typeface="Calibri"/>
            </a:endParaRPr>
          </a:p>
        </p:txBody>
      </p:sp>
      <p:sp>
        <p:nvSpPr>
          <p:cNvPr id="75" name="Google Shape;75;p1"/>
          <p:cNvSpPr/>
          <p:nvPr/>
        </p:nvSpPr>
        <p:spPr>
          <a:xfrm>
            <a:off x="4781916" y="2841955"/>
            <a:ext cx="69944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F5496"/>
                </a:solidFill>
                <a:latin typeface="Calibri"/>
                <a:ea typeface="Calibri"/>
                <a:cs typeface="Calibri"/>
                <a:sym typeface="Calibri"/>
              </a:rPr>
              <a:t>Introduction to WWW,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F5496"/>
                </a:solidFill>
                <a:latin typeface="Calibri"/>
                <a:ea typeface="Calibri"/>
                <a:cs typeface="Calibri"/>
                <a:sym typeface="Calibri"/>
              </a:rPr>
              <a:t>Web Protocols and URLs </a:t>
            </a:r>
            <a:endParaRPr b="1" i="0" sz="3600" u="none" cap="none" strike="noStrike">
              <a:solidFill>
                <a:srgbClr val="2F5496"/>
              </a:solidFill>
              <a:latin typeface="Calibri"/>
              <a:ea typeface="Calibri"/>
              <a:cs typeface="Calibri"/>
              <a:sym typeface="Calibri"/>
            </a:endParaRPr>
          </a:p>
        </p:txBody>
      </p:sp>
      <p:sp>
        <p:nvSpPr>
          <p:cNvPr id="76" name="Google Shape;76;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Prof.Vinay Joshi and Prof.Pavithra S</a:t>
            </a:r>
            <a:endParaRPr b="1" i="0" sz="2400" u="none" cap="none" strike="noStrike">
              <a:solidFill>
                <a:schemeClr val="dk1"/>
              </a:solidFill>
              <a:latin typeface="Calibri"/>
              <a:ea typeface="Calibri"/>
              <a:cs typeface="Calibri"/>
              <a:sym typeface="Calibri"/>
            </a:endParaRPr>
          </a:p>
        </p:txBody>
      </p:sp>
      <p:sp>
        <p:nvSpPr>
          <p:cNvPr id="77" name="Google Shape;77;p1"/>
          <p:cNvSpPr/>
          <p:nvPr/>
        </p:nvSpPr>
        <p:spPr>
          <a:xfrm>
            <a:off x="4781916" y="4813108"/>
            <a:ext cx="7497214"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cxnSp>
        <p:nvCxnSpPr>
          <p:cNvPr id="78" name="Google Shape;78;p1"/>
          <p:cNvCxnSpPr/>
          <p:nvPr/>
        </p:nvCxnSpPr>
        <p:spPr>
          <a:xfrm flipH="1" rot="10800000">
            <a:off x="4781916" y="4112436"/>
            <a:ext cx="4581449" cy="1"/>
          </a:xfrm>
          <a:prstGeom prst="straightConnector1">
            <a:avLst/>
          </a:prstGeom>
          <a:noFill/>
          <a:ln cap="flat" cmpd="sng" w="38100">
            <a:solidFill>
              <a:srgbClr val="C55A11"/>
            </a:solidFill>
            <a:prstDash val="solid"/>
            <a:miter lim="800000"/>
            <a:headEnd len="sm" w="sm" type="none"/>
            <a:tailEnd len="sm" w="sm" type="none"/>
          </a:ln>
        </p:spPr>
      </p:cxnSp>
      <p:pic>
        <p:nvPicPr>
          <p:cNvPr id="79" name="Google Shape;79;p1"/>
          <p:cNvPicPr preferRelativeResize="0"/>
          <p:nvPr/>
        </p:nvPicPr>
        <p:blipFill rotWithShape="1">
          <a:blip r:embed="rId3">
            <a:alphaModFix/>
          </a:blip>
          <a:srcRect b="0" l="0" r="0" t="0"/>
          <a:stretch/>
        </p:blipFill>
        <p:spPr>
          <a:xfrm>
            <a:off x="1767840" y="1606241"/>
            <a:ext cx="2121177" cy="3550188"/>
          </a:xfrm>
          <a:prstGeom prst="rect">
            <a:avLst/>
          </a:prstGeom>
          <a:noFill/>
          <a:ln>
            <a:noFill/>
          </a:ln>
        </p:spPr>
      </p:pic>
      <p:sp>
        <p:nvSpPr>
          <p:cNvPr id="80" name="Google Shape;80;p1"/>
          <p:cNvSpPr/>
          <p:nvPr/>
        </p:nvSpPr>
        <p:spPr>
          <a:xfrm>
            <a:off x="10184524" y="0"/>
            <a:ext cx="2007476" cy="16062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81" name="Google Shape;81;p1"/>
          <p:cNvGrpSpPr/>
          <p:nvPr/>
        </p:nvGrpSpPr>
        <p:grpSpPr>
          <a:xfrm>
            <a:off x="259197" y="349466"/>
            <a:ext cx="11518407" cy="6218388"/>
            <a:chOff x="313844" y="349466"/>
            <a:chExt cx="11518407" cy="6218388"/>
          </a:xfrm>
        </p:grpSpPr>
        <p:sp>
          <p:nvSpPr>
            <p:cNvPr id="82" name="Google Shape;82;p1"/>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1"/>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 name="Google Shape;84;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highlight>
                  <a:srgbClr val="FFFFFF"/>
                </a:highlight>
                <a:latin typeface="Verdana"/>
                <a:ea typeface="Verdana"/>
                <a:cs typeface="Verdana"/>
                <a:sym typeface="Verdana"/>
              </a:rPr>
              <a:t>WWW stands for </a:t>
            </a:r>
            <a:r>
              <a:rPr b="1" lang="en-US" sz="2400">
                <a:highlight>
                  <a:srgbClr val="FFFFFF"/>
                </a:highlight>
                <a:latin typeface="Verdana"/>
                <a:ea typeface="Verdana"/>
                <a:cs typeface="Verdana"/>
                <a:sym typeface="Verdana"/>
              </a:rPr>
              <a:t>W</a:t>
            </a:r>
            <a:r>
              <a:rPr lang="en-US" sz="2400">
                <a:highlight>
                  <a:srgbClr val="FFFFFF"/>
                </a:highlight>
                <a:latin typeface="Verdana"/>
                <a:ea typeface="Verdana"/>
                <a:cs typeface="Verdana"/>
                <a:sym typeface="Verdana"/>
              </a:rPr>
              <a:t>orld </a:t>
            </a:r>
            <a:r>
              <a:rPr b="1" lang="en-US" sz="2400">
                <a:highlight>
                  <a:srgbClr val="FFFFFF"/>
                </a:highlight>
                <a:latin typeface="Verdana"/>
                <a:ea typeface="Verdana"/>
                <a:cs typeface="Verdana"/>
                <a:sym typeface="Verdana"/>
              </a:rPr>
              <a:t>W</a:t>
            </a:r>
            <a:r>
              <a:rPr lang="en-US" sz="2400">
                <a:highlight>
                  <a:srgbClr val="FFFFFF"/>
                </a:highlight>
                <a:latin typeface="Verdana"/>
                <a:ea typeface="Verdana"/>
                <a:cs typeface="Verdana"/>
                <a:sym typeface="Verdana"/>
              </a:rPr>
              <a:t>ide </a:t>
            </a:r>
            <a:r>
              <a:rPr b="1" lang="en-US" sz="2400">
                <a:highlight>
                  <a:srgbClr val="FFFFFF"/>
                </a:highlight>
                <a:latin typeface="Verdana"/>
                <a:ea typeface="Verdana"/>
                <a:cs typeface="Verdana"/>
                <a:sym typeface="Verdana"/>
              </a:rPr>
              <a:t>W</a:t>
            </a:r>
            <a:r>
              <a:rPr lang="en-US" sz="2400">
                <a:highlight>
                  <a:srgbClr val="FFFFFF"/>
                </a:highlight>
                <a:latin typeface="Verdana"/>
                <a:ea typeface="Verdana"/>
                <a:cs typeface="Verdana"/>
                <a:sym typeface="Verdana"/>
              </a:rPr>
              <a:t>eb. A technical definition of the World Wide Web is − All the resources and users on the Internet that are using the Hypertext Transfer Protocol (HTTP).</a:t>
            </a:r>
            <a:endParaRPr sz="2400">
              <a:highlight>
                <a:srgbClr val="FFFFFF"/>
              </a:highlight>
              <a:latin typeface="Verdana"/>
              <a:ea typeface="Verdana"/>
              <a:cs typeface="Verdana"/>
              <a:sym typeface="Verdana"/>
            </a:endParaRPr>
          </a:p>
          <a:p>
            <a:pPr indent="0" lvl="0" marL="457200" rtl="0" algn="l">
              <a:lnSpc>
                <a:spcPct val="90000"/>
              </a:lnSpc>
              <a:spcBef>
                <a:spcPts val="0"/>
              </a:spcBef>
              <a:spcAft>
                <a:spcPts val="0"/>
              </a:spcAft>
              <a:buNone/>
            </a:pPr>
            <a:r>
              <a:t/>
            </a:r>
            <a:endParaRPr sz="2400">
              <a:highlight>
                <a:srgbClr val="FFFFFF"/>
              </a:highlight>
              <a:latin typeface="Verdana"/>
              <a:ea typeface="Verdana"/>
              <a:cs typeface="Verdana"/>
              <a:sym typeface="Verdana"/>
            </a:endParaRPr>
          </a:p>
          <a:p>
            <a:pPr indent="-228600" lvl="0" marL="228600" rtl="0" algn="l">
              <a:lnSpc>
                <a:spcPct val="90000"/>
              </a:lnSpc>
              <a:spcBef>
                <a:spcPts val="0"/>
              </a:spcBef>
              <a:spcAft>
                <a:spcPts val="0"/>
              </a:spcAft>
              <a:buSzPts val="2400"/>
              <a:buFont typeface="Verdana"/>
              <a:buChar char="•"/>
            </a:pPr>
            <a:r>
              <a:rPr lang="en-US" sz="2400">
                <a:highlight>
                  <a:srgbClr val="FFFFFF"/>
                </a:highlight>
                <a:latin typeface="Verdana"/>
                <a:ea typeface="Verdana"/>
                <a:cs typeface="Verdana"/>
                <a:sym typeface="Verdana"/>
              </a:rPr>
              <a:t>In simple terms, The World Wide Web is a way of exchanging information between computers on the Internet, tying them together into a vast collection of interactive multimedia resources.</a:t>
            </a:r>
            <a:endParaRPr sz="2400">
              <a:highlight>
                <a:srgbClr val="FFFFFF"/>
              </a:highlight>
              <a:latin typeface="Verdana"/>
              <a:ea typeface="Verdana"/>
              <a:cs typeface="Verdana"/>
              <a:sym typeface="Verdana"/>
            </a:endParaRPr>
          </a:p>
          <a:p>
            <a:pPr indent="-50800" lvl="0" marL="228600" rtl="0" algn="l">
              <a:lnSpc>
                <a:spcPct val="90000"/>
              </a:lnSpc>
              <a:spcBef>
                <a:spcPts val="1000"/>
              </a:spcBef>
              <a:spcAft>
                <a:spcPts val="0"/>
              </a:spcAft>
              <a:buClr>
                <a:schemeClr val="dk1"/>
              </a:buClr>
              <a:buSzPts val="2800"/>
              <a:buNone/>
            </a:pPr>
            <a:r>
              <a:t/>
            </a:r>
            <a:endParaRPr sz="2400"/>
          </a:p>
          <a:p>
            <a:pPr indent="-50800" lvl="0" marL="228600" rtl="0" algn="l">
              <a:lnSpc>
                <a:spcPct val="90000"/>
              </a:lnSpc>
              <a:spcBef>
                <a:spcPts val="1000"/>
              </a:spcBef>
              <a:spcAft>
                <a:spcPts val="0"/>
              </a:spcAft>
              <a:buClr>
                <a:schemeClr val="dk1"/>
              </a:buClr>
              <a:buSzPts val="2800"/>
              <a:buNone/>
            </a:pPr>
            <a:r>
              <a:t/>
            </a:r>
            <a:endParaRPr sz="3200"/>
          </a:p>
        </p:txBody>
      </p:sp>
      <p:sp>
        <p:nvSpPr>
          <p:cNvPr id="91" name="Google Shape;91;p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rgbClr val="C55A11"/>
                </a:solidFill>
                <a:latin typeface="Calibri"/>
                <a:ea typeface="Calibri"/>
                <a:cs typeface="Calibri"/>
                <a:sym typeface="Calibri"/>
              </a:rPr>
              <a:t>WWW</a:t>
            </a:r>
            <a:endParaRPr b="1" i="0" sz="2400" u="none" cap="none" strike="noStrike">
              <a:solidFill>
                <a:srgbClr val="C55A11"/>
              </a:solidFill>
              <a:latin typeface="Calibri"/>
              <a:ea typeface="Calibri"/>
              <a:cs typeface="Calibri"/>
              <a:sym typeface="Calibri"/>
            </a:endParaRPr>
          </a:p>
        </p:txBody>
      </p:sp>
      <p:cxnSp>
        <p:nvCxnSpPr>
          <p:cNvPr id="92" name="Google Shape;92;p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93" name="Google Shape;93;p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724f336b21_2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400"/>
              <a:buChar char="•"/>
            </a:pPr>
            <a:r>
              <a:rPr lang="en-US" sz="2400"/>
              <a:t>Internet vs. Web</a:t>
            </a:r>
            <a:endParaRPr/>
          </a:p>
          <a:p>
            <a:pPr indent="-228600" lvl="0" marL="228600" rtl="0" algn="l">
              <a:lnSpc>
                <a:spcPct val="90000"/>
              </a:lnSpc>
              <a:spcBef>
                <a:spcPts val="1000"/>
              </a:spcBef>
              <a:spcAft>
                <a:spcPts val="0"/>
              </a:spcAft>
              <a:buClr>
                <a:schemeClr val="dk1"/>
              </a:buClr>
              <a:buSzPts val="2400"/>
              <a:buChar char="•"/>
            </a:pPr>
            <a:r>
              <a:rPr lang="en-US" sz="2400"/>
              <a:t>Web Browsers</a:t>
            </a:r>
            <a:endParaRPr/>
          </a:p>
          <a:p>
            <a:pPr indent="-228600" lvl="0" marL="228600" rtl="0" algn="l">
              <a:lnSpc>
                <a:spcPct val="90000"/>
              </a:lnSpc>
              <a:spcBef>
                <a:spcPts val="1000"/>
              </a:spcBef>
              <a:spcAft>
                <a:spcPts val="0"/>
              </a:spcAft>
              <a:buClr>
                <a:schemeClr val="dk1"/>
              </a:buClr>
              <a:buSzPts val="2400"/>
              <a:buChar char="•"/>
            </a:pPr>
            <a:r>
              <a:rPr lang="en-US" sz="2400"/>
              <a:t>URL</a:t>
            </a:r>
            <a:endParaRPr/>
          </a:p>
          <a:p>
            <a:pPr indent="-228600" lvl="0" marL="228600" rtl="0" algn="l">
              <a:lnSpc>
                <a:spcPct val="90000"/>
              </a:lnSpc>
              <a:spcBef>
                <a:spcPts val="1000"/>
              </a:spcBef>
              <a:spcAft>
                <a:spcPts val="0"/>
              </a:spcAft>
              <a:buClr>
                <a:schemeClr val="dk1"/>
              </a:buClr>
              <a:buSzPts val="2400"/>
              <a:buChar char="•"/>
            </a:pPr>
            <a:r>
              <a:rPr lang="en-US" sz="2400"/>
              <a:t>Web Server</a:t>
            </a:r>
            <a:endParaRPr/>
          </a:p>
          <a:p>
            <a:pPr indent="-228600" lvl="0" marL="228600" rtl="0" algn="l">
              <a:lnSpc>
                <a:spcPct val="90000"/>
              </a:lnSpc>
              <a:spcBef>
                <a:spcPts val="1000"/>
              </a:spcBef>
              <a:spcAft>
                <a:spcPts val="0"/>
              </a:spcAft>
              <a:buClr>
                <a:schemeClr val="dk1"/>
              </a:buClr>
              <a:buSzPts val="2400"/>
              <a:buChar char="•"/>
            </a:pPr>
            <a:r>
              <a:rPr lang="en-US" sz="2400"/>
              <a:t>DNS</a:t>
            </a:r>
            <a:endParaRPr/>
          </a:p>
          <a:p>
            <a:pPr indent="-228600" lvl="0" marL="228600" rtl="0" algn="l">
              <a:lnSpc>
                <a:spcPct val="90000"/>
              </a:lnSpc>
              <a:spcBef>
                <a:spcPts val="1000"/>
              </a:spcBef>
              <a:spcAft>
                <a:spcPts val="0"/>
              </a:spcAft>
              <a:buClr>
                <a:schemeClr val="dk1"/>
              </a:buClr>
              <a:buSzPts val="2400"/>
              <a:buChar char="•"/>
            </a:pPr>
            <a:r>
              <a:rPr lang="en-US" sz="2400"/>
              <a:t>HTTP Protocol</a:t>
            </a:r>
            <a:endParaRPr/>
          </a:p>
          <a:p>
            <a:pPr indent="-228600" lvl="0" marL="228600" rtl="0" algn="l">
              <a:lnSpc>
                <a:spcPct val="90000"/>
              </a:lnSpc>
              <a:spcBef>
                <a:spcPts val="1000"/>
              </a:spcBef>
              <a:spcAft>
                <a:spcPts val="0"/>
              </a:spcAft>
              <a:buClr>
                <a:schemeClr val="dk1"/>
              </a:buClr>
              <a:buSzPts val="2400"/>
              <a:buChar char="•"/>
            </a:pPr>
            <a:r>
              <a:rPr lang="en-US" sz="2400"/>
              <a:t>HTTPS</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99" name="Google Shape;99;g3724f336b21_2_0"/>
          <p:cNvSpPr/>
          <p:nvPr/>
        </p:nvSpPr>
        <p:spPr>
          <a:xfrm>
            <a:off x="371880" y="651898"/>
            <a:ext cx="79998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Common Terms</a:t>
            </a:r>
            <a:endParaRPr b="1" i="0" sz="2400" u="none" cap="none" strike="noStrike">
              <a:solidFill>
                <a:srgbClr val="C55A11"/>
              </a:solidFill>
              <a:latin typeface="Calibri"/>
              <a:ea typeface="Calibri"/>
              <a:cs typeface="Calibri"/>
              <a:sym typeface="Calibri"/>
            </a:endParaRPr>
          </a:p>
        </p:txBody>
      </p:sp>
      <p:cxnSp>
        <p:nvCxnSpPr>
          <p:cNvPr id="100" name="Google Shape;100;g3724f336b21_2_0"/>
          <p:cNvCxnSpPr/>
          <p:nvPr/>
        </p:nvCxnSpPr>
        <p:spPr>
          <a:xfrm>
            <a:off x="-8308" y="1316458"/>
            <a:ext cx="8300100" cy="0"/>
          </a:xfrm>
          <a:prstGeom prst="straightConnector1">
            <a:avLst/>
          </a:prstGeom>
          <a:noFill/>
          <a:ln cap="flat" cmpd="sng" w="38100">
            <a:solidFill>
              <a:srgbClr val="C55A11"/>
            </a:solidFill>
            <a:prstDash val="solid"/>
            <a:miter lim="800000"/>
            <a:headEnd len="sm" w="sm" type="none"/>
            <a:tailEnd len="sm" w="sm" type="none"/>
          </a:ln>
        </p:spPr>
      </p:cxnSp>
      <p:sp>
        <p:nvSpPr>
          <p:cNvPr id="101" name="Google Shape;101;g3724f336b21_2_0"/>
          <p:cNvSpPr/>
          <p:nvPr/>
        </p:nvSpPr>
        <p:spPr>
          <a:xfrm>
            <a:off x="393111" y="252240"/>
            <a:ext cx="74973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idx="12" type="sldNum"/>
          </p:nvPr>
        </p:nvSpPr>
        <p:spPr>
          <a:xfrm>
            <a:off x="11081511" y="6464909"/>
            <a:ext cx="206375" cy="177800"/>
          </a:xfrm>
          <a:prstGeom prst="rect">
            <a:avLst/>
          </a:prstGeom>
          <a:noFill/>
          <a:ln>
            <a:noFill/>
          </a:ln>
        </p:spPr>
        <p:txBody>
          <a:bodyPr anchorCtr="0" anchor="t" bIns="0" lIns="0" spcFirstLastPara="1" rIns="0" wrap="square" tIns="0">
            <a:spAutoFit/>
          </a:bodyPr>
          <a:lstStyle/>
          <a:p>
            <a:pPr indent="0" lvl="0" marL="25400" marR="0" rtl="0" algn="l">
              <a:lnSpc>
                <a:spcPct val="103333"/>
              </a:lnSpc>
              <a:spcBef>
                <a:spcPts val="0"/>
              </a:spcBef>
              <a:spcAft>
                <a:spcPts val="0"/>
              </a:spcAft>
              <a:buSzPts val="1200"/>
              <a:buNone/>
            </a:pPr>
            <a:fld id="{00000000-1234-1234-1234-123412341234}" type="slidenum">
              <a:rPr b="0" i="0" lang="en-US" sz="1200">
                <a:solidFill>
                  <a:srgbClr val="888888"/>
                </a:solidFill>
                <a:latin typeface="Calibri"/>
                <a:ea typeface="Calibri"/>
                <a:cs typeface="Calibri"/>
                <a:sym typeface="Calibri"/>
              </a:rPr>
              <a:t>‹#›</a:t>
            </a:fld>
            <a:endParaRPr b="0" i="0" sz="1200">
              <a:solidFill>
                <a:srgbClr val="888888"/>
              </a:solidFill>
              <a:latin typeface="Calibri"/>
              <a:ea typeface="Calibri"/>
              <a:cs typeface="Calibri"/>
              <a:sym typeface="Calibri"/>
            </a:endParaRPr>
          </a:p>
        </p:txBody>
      </p:sp>
      <p:cxnSp>
        <p:nvCxnSpPr>
          <p:cNvPr id="107" name="Google Shape;107;p3"/>
          <p:cNvCxnSpPr/>
          <p:nvPr/>
        </p:nvCxnSpPr>
        <p:spPr>
          <a:xfrm>
            <a:off x="-8308" y="1209922"/>
            <a:ext cx="8300052" cy="0"/>
          </a:xfrm>
          <a:prstGeom prst="straightConnector1">
            <a:avLst/>
          </a:prstGeom>
          <a:noFill/>
          <a:ln cap="flat" cmpd="sng" w="38100">
            <a:solidFill>
              <a:srgbClr val="DFA267"/>
            </a:solidFill>
            <a:prstDash val="solid"/>
            <a:miter lim="800000"/>
            <a:headEnd len="sm" w="sm" type="none"/>
            <a:tailEnd len="sm" w="sm" type="none"/>
          </a:ln>
        </p:spPr>
      </p:cxnSp>
      <p:pic>
        <p:nvPicPr>
          <p:cNvPr id="108" name="Google Shape;108;p3"/>
          <p:cNvPicPr preferRelativeResize="0"/>
          <p:nvPr/>
        </p:nvPicPr>
        <p:blipFill rotWithShape="1">
          <a:blip r:embed="rId3">
            <a:alphaModFix/>
          </a:blip>
          <a:srcRect b="0" l="0" r="0" t="0"/>
          <a:stretch/>
        </p:blipFill>
        <p:spPr>
          <a:xfrm>
            <a:off x="196072" y="1362039"/>
            <a:ext cx="4723337" cy="3515283"/>
          </a:xfrm>
          <a:prstGeom prst="rect">
            <a:avLst/>
          </a:prstGeom>
          <a:noFill/>
          <a:ln>
            <a:noFill/>
          </a:ln>
        </p:spPr>
      </p:pic>
      <p:pic>
        <p:nvPicPr>
          <p:cNvPr descr="Google Search Website Homepage Displays Stock Footage Video (100 ..." id="109" name="Google Shape;109;p3"/>
          <p:cNvPicPr preferRelativeResize="0"/>
          <p:nvPr/>
        </p:nvPicPr>
        <p:blipFill rotWithShape="1">
          <a:blip r:embed="rId4">
            <a:alphaModFix/>
          </a:blip>
          <a:srcRect b="0" l="0" r="0" t="0"/>
          <a:stretch/>
        </p:blipFill>
        <p:spPr>
          <a:xfrm>
            <a:off x="5581233" y="1398963"/>
            <a:ext cx="5151871" cy="2920480"/>
          </a:xfrm>
          <a:prstGeom prst="rect">
            <a:avLst/>
          </a:prstGeom>
          <a:noFill/>
          <a:ln>
            <a:noFill/>
          </a:ln>
        </p:spPr>
      </p:pic>
      <p:sp>
        <p:nvSpPr>
          <p:cNvPr id="110" name="Google Shape;110;p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Internet vs. WWW</a:t>
            </a:r>
            <a:endParaRPr b="1" i="0" sz="2400" u="none" cap="none" strike="noStrike">
              <a:solidFill>
                <a:srgbClr val="C55A11"/>
              </a:solidFill>
              <a:latin typeface="Calibri"/>
              <a:ea typeface="Calibri"/>
              <a:cs typeface="Calibri"/>
              <a:sym typeface="Calibri"/>
            </a:endParaRPr>
          </a:p>
        </p:txBody>
      </p:sp>
      <p:sp>
        <p:nvSpPr>
          <p:cNvPr id="111" name="Google Shape;111;p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idx="12" type="sldNum"/>
          </p:nvPr>
        </p:nvSpPr>
        <p:spPr>
          <a:xfrm>
            <a:off x="11081511" y="6464909"/>
            <a:ext cx="206375" cy="177800"/>
          </a:xfrm>
          <a:prstGeom prst="rect">
            <a:avLst/>
          </a:prstGeom>
          <a:noFill/>
          <a:ln>
            <a:noFill/>
          </a:ln>
        </p:spPr>
        <p:txBody>
          <a:bodyPr anchorCtr="0" anchor="t" bIns="0" lIns="0" spcFirstLastPara="1" rIns="0" wrap="square" tIns="0">
            <a:spAutoFit/>
          </a:bodyPr>
          <a:lstStyle/>
          <a:p>
            <a:pPr indent="0" lvl="0" marL="25400" marR="0" rtl="0" algn="l">
              <a:lnSpc>
                <a:spcPct val="103333"/>
              </a:lnSpc>
              <a:spcBef>
                <a:spcPts val="0"/>
              </a:spcBef>
              <a:spcAft>
                <a:spcPts val="0"/>
              </a:spcAft>
              <a:buSzPts val="1200"/>
              <a:buNone/>
            </a:pPr>
            <a:fld id="{00000000-1234-1234-1234-123412341234}" type="slidenum">
              <a:rPr b="0" i="0" lang="en-US" sz="1200">
                <a:solidFill>
                  <a:srgbClr val="888888"/>
                </a:solidFill>
                <a:latin typeface="Calibri"/>
                <a:ea typeface="Calibri"/>
                <a:cs typeface="Calibri"/>
                <a:sym typeface="Calibri"/>
              </a:rPr>
              <a:t>‹#›</a:t>
            </a:fld>
            <a:endParaRPr b="0" i="0" sz="1200">
              <a:solidFill>
                <a:srgbClr val="888888"/>
              </a:solidFill>
              <a:latin typeface="Calibri"/>
              <a:ea typeface="Calibri"/>
              <a:cs typeface="Calibri"/>
              <a:sym typeface="Calibri"/>
            </a:endParaRPr>
          </a:p>
        </p:txBody>
      </p:sp>
      <p:cxnSp>
        <p:nvCxnSpPr>
          <p:cNvPr id="117" name="Google Shape;117;p4"/>
          <p:cNvCxnSpPr/>
          <p:nvPr/>
        </p:nvCxnSpPr>
        <p:spPr>
          <a:xfrm>
            <a:off x="-8308" y="1209922"/>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18" name="Google Shape;118;p4"/>
          <p:cNvSpPr txBox="1"/>
          <p:nvPr/>
        </p:nvSpPr>
        <p:spPr>
          <a:xfrm>
            <a:off x="204185" y="1486563"/>
            <a:ext cx="40304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1. Client/Server Architecture</a:t>
            </a:r>
            <a:endParaRPr b="0" i="0" sz="1400" u="none" cap="none" strike="noStrike">
              <a:solidFill>
                <a:srgbClr val="000000"/>
              </a:solidFill>
              <a:latin typeface="Arial"/>
              <a:ea typeface="Arial"/>
              <a:cs typeface="Arial"/>
              <a:sym typeface="Arial"/>
            </a:endParaRPr>
          </a:p>
        </p:txBody>
      </p:sp>
      <p:pic>
        <p:nvPicPr>
          <p:cNvPr id="119" name="Google Shape;119;p4"/>
          <p:cNvPicPr preferRelativeResize="0"/>
          <p:nvPr/>
        </p:nvPicPr>
        <p:blipFill rotWithShape="1">
          <a:blip r:embed="rId3">
            <a:alphaModFix/>
          </a:blip>
          <a:srcRect b="0" l="0" r="0" t="0"/>
          <a:stretch/>
        </p:blipFill>
        <p:spPr>
          <a:xfrm>
            <a:off x="272459" y="2125359"/>
            <a:ext cx="2639417" cy="2945113"/>
          </a:xfrm>
          <a:prstGeom prst="rect">
            <a:avLst/>
          </a:prstGeom>
          <a:noFill/>
          <a:ln>
            <a:noFill/>
          </a:ln>
        </p:spPr>
      </p:pic>
      <p:sp>
        <p:nvSpPr>
          <p:cNvPr id="120" name="Google Shape;120;p4"/>
          <p:cNvSpPr txBox="1"/>
          <p:nvPr/>
        </p:nvSpPr>
        <p:spPr>
          <a:xfrm>
            <a:off x="4367813" y="1490555"/>
            <a:ext cx="40304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2. Request/Response Pattern</a:t>
            </a:r>
            <a:endParaRPr b="0" i="0" sz="1400" u="none" cap="none" strike="noStrike">
              <a:solidFill>
                <a:srgbClr val="000000"/>
              </a:solidFill>
              <a:latin typeface="Arial"/>
              <a:ea typeface="Arial"/>
              <a:cs typeface="Arial"/>
              <a:sym typeface="Arial"/>
            </a:endParaRPr>
          </a:p>
        </p:txBody>
      </p:sp>
      <p:pic>
        <p:nvPicPr>
          <p:cNvPr descr="Issues With Online Services" id="121" name="Google Shape;121;p4"/>
          <p:cNvPicPr preferRelativeResize="0"/>
          <p:nvPr/>
        </p:nvPicPr>
        <p:blipFill rotWithShape="1">
          <a:blip r:embed="rId4">
            <a:alphaModFix/>
          </a:blip>
          <a:srcRect b="0" l="0" r="0" t="0"/>
          <a:stretch/>
        </p:blipFill>
        <p:spPr>
          <a:xfrm>
            <a:off x="4116360" y="1889693"/>
            <a:ext cx="3788468" cy="2114271"/>
          </a:xfrm>
          <a:prstGeom prst="rect">
            <a:avLst/>
          </a:prstGeom>
          <a:noFill/>
          <a:ln>
            <a:noFill/>
          </a:ln>
        </p:spPr>
      </p:pic>
      <p:sp>
        <p:nvSpPr>
          <p:cNvPr id="122" name="Google Shape;122;p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How does WWW work?</a:t>
            </a:r>
            <a:endParaRPr b="1" i="0" sz="2400" u="none" cap="none" strike="noStrike">
              <a:solidFill>
                <a:srgbClr val="C55A11"/>
              </a:solidFill>
              <a:latin typeface="Calibri"/>
              <a:ea typeface="Calibri"/>
              <a:cs typeface="Calibri"/>
              <a:sym typeface="Calibri"/>
            </a:endParaRPr>
          </a:p>
        </p:txBody>
      </p:sp>
      <p:sp>
        <p:nvSpPr>
          <p:cNvPr id="123" name="Google Shape;123;p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
        <p:nvSpPr>
          <p:cNvPr id="124" name="Google Shape;124;p4"/>
          <p:cNvSpPr/>
          <p:nvPr/>
        </p:nvSpPr>
        <p:spPr>
          <a:xfrm>
            <a:off x="3297381" y="4142510"/>
            <a:ext cx="4966653" cy="223447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idx="11" type="ftr"/>
          </p:nvPr>
        </p:nvSpPr>
        <p:spPr>
          <a:xfrm>
            <a:off x="543339" y="6356350"/>
            <a:ext cx="7473198" cy="365126"/>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Source:A Brief History of Browsers </a:t>
            </a:r>
            <a:r>
              <a:rPr lang="en-US" u="sng">
                <a:solidFill>
                  <a:schemeClr val="hlink"/>
                </a:solidFill>
                <a:hlinkClick r:id="rId3"/>
              </a:rPr>
              <a:t>https://medium.com/@fulldive/a-brief-history-of-browsers-57669527c0cf</a:t>
            </a:r>
            <a:endParaRPr/>
          </a:p>
        </p:txBody>
      </p:sp>
      <p:pic>
        <p:nvPicPr>
          <p:cNvPr id="130" name="Google Shape;130;p5"/>
          <p:cNvPicPr preferRelativeResize="0"/>
          <p:nvPr/>
        </p:nvPicPr>
        <p:blipFill rotWithShape="1">
          <a:blip r:embed="rId4">
            <a:alphaModFix/>
          </a:blip>
          <a:srcRect b="0" l="0" r="0" t="0"/>
          <a:stretch/>
        </p:blipFill>
        <p:spPr>
          <a:xfrm>
            <a:off x="744637" y="1473370"/>
            <a:ext cx="7377344" cy="4290968"/>
          </a:xfrm>
          <a:prstGeom prst="rect">
            <a:avLst/>
          </a:prstGeom>
          <a:noFill/>
          <a:ln>
            <a:noFill/>
          </a:ln>
        </p:spPr>
      </p:pic>
      <p:cxnSp>
        <p:nvCxnSpPr>
          <p:cNvPr id="131" name="Google Shape;131;p5"/>
          <p:cNvCxnSpPr/>
          <p:nvPr/>
        </p:nvCxnSpPr>
        <p:spPr>
          <a:xfrm>
            <a:off x="71205" y="1336357"/>
            <a:ext cx="8300052" cy="0"/>
          </a:xfrm>
          <a:prstGeom prst="straightConnector1">
            <a:avLst/>
          </a:prstGeom>
          <a:noFill/>
          <a:ln cap="flat" cmpd="sng" w="38100">
            <a:solidFill>
              <a:srgbClr val="DFA267"/>
            </a:solidFill>
            <a:prstDash val="solid"/>
            <a:miter lim="800000"/>
            <a:headEnd len="sm" w="sm" type="none"/>
            <a:tailEnd len="sm" w="sm" type="none"/>
          </a:ln>
        </p:spPr>
      </p:cxnSp>
      <p:pic>
        <p:nvPicPr>
          <p:cNvPr id="132" name="Google Shape;132;p5"/>
          <p:cNvPicPr preferRelativeResize="0"/>
          <p:nvPr/>
        </p:nvPicPr>
        <p:blipFill rotWithShape="1">
          <a:blip r:embed="rId5">
            <a:alphaModFix/>
          </a:blip>
          <a:srcRect b="0" l="0" r="0" t="0"/>
          <a:stretch/>
        </p:blipFill>
        <p:spPr>
          <a:xfrm>
            <a:off x="7550579" y="4320383"/>
            <a:ext cx="736606" cy="665825"/>
          </a:xfrm>
          <a:prstGeom prst="rect">
            <a:avLst/>
          </a:prstGeom>
          <a:noFill/>
          <a:ln>
            <a:noFill/>
          </a:ln>
        </p:spPr>
      </p:pic>
      <p:sp>
        <p:nvSpPr>
          <p:cNvPr id="133" name="Google Shape;133;p5"/>
          <p:cNvSpPr txBox="1"/>
          <p:nvPr/>
        </p:nvSpPr>
        <p:spPr>
          <a:xfrm>
            <a:off x="7456856" y="5045407"/>
            <a:ext cx="976929" cy="577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050" u="none" cap="none" strike="noStrike">
                <a:solidFill>
                  <a:schemeClr val="accent1"/>
                </a:solidFill>
                <a:latin typeface="Arial"/>
                <a:ea typeface="Arial"/>
                <a:cs typeface="Arial"/>
                <a:sym typeface="Arial"/>
              </a:rPr>
              <a:t>Microsoft Edge Based on chromium</a:t>
            </a:r>
            <a:endParaRPr b="0" i="0" sz="1400" u="none" cap="none" strike="noStrike">
              <a:solidFill>
                <a:srgbClr val="000000"/>
              </a:solidFill>
              <a:latin typeface="Arial"/>
              <a:ea typeface="Arial"/>
              <a:cs typeface="Arial"/>
              <a:sym typeface="Arial"/>
            </a:endParaRPr>
          </a:p>
        </p:txBody>
      </p:sp>
      <p:cxnSp>
        <p:nvCxnSpPr>
          <p:cNvPr id="134" name="Google Shape;134;p5"/>
          <p:cNvCxnSpPr/>
          <p:nvPr/>
        </p:nvCxnSpPr>
        <p:spPr>
          <a:xfrm>
            <a:off x="7697179" y="3728621"/>
            <a:ext cx="0" cy="435006"/>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p5"/>
          <p:cNvSpPr txBox="1"/>
          <p:nvPr/>
        </p:nvSpPr>
        <p:spPr>
          <a:xfrm>
            <a:off x="7856739" y="3737499"/>
            <a:ext cx="73660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chemeClr val="accent1"/>
                </a:solidFill>
                <a:latin typeface="Calibri"/>
                <a:ea typeface="Calibri"/>
                <a:cs typeface="Calibri"/>
                <a:sym typeface="Calibri"/>
              </a:rPr>
              <a:t>2020</a:t>
            </a:r>
            <a:endParaRPr b="0" i="0" sz="1400" u="none" cap="none" strike="noStrike">
              <a:solidFill>
                <a:srgbClr val="000000"/>
              </a:solidFill>
              <a:latin typeface="Arial"/>
              <a:ea typeface="Arial"/>
              <a:cs typeface="Arial"/>
              <a:sym typeface="Arial"/>
            </a:endParaRPr>
          </a:p>
        </p:txBody>
      </p:sp>
      <p:sp>
        <p:nvSpPr>
          <p:cNvPr id="136" name="Google Shape;136;p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History of Web Browsers</a:t>
            </a:r>
            <a:endParaRPr b="1" i="0" sz="2400" u="none" cap="none" strike="noStrike">
              <a:solidFill>
                <a:srgbClr val="C55A11"/>
              </a:solidFill>
              <a:latin typeface="Calibri"/>
              <a:ea typeface="Calibri"/>
              <a:cs typeface="Calibri"/>
              <a:sym typeface="Calibri"/>
            </a:endParaRPr>
          </a:p>
        </p:txBody>
      </p:sp>
      <p:sp>
        <p:nvSpPr>
          <p:cNvPr id="137" name="Google Shape;137;p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idx="11" type="ftr"/>
          </p:nvPr>
        </p:nvSpPr>
        <p:spPr>
          <a:xfrm>
            <a:off x="8721346" y="2084675"/>
            <a:ext cx="2833345" cy="365126"/>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Source: Browser Museum  </a:t>
            </a:r>
            <a:r>
              <a:rPr lang="en-US" u="sng">
                <a:solidFill>
                  <a:schemeClr val="hlink"/>
                </a:solidFill>
                <a:hlinkClick r:id="rId3"/>
              </a:rPr>
              <a:t>http://www.donmouth.co.uk/web_design/browsermuseum/browsermuseum.html</a:t>
            </a:r>
            <a:endParaRPr/>
          </a:p>
        </p:txBody>
      </p:sp>
      <p:pic>
        <p:nvPicPr>
          <p:cNvPr descr="screenshot of Lynx" id="143" name="Google Shape;143;p6"/>
          <p:cNvPicPr preferRelativeResize="0"/>
          <p:nvPr/>
        </p:nvPicPr>
        <p:blipFill rotWithShape="1">
          <a:blip r:embed="rId4">
            <a:alphaModFix/>
          </a:blip>
          <a:srcRect b="0" l="0" r="0" t="0"/>
          <a:stretch/>
        </p:blipFill>
        <p:spPr>
          <a:xfrm>
            <a:off x="346584" y="1427452"/>
            <a:ext cx="3285347" cy="2507239"/>
          </a:xfrm>
          <a:prstGeom prst="rect">
            <a:avLst/>
          </a:prstGeom>
          <a:noFill/>
          <a:ln>
            <a:noFill/>
          </a:ln>
        </p:spPr>
      </p:pic>
      <p:cxnSp>
        <p:nvCxnSpPr>
          <p:cNvPr id="144" name="Google Shape;144;p6"/>
          <p:cNvCxnSpPr/>
          <p:nvPr/>
        </p:nvCxnSpPr>
        <p:spPr>
          <a:xfrm>
            <a:off x="0" y="1237378"/>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45" name="Google Shape;145;p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Browser Evolution</a:t>
            </a:r>
            <a:endParaRPr b="1" i="0" sz="2400" u="none" cap="none" strike="noStrike">
              <a:solidFill>
                <a:srgbClr val="C55A11"/>
              </a:solidFill>
              <a:latin typeface="Calibri"/>
              <a:ea typeface="Calibri"/>
              <a:cs typeface="Calibri"/>
              <a:sym typeface="Calibri"/>
            </a:endParaRPr>
          </a:p>
        </p:txBody>
      </p:sp>
      <p:sp>
        <p:nvSpPr>
          <p:cNvPr id="146" name="Google Shape;146;p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
        <p:nvSpPr>
          <p:cNvPr id="147" name="Google Shape;147;p6"/>
          <p:cNvSpPr txBox="1"/>
          <p:nvPr/>
        </p:nvSpPr>
        <p:spPr>
          <a:xfrm>
            <a:off x="595745" y="3948546"/>
            <a:ext cx="277090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Lynx – A text based browser</a:t>
            </a:r>
            <a:endParaRPr b="0" i="0" sz="1600" u="none" cap="none" strike="noStrike">
              <a:solidFill>
                <a:schemeClr val="dk1"/>
              </a:solidFill>
              <a:latin typeface="Calibri"/>
              <a:ea typeface="Calibri"/>
              <a:cs typeface="Calibri"/>
              <a:sym typeface="Calibri"/>
            </a:endParaRPr>
          </a:p>
        </p:txBody>
      </p:sp>
      <p:pic>
        <p:nvPicPr>
          <p:cNvPr descr="screenshot of Mosaic" id="148" name="Google Shape;148;p6"/>
          <p:cNvPicPr preferRelativeResize="0"/>
          <p:nvPr/>
        </p:nvPicPr>
        <p:blipFill rotWithShape="1">
          <a:blip r:embed="rId5">
            <a:alphaModFix/>
          </a:blip>
          <a:srcRect b="0" l="0" r="0" t="0"/>
          <a:stretch/>
        </p:blipFill>
        <p:spPr>
          <a:xfrm>
            <a:off x="3941619" y="1401796"/>
            <a:ext cx="4024746" cy="2478146"/>
          </a:xfrm>
          <a:prstGeom prst="rect">
            <a:avLst/>
          </a:prstGeom>
          <a:noFill/>
          <a:ln>
            <a:noFill/>
          </a:ln>
        </p:spPr>
      </p:pic>
      <p:sp>
        <p:nvSpPr>
          <p:cNvPr id="149" name="Google Shape;149;p6"/>
          <p:cNvSpPr/>
          <p:nvPr/>
        </p:nvSpPr>
        <p:spPr>
          <a:xfrm>
            <a:off x="4215200" y="3881630"/>
            <a:ext cx="315490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Mosaic – the first graphical browser</a:t>
            </a:r>
            <a:endParaRPr b="0" i="0" sz="1600" u="none" cap="none" strike="noStrike">
              <a:solidFill>
                <a:schemeClr val="dk1"/>
              </a:solidFill>
              <a:latin typeface="Calibri"/>
              <a:ea typeface="Calibri"/>
              <a:cs typeface="Calibri"/>
              <a:sym typeface="Calibri"/>
            </a:endParaRPr>
          </a:p>
        </p:txBody>
      </p:sp>
      <p:pic>
        <p:nvPicPr>
          <p:cNvPr descr="New Microsoft Edge Chromium: Fixing the Browser Compatibility Gap" id="150" name="Google Shape;150;p6"/>
          <p:cNvPicPr preferRelativeResize="0"/>
          <p:nvPr/>
        </p:nvPicPr>
        <p:blipFill rotWithShape="1">
          <a:blip r:embed="rId6">
            <a:alphaModFix/>
          </a:blip>
          <a:srcRect b="0" l="0" r="0" t="0"/>
          <a:stretch/>
        </p:blipFill>
        <p:spPr>
          <a:xfrm>
            <a:off x="1800225" y="4245702"/>
            <a:ext cx="4822248" cy="25735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idx="1" type="body"/>
          </p:nvPr>
        </p:nvSpPr>
        <p:spPr>
          <a:xfrm>
            <a:off x="838200" y="1825625"/>
            <a:ext cx="8217023" cy="4814872"/>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2400"/>
              <a:buChar char="•"/>
            </a:pPr>
            <a:r>
              <a:rPr lang="en-US" sz="2400"/>
              <a:t>URL stands for Uniform Resource Locator</a:t>
            </a:r>
            <a:endParaRPr/>
          </a:p>
          <a:p>
            <a:pPr indent="-228600" lvl="0" marL="228600" rtl="0" algn="l">
              <a:lnSpc>
                <a:spcPct val="130000"/>
              </a:lnSpc>
              <a:spcBef>
                <a:spcPts val="480"/>
              </a:spcBef>
              <a:spcAft>
                <a:spcPts val="0"/>
              </a:spcAft>
              <a:buClr>
                <a:schemeClr val="dk1"/>
              </a:buClr>
              <a:buSzPts val="2400"/>
              <a:buChar char="•"/>
            </a:pPr>
            <a:r>
              <a:rPr lang="en-US" sz="2400"/>
              <a:t>General form:</a:t>
            </a:r>
            <a:endParaRPr/>
          </a:p>
          <a:p>
            <a:pPr indent="-228600" lvl="1" marL="685800" rtl="0" algn="l">
              <a:lnSpc>
                <a:spcPct val="130000"/>
              </a:lnSpc>
              <a:spcBef>
                <a:spcPts val="480"/>
              </a:spcBef>
              <a:spcAft>
                <a:spcPts val="0"/>
              </a:spcAft>
              <a:buClr>
                <a:schemeClr val="dk1"/>
              </a:buClr>
              <a:buSzPts val="2400"/>
              <a:buFont typeface="Calibri"/>
              <a:buNone/>
            </a:pPr>
            <a:r>
              <a:rPr b="1" lang="en-US"/>
              <a:t>scheme:object-address</a:t>
            </a:r>
            <a:endParaRPr b="1"/>
          </a:p>
          <a:p>
            <a:pPr indent="-228600" lvl="0" marL="228600" rtl="0" algn="l">
              <a:lnSpc>
                <a:spcPct val="130000"/>
              </a:lnSpc>
              <a:spcBef>
                <a:spcPts val="480"/>
              </a:spcBef>
              <a:spcAft>
                <a:spcPts val="0"/>
              </a:spcAft>
              <a:buClr>
                <a:schemeClr val="dk1"/>
              </a:buClr>
              <a:buSzPts val="2400"/>
              <a:buChar char="•"/>
            </a:pPr>
            <a:r>
              <a:rPr lang="en-US" sz="2400"/>
              <a:t>For the http protocol, the object-address is: </a:t>
            </a:r>
            <a:endParaRPr/>
          </a:p>
          <a:p>
            <a:pPr indent="0" lvl="0" marL="0" rtl="0" algn="l">
              <a:lnSpc>
                <a:spcPct val="130000"/>
              </a:lnSpc>
              <a:spcBef>
                <a:spcPts val="480"/>
              </a:spcBef>
              <a:spcAft>
                <a:spcPts val="0"/>
              </a:spcAft>
              <a:buClr>
                <a:schemeClr val="dk1"/>
              </a:buClr>
              <a:buSzPts val="2400"/>
              <a:buNone/>
            </a:pPr>
            <a:r>
              <a:rPr b="1" lang="en-US" sz="2400"/>
              <a:t>        fully qualified domain name/doc path</a:t>
            </a:r>
            <a:endParaRPr/>
          </a:p>
          <a:p>
            <a:pPr indent="-228600" lvl="0" marL="228600" rtl="0" algn="l">
              <a:lnSpc>
                <a:spcPct val="130000"/>
              </a:lnSpc>
              <a:spcBef>
                <a:spcPts val="480"/>
              </a:spcBef>
              <a:spcAft>
                <a:spcPts val="0"/>
              </a:spcAft>
              <a:buClr>
                <a:schemeClr val="dk1"/>
              </a:buClr>
              <a:buSzPts val="2400"/>
              <a:buNone/>
            </a:pPr>
            <a:r>
              <a:rPr lang="en-US" sz="2400"/>
              <a:t>Example:</a:t>
            </a:r>
            <a:endParaRPr/>
          </a:p>
          <a:p>
            <a:pPr indent="-228600" lvl="0" marL="908050" rtl="0" algn="l">
              <a:lnSpc>
                <a:spcPct val="130000"/>
              </a:lnSpc>
              <a:spcBef>
                <a:spcPts val="480"/>
              </a:spcBef>
              <a:spcAft>
                <a:spcPts val="0"/>
              </a:spcAft>
              <a:buClr>
                <a:schemeClr val="dk1"/>
              </a:buClr>
              <a:buSzPts val="2400"/>
              <a:buNone/>
            </a:pPr>
            <a:r>
              <a:rPr lang="en-US" sz="2400"/>
              <a:t>https://www.amazon.com/international-sales-offers.html</a:t>
            </a:r>
            <a:endParaRPr b="1" sz="2400"/>
          </a:p>
          <a:p>
            <a:pPr indent="-76200" lvl="0" marL="228600" rtl="0" algn="l">
              <a:lnSpc>
                <a:spcPct val="130000"/>
              </a:lnSpc>
              <a:spcBef>
                <a:spcPts val="480"/>
              </a:spcBef>
              <a:spcAft>
                <a:spcPts val="0"/>
              </a:spcAft>
              <a:buClr>
                <a:schemeClr val="dk1"/>
              </a:buClr>
              <a:buSzPts val="2400"/>
              <a:buNone/>
            </a:pPr>
            <a:r>
              <a:t/>
            </a:r>
            <a:endParaRPr b="1" sz="2400"/>
          </a:p>
          <a:p>
            <a:pPr indent="-50800" lvl="0" marL="228600" rtl="0" algn="l">
              <a:lnSpc>
                <a:spcPct val="130000"/>
              </a:lnSpc>
              <a:spcBef>
                <a:spcPts val="56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cxnSp>
        <p:nvCxnSpPr>
          <p:cNvPr id="156" name="Google Shape;156;p7"/>
          <p:cNvCxnSpPr/>
          <p:nvPr/>
        </p:nvCxnSpPr>
        <p:spPr>
          <a:xfrm>
            <a:off x="52881" y="1309444"/>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57" name="Google Shape;157;p7"/>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URLs</a:t>
            </a:r>
            <a:endParaRPr b="1" i="0" sz="2400" u="none" cap="none" strike="noStrike">
              <a:solidFill>
                <a:srgbClr val="C55A11"/>
              </a:solidFill>
              <a:latin typeface="Calibri"/>
              <a:ea typeface="Calibri"/>
              <a:cs typeface="Calibri"/>
              <a:sym typeface="Calibri"/>
            </a:endParaRPr>
          </a:p>
        </p:txBody>
      </p:sp>
      <p:sp>
        <p:nvSpPr>
          <p:cNvPr id="158" name="Google Shape;158;p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400"/>
              <a:buChar char="•"/>
            </a:pPr>
            <a:r>
              <a:rPr lang="en-US" sz="2400"/>
              <a:t>General Web Server Characteristics</a:t>
            </a:r>
            <a:endParaRPr/>
          </a:p>
          <a:p>
            <a:pPr indent="-228600" lvl="1" marL="685800" rtl="0" algn="l">
              <a:lnSpc>
                <a:spcPct val="100000"/>
              </a:lnSpc>
              <a:spcBef>
                <a:spcPts val="480"/>
              </a:spcBef>
              <a:spcAft>
                <a:spcPts val="0"/>
              </a:spcAft>
              <a:buClr>
                <a:schemeClr val="dk1"/>
              </a:buClr>
              <a:buSzPts val="2400"/>
              <a:buFont typeface="Times"/>
              <a:buChar char="•"/>
            </a:pPr>
            <a:r>
              <a:rPr lang="en-US"/>
              <a:t>Web servers have two main directories:</a:t>
            </a:r>
            <a:endParaRPr/>
          </a:p>
          <a:p>
            <a:pPr indent="-228600" lvl="3" marL="1600200" rtl="0" algn="l">
              <a:lnSpc>
                <a:spcPct val="100000"/>
              </a:lnSpc>
              <a:spcBef>
                <a:spcPts val="480"/>
              </a:spcBef>
              <a:spcAft>
                <a:spcPts val="0"/>
              </a:spcAft>
              <a:buClr>
                <a:schemeClr val="dk1"/>
              </a:buClr>
              <a:buSzPts val="2400"/>
              <a:buFont typeface="Arial"/>
              <a:buAutoNum type="arabicPeriod"/>
            </a:pPr>
            <a:r>
              <a:rPr lang="en-US" sz="2400"/>
              <a:t>Document root (servable documents)</a:t>
            </a:r>
            <a:endParaRPr/>
          </a:p>
          <a:p>
            <a:pPr indent="-228600" lvl="3" marL="1600200" rtl="0" algn="l">
              <a:lnSpc>
                <a:spcPct val="100000"/>
              </a:lnSpc>
              <a:spcBef>
                <a:spcPts val="480"/>
              </a:spcBef>
              <a:spcAft>
                <a:spcPts val="0"/>
              </a:spcAft>
              <a:buClr>
                <a:schemeClr val="dk1"/>
              </a:buClr>
              <a:buSzPts val="2400"/>
              <a:buFont typeface="Arial"/>
              <a:buAutoNum type="arabicPeriod"/>
            </a:pPr>
            <a:r>
              <a:rPr lang="en-US" sz="2400"/>
              <a:t>Server root (server system software)</a:t>
            </a:r>
            <a:endParaRPr/>
          </a:p>
          <a:p>
            <a:pPr indent="-228600" lvl="1" marL="685800" rtl="0" algn="l">
              <a:lnSpc>
                <a:spcPct val="100000"/>
              </a:lnSpc>
              <a:spcBef>
                <a:spcPts val="480"/>
              </a:spcBef>
              <a:spcAft>
                <a:spcPts val="0"/>
              </a:spcAft>
              <a:buClr>
                <a:schemeClr val="dk1"/>
              </a:buClr>
              <a:buSzPts val="2400"/>
              <a:buFont typeface="Times"/>
              <a:buChar char="•"/>
            </a:pPr>
            <a:r>
              <a:rPr lang="en-US"/>
              <a:t>Document root is accessed indirectly by clients</a:t>
            </a:r>
            <a:endParaRPr/>
          </a:p>
          <a:p>
            <a:pPr indent="-228600" lvl="2" marL="1143000" rtl="0" algn="l">
              <a:lnSpc>
                <a:spcPct val="100000"/>
              </a:lnSpc>
              <a:spcBef>
                <a:spcPts val="480"/>
              </a:spcBef>
              <a:spcAft>
                <a:spcPts val="0"/>
              </a:spcAft>
              <a:buClr>
                <a:schemeClr val="dk1"/>
              </a:buClr>
              <a:buSzPts val="2400"/>
              <a:buFont typeface="Times"/>
              <a:buChar char="–"/>
            </a:pPr>
            <a:r>
              <a:rPr lang="en-US" sz="2400"/>
              <a:t>Its actual location is set by the server configuration file</a:t>
            </a:r>
            <a:endParaRPr/>
          </a:p>
          <a:p>
            <a:pPr indent="-228600" lvl="2" marL="1143000" rtl="0" algn="l">
              <a:lnSpc>
                <a:spcPct val="100000"/>
              </a:lnSpc>
              <a:spcBef>
                <a:spcPts val="480"/>
              </a:spcBef>
              <a:spcAft>
                <a:spcPts val="0"/>
              </a:spcAft>
              <a:buClr>
                <a:schemeClr val="dk1"/>
              </a:buClr>
              <a:buSzPts val="2400"/>
              <a:buFont typeface="Times"/>
              <a:buChar char="–"/>
            </a:pPr>
            <a:r>
              <a:rPr lang="en-US" sz="2400"/>
              <a:t>Requests are mapped to the actual location</a:t>
            </a:r>
            <a:endParaRPr/>
          </a:p>
          <a:p>
            <a:pPr indent="-228600" lvl="0" marL="228600" rtl="0" algn="l">
              <a:lnSpc>
                <a:spcPct val="80000"/>
              </a:lnSpc>
              <a:spcBef>
                <a:spcPts val="1000"/>
              </a:spcBef>
              <a:spcAft>
                <a:spcPts val="0"/>
              </a:spcAft>
              <a:buClr>
                <a:schemeClr val="dk1"/>
              </a:buClr>
              <a:buSzPts val="2400"/>
              <a:buChar char="•"/>
            </a:pPr>
            <a:r>
              <a:rPr lang="en-US" sz="2400"/>
              <a:t>Popular Examples</a:t>
            </a:r>
            <a:endParaRPr/>
          </a:p>
          <a:p>
            <a:pPr indent="-228600" lvl="1" marL="685800" rtl="0" algn="l">
              <a:lnSpc>
                <a:spcPct val="80000"/>
              </a:lnSpc>
              <a:spcBef>
                <a:spcPts val="500"/>
              </a:spcBef>
              <a:spcAft>
                <a:spcPts val="0"/>
              </a:spcAft>
              <a:buClr>
                <a:schemeClr val="dk1"/>
              </a:buClr>
              <a:buSzPts val="2400"/>
              <a:buChar char="•"/>
            </a:pPr>
            <a:r>
              <a:rPr lang="en-US"/>
              <a:t>Apache</a:t>
            </a:r>
            <a:endParaRPr/>
          </a:p>
          <a:p>
            <a:pPr indent="-228600" lvl="1" marL="685800" rtl="0" algn="l">
              <a:lnSpc>
                <a:spcPct val="80000"/>
              </a:lnSpc>
              <a:spcBef>
                <a:spcPts val="500"/>
              </a:spcBef>
              <a:spcAft>
                <a:spcPts val="0"/>
              </a:spcAft>
              <a:buClr>
                <a:schemeClr val="dk1"/>
              </a:buClr>
              <a:buSzPts val="2400"/>
              <a:buChar char="•"/>
            </a:pPr>
            <a:r>
              <a:rPr lang="en-US"/>
              <a:t>IIS</a:t>
            </a:r>
            <a:endParaRPr/>
          </a:p>
        </p:txBody>
      </p:sp>
      <p:cxnSp>
        <p:nvCxnSpPr>
          <p:cNvPr id="164" name="Google Shape;164;p8"/>
          <p:cNvCxnSpPr/>
          <p:nvPr/>
        </p:nvCxnSpPr>
        <p:spPr>
          <a:xfrm>
            <a:off x="166259" y="1254755"/>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65" name="Google Shape;165;p8"/>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Web Servers</a:t>
            </a:r>
            <a:endParaRPr b="1" i="0" sz="2400" u="none" cap="none" strike="noStrike">
              <a:solidFill>
                <a:srgbClr val="C55A11"/>
              </a:solidFill>
              <a:latin typeface="Calibri"/>
              <a:ea typeface="Calibri"/>
              <a:cs typeface="Calibri"/>
              <a:sym typeface="Calibri"/>
            </a:endParaRPr>
          </a:p>
        </p:txBody>
      </p:sp>
      <p:sp>
        <p:nvSpPr>
          <p:cNvPr id="166" name="Google Shape;166;p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http://blog.catchpoint.com/wp-content/uploads/2014/06/dns101.jpg" id="171" name="Google Shape;171;p9"/>
          <p:cNvPicPr preferRelativeResize="0"/>
          <p:nvPr>
            <p:ph idx="1" type="body"/>
          </p:nvPr>
        </p:nvPicPr>
        <p:blipFill rotWithShape="1">
          <a:blip r:embed="rId3">
            <a:alphaModFix/>
          </a:blip>
          <a:srcRect b="0" l="0" r="0" t="0"/>
          <a:stretch/>
        </p:blipFill>
        <p:spPr>
          <a:xfrm>
            <a:off x="336708" y="1353046"/>
            <a:ext cx="5946085" cy="5060498"/>
          </a:xfrm>
          <a:prstGeom prst="rect">
            <a:avLst/>
          </a:prstGeom>
          <a:noFill/>
          <a:ln>
            <a:noFill/>
          </a:ln>
        </p:spPr>
      </p:pic>
      <p:cxnSp>
        <p:nvCxnSpPr>
          <p:cNvPr id="172" name="Google Shape;172;p9"/>
          <p:cNvCxnSpPr/>
          <p:nvPr/>
        </p:nvCxnSpPr>
        <p:spPr>
          <a:xfrm>
            <a:off x="0" y="1297626"/>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73" name="Google Shape;173;p9"/>
          <p:cNvSpPr/>
          <p:nvPr/>
        </p:nvSpPr>
        <p:spPr>
          <a:xfrm>
            <a:off x="6439270" y="1625538"/>
            <a:ext cx="5752730" cy="27905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1: OS Recursive Query to DNS Resolver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2: DNS Resolver Iterative Query to the Root Server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3: Root Server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4:  DNS Resolver Iterative Query to the TLD Server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5: TLD Server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6: DNS Resolver Iterative Query to the Google.com 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7: Google.com NS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8: DNS Resolver Response to 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9: Browser Starts TCP Handshake</a:t>
            </a:r>
            <a:endParaRPr b="0" i="0" sz="1800" u="none" cap="none" strike="noStrike">
              <a:solidFill>
                <a:schemeClr val="dk1"/>
              </a:solidFill>
              <a:latin typeface="Calibri"/>
              <a:ea typeface="Calibri"/>
              <a:cs typeface="Calibri"/>
              <a:sym typeface="Calibri"/>
            </a:endParaRPr>
          </a:p>
        </p:txBody>
      </p:sp>
      <p:sp>
        <p:nvSpPr>
          <p:cNvPr id="174" name="Google Shape;174;p9"/>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Domain Name Service</a:t>
            </a:r>
            <a:endParaRPr b="1" i="0" sz="2400" u="none" cap="none" strike="noStrike">
              <a:solidFill>
                <a:srgbClr val="C55A11"/>
              </a:solidFill>
              <a:latin typeface="Calibri"/>
              <a:ea typeface="Calibri"/>
              <a:cs typeface="Calibri"/>
              <a:sym typeface="Calibri"/>
            </a:endParaRPr>
          </a:p>
        </p:txBody>
      </p:sp>
      <p:sp>
        <p:nvSpPr>
          <p:cNvPr id="175" name="Google Shape;175;p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cxnSp>
        <p:nvCxnSpPr>
          <p:cNvPr id="180" name="Google Shape;180;p10"/>
          <p:cNvCxnSpPr/>
          <p:nvPr/>
        </p:nvCxnSpPr>
        <p:spPr>
          <a:xfrm>
            <a:off x="55274" y="1304897"/>
            <a:ext cx="8123068" cy="0"/>
          </a:xfrm>
          <a:prstGeom prst="straightConnector1">
            <a:avLst/>
          </a:prstGeom>
          <a:noFill/>
          <a:ln cap="flat" cmpd="sng" w="38100">
            <a:solidFill>
              <a:srgbClr val="DFA267"/>
            </a:solidFill>
            <a:prstDash val="solid"/>
            <a:miter lim="800000"/>
            <a:headEnd len="sm" w="sm" type="none"/>
            <a:tailEnd len="sm" w="sm" type="none"/>
          </a:ln>
        </p:spPr>
      </p:cxnSp>
      <p:sp>
        <p:nvSpPr>
          <p:cNvPr id="181" name="Google Shape;181;p10"/>
          <p:cNvSpPr/>
          <p:nvPr/>
        </p:nvSpPr>
        <p:spPr>
          <a:xfrm>
            <a:off x="580007" y="1708057"/>
            <a:ext cx="7409896" cy="321915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000000"/>
              </a:buClr>
              <a:buSzPts val="2400"/>
              <a:buFont typeface="Arial"/>
              <a:buNone/>
            </a:pPr>
            <a:r>
              <a:rPr b="0" i="0" lang="en-US" sz="2400" u="none" cap="none" strike="noStrike">
                <a:solidFill>
                  <a:schemeClr val="accent1"/>
                </a:solidFill>
                <a:latin typeface="Calibri"/>
                <a:ea typeface="Calibri"/>
                <a:cs typeface="Calibri"/>
                <a:sym typeface="Calibri"/>
              </a:rPr>
              <a:t>Steps:</a:t>
            </a:r>
            <a:endParaRPr b="0" i="0" sz="1400" u="none" cap="none" strike="noStrike">
              <a:solidFill>
                <a:srgbClr val="000000"/>
              </a:solidFill>
              <a:latin typeface="Arial"/>
              <a:ea typeface="Arial"/>
              <a:cs typeface="Arial"/>
              <a:sym typeface="Arial"/>
            </a:endParaRPr>
          </a:p>
          <a:p>
            <a:pPr indent="-342900" lvl="0" marL="342900" marR="0" rtl="0" algn="l">
              <a:lnSpc>
                <a:spcPct val="107000"/>
              </a:lnSpc>
              <a:spcBef>
                <a:spcPts val="525"/>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1. Choose a domain name</a:t>
            </a:r>
            <a:endParaRPr b="0" i="0" sz="2400" u="none" cap="none" strike="noStrike">
              <a:solidFill>
                <a:schemeClr val="dk1"/>
              </a:solidFill>
              <a:latin typeface="Calibri"/>
              <a:ea typeface="Calibri"/>
              <a:cs typeface="Calibri"/>
              <a:sym typeface="Calibri"/>
            </a:endParaRPr>
          </a:p>
          <a:p>
            <a:pPr indent="-342900" lvl="0" marL="342900" marR="0" rtl="0" algn="l">
              <a:lnSpc>
                <a:spcPct val="107000"/>
              </a:lnSpc>
              <a:spcBef>
                <a:spcPts val="525"/>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2. Register a domain and sign up with web hosting</a:t>
            </a:r>
            <a:endParaRPr b="0" i="0" sz="2400" u="none" cap="none" strike="noStrike">
              <a:solidFill>
                <a:schemeClr val="dk1"/>
              </a:solidFill>
              <a:latin typeface="Calibri"/>
              <a:ea typeface="Calibri"/>
              <a:cs typeface="Calibri"/>
              <a:sym typeface="Calibri"/>
            </a:endParaRPr>
          </a:p>
          <a:p>
            <a:pPr indent="-342900" lvl="0" marL="342900" marR="0" rtl="0" algn="l">
              <a:lnSpc>
                <a:spcPct val="107000"/>
              </a:lnSpc>
              <a:spcBef>
                <a:spcPts val="525"/>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3. Set up a website using WordPress/Name cheap/Go Daddy (through web host)</a:t>
            </a:r>
            <a:endParaRPr b="0" i="0" sz="2400" u="none" cap="none" strike="noStrike">
              <a:solidFill>
                <a:schemeClr val="dk1"/>
              </a:solidFill>
              <a:latin typeface="Calibri"/>
              <a:ea typeface="Calibri"/>
              <a:cs typeface="Calibri"/>
              <a:sym typeface="Calibri"/>
            </a:endParaRPr>
          </a:p>
          <a:p>
            <a:pPr indent="-342900" lvl="0" marL="342900" marR="0" rtl="0" algn="l">
              <a:lnSpc>
                <a:spcPct val="107000"/>
              </a:lnSpc>
              <a:spcBef>
                <a:spcPts val="525"/>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4. Customize your website design and structure</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525"/>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5. Add pages and content to your website</a:t>
            </a:r>
            <a:endParaRPr b="0" i="0" sz="2400" u="none" cap="none" strike="noStrike">
              <a:solidFill>
                <a:schemeClr val="dk1"/>
              </a:solidFill>
              <a:latin typeface="Calibri"/>
              <a:ea typeface="Calibri"/>
              <a:cs typeface="Calibri"/>
              <a:sym typeface="Calibri"/>
            </a:endParaRPr>
          </a:p>
        </p:txBody>
      </p:sp>
      <p:sp>
        <p:nvSpPr>
          <p:cNvPr id="182" name="Google Shape;182;p10"/>
          <p:cNvSpPr/>
          <p:nvPr/>
        </p:nvSpPr>
        <p:spPr>
          <a:xfrm>
            <a:off x="580005" y="651898"/>
            <a:ext cx="799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How to get your own website?</a:t>
            </a:r>
            <a:endParaRPr b="1" i="0" sz="2400" u="none" cap="none" strike="noStrike">
              <a:solidFill>
                <a:srgbClr val="C55A11"/>
              </a:solidFill>
              <a:latin typeface="Calibri"/>
              <a:ea typeface="Calibri"/>
              <a:cs typeface="Calibri"/>
              <a:sym typeface="Calibri"/>
            </a:endParaRPr>
          </a:p>
        </p:txBody>
      </p:sp>
      <p:sp>
        <p:nvSpPr>
          <p:cNvPr id="183" name="Google Shape;183;p1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WWW, Web Protocols and URLs</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1"/>
          <p:cNvSpPr txBox="1"/>
          <p:nvPr>
            <p:ph idx="1" type="body"/>
          </p:nvPr>
        </p:nvSpPr>
        <p:spPr>
          <a:xfrm>
            <a:off x="467570" y="1802022"/>
            <a:ext cx="5725412" cy="3062796"/>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400"/>
              <a:buChar char="•"/>
            </a:pPr>
            <a:r>
              <a:rPr lang="en-US" sz="2400"/>
              <a:t>A protocol is a set of rules and guidelines for communicating data.</a:t>
            </a:r>
            <a:endParaRPr/>
          </a:p>
          <a:p>
            <a:pPr indent="-228600" lvl="0" marL="228600" rtl="0" algn="l">
              <a:lnSpc>
                <a:spcPct val="80000"/>
              </a:lnSpc>
              <a:spcBef>
                <a:spcPts val="1000"/>
              </a:spcBef>
              <a:spcAft>
                <a:spcPts val="0"/>
              </a:spcAft>
              <a:buClr>
                <a:schemeClr val="dk1"/>
              </a:buClr>
              <a:buSzPts val="2400"/>
              <a:buChar char="•"/>
            </a:pPr>
            <a:r>
              <a:rPr lang="en-US" sz="2400"/>
              <a:t>Different applications use different protocols</a:t>
            </a:r>
            <a:endParaRPr/>
          </a:p>
          <a:p>
            <a:pPr indent="-228600" lvl="0" marL="228600" rtl="0" algn="l">
              <a:lnSpc>
                <a:spcPct val="80000"/>
              </a:lnSpc>
              <a:spcBef>
                <a:spcPts val="1000"/>
              </a:spcBef>
              <a:spcAft>
                <a:spcPts val="0"/>
              </a:spcAft>
              <a:buClr>
                <a:schemeClr val="dk1"/>
              </a:buClr>
              <a:buSzPts val="2400"/>
              <a:buChar char="•"/>
            </a:pPr>
            <a:r>
              <a:rPr lang="en-US" sz="2400"/>
              <a:t>The web, in particular, uses multiple protocols to communicate. </a:t>
            </a:r>
            <a:endParaRPr/>
          </a:p>
          <a:p>
            <a:pPr indent="-228600" lvl="0" marL="228600" rtl="0" algn="l">
              <a:lnSpc>
                <a:spcPct val="80000"/>
              </a:lnSpc>
              <a:spcBef>
                <a:spcPts val="1000"/>
              </a:spcBef>
              <a:spcAft>
                <a:spcPts val="0"/>
              </a:spcAft>
              <a:buClr>
                <a:schemeClr val="dk1"/>
              </a:buClr>
              <a:buSzPts val="2400"/>
              <a:buChar char="•"/>
            </a:pPr>
            <a:r>
              <a:rPr lang="en-US" sz="2400"/>
              <a:t>The most important and visible protocols are HTTP and HTTPS. </a:t>
            </a:r>
            <a:endParaRPr/>
          </a:p>
        </p:txBody>
      </p:sp>
      <p:cxnSp>
        <p:nvCxnSpPr>
          <p:cNvPr id="189" name="Google Shape;189;p11"/>
          <p:cNvCxnSpPr/>
          <p:nvPr/>
        </p:nvCxnSpPr>
        <p:spPr>
          <a:xfrm>
            <a:off x="-8308" y="1209922"/>
            <a:ext cx="8300052" cy="0"/>
          </a:xfrm>
          <a:prstGeom prst="straightConnector1">
            <a:avLst/>
          </a:prstGeom>
          <a:noFill/>
          <a:ln cap="flat" cmpd="sng" w="38100">
            <a:solidFill>
              <a:srgbClr val="DFA267"/>
            </a:solidFill>
            <a:prstDash val="solid"/>
            <a:miter lim="800000"/>
            <a:headEnd len="sm" w="sm" type="none"/>
            <a:tailEnd len="sm" w="sm" type="none"/>
          </a:ln>
        </p:spPr>
      </p:cxnSp>
      <p:sp>
        <p:nvSpPr>
          <p:cNvPr id="190" name="Google Shape;190;p11"/>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What is a Protocol?</a:t>
            </a:r>
            <a:endParaRPr b="1" i="0" sz="2400" u="none" cap="none" strike="noStrike">
              <a:solidFill>
                <a:srgbClr val="C55A11"/>
              </a:solidFill>
              <a:latin typeface="Calibri"/>
              <a:ea typeface="Calibri"/>
              <a:cs typeface="Calibri"/>
              <a:sym typeface="Calibri"/>
            </a:endParaRPr>
          </a:p>
        </p:txBody>
      </p:sp>
      <p:sp>
        <p:nvSpPr>
          <p:cNvPr id="191" name="Google Shape;191;p1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pic>
        <p:nvPicPr>
          <p:cNvPr descr="https://sites.google.com/site/tvcccissmcn1/_/rsrc/1468736835146/home/communicating/protocols/Comm1.jpg?height=333&amp;width=400" id="192" name="Google Shape;192;p11"/>
          <p:cNvPicPr preferRelativeResize="0"/>
          <p:nvPr/>
        </p:nvPicPr>
        <p:blipFill rotWithShape="1">
          <a:blip r:embed="rId3">
            <a:alphaModFix/>
          </a:blip>
          <a:srcRect b="0" l="0" r="0" t="0"/>
          <a:stretch/>
        </p:blipFill>
        <p:spPr>
          <a:xfrm>
            <a:off x="7068994" y="1240992"/>
            <a:ext cx="3810000" cy="31718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idx="1" type="body"/>
          </p:nvPr>
        </p:nvSpPr>
        <p:spPr>
          <a:xfrm>
            <a:off x="601934" y="1459798"/>
            <a:ext cx="4912181"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75000"/>
              </a:lnSpc>
              <a:spcBef>
                <a:spcPts val="0"/>
              </a:spcBef>
              <a:spcAft>
                <a:spcPts val="0"/>
              </a:spcAft>
              <a:buClr>
                <a:srgbClr val="2F5496"/>
              </a:buClr>
              <a:buSzPts val="2400"/>
              <a:buFont typeface="Noto Sans Symbols"/>
              <a:buNone/>
            </a:pPr>
            <a:r>
              <a:rPr b="1" lang="en-US" sz="2400">
                <a:solidFill>
                  <a:srgbClr val="2F5496"/>
                </a:solidFill>
              </a:rPr>
              <a:t>HTTP: HyperText Transfer Protocol</a:t>
            </a:r>
            <a:endParaRPr b="1" sz="2400">
              <a:solidFill>
                <a:srgbClr val="2F5496"/>
              </a:solidFill>
            </a:endParaRPr>
          </a:p>
          <a:p>
            <a:pPr indent="-228600" lvl="0" marL="228600" rtl="0" algn="l">
              <a:lnSpc>
                <a:spcPct val="75000"/>
              </a:lnSpc>
              <a:spcBef>
                <a:spcPts val="1000"/>
              </a:spcBef>
              <a:spcAft>
                <a:spcPts val="0"/>
              </a:spcAft>
              <a:buClr>
                <a:schemeClr val="dk1"/>
              </a:buClr>
              <a:buSzPts val="2400"/>
              <a:buChar char="•"/>
            </a:pPr>
            <a:r>
              <a:rPr lang="en-US" sz="2400"/>
              <a:t>Application Protocol used by the Web</a:t>
            </a:r>
            <a:endParaRPr sz="2400"/>
          </a:p>
          <a:p>
            <a:pPr indent="-228600" lvl="0" marL="228600" rtl="0" algn="l">
              <a:lnSpc>
                <a:spcPct val="75000"/>
              </a:lnSpc>
              <a:spcBef>
                <a:spcPts val="1000"/>
              </a:spcBef>
              <a:spcAft>
                <a:spcPts val="0"/>
              </a:spcAft>
              <a:buClr>
                <a:schemeClr val="dk1"/>
              </a:buClr>
              <a:buSzPts val="2400"/>
              <a:buChar char="•"/>
            </a:pPr>
            <a:r>
              <a:rPr lang="en-US" sz="2400"/>
              <a:t>Client/Server model</a:t>
            </a:r>
            <a:endParaRPr/>
          </a:p>
          <a:p>
            <a:pPr indent="-228600" lvl="1" marL="685800" rtl="0" algn="l">
              <a:lnSpc>
                <a:spcPct val="75000"/>
              </a:lnSpc>
              <a:spcBef>
                <a:spcPts val="500"/>
              </a:spcBef>
              <a:spcAft>
                <a:spcPts val="0"/>
              </a:spcAft>
              <a:buClr>
                <a:schemeClr val="dk1"/>
              </a:buClr>
              <a:buSzPts val="2400"/>
              <a:buChar char="•"/>
            </a:pPr>
            <a:r>
              <a:rPr i="1" lang="en-US"/>
              <a:t>Client:</a:t>
            </a:r>
            <a:r>
              <a:rPr lang="en-US"/>
              <a:t> browser that requests, receives, and “displays” Web Objects </a:t>
            </a:r>
            <a:endParaRPr/>
          </a:p>
          <a:p>
            <a:pPr indent="-228600" lvl="1" marL="685800" rtl="0" algn="l">
              <a:lnSpc>
                <a:spcPct val="75000"/>
              </a:lnSpc>
              <a:spcBef>
                <a:spcPts val="500"/>
              </a:spcBef>
              <a:spcAft>
                <a:spcPts val="0"/>
              </a:spcAft>
              <a:buClr>
                <a:schemeClr val="dk1"/>
              </a:buClr>
              <a:buSzPts val="2400"/>
              <a:buChar char="•"/>
            </a:pPr>
            <a:r>
              <a:rPr i="1" lang="en-US"/>
              <a:t>Server:</a:t>
            </a:r>
            <a:r>
              <a:rPr lang="en-US"/>
              <a:t> Web server sends Web Objects (using HTTP protocol) in response to requests</a:t>
            </a:r>
            <a:endParaRPr/>
          </a:p>
          <a:p>
            <a:pPr indent="-228600" lvl="0" marL="228600" rtl="0" algn="l">
              <a:lnSpc>
                <a:spcPct val="75000"/>
              </a:lnSpc>
              <a:spcBef>
                <a:spcPts val="1000"/>
              </a:spcBef>
              <a:spcAft>
                <a:spcPts val="0"/>
              </a:spcAft>
              <a:buClr>
                <a:schemeClr val="dk1"/>
              </a:buClr>
              <a:buSzPts val="2400"/>
              <a:buFont typeface="Noto Sans Symbols"/>
              <a:buNone/>
            </a:pPr>
            <a:r>
              <a:t/>
            </a:r>
            <a:endParaRPr sz="2400"/>
          </a:p>
        </p:txBody>
      </p:sp>
      <p:grpSp>
        <p:nvGrpSpPr>
          <p:cNvPr id="199" name="Google Shape;199;p12"/>
          <p:cNvGrpSpPr/>
          <p:nvPr/>
        </p:nvGrpSpPr>
        <p:grpSpPr>
          <a:xfrm>
            <a:off x="5776407" y="1349807"/>
            <a:ext cx="3977194" cy="3887212"/>
            <a:chOff x="3767497" y="1377516"/>
            <a:chExt cx="4654605" cy="4451445"/>
          </a:xfrm>
        </p:grpSpPr>
        <p:sp>
          <p:nvSpPr>
            <p:cNvPr id="200" name="Google Shape;200;p12"/>
            <p:cNvSpPr txBox="1"/>
            <p:nvPr/>
          </p:nvSpPr>
          <p:spPr>
            <a:xfrm>
              <a:off x="3952742" y="2757411"/>
              <a:ext cx="1584325"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PC running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Firefox browser</a:t>
              </a:r>
              <a:endParaRPr b="0" i="0" sz="2400" u="none" cap="none" strike="noStrike">
                <a:solidFill>
                  <a:schemeClr val="dk1"/>
                </a:solidFill>
                <a:latin typeface="Arial"/>
                <a:ea typeface="Arial"/>
                <a:cs typeface="Arial"/>
                <a:sym typeface="Arial"/>
              </a:endParaRPr>
            </a:p>
          </p:txBody>
        </p:sp>
        <p:sp>
          <p:nvSpPr>
            <p:cNvPr id="201" name="Google Shape;201;p12"/>
            <p:cNvSpPr txBox="1"/>
            <p:nvPr/>
          </p:nvSpPr>
          <p:spPr>
            <a:xfrm>
              <a:off x="7075902" y="1377516"/>
              <a:ext cx="1346200" cy="1069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server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running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Apache Web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202" name="Google Shape;202;p12"/>
            <p:cNvSpPr txBox="1"/>
            <p:nvPr/>
          </p:nvSpPr>
          <p:spPr>
            <a:xfrm>
              <a:off x="3767497" y="5247936"/>
              <a:ext cx="1525588"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iphone running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Safari browser</a:t>
              </a:r>
              <a:endParaRPr b="0" i="0" sz="2400" u="none" cap="none" strike="noStrike">
                <a:solidFill>
                  <a:schemeClr val="dk1"/>
                </a:solidFill>
                <a:latin typeface="Arial"/>
                <a:ea typeface="Arial"/>
                <a:cs typeface="Arial"/>
                <a:sym typeface="Arial"/>
              </a:endParaRPr>
            </a:p>
          </p:txBody>
        </p:sp>
        <p:grpSp>
          <p:nvGrpSpPr>
            <p:cNvPr id="203" name="Google Shape;203;p12"/>
            <p:cNvGrpSpPr/>
            <p:nvPr/>
          </p:nvGrpSpPr>
          <p:grpSpPr>
            <a:xfrm>
              <a:off x="5163998" y="1962859"/>
              <a:ext cx="2101850" cy="1067460"/>
              <a:chOff x="3640" y="1271"/>
              <a:chExt cx="1324" cy="671"/>
            </a:xfrm>
          </p:grpSpPr>
          <p:cxnSp>
            <p:nvCxnSpPr>
              <p:cNvPr id="204" name="Google Shape;204;p12"/>
              <p:cNvCxnSpPr/>
              <p:nvPr/>
            </p:nvCxnSpPr>
            <p:spPr>
              <a:xfrm>
                <a:off x="3640" y="1346"/>
                <a:ext cx="1324" cy="596"/>
              </a:xfrm>
              <a:prstGeom prst="straightConnector1">
                <a:avLst/>
              </a:prstGeom>
              <a:noFill/>
              <a:ln cap="flat" cmpd="sng" w="28575">
                <a:solidFill>
                  <a:srgbClr val="CC0000"/>
                </a:solidFill>
                <a:prstDash val="solid"/>
                <a:round/>
                <a:headEnd len="sm" w="sm" type="none"/>
                <a:tailEnd len="med" w="med" type="triangle"/>
              </a:ln>
            </p:spPr>
          </p:cxnSp>
          <p:sp>
            <p:nvSpPr>
              <p:cNvPr id="205" name="Google Shape;205;p12"/>
              <p:cNvSpPr txBox="1"/>
              <p:nvPr/>
            </p:nvSpPr>
            <p:spPr>
              <a:xfrm rot="1422049">
                <a:off x="3860" y="1445"/>
                <a:ext cx="91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HTTP request</a:t>
                </a:r>
                <a:endParaRPr b="0" i="0" sz="2400" u="none" cap="none" strike="noStrike">
                  <a:solidFill>
                    <a:srgbClr val="CC0000"/>
                  </a:solidFill>
                  <a:latin typeface="Arial"/>
                  <a:ea typeface="Arial"/>
                  <a:cs typeface="Arial"/>
                  <a:sym typeface="Arial"/>
                </a:endParaRPr>
              </a:p>
            </p:txBody>
          </p:sp>
        </p:grpSp>
        <p:grpSp>
          <p:nvGrpSpPr>
            <p:cNvPr id="206" name="Google Shape;206;p12"/>
            <p:cNvGrpSpPr/>
            <p:nvPr/>
          </p:nvGrpSpPr>
          <p:grpSpPr>
            <a:xfrm>
              <a:off x="5195094" y="2209533"/>
              <a:ext cx="1971675" cy="1138058"/>
              <a:chOff x="4141" y="394"/>
              <a:chExt cx="1242" cy="717"/>
            </a:xfrm>
          </p:grpSpPr>
          <p:cxnSp>
            <p:nvCxnSpPr>
              <p:cNvPr id="207" name="Google Shape;207;p12"/>
              <p:cNvCxnSpPr/>
              <p:nvPr/>
            </p:nvCxnSpPr>
            <p:spPr>
              <a:xfrm rot="10800000">
                <a:off x="4141" y="394"/>
                <a:ext cx="1242" cy="570"/>
              </a:xfrm>
              <a:prstGeom prst="straightConnector1">
                <a:avLst/>
              </a:prstGeom>
              <a:noFill/>
              <a:ln cap="flat" cmpd="sng" w="28575">
                <a:solidFill>
                  <a:srgbClr val="CC0000"/>
                </a:solidFill>
                <a:prstDash val="solid"/>
                <a:round/>
                <a:headEnd len="sm" w="sm" type="none"/>
                <a:tailEnd len="med" w="med" type="triangle"/>
              </a:ln>
            </p:spPr>
          </p:cxnSp>
          <p:sp>
            <p:nvSpPr>
              <p:cNvPr id="208" name="Google Shape;208;p12"/>
              <p:cNvSpPr txBox="1"/>
              <p:nvPr/>
            </p:nvSpPr>
            <p:spPr>
              <a:xfrm rot="1411598">
                <a:off x="4304" y="706"/>
                <a:ext cx="101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HTTP response</a:t>
                </a:r>
                <a:endParaRPr b="0" i="0" sz="2400" u="none" cap="none" strike="noStrike">
                  <a:solidFill>
                    <a:srgbClr val="CC0000"/>
                  </a:solidFill>
                  <a:latin typeface="Arial"/>
                  <a:ea typeface="Arial"/>
                  <a:cs typeface="Arial"/>
                  <a:sym typeface="Arial"/>
                </a:endParaRPr>
              </a:p>
            </p:txBody>
          </p:sp>
        </p:grpSp>
        <p:grpSp>
          <p:nvGrpSpPr>
            <p:cNvPr id="209" name="Google Shape;209;p12"/>
            <p:cNvGrpSpPr/>
            <p:nvPr/>
          </p:nvGrpSpPr>
          <p:grpSpPr>
            <a:xfrm rot="-3183056">
              <a:off x="4921855" y="3508385"/>
              <a:ext cx="2101850" cy="1067460"/>
              <a:chOff x="3640" y="1271"/>
              <a:chExt cx="1324" cy="671"/>
            </a:xfrm>
          </p:grpSpPr>
          <p:cxnSp>
            <p:nvCxnSpPr>
              <p:cNvPr id="210" name="Google Shape;210;p12"/>
              <p:cNvCxnSpPr/>
              <p:nvPr/>
            </p:nvCxnSpPr>
            <p:spPr>
              <a:xfrm>
                <a:off x="3640" y="1346"/>
                <a:ext cx="1324" cy="596"/>
              </a:xfrm>
              <a:prstGeom prst="straightConnector1">
                <a:avLst/>
              </a:prstGeom>
              <a:noFill/>
              <a:ln cap="flat" cmpd="sng" w="28575">
                <a:solidFill>
                  <a:srgbClr val="CC0000"/>
                </a:solidFill>
                <a:prstDash val="solid"/>
                <a:round/>
                <a:headEnd len="sm" w="sm" type="none"/>
                <a:tailEnd len="med" w="med" type="triangle"/>
              </a:ln>
            </p:spPr>
          </p:cxnSp>
          <p:sp>
            <p:nvSpPr>
              <p:cNvPr id="211" name="Google Shape;211;p12"/>
              <p:cNvSpPr txBox="1"/>
              <p:nvPr/>
            </p:nvSpPr>
            <p:spPr>
              <a:xfrm rot="1422049">
                <a:off x="3860" y="1445"/>
                <a:ext cx="91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HTTP request</a:t>
                </a:r>
                <a:endParaRPr b="0" i="0" sz="2400" u="none" cap="none" strike="noStrike">
                  <a:solidFill>
                    <a:srgbClr val="CC0000"/>
                  </a:solidFill>
                  <a:latin typeface="Arial"/>
                  <a:ea typeface="Arial"/>
                  <a:cs typeface="Arial"/>
                  <a:sym typeface="Arial"/>
                </a:endParaRPr>
              </a:p>
            </p:txBody>
          </p:sp>
        </p:grpSp>
        <p:grpSp>
          <p:nvGrpSpPr>
            <p:cNvPr id="212" name="Google Shape;212;p12"/>
            <p:cNvGrpSpPr/>
            <p:nvPr/>
          </p:nvGrpSpPr>
          <p:grpSpPr>
            <a:xfrm rot="-3264937">
              <a:off x="5164738" y="3757363"/>
              <a:ext cx="1971675" cy="1138058"/>
              <a:chOff x="4141" y="394"/>
              <a:chExt cx="1242" cy="717"/>
            </a:xfrm>
          </p:grpSpPr>
          <p:cxnSp>
            <p:nvCxnSpPr>
              <p:cNvPr id="213" name="Google Shape;213;p12"/>
              <p:cNvCxnSpPr/>
              <p:nvPr/>
            </p:nvCxnSpPr>
            <p:spPr>
              <a:xfrm rot="10800000">
                <a:off x="4141" y="394"/>
                <a:ext cx="1242" cy="570"/>
              </a:xfrm>
              <a:prstGeom prst="straightConnector1">
                <a:avLst/>
              </a:prstGeom>
              <a:noFill/>
              <a:ln cap="flat" cmpd="sng" w="28575">
                <a:solidFill>
                  <a:srgbClr val="CC0000"/>
                </a:solidFill>
                <a:prstDash val="solid"/>
                <a:round/>
                <a:headEnd len="sm" w="sm" type="none"/>
                <a:tailEnd len="med" w="med" type="triangle"/>
              </a:ln>
            </p:spPr>
          </p:cxnSp>
          <p:sp>
            <p:nvSpPr>
              <p:cNvPr id="214" name="Google Shape;214;p12"/>
              <p:cNvSpPr txBox="1"/>
              <p:nvPr/>
            </p:nvSpPr>
            <p:spPr>
              <a:xfrm rot="1411598">
                <a:off x="4304" y="706"/>
                <a:ext cx="101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HTTP response</a:t>
                </a:r>
                <a:endParaRPr b="0" i="0" sz="2400" u="none" cap="none" strike="noStrike">
                  <a:solidFill>
                    <a:srgbClr val="CC0000"/>
                  </a:solidFill>
                  <a:latin typeface="Arial"/>
                  <a:ea typeface="Arial"/>
                  <a:cs typeface="Arial"/>
                  <a:sym typeface="Arial"/>
                </a:endParaRPr>
              </a:p>
            </p:txBody>
          </p:sp>
        </p:grpSp>
        <p:pic>
          <p:nvPicPr>
            <p:cNvPr descr="iphone_stylized_small" id="215" name="Google Shape;215;p12"/>
            <p:cNvPicPr preferRelativeResize="0"/>
            <p:nvPr/>
          </p:nvPicPr>
          <p:blipFill rotWithShape="1">
            <a:blip r:embed="rId3">
              <a:alphaModFix/>
            </a:blip>
            <a:srcRect b="0" l="0" r="0" t="0"/>
            <a:stretch/>
          </p:blipFill>
          <p:spPr>
            <a:xfrm>
              <a:off x="4298256" y="4111566"/>
              <a:ext cx="382588" cy="917575"/>
            </a:xfrm>
            <a:prstGeom prst="rect">
              <a:avLst/>
            </a:prstGeom>
            <a:noFill/>
            <a:ln>
              <a:noFill/>
            </a:ln>
          </p:spPr>
        </p:pic>
        <p:grpSp>
          <p:nvGrpSpPr>
            <p:cNvPr id="216" name="Google Shape;216;p12"/>
            <p:cNvGrpSpPr/>
            <p:nvPr/>
          </p:nvGrpSpPr>
          <p:grpSpPr>
            <a:xfrm>
              <a:off x="4226285" y="1667147"/>
              <a:ext cx="1066800" cy="1079500"/>
              <a:chOff x="-44" y="1473"/>
              <a:chExt cx="981" cy="1105"/>
            </a:xfrm>
          </p:grpSpPr>
          <p:pic>
            <p:nvPicPr>
              <p:cNvPr descr="desktop_computer_stylized_medium" id="217" name="Google Shape;217;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18" name="Google Shape;218;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12"/>
            <p:cNvGrpSpPr/>
            <p:nvPr/>
          </p:nvGrpSpPr>
          <p:grpSpPr>
            <a:xfrm>
              <a:off x="7439287" y="2507087"/>
              <a:ext cx="695325" cy="1282700"/>
              <a:chOff x="4140" y="429"/>
              <a:chExt cx="1425" cy="2396"/>
            </a:xfrm>
          </p:grpSpPr>
          <p:sp>
            <p:nvSpPr>
              <p:cNvPr id="220" name="Google Shape;220;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12"/>
              <p:cNvSpPr/>
              <p:nvPr/>
            </p:nvSpPr>
            <p:spPr>
              <a:xfrm>
                <a:off x="4205" y="429"/>
                <a:ext cx="1048"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22" name="Google Shape;222;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12"/>
              <p:cNvSpPr/>
              <p:nvPr/>
            </p:nvSpPr>
            <p:spPr>
              <a:xfrm>
                <a:off x="4212" y="693"/>
                <a:ext cx="595"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nvGrpSpPr>
              <p:cNvPr id="225" name="Google Shape;225;p12"/>
              <p:cNvGrpSpPr/>
              <p:nvPr/>
            </p:nvGrpSpPr>
            <p:grpSpPr>
              <a:xfrm>
                <a:off x="4748" y="669"/>
                <a:ext cx="583" cy="140"/>
                <a:chOff x="613" y="2569"/>
                <a:chExt cx="727" cy="134"/>
              </a:xfrm>
            </p:grpSpPr>
            <p:sp>
              <p:nvSpPr>
                <p:cNvPr id="226" name="Google Shape;226;p12"/>
                <p:cNvSpPr/>
                <p:nvPr/>
              </p:nvSpPr>
              <p:spPr>
                <a:xfrm>
                  <a:off x="613" y="2569"/>
                  <a:ext cx="727"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27" name="Google Shape;227;p12"/>
                <p:cNvSpPr/>
                <p:nvPr/>
              </p:nvSpPr>
              <p:spPr>
                <a:xfrm>
                  <a:off x="629" y="2586"/>
                  <a:ext cx="694" cy="9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sp>
            <p:nvSpPr>
              <p:cNvPr id="228" name="Google Shape;228;p12"/>
              <p:cNvSpPr/>
              <p:nvPr/>
            </p:nvSpPr>
            <p:spPr>
              <a:xfrm>
                <a:off x="4225" y="1019"/>
                <a:ext cx="595"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nvGrpSpPr>
              <p:cNvPr id="229" name="Google Shape;229;p12"/>
              <p:cNvGrpSpPr/>
              <p:nvPr/>
            </p:nvGrpSpPr>
            <p:grpSpPr>
              <a:xfrm>
                <a:off x="4749" y="995"/>
                <a:ext cx="579" cy="133"/>
                <a:chOff x="616" y="2569"/>
                <a:chExt cx="723" cy="138"/>
              </a:xfrm>
            </p:grpSpPr>
            <p:sp>
              <p:nvSpPr>
                <p:cNvPr id="230" name="Google Shape;230;p12"/>
                <p:cNvSpPr/>
                <p:nvPr/>
              </p:nvSpPr>
              <p:spPr>
                <a:xfrm>
                  <a:off x="616" y="2569"/>
                  <a:ext cx="72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31" name="Google Shape;231;p12"/>
                <p:cNvSpPr/>
                <p:nvPr/>
              </p:nvSpPr>
              <p:spPr>
                <a:xfrm>
                  <a:off x="632" y="2588"/>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sp>
            <p:nvSpPr>
              <p:cNvPr id="232" name="Google Shape;232;p12"/>
              <p:cNvSpPr/>
              <p:nvPr/>
            </p:nvSpPr>
            <p:spPr>
              <a:xfrm>
                <a:off x="4218" y="1357"/>
                <a:ext cx="595"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33" name="Google Shape;233;p12"/>
              <p:cNvSpPr/>
              <p:nvPr/>
            </p:nvSpPr>
            <p:spPr>
              <a:xfrm>
                <a:off x="4228" y="1654"/>
                <a:ext cx="595"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nvGrpSpPr>
              <p:cNvPr id="234" name="Google Shape;234;p12"/>
              <p:cNvGrpSpPr/>
              <p:nvPr/>
            </p:nvGrpSpPr>
            <p:grpSpPr>
              <a:xfrm>
                <a:off x="4735" y="1627"/>
                <a:ext cx="582" cy="151"/>
                <a:chOff x="614" y="2568"/>
                <a:chExt cx="725" cy="139"/>
              </a:xfrm>
            </p:grpSpPr>
            <p:sp>
              <p:nvSpPr>
                <p:cNvPr id="235" name="Google Shape;235;p12"/>
                <p:cNvSpPr/>
                <p:nvPr/>
              </p:nvSpPr>
              <p:spPr>
                <a:xfrm>
                  <a:off x="614"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36" name="Google Shape;236;p12"/>
                <p:cNvSpPr/>
                <p:nvPr/>
              </p:nvSpPr>
              <p:spPr>
                <a:xfrm>
                  <a:off x="631" y="2584"/>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sp>
            <p:nvSpPr>
              <p:cNvPr id="237" name="Google Shape;237;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38" name="Google Shape;238;p12"/>
              <p:cNvGrpSpPr/>
              <p:nvPr/>
            </p:nvGrpSpPr>
            <p:grpSpPr>
              <a:xfrm>
                <a:off x="4739" y="1327"/>
                <a:ext cx="582" cy="139"/>
                <a:chOff x="614" y="2568"/>
                <a:chExt cx="725" cy="139"/>
              </a:xfrm>
            </p:grpSpPr>
            <p:sp>
              <p:nvSpPr>
                <p:cNvPr id="239" name="Google Shape;239;p12"/>
                <p:cNvSpPr/>
                <p:nvPr/>
              </p:nvSpPr>
              <p:spPr>
                <a:xfrm>
                  <a:off x="614"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0" name="Google Shape;240;p12"/>
                <p:cNvSpPr/>
                <p:nvPr/>
              </p:nvSpPr>
              <p:spPr>
                <a:xfrm>
                  <a:off x="630" y="2583"/>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sp>
            <p:nvSpPr>
              <p:cNvPr id="241" name="Google Shape;241;p12"/>
              <p:cNvSpPr/>
              <p:nvPr/>
            </p:nvSpPr>
            <p:spPr>
              <a:xfrm>
                <a:off x="5249" y="432"/>
                <a:ext cx="68"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2" name="Google Shape;242;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12"/>
              <p:cNvSpPr/>
              <p:nvPr/>
            </p:nvSpPr>
            <p:spPr>
              <a:xfrm>
                <a:off x="5516" y="2611"/>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5" name="Google Shape;245;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12"/>
              <p:cNvSpPr/>
              <p:nvPr/>
            </p:nvSpPr>
            <p:spPr>
              <a:xfrm>
                <a:off x="4140" y="2677"/>
                <a:ext cx="1201"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7" name="Google Shape;247;p12"/>
              <p:cNvSpPr/>
              <p:nvPr/>
            </p:nvSpPr>
            <p:spPr>
              <a:xfrm>
                <a:off x="4205" y="2712"/>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8" name="Google Shape;248;p12"/>
              <p:cNvSpPr/>
              <p:nvPr/>
            </p:nvSpPr>
            <p:spPr>
              <a:xfrm>
                <a:off x="4309" y="2383"/>
                <a:ext cx="156"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49" name="Google Shape;249;p12"/>
              <p:cNvSpPr/>
              <p:nvPr/>
            </p:nvSpPr>
            <p:spPr>
              <a:xfrm>
                <a:off x="4485" y="2383"/>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50" name="Google Shape;250;p12"/>
              <p:cNvSpPr/>
              <p:nvPr/>
            </p:nvSpPr>
            <p:spPr>
              <a:xfrm>
                <a:off x="4661" y="2380"/>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sp>
            <p:nvSpPr>
              <p:cNvPr id="251" name="Google Shape;251;p12"/>
              <p:cNvSpPr/>
              <p:nvPr/>
            </p:nvSpPr>
            <p:spPr>
              <a:xfrm>
                <a:off x="5061" y="1835"/>
                <a:ext cx="88"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700"/>
                  <a:buFont typeface="Arial"/>
                  <a:buNone/>
                </a:pPr>
                <a:r>
                  <a:t/>
                </a:r>
                <a:endParaRPr b="0" i="0" sz="2000" u="none" cap="none" strike="noStrike">
                  <a:solidFill>
                    <a:schemeClr val="dk1"/>
                  </a:solidFill>
                  <a:latin typeface="Arial"/>
                  <a:ea typeface="Arial"/>
                  <a:cs typeface="Arial"/>
                  <a:sym typeface="Arial"/>
                </a:endParaRPr>
              </a:p>
            </p:txBody>
          </p:sp>
        </p:grpSp>
      </p:grpSp>
      <p:cxnSp>
        <p:nvCxnSpPr>
          <p:cNvPr id="252" name="Google Shape;252;p12"/>
          <p:cNvCxnSpPr/>
          <p:nvPr/>
        </p:nvCxnSpPr>
        <p:spPr>
          <a:xfrm>
            <a:off x="6999" y="1074449"/>
            <a:ext cx="7862239" cy="0"/>
          </a:xfrm>
          <a:prstGeom prst="straightConnector1">
            <a:avLst/>
          </a:prstGeom>
          <a:noFill/>
          <a:ln cap="flat" cmpd="sng" w="38100">
            <a:solidFill>
              <a:srgbClr val="DFA267"/>
            </a:solidFill>
            <a:prstDash val="solid"/>
            <a:miter lim="800000"/>
            <a:headEnd len="sm" w="sm" type="none"/>
            <a:tailEnd len="sm" w="sm" type="none"/>
          </a:ln>
        </p:spPr>
      </p:cxnSp>
      <p:sp>
        <p:nvSpPr>
          <p:cNvPr id="253" name="Google Shape;253;p1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Overview</a:t>
            </a:r>
            <a:endParaRPr b="1" i="0" sz="2400" u="none" cap="none" strike="noStrike">
              <a:solidFill>
                <a:srgbClr val="C55A11"/>
              </a:solidFill>
              <a:latin typeface="Calibri"/>
              <a:ea typeface="Calibri"/>
              <a:cs typeface="Calibri"/>
              <a:sym typeface="Calibri"/>
            </a:endParaRPr>
          </a:p>
        </p:txBody>
      </p:sp>
      <p:sp>
        <p:nvSpPr>
          <p:cNvPr id="254" name="Google Shape;254;p1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p:nvPr/>
        </p:nvSpPr>
        <p:spPr>
          <a:xfrm>
            <a:off x="9191626" y="3238501"/>
            <a:ext cx="828675" cy="2952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261" name="Google Shape;261;p13"/>
          <p:cNvSpPr txBox="1"/>
          <p:nvPr>
            <p:ph idx="1" type="body"/>
          </p:nvPr>
        </p:nvSpPr>
        <p:spPr>
          <a:xfrm>
            <a:off x="491927" y="1440462"/>
            <a:ext cx="3971925"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F5496"/>
              </a:buClr>
              <a:buSzPts val="2400"/>
              <a:buFont typeface="Noto Sans Symbols"/>
              <a:buNone/>
            </a:pPr>
            <a:r>
              <a:rPr b="1" i="1" lang="en-US" sz="2400">
                <a:solidFill>
                  <a:srgbClr val="2F5496"/>
                </a:solidFill>
              </a:rPr>
              <a:t>uses TCP:</a:t>
            </a:r>
            <a:endParaRPr/>
          </a:p>
          <a:p>
            <a:pPr indent="-228600" lvl="0" marL="228600" rtl="0" algn="l">
              <a:lnSpc>
                <a:spcPct val="90000"/>
              </a:lnSpc>
              <a:spcBef>
                <a:spcPts val="1000"/>
              </a:spcBef>
              <a:spcAft>
                <a:spcPts val="0"/>
              </a:spcAft>
              <a:buClr>
                <a:schemeClr val="dk1"/>
              </a:buClr>
              <a:buSzPts val="2400"/>
              <a:buChar char="•"/>
            </a:pPr>
            <a:r>
              <a:rPr lang="en-US" sz="2400"/>
              <a:t>client initiates TCP connection (creates socket) to server,  port 80</a:t>
            </a:r>
            <a:endParaRPr/>
          </a:p>
          <a:p>
            <a:pPr indent="-228600" lvl="0" marL="228600" rtl="0" algn="l">
              <a:lnSpc>
                <a:spcPct val="90000"/>
              </a:lnSpc>
              <a:spcBef>
                <a:spcPts val="1000"/>
              </a:spcBef>
              <a:spcAft>
                <a:spcPts val="0"/>
              </a:spcAft>
              <a:buClr>
                <a:schemeClr val="dk1"/>
              </a:buClr>
              <a:buSzPts val="2400"/>
              <a:buChar char="•"/>
            </a:pPr>
            <a:r>
              <a:rPr lang="en-US" sz="2400"/>
              <a:t>server accepts TCP connection from client</a:t>
            </a:r>
            <a:endParaRPr/>
          </a:p>
          <a:p>
            <a:pPr indent="-228600" lvl="0" marL="228600" rtl="0" algn="l">
              <a:lnSpc>
                <a:spcPct val="90000"/>
              </a:lnSpc>
              <a:spcBef>
                <a:spcPts val="1000"/>
              </a:spcBef>
              <a:spcAft>
                <a:spcPts val="0"/>
              </a:spcAft>
              <a:buClr>
                <a:schemeClr val="dk1"/>
              </a:buClr>
              <a:buSzPts val="2400"/>
              <a:buChar char="•"/>
            </a:pPr>
            <a:r>
              <a:rPr lang="en-US" sz="2400"/>
              <a:t>HTTP messages (application-layer protocol messages) exchanged between browser (HTTP client) and Web server (HTTP server)</a:t>
            </a:r>
            <a:endParaRPr/>
          </a:p>
          <a:p>
            <a:pPr indent="-228600" lvl="0" marL="228600" rtl="0" algn="l">
              <a:lnSpc>
                <a:spcPct val="90000"/>
              </a:lnSpc>
              <a:spcBef>
                <a:spcPts val="1000"/>
              </a:spcBef>
              <a:spcAft>
                <a:spcPts val="0"/>
              </a:spcAft>
              <a:buClr>
                <a:schemeClr val="dk1"/>
              </a:buClr>
              <a:buSzPts val="2400"/>
              <a:buChar char="•"/>
            </a:pPr>
            <a:r>
              <a:rPr lang="en-US" sz="2400"/>
              <a:t>TCP connection closed</a:t>
            </a:r>
            <a:endParaRPr/>
          </a:p>
        </p:txBody>
      </p:sp>
      <p:sp>
        <p:nvSpPr>
          <p:cNvPr id="262" name="Google Shape;262;p13"/>
          <p:cNvSpPr txBox="1"/>
          <p:nvPr>
            <p:ph idx="2" type="body"/>
          </p:nvPr>
        </p:nvSpPr>
        <p:spPr>
          <a:xfrm>
            <a:off x="4842175" y="1458594"/>
            <a:ext cx="3200400" cy="1447800"/>
          </a:xfrm>
          <a:prstGeom prst="rect">
            <a:avLst/>
          </a:prstGeom>
          <a:noFill/>
          <a:ln>
            <a:noFill/>
          </a:ln>
        </p:spPr>
        <p:txBody>
          <a:bodyPr anchorCtr="0" anchor="t" bIns="45700" lIns="91425" spcFirstLastPara="1" rIns="91425" wrap="square" tIns="45700">
            <a:normAutofit/>
          </a:bodyPr>
          <a:lstStyle/>
          <a:p>
            <a:pPr indent="-228600" lvl="0" marL="228600" rtl="0" algn="l">
              <a:lnSpc>
                <a:spcPct val="75000"/>
              </a:lnSpc>
              <a:spcBef>
                <a:spcPts val="0"/>
              </a:spcBef>
              <a:spcAft>
                <a:spcPts val="0"/>
              </a:spcAft>
              <a:buClr>
                <a:srgbClr val="2F5496"/>
              </a:buClr>
              <a:buSzPts val="2400"/>
              <a:buFont typeface="Noto Sans Symbols"/>
              <a:buNone/>
            </a:pPr>
            <a:r>
              <a:rPr b="1" i="1" lang="en-US" sz="2400">
                <a:solidFill>
                  <a:srgbClr val="2F5496"/>
                </a:solidFill>
              </a:rPr>
              <a:t>HTTP is “stateless”</a:t>
            </a:r>
            <a:endParaRPr b="1" i="1" sz="2400">
              <a:solidFill>
                <a:srgbClr val="2F5496"/>
              </a:solidFill>
            </a:endParaRPr>
          </a:p>
          <a:p>
            <a:pPr indent="-228600" lvl="0" marL="228600" rtl="0" algn="l">
              <a:lnSpc>
                <a:spcPct val="75000"/>
              </a:lnSpc>
              <a:spcBef>
                <a:spcPts val="1000"/>
              </a:spcBef>
              <a:spcAft>
                <a:spcPts val="0"/>
              </a:spcAft>
              <a:buClr>
                <a:schemeClr val="dk1"/>
              </a:buClr>
              <a:buSzPts val="2400"/>
              <a:buChar char="•"/>
            </a:pPr>
            <a:r>
              <a:rPr lang="en-US" sz="2400"/>
              <a:t>server maintains no information about past client requests</a:t>
            </a:r>
            <a:endParaRPr/>
          </a:p>
        </p:txBody>
      </p:sp>
      <p:cxnSp>
        <p:nvCxnSpPr>
          <p:cNvPr id="263" name="Google Shape;263;p13"/>
          <p:cNvCxnSpPr/>
          <p:nvPr/>
        </p:nvCxnSpPr>
        <p:spPr>
          <a:xfrm>
            <a:off x="0" y="1173301"/>
            <a:ext cx="7874493" cy="0"/>
          </a:xfrm>
          <a:prstGeom prst="straightConnector1">
            <a:avLst/>
          </a:prstGeom>
          <a:noFill/>
          <a:ln cap="flat" cmpd="sng" w="38100">
            <a:solidFill>
              <a:srgbClr val="DFA267"/>
            </a:solidFill>
            <a:prstDash val="solid"/>
            <a:miter lim="800000"/>
            <a:headEnd len="sm" w="sm" type="none"/>
            <a:tailEnd len="sm" w="sm" type="none"/>
          </a:ln>
        </p:spPr>
      </p:cxnSp>
      <p:sp>
        <p:nvSpPr>
          <p:cNvPr id="264" name="Google Shape;264;p1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Overview…(cntd.)</a:t>
            </a:r>
            <a:endParaRPr b="1" i="0" sz="2400" u="none" cap="none" strike="noStrike">
              <a:solidFill>
                <a:srgbClr val="C55A11"/>
              </a:solidFill>
              <a:latin typeface="Calibri"/>
              <a:ea typeface="Calibri"/>
              <a:cs typeface="Calibri"/>
              <a:sym typeface="Calibri"/>
            </a:endParaRPr>
          </a:p>
        </p:txBody>
      </p:sp>
      <p:sp>
        <p:nvSpPr>
          <p:cNvPr id="265" name="Google Shape;265;p1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pic>
        <p:nvPicPr>
          <p:cNvPr id="266" name="Google Shape;266;p13"/>
          <p:cNvPicPr preferRelativeResize="0"/>
          <p:nvPr/>
        </p:nvPicPr>
        <p:blipFill rotWithShape="1">
          <a:blip r:embed="rId3">
            <a:alphaModFix/>
          </a:blip>
          <a:srcRect b="0" l="0" r="0" t="0"/>
          <a:stretch/>
        </p:blipFill>
        <p:spPr>
          <a:xfrm>
            <a:off x="4558145" y="3089551"/>
            <a:ext cx="3947751" cy="2590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4"/>
          <p:cNvSpPr txBox="1"/>
          <p:nvPr>
            <p:ph idx="1" type="body"/>
          </p:nvPr>
        </p:nvSpPr>
        <p:spPr>
          <a:xfrm>
            <a:off x="415650" y="1649123"/>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CC0000"/>
              </a:buClr>
              <a:buSzPts val="2400"/>
              <a:buFont typeface="Noto Sans Symbols"/>
              <a:buNone/>
            </a:pPr>
            <a:r>
              <a:rPr i="1" lang="en-US" sz="2400">
                <a:solidFill>
                  <a:srgbClr val="CC0000"/>
                </a:solidFill>
              </a:rPr>
              <a:t>non-persistent HTTP</a:t>
            </a:r>
            <a:endParaRPr/>
          </a:p>
          <a:p>
            <a:pPr indent="-228600" lvl="0" marL="228600" rtl="0" algn="l">
              <a:lnSpc>
                <a:spcPct val="90000"/>
              </a:lnSpc>
              <a:spcBef>
                <a:spcPts val="1000"/>
              </a:spcBef>
              <a:spcAft>
                <a:spcPts val="0"/>
              </a:spcAft>
              <a:buClr>
                <a:schemeClr val="dk1"/>
              </a:buClr>
              <a:buSzPts val="2400"/>
              <a:buChar char="•"/>
            </a:pPr>
            <a:r>
              <a:rPr lang="en-US" sz="2400"/>
              <a:t>at most one object sent over TCP connection</a:t>
            </a:r>
            <a:endParaRPr/>
          </a:p>
          <a:p>
            <a:pPr indent="-228600" lvl="1" marL="685800" rtl="0" algn="l">
              <a:lnSpc>
                <a:spcPct val="90000"/>
              </a:lnSpc>
              <a:spcBef>
                <a:spcPts val="500"/>
              </a:spcBef>
              <a:spcAft>
                <a:spcPts val="0"/>
              </a:spcAft>
              <a:buClr>
                <a:schemeClr val="dk1"/>
              </a:buClr>
              <a:buSzPts val="2400"/>
              <a:buChar char="•"/>
            </a:pPr>
            <a:r>
              <a:rPr lang="en-US"/>
              <a:t>connection is then closed</a:t>
            </a:r>
            <a:endParaRPr/>
          </a:p>
          <a:p>
            <a:pPr indent="-228600" lvl="0" marL="228600" rtl="0" algn="l">
              <a:lnSpc>
                <a:spcPct val="90000"/>
              </a:lnSpc>
              <a:spcBef>
                <a:spcPts val="1000"/>
              </a:spcBef>
              <a:spcAft>
                <a:spcPts val="0"/>
              </a:spcAft>
              <a:buClr>
                <a:schemeClr val="dk1"/>
              </a:buClr>
              <a:buSzPts val="2400"/>
              <a:buChar char="•"/>
            </a:pPr>
            <a:r>
              <a:rPr lang="en-US" sz="2400"/>
              <a:t>downloading multiple objects required multiple connections</a:t>
            </a:r>
            <a:endParaRPr/>
          </a:p>
          <a:p>
            <a:pPr indent="-228600" lvl="0" marL="228600" rtl="0" algn="l">
              <a:lnSpc>
                <a:spcPct val="90000"/>
              </a:lnSpc>
              <a:spcBef>
                <a:spcPts val="1000"/>
              </a:spcBef>
              <a:spcAft>
                <a:spcPts val="0"/>
              </a:spcAft>
              <a:buClr>
                <a:schemeClr val="dk1"/>
              </a:buClr>
              <a:buSzPts val="2400"/>
              <a:buFont typeface="Noto Sans Symbols"/>
              <a:buNone/>
            </a:pPr>
            <a:r>
              <a:t/>
            </a:r>
            <a:endParaRPr sz="2400"/>
          </a:p>
        </p:txBody>
      </p:sp>
      <p:sp>
        <p:nvSpPr>
          <p:cNvPr id="273" name="Google Shape;273;p14"/>
          <p:cNvSpPr txBox="1"/>
          <p:nvPr>
            <p:ph idx="2" type="body"/>
          </p:nvPr>
        </p:nvSpPr>
        <p:spPr>
          <a:xfrm>
            <a:off x="6012900" y="1550988"/>
            <a:ext cx="3810000" cy="24350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CC0000"/>
              </a:buClr>
              <a:buSzPts val="2400"/>
              <a:buFont typeface="Noto Sans Symbols"/>
              <a:buNone/>
            </a:pPr>
            <a:r>
              <a:rPr i="1" lang="en-US" sz="2400">
                <a:solidFill>
                  <a:srgbClr val="CC0000"/>
                </a:solidFill>
              </a:rPr>
              <a:t>persistent HTTP</a:t>
            </a:r>
            <a:endParaRPr/>
          </a:p>
          <a:p>
            <a:pPr indent="-228600" lvl="0" marL="228600" rtl="0" algn="l">
              <a:lnSpc>
                <a:spcPct val="90000"/>
              </a:lnSpc>
              <a:spcBef>
                <a:spcPts val="1000"/>
              </a:spcBef>
              <a:spcAft>
                <a:spcPts val="0"/>
              </a:spcAft>
              <a:buClr>
                <a:schemeClr val="dk1"/>
              </a:buClr>
              <a:buSzPts val="2400"/>
              <a:buChar char="•"/>
            </a:pPr>
            <a:r>
              <a:rPr lang="en-US" sz="2400"/>
              <a:t>multiple objects can be sent over single TCP connection between client, server</a:t>
            </a:r>
            <a:endParaRPr/>
          </a:p>
          <a:p>
            <a:pPr indent="-228600" lvl="0" marL="228600" rtl="0" algn="l">
              <a:lnSpc>
                <a:spcPct val="90000"/>
              </a:lnSpc>
              <a:spcBef>
                <a:spcPts val="1000"/>
              </a:spcBef>
              <a:spcAft>
                <a:spcPts val="0"/>
              </a:spcAft>
              <a:buClr>
                <a:schemeClr val="dk1"/>
              </a:buClr>
              <a:buSzPts val="2000"/>
              <a:buFont typeface="Noto Sans Symbols"/>
              <a:buNone/>
            </a:pPr>
            <a:r>
              <a:t/>
            </a:r>
            <a:endParaRPr sz="2000"/>
          </a:p>
        </p:txBody>
      </p:sp>
      <p:cxnSp>
        <p:nvCxnSpPr>
          <p:cNvPr id="274" name="Google Shape;274;p14"/>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275" name="Google Shape;275;p1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Connections</a:t>
            </a:r>
            <a:endParaRPr b="1" i="0" sz="2400" u="none" cap="none" strike="noStrike">
              <a:solidFill>
                <a:srgbClr val="C55A11"/>
              </a:solidFill>
              <a:latin typeface="Calibri"/>
              <a:ea typeface="Calibri"/>
              <a:cs typeface="Calibri"/>
              <a:sym typeface="Calibri"/>
            </a:endParaRPr>
          </a:p>
        </p:txBody>
      </p:sp>
      <p:sp>
        <p:nvSpPr>
          <p:cNvPr id="276" name="Google Shape;276;p1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pic>
        <p:nvPicPr>
          <p:cNvPr id="277" name="Google Shape;277;p14"/>
          <p:cNvPicPr preferRelativeResize="0"/>
          <p:nvPr/>
        </p:nvPicPr>
        <p:blipFill rotWithShape="1">
          <a:blip r:embed="rId3">
            <a:alphaModFix/>
          </a:blip>
          <a:srcRect b="0" l="0" r="0" t="0"/>
          <a:stretch/>
        </p:blipFill>
        <p:spPr>
          <a:xfrm>
            <a:off x="3131128" y="3995847"/>
            <a:ext cx="3965628" cy="25405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5"/>
          <p:cNvSpPr txBox="1"/>
          <p:nvPr>
            <p:ph idx="1" type="body"/>
          </p:nvPr>
        </p:nvSpPr>
        <p:spPr>
          <a:xfrm>
            <a:off x="154999" y="1507050"/>
            <a:ext cx="7114636" cy="486606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HTTP request is a </a:t>
            </a:r>
            <a:r>
              <a:rPr i="1" lang="en-US" sz="2400"/>
              <a:t>request line</a:t>
            </a:r>
            <a:r>
              <a:rPr lang="en-US" sz="2400"/>
              <a:t>, followed by zero or more </a:t>
            </a:r>
            <a:r>
              <a:rPr i="1" lang="en-US" sz="2400"/>
              <a:t>request headers</a:t>
            </a:r>
            <a:endParaRPr/>
          </a:p>
          <a:p>
            <a:pPr indent="-228600" lvl="0" marL="228600" rtl="0" algn="l">
              <a:lnSpc>
                <a:spcPct val="90000"/>
              </a:lnSpc>
              <a:spcBef>
                <a:spcPts val="1000"/>
              </a:spcBef>
              <a:spcAft>
                <a:spcPts val="0"/>
              </a:spcAft>
              <a:buClr>
                <a:schemeClr val="dk1"/>
              </a:buClr>
              <a:buSzPts val="2400"/>
              <a:buChar char="•"/>
            </a:pPr>
            <a:r>
              <a:rPr lang="en-US" sz="2400"/>
              <a:t>Request line: &lt;method&gt; &lt;uri&gt; &lt;version&gt;</a:t>
            </a:r>
            <a:endParaRPr/>
          </a:p>
          <a:p>
            <a:pPr indent="-228600" lvl="1" marL="685800" rtl="0" algn="l">
              <a:lnSpc>
                <a:spcPct val="90000"/>
              </a:lnSpc>
              <a:spcBef>
                <a:spcPts val="500"/>
              </a:spcBef>
              <a:spcAft>
                <a:spcPts val="0"/>
              </a:spcAft>
              <a:buClr>
                <a:schemeClr val="dk1"/>
              </a:buClr>
              <a:buSzPts val="2400"/>
              <a:buChar char="•"/>
            </a:pPr>
            <a:r>
              <a:rPr lang="en-US"/>
              <a:t>&lt;version&gt; is HTTP version of request </a:t>
            </a:r>
            <a:endParaRPr/>
          </a:p>
          <a:p>
            <a:pPr indent="-228600" lvl="1" marL="685800" rtl="0" algn="l">
              <a:lnSpc>
                <a:spcPct val="90000"/>
              </a:lnSpc>
              <a:spcBef>
                <a:spcPts val="500"/>
              </a:spcBef>
              <a:spcAft>
                <a:spcPts val="0"/>
              </a:spcAft>
              <a:buClr>
                <a:schemeClr val="dk1"/>
              </a:buClr>
              <a:buSzPts val="2400"/>
              <a:buNone/>
            </a:pPr>
            <a:r>
              <a:rPr lang="en-US"/>
              <a:t>	(HTTP/1.0 or HTTP/1.1)</a:t>
            </a:r>
            <a:endParaRPr/>
          </a:p>
          <a:p>
            <a:pPr indent="-228600" lvl="1" marL="685800" rtl="0" algn="l">
              <a:lnSpc>
                <a:spcPct val="90000"/>
              </a:lnSpc>
              <a:spcBef>
                <a:spcPts val="500"/>
              </a:spcBef>
              <a:spcAft>
                <a:spcPts val="0"/>
              </a:spcAft>
              <a:buClr>
                <a:schemeClr val="dk1"/>
              </a:buClr>
              <a:buSzPts val="2400"/>
              <a:buChar char="•"/>
            </a:pPr>
            <a:r>
              <a:rPr lang="en-US"/>
              <a:t>&lt;uri&gt; is typically URL for proxies, URL suffix for servers.</a:t>
            </a:r>
            <a:endParaRPr/>
          </a:p>
          <a:p>
            <a:pPr indent="-228600" lvl="1" marL="685800" rtl="0" algn="l">
              <a:lnSpc>
                <a:spcPct val="90000"/>
              </a:lnSpc>
              <a:spcBef>
                <a:spcPts val="500"/>
              </a:spcBef>
              <a:spcAft>
                <a:spcPts val="0"/>
              </a:spcAft>
              <a:buClr>
                <a:schemeClr val="dk1"/>
              </a:buClr>
              <a:buSzPts val="2400"/>
              <a:buChar char="•"/>
            </a:pPr>
            <a:r>
              <a:rPr lang="en-US"/>
              <a:t>&lt;method&gt; is either GET, POST, OPTIONS, HEAD, PUT, DELETE, or TRACE.</a:t>
            </a:r>
            <a:endParaRPr/>
          </a:p>
          <a:p>
            <a:pPr indent="-228600" lvl="0" marL="228600" rtl="0" algn="l">
              <a:lnSpc>
                <a:spcPct val="90000"/>
              </a:lnSpc>
              <a:spcBef>
                <a:spcPts val="1000"/>
              </a:spcBef>
              <a:spcAft>
                <a:spcPts val="0"/>
              </a:spcAft>
              <a:buClr>
                <a:schemeClr val="dk1"/>
              </a:buClr>
              <a:buSzPts val="2400"/>
              <a:buChar char="•"/>
            </a:pPr>
            <a:r>
              <a:rPr lang="en-US" sz="2400"/>
              <a:t>Request Header</a:t>
            </a:r>
            <a:endParaRPr/>
          </a:p>
          <a:p>
            <a:pPr indent="-228600" lvl="0" marL="228600" rtl="0" algn="l">
              <a:lnSpc>
                <a:spcPct val="90000"/>
              </a:lnSpc>
              <a:spcBef>
                <a:spcPts val="1000"/>
              </a:spcBef>
              <a:spcAft>
                <a:spcPts val="0"/>
              </a:spcAft>
              <a:buClr>
                <a:schemeClr val="dk1"/>
              </a:buClr>
              <a:buSzPts val="2400"/>
              <a:buChar char="•"/>
            </a:pPr>
            <a:r>
              <a:rPr lang="en-US" sz="2400"/>
              <a:t>Blank line (CRLF)</a:t>
            </a:r>
            <a:endParaRPr/>
          </a:p>
          <a:p>
            <a:pPr indent="-228600" lvl="0" marL="228600" rtl="0" algn="l">
              <a:lnSpc>
                <a:spcPct val="90000"/>
              </a:lnSpc>
              <a:spcBef>
                <a:spcPts val="1000"/>
              </a:spcBef>
              <a:spcAft>
                <a:spcPts val="0"/>
              </a:spcAft>
              <a:buClr>
                <a:schemeClr val="dk1"/>
              </a:buClr>
              <a:buSzPts val="2400"/>
              <a:buChar char="•"/>
            </a:pPr>
            <a:r>
              <a:rPr lang="en-US" sz="2400"/>
              <a:t>Message Body </a:t>
            </a:r>
            <a:endParaRPr/>
          </a:p>
        </p:txBody>
      </p:sp>
      <p:cxnSp>
        <p:nvCxnSpPr>
          <p:cNvPr id="283" name="Google Shape;283;p15"/>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284" name="Google Shape;284;p1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Requests</a:t>
            </a:r>
            <a:endParaRPr b="1" i="0" sz="2400" u="none" cap="none" strike="noStrike">
              <a:solidFill>
                <a:srgbClr val="C55A11"/>
              </a:solidFill>
              <a:latin typeface="Calibri"/>
              <a:ea typeface="Calibri"/>
              <a:cs typeface="Calibri"/>
              <a:sym typeface="Calibri"/>
            </a:endParaRPr>
          </a:p>
        </p:txBody>
      </p:sp>
      <p:sp>
        <p:nvSpPr>
          <p:cNvPr id="285" name="Google Shape;285;p1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
        <p:nvSpPr>
          <p:cNvPr id="286" name="Google Shape;286;p15"/>
          <p:cNvSpPr/>
          <p:nvPr/>
        </p:nvSpPr>
        <p:spPr>
          <a:xfrm>
            <a:off x="6908941" y="1431646"/>
            <a:ext cx="5092559" cy="2585315"/>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GET /test.html HTTP/1.1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Accept: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Accept-Language: en-us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Accept-Encoding: gzip, deflate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User-Agent: Mozilla/4.0 (compatible; MSIE 4.01; Windows 98)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Host: euro.ecom.cmu.edu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Connection: Keep-Alive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800000"/>
              </a:buClr>
              <a:buSzPts val="1800"/>
              <a:buFont typeface="Calibri"/>
              <a:buNone/>
            </a:pPr>
            <a:r>
              <a:rPr b="0" i="0" lang="en-US" sz="1800" u="none" cap="none" strike="noStrike">
                <a:solidFill>
                  <a:srgbClr val="800000"/>
                </a:solidFill>
                <a:latin typeface="Calibri"/>
                <a:ea typeface="Calibri"/>
                <a:cs typeface="Calibri"/>
                <a:sym typeface="Calibri"/>
              </a:rPr>
              <a:t>CRLF (\r\n)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6"/>
          <p:cNvSpPr txBox="1"/>
          <p:nvPr>
            <p:ph idx="1" type="body"/>
          </p:nvPr>
        </p:nvSpPr>
        <p:spPr>
          <a:xfrm>
            <a:off x="263237" y="1403538"/>
            <a:ext cx="8395853" cy="359795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5000"/>
              </a:lnSpc>
              <a:spcBef>
                <a:spcPts val="0"/>
              </a:spcBef>
              <a:spcAft>
                <a:spcPts val="0"/>
              </a:spcAft>
              <a:buClr>
                <a:schemeClr val="dk1"/>
              </a:buClr>
              <a:buSzPts val="2400"/>
              <a:buChar char="•"/>
            </a:pPr>
            <a:r>
              <a:rPr lang="en-US" sz="2400"/>
              <a:t>HTTP methods:</a:t>
            </a:r>
            <a:endParaRPr/>
          </a:p>
          <a:p>
            <a:pPr indent="-228600" lvl="1" marL="685800" rtl="0" algn="l">
              <a:lnSpc>
                <a:spcPct val="125000"/>
              </a:lnSpc>
              <a:spcBef>
                <a:spcPts val="500"/>
              </a:spcBef>
              <a:spcAft>
                <a:spcPts val="0"/>
              </a:spcAft>
              <a:buClr>
                <a:schemeClr val="dk1"/>
              </a:buClr>
              <a:buSzPts val="2400"/>
              <a:buChar char="•"/>
            </a:pPr>
            <a:r>
              <a:rPr lang="en-US"/>
              <a:t>GET: Retrieve static or dynamic content</a:t>
            </a:r>
            <a:endParaRPr/>
          </a:p>
          <a:p>
            <a:pPr indent="-228600" lvl="1" marL="685800" rtl="0" algn="l">
              <a:lnSpc>
                <a:spcPct val="125000"/>
              </a:lnSpc>
              <a:spcBef>
                <a:spcPts val="500"/>
              </a:spcBef>
              <a:spcAft>
                <a:spcPts val="0"/>
              </a:spcAft>
              <a:buClr>
                <a:schemeClr val="dk1"/>
              </a:buClr>
              <a:buSzPts val="2400"/>
              <a:buChar char="•"/>
            </a:pPr>
            <a:r>
              <a:rPr lang="en-US"/>
              <a:t>POST: Send content to server through request body</a:t>
            </a:r>
            <a:endParaRPr/>
          </a:p>
          <a:p>
            <a:pPr indent="-228600" lvl="1" marL="685800" rtl="0" algn="l">
              <a:lnSpc>
                <a:spcPct val="125000"/>
              </a:lnSpc>
              <a:spcBef>
                <a:spcPts val="500"/>
              </a:spcBef>
              <a:spcAft>
                <a:spcPts val="0"/>
              </a:spcAft>
              <a:buClr>
                <a:schemeClr val="dk1"/>
              </a:buClr>
              <a:buSzPts val="2400"/>
              <a:buChar char="•"/>
            </a:pPr>
            <a:r>
              <a:rPr lang="en-US"/>
              <a:t>OPTIONS: Get server or file attributes</a:t>
            </a:r>
            <a:endParaRPr/>
          </a:p>
          <a:p>
            <a:pPr indent="-228600" lvl="1" marL="685800" rtl="0" algn="l">
              <a:lnSpc>
                <a:spcPct val="125000"/>
              </a:lnSpc>
              <a:spcBef>
                <a:spcPts val="500"/>
              </a:spcBef>
              <a:spcAft>
                <a:spcPts val="0"/>
              </a:spcAft>
              <a:buClr>
                <a:schemeClr val="dk1"/>
              </a:buClr>
              <a:buSzPts val="2400"/>
              <a:buChar char="•"/>
            </a:pPr>
            <a:r>
              <a:rPr lang="en-US"/>
              <a:t>HEAD: Fetches only header field without any response body</a:t>
            </a:r>
            <a:endParaRPr/>
          </a:p>
          <a:p>
            <a:pPr indent="-228600" lvl="1" marL="685800" rtl="0" algn="l">
              <a:lnSpc>
                <a:spcPct val="125000"/>
              </a:lnSpc>
              <a:spcBef>
                <a:spcPts val="500"/>
              </a:spcBef>
              <a:spcAft>
                <a:spcPts val="0"/>
              </a:spcAft>
              <a:buClr>
                <a:schemeClr val="dk1"/>
              </a:buClr>
              <a:buSzPts val="2400"/>
              <a:buChar char="•"/>
            </a:pPr>
            <a:r>
              <a:rPr lang="en-US"/>
              <a:t>PUT: Write a file to the server</a:t>
            </a:r>
            <a:endParaRPr/>
          </a:p>
          <a:p>
            <a:pPr indent="-228600" lvl="1" marL="685800" rtl="0" algn="l">
              <a:lnSpc>
                <a:spcPct val="125000"/>
              </a:lnSpc>
              <a:spcBef>
                <a:spcPts val="500"/>
              </a:spcBef>
              <a:spcAft>
                <a:spcPts val="0"/>
              </a:spcAft>
              <a:buClr>
                <a:schemeClr val="dk1"/>
              </a:buClr>
              <a:buSzPts val="2400"/>
              <a:buChar char="•"/>
            </a:pPr>
            <a:r>
              <a:rPr lang="en-US"/>
              <a:t>DELETE: Delete a file on the server</a:t>
            </a:r>
            <a:endParaRPr/>
          </a:p>
        </p:txBody>
      </p:sp>
      <p:cxnSp>
        <p:nvCxnSpPr>
          <p:cNvPr id="292" name="Google Shape;292;p16"/>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293" name="Google Shape;293;p1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Request Methods</a:t>
            </a:r>
            <a:endParaRPr b="1" i="0" sz="2400" u="none" cap="none" strike="noStrike">
              <a:solidFill>
                <a:srgbClr val="C55A11"/>
              </a:solidFill>
              <a:latin typeface="Calibri"/>
              <a:ea typeface="Calibri"/>
              <a:cs typeface="Calibri"/>
              <a:sym typeface="Calibri"/>
            </a:endParaRPr>
          </a:p>
        </p:txBody>
      </p:sp>
      <p:sp>
        <p:nvSpPr>
          <p:cNvPr id="294" name="Google Shape;294;p1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7"/>
          <p:cNvSpPr txBox="1"/>
          <p:nvPr>
            <p:ph idx="1" type="body"/>
          </p:nvPr>
        </p:nvSpPr>
        <p:spPr>
          <a:xfrm>
            <a:off x="185941" y="1444406"/>
            <a:ext cx="6381114" cy="5265738"/>
          </a:xfrm>
          <a:prstGeom prst="rect">
            <a:avLst/>
          </a:prstGeom>
          <a:noFill/>
          <a:ln>
            <a:noFill/>
          </a:ln>
        </p:spPr>
        <p:txBody>
          <a:bodyPr anchorCtr="0" anchor="t" bIns="45700" lIns="91425" spcFirstLastPara="1" rIns="91425" wrap="square" tIns="45700">
            <a:normAutofit/>
          </a:bodyPr>
          <a:lstStyle/>
          <a:p>
            <a:pPr indent="-228600" lvl="0" marL="228600" rtl="0" algn="l">
              <a:lnSpc>
                <a:spcPct val="75000"/>
              </a:lnSpc>
              <a:spcBef>
                <a:spcPts val="0"/>
              </a:spcBef>
              <a:spcAft>
                <a:spcPts val="0"/>
              </a:spcAft>
              <a:buClr>
                <a:schemeClr val="dk1"/>
              </a:buClr>
              <a:buSzPts val="2400"/>
              <a:buChar char="•"/>
            </a:pPr>
            <a:r>
              <a:rPr lang="en-US" sz="2400"/>
              <a:t>HTTP response is a response line followed by zero or more response headers.</a:t>
            </a:r>
            <a:endParaRPr/>
          </a:p>
          <a:p>
            <a:pPr indent="-228600" lvl="0" marL="228600" rtl="0" algn="l">
              <a:lnSpc>
                <a:spcPct val="75000"/>
              </a:lnSpc>
              <a:spcBef>
                <a:spcPts val="1000"/>
              </a:spcBef>
              <a:spcAft>
                <a:spcPts val="0"/>
              </a:spcAft>
              <a:buClr>
                <a:schemeClr val="dk1"/>
              </a:buClr>
              <a:buSzPts val="2400"/>
              <a:buChar char="•"/>
            </a:pPr>
            <a:r>
              <a:rPr lang="en-US" sz="2400"/>
              <a:t>Response line: </a:t>
            </a:r>
            <a:endParaRPr/>
          </a:p>
          <a:p>
            <a:pPr indent="-228600" lvl="0" marL="228600" rtl="0" algn="l">
              <a:lnSpc>
                <a:spcPct val="75000"/>
              </a:lnSpc>
              <a:spcBef>
                <a:spcPts val="1000"/>
              </a:spcBef>
              <a:spcAft>
                <a:spcPts val="0"/>
              </a:spcAft>
              <a:buClr>
                <a:schemeClr val="dk1"/>
              </a:buClr>
              <a:buSzPts val="2400"/>
              <a:buChar char="•"/>
            </a:pPr>
            <a:r>
              <a:rPr lang="en-US" sz="2400"/>
              <a:t>&lt;version&gt; &lt;status code&gt; &lt;status msg&gt;</a:t>
            </a:r>
            <a:endParaRPr/>
          </a:p>
          <a:p>
            <a:pPr indent="-228600" lvl="1" marL="685800" rtl="0" algn="l">
              <a:lnSpc>
                <a:spcPct val="80000"/>
              </a:lnSpc>
              <a:spcBef>
                <a:spcPts val="500"/>
              </a:spcBef>
              <a:spcAft>
                <a:spcPts val="0"/>
              </a:spcAft>
              <a:buClr>
                <a:schemeClr val="dk1"/>
              </a:buClr>
              <a:buSzPts val="2400"/>
              <a:buChar char="•"/>
            </a:pPr>
            <a:r>
              <a:rPr lang="en-US"/>
              <a:t>&lt;version&gt; is HTTP version of the response.</a:t>
            </a:r>
            <a:endParaRPr/>
          </a:p>
          <a:p>
            <a:pPr indent="-228600" lvl="1" marL="685800" rtl="0" algn="l">
              <a:lnSpc>
                <a:spcPct val="80000"/>
              </a:lnSpc>
              <a:spcBef>
                <a:spcPts val="500"/>
              </a:spcBef>
              <a:spcAft>
                <a:spcPts val="0"/>
              </a:spcAft>
              <a:buClr>
                <a:schemeClr val="dk1"/>
              </a:buClr>
              <a:buSzPts val="2400"/>
              <a:buChar char="•"/>
            </a:pPr>
            <a:r>
              <a:rPr lang="en-US"/>
              <a:t>&lt;status code&gt; is numeric status.</a:t>
            </a:r>
            <a:endParaRPr/>
          </a:p>
          <a:p>
            <a:pPr indent="-228600" lvl="0" marL="228600" rtl="0" algn="l">
              <a:lnSpc>
                <a:spcPct val="75000"/>
              </a:lnSpc>
              <a:spcBef>
                <a:spcPts val="1000"/>
              </a:spcBef>
              <a:spcAft>
                <a:spcPts val="0"/>
              </a:spcAft>
              <a:buClr>
                <a:schemeClr val="dk1"/>
              </a:buClr>
              <a:buSzPts val="2400"/>
              <a:buChar char="•"/>
            </a:pPr>
            <a:r>
              <a:rPr lang="en-US" sz="2400"/>
              <a:t>Response headers: </a:t>
            </a:r>
            <a:endParaRPr sz="2400"/>
          </a:p>
          <a:p>
            <a:pPr indent="-228600" lvl="0" marL="228600" rtl="0" algn="l">
              <a:lnSpc>
                <a:spcPct val="75000"/>
              </a:lnSpc>
              <a:spcBef>
                <a:spcPts val="1000"/>
              </a:spcBef>
              <a:spcAft>
                <a:spcPts val="0"/>
              </a:spcAft>
              <a:buClr>
                <a:schemeClr val="dk1"/>
              </a:buClr>
              <a:buSzPts val="2400"/>
              <a:buNone/>
            </a:pPr>
            <a:r>
              <a:rPr lang="en-US" sz="2400"/>
              <a:t>	&lt;header name&gt;: &lt;header data&gt;</a:t>
            </a:r>
            <a:endParaRPr/>
          </a:p>
          <a:p>
            <a:pPr indent="-228600" lvl="1" marL="685800" rtl="0" algn="l">
              <a:lnSpc>
                <a:spcPct val="80000"/>
              </a:lnSpc>
              <a:spcBef>
                <a:spcPts val="500"/>
              </a:spcBef>
              <a:spcAft>
                <a:spcPts val="0"/>
              </a:spcAft>
              <a:buClr>
                <a:schemeClr val="dk1"/>
              </a:buClr>
              <a:buSzPts val="2400"/>
              <a:buChar char="•"/>
            </a:pPr>
            <a:r>
              <a:rPr lang="en-US"/>
              <a:t>Provide additional information about response</a:t>
            </a:r>
            <a:endParaRPr/>
          </a:p>
          <a:p>
            <a:pPr indent="-228600" lvl="1" marL="685800" rtl="0" algn="l">
              <a:lnSpc>
                <a:spcPct val="80000"/>
              </a:lnSpc>
              <a:spcBef>
                <a:spcPts val="500"/>
              </a:spcBef>
              <a:spcAft>
                <a:spcPts val="0"/>
              </a:spcAft>
              <a:buClr>
                <a:schemeClr val="dk1"/>
              </a:buClr>
              <a:buSzPts val="2400"/>
              <a:buChar char="•"/>
            </a:pPr>
            <a:r>
              <a:rPr lang="en-US"/>
              <a:t>Content-Type: MIME type of content in response body.</a:t>
            </a:r>
            <a:endParaRPr/>
          </a:p>
          <a:p>
            <a:pPr indent="-228600" lvl="1" marL="685800" rtl="0" algn="l">
              <a:lnSpc>
                <a:spcPct val="80000"/>
              </a:lnSpc>
              <a:spcBef>
                <a:spcPts val="500"/>
              </a:spcBef>
              <a:spcAft>
                <a:spcPts val="0"/>
              </a:spcAft>
              <a:buClr>
                <a:schemeClr val="dk1"/>
              </a:buClr>
              <a:buSzPts val="2400"/>
              <a:buChar char="•"/>
            </a:pPr>
            <a:r>
              <a:rPr lang="en-US"/>
              <a:t>Content-Length: Length of content in response body.</a:t>
            </a:r>
            <a:endParaRPr/>
          </a:p>
          <a:p>
            <a:pPr indent="-50800" lvl="0" marL="228600" rtl="0" algn="l">
              <a:lnSpc>
                <a:spcPct val="75000"/>
              </a:lnSpc>
              <a:spcBef>
                <a:spcPts val="1000"/>
              </a:spcBef>
              <a:spcAft>
                <a:spcPts val="0"/>
              </a:spcAft>
              <a:buClr>
                <a:schemeClr val="dk1"/>
              </a:buClr>
              <a:buSzPts val="2800"/>
              <a:buNone/>
            </a:pPr>
            <a:r>
              <a:t/>
            </a:r>
            <a:endParaRPr/>
          </a:p>
        </p:txBody>
      </p:sp>
      <p:cxnSp>
        <p:nvCxnSpPr>
          <p:cNvPr id="300" name="Google Shape;300;p17"/>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301" name="Google Shape;301;p17"/>
          <p:cNvSpPr/>
          <p:nvPr/>
        </p:nvSpPr>
        <p:spPr>
          <a:xfrm>
            <a:off x="413424"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Response</a:t>
            </a:r>
            <a:endParaRPr b="1" i="0" sz="2400" u="none" cap="none" strike="noStrike">
              <a:solidFill>
                <a:srgbClr val="C55A11"/>
              </a:solidFill>
              <a:latin typeface="Calibri"/>
              <a:ea typeface="Calibri"/>
              <a:cs typeface="Calibri"/>
              <a:sym typeface="Calibri"/>
            </a:endParaRPr>
          </a:p>
        </p:txBody>
      </p:sp>
      <p:sp>
        <p:nvSpPr>
          <p:cNvPr id="302" name="Google Shape;302;p1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
        <p:nvSpPr>
          <p:cNvPr id="303" name="Google Shape;303;p17"/>
          <p:cNvSpPr/>
          <p:nvPr/>
        </p:nvSpPr>
        <p:spPr>
          <a:xfrm>
            <a:off x="6284036" y="1292051"/>
            <a:ext cx="4508644" cy="3539422"/>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HTTP/1.1 200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Date: Thu, 22 Jul 1999 04:02:15 GMT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Server: Apache/1.3.3 Ben-SSL/1.28 (Unix)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Last-Modified: Thu, 22 Jul 1999 03:33:21 GMT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ETag: "48bb2-4f-37969101"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Accept-Ranges: bytes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Content-Length: 79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Keep-Alive: timeout=15, max=100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Connection: Keep-Alive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Content-Type: text/html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CRLF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&lt;head&gt;&lt;title&gt;Test page&lt;/title&gt;&lt;/head&gt;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&lt;h1&gt;Test page&lt;/h1&gt;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400"/>
              <a:buFont typeface="Calibri"/>
              <a:buNone/>
            </a:pPr>
            <a:r>
              <a:rPr b="0" i="0" lang="en-US" sz="1400" u="none" cap="none" strike="noStrike">
                <a:solidFill>
                  <a:srgbClr val="000066"/>
                </a:solidFill>
                <a:latin typeface="Calibri"/>
                <a:ea typeface="Calibri"/>
                <a:cs typeface="Calibri"/>
                <a:sym typeface="Calibri"/>
              </a:rPr>
              <a:t>&lt;/html&gt;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idx="1" type="body"/>
          </p:nvPr>
        </p:nvSpPr>
        <p:spPr>
          <a:xfrm>
            <a:off x="-1" y="1562470"/>
            <a:ext cx="8637973" cy="4614493"/>
          </a:xfrm>
          <a:prstGeom prst="rect">
            <a:avLst/>
          </a:prstGeom>
          <a:noFill/>
          <a:ln>
            <a:noFill/>
          </a:ln>
        </p:spPr>
        <p:txBody>
          <a:bodyPr anchorCtr="0" anchor="t" bIns="45700" lIns="91425" spcFirstLastPara="1" rIns="91425" wrap="square" tIns="45700">
            <a:normAutofit/>
          </a:bodyPr>
          <a:lstStyle/>
          <a:p>
            <a:pPr indent="-228600" lvl="1" marL="685800" rtl="0" algn="l">
              <a:lnSpc>
                <a:spcPct val="80000"/>
              </a:lnSpc>
              <a:spcBef>
                <a:spcPts val="0"/>
              </a:spcBef>
              <a:spcAft>
                <a:spcPts val="0"/>
              </a:spcAft>
              <a:buClr>
                <a:schemeClr val="dk1"/>
              </a:buClr>
              <a:buSzPts val="2400"/>
              <a:buChar char="•"/>
            </a:pPr>
            <a:r>
              <a:rPr lang="en-US"/>
              <a:t>Three-digit number; first digit specifies the general status</a:t>
            </a:r>
            <a:endParaRPr/>
          </a:p>
          <a:p>
            <a:pPr indent="-228600" lvl="2" marL="1143000" rtl="0" algn="l">
              <a:lnSpc>
                <a:spcPct val="115000"/>
              </a:lnSpc>
              <a:spcBef>
                <a:spcPts val="500"/>
              </a:spcBef>
              <a:spcAft>
                <a:spcPts val="0"/>
              </a:spcAft>
              <a:buClr>
                <a:schemeClr val="dk1"/>
              </a:buClr>
              <a:buSzPts val="2400"/>
              <a:buChar char="•"/>
            </a:pPr>
            <a:r>
              <a:rPr lang="en-US" sz="2400"/>
              <a:t>1 =&gt; Informational</a:t>
            </a:r>
            <a:endParaRPr/>
          </a:p>
          <a:p>
            <a:pPr indent="-228600" lvl="2" marL="1143000" rtl="0" algn="l">
              <a:lnSpc>
                <a:spcPct val="115000"/>
              </a:lnSpc>
              <a:spcBef>
                <a:spcPts val="500"/>
              </a:spcBef>
              <a:spcAft>
                <a:spcPts val="0"/>
              </a:spcAft>
              <a:buClr>
                <a:schemeClr val="dk1"/>
              </a:buClr>
              <a:buSzPts val="2400"/>
              <a:buChar char="•"/>
            </a:pPr>
            <a:r>
              <a:rPr lang="en-US" sz="2400"/>
              <a:t>2 =&gt; Success</a:t>
            </a:r>
            <a:endParaRPr/>
          </a:p>
          <a:p>
            <a:pPr indent="-228600" lvl="2" marL="1143000" rtl="0" algn="l">
              <a:lnSpc>
                <a:spcPct val="115000"/>
              </a:lnSpc>
              <a:spcBef>
                <a:spcPts val="500"/>
              </a:spcBef>
              <a:spcAft>
                <a:spcPts val="0"/>
              </a:spcAft>
              <a:buClr>
                <a:schemeClr val="dk1"/>
              </a:buClr>
              <a:buSzPts val="2400"/>
              <a:buChar char="•"/>
            </a:pPr>
            <a:r>
              <a:rPr lang="en-US" sz="2400"/>
              <a:t>3 =&gt; Redirection</a:t>
            </a:r>
            <a:endParaRPr/>
          </a:p>
          <a:p>
            <a:pPr indent="-228600" lvl="2" marL="1143000" rtl="0" algn="l">
              <a:lnSpc>
                <a:spcPct val="115000"/>
              </a:lnSpc>
              <a:spcBef>
                <a:spcPts val="500"/>
              </a:spcBef>
              <a:spcAft>
                <a:spcPts val="0"/>
              </a:spcAft>
              <a:buClr>
                <a:schemeClr val="dk1"/>
              </a:buClr>
              <a:buSzPts val="2400"/>
              <a:buChar char="•"/>
            </a:pPr>
            <a:r>
              <a:rPr lang="en-US" sz="2400"/>
              <a:t>4 =&gt; Client error</a:t>
            </a:r>
            <a:endParaRPr/>
          </a:p>
          <a:p>
            <a:pPr indent="-228600" lvl="2" marL="1143000" rtl="0" algn="l">
              <a:lnSpc>
                <a:spcPct val="115000"/>
              </a:lnSpc>
              <a:spcBef>
                <a:spcPts val="500"/>
              </a:spcBef>
              <a:spcAft>
                <a:spcPts val="0"/>
              </a:spcAft>
              <a:buClr>
                <a:schemeClr val="dk1"/>
              </a:buClr>
              <a:buSzPts val="2400"/>
              <a:buChar char="•"/>
            </a:pPr>
            <a:r>
              <a:rPr lang="en-US" sz="2400"/>
              <a:t>5 =&gt; Server error</a:t>
            </a:r>
            <a:endParaRPr/>
          </a:p>
          <a:p>
            <a:pPr indent="-228600" lvl="1" marL="685800" rtl="0" algn="l">
              <a:lnSpc>
                <a:spcPct val="80000"/>
              </a:lnSpc>
              <a:spcBef>
                <a:spcPts val="500"/>
              </a:spcBef>
              <a:spcAft>
                <a:spcPts val="0"/>
              </a:spcAft>
              <a:buClr>
                <a:schemeClr val="dk1"/>
              </a:buClr>
              <a:buSzPts val="2400"/>
              <a:buChar char="•"/>
            </a:pPr>
            <a:r>
              <a:rPr lang="en-US"/>
              <a:t>&lt;status msg&gt; is corresponding English text.</a:t>
            </a:r>
            <a:endParaRPr/>
          </a:p>
          <a:p>
            <a:pPr indent="-228600" lvl="2" marL="1143000" rtl="0" algn="l">
              <a:lnSpc>
                <a:spcPct val="115000"/>
              </a:lnSpc>
              <a:spcBef>
                <a:spcPts val="500"/>
              </a:spcBef>
              <a:spcAft>
                <a:spcPts val="0"/>
              </a:spcAft>
              <a:buClr>
                <a:schemeClr val="dk1"/>
              </a:buClr>
              <a:buSzPts val="2400"/>
              <a:buChar char="•"/>
            </a:pPr>
            <a:r>
              <a:rPr lang="en-US" sz="2400"/>
              <a:t>200 	OK	          =&gt; Request was handled without error</a:t>
            </a:r>
            <a:endParaRPr/>
          </a:p>
          <a:p>
            <a:pPr indent="-228600" lvl="2" marL="1143000" rtl="0" algn="l">
              <a:lnSpc>
                <a:spcPct val="115000"/>
              </a:lnSpc>
              <a:spcBef>
                <a:spcPts val="500"/>
              </a:spcBef>
              <a:spcAft>
                <a:spcPts val="0"/>
              </a:spcAft>
              <a:buClr>
                <a:schemeClr val="dk1"/>
              </a:buClr>
              <a:buSzPts val="2400"/>
              <a:buChar char="•"/>
            </a:pPr>
            <a:r>
              <a:rPr lang="en-US" sz="2400"/>
              <a:t>403	Forbidden     =&gt; Client lacks permission to access file</a:t>
            </a:r>
            <a:endParaRPr/>
          </a:p>
          <a:p>
            <a:pPr indent="-228600" lvl="2" marL="1143000" rtl="0" algn="l">
              <a:lnSpc>
                <a:spcPct val="115000"/>
              </a:lnSpc>
              <a:spcBef>
                <a:spcPts val="500"/>
              </a:spcBef>
              <a:spcAft>
                <a:spcPts val="0"/>
              </a:spcAft>
              <a:buClr>
                <a:schemeClr val="dk1"/>
              </a:buClr>
              <a:buSzPts val="2400"/>
              <a:buChar char="•"/>
            </a:pPr>
            <a:r>
              <a:rPr lang="en-US" sz="2400"/>
              <a:t>404	Not found     =&gt; Server couldn’t find the file.</a:t>
            </a:r>
            <a:endParaRPr sz="2400"/>
          </a:p>
        </p:txBody>
      </p:sp>
      <p:cxnSp>
        <p:nvCxnSpPr>
          <p:cNvPr id="309" name="Google Shape;309;p18"/>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310" name="Google Shape;310;p18"/>
          <p:cNvSpPr/>
          <p:nvPr/>
        </p:nvSpPr>
        <p:spPr>
          <a:xfrm>
            <a:off x="413424"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Response : Status Codes</a:t>
            </a:r>
            <a:endParaRPr b="1" i="0" sz="2400" u="none" cap="none" strike="noStrike">
              <a:solidFill>
                <a:srgbClr val="C55A11"/>
              </a:solidFill>
              <a:latin typeface="Calibri"/>
              <a:ea typeface="Calibri"/>
              <a:cs typeface="Calibri"/>
              <a:sym typeface="Calibri"/>
            </a:endParaRPr>
          </a:p>
        </p:txBody>
      </p:sp>
      <p:sp>
        <p:nvSpPr>
          <p:cNvPr id="311" name="Google Shape;311;p1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cxnSp>
        <p:nvCxnSpPr>
          <p:cNvPr id="316" name="Google Shape;316;p19"/>
          <p:cNvCxnSpPr/>
          <p:nvPr/>
        </p:nvCxnSpPr>
        <p:spPr>
          <a:xfrm>
            <a:off x="0" y="1232703"/>
            <a:ext cx="7924800" cy="0"/>
          </a:xfrm>
          <a:prstGeom prst="straightConnector1">
            <a:avLst/>
          </a:prstGeom>
          <a:noFill/>
          <a:ln cap="flat" cmpd="sng" w="38100">
            <a:solidFill>
              <a:srgbClr val="DFA267"/>
            </a:solidFill>
            <a:prstDash val="solid"/>
            <a:miter lim="800000"/>
            <a:headEnd len="sm" w="sm" type="none"/>
            <a:tailEnd len="sm" w="sm" type="none"/>
          </a:ln>
        </p:spPr>
      </p:cxnSp>
      <p:sp>
        <p:nvSpPr>
          <p:cNvPr id="317" name="Google Shape;317;p1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Introduction to Web Protocols and HTTP</a:t>
            </a:r>
            <a:endParaRPr b="1" i="0" sz="2400" u="none" cap="none" strike="noStrike">
              <a:solidFill>
                <a:srgbClr val="2F5496"/>
              </a:solidFill>
              <a:latin typeface="Calibri"/>
              <a:ea typeface="Calibri"/>
              <a:cs typeface="Calibri"/>
              <a:sym typeface="Calibri"/>
            </a:endParaRPr>
          </a:p>
        </p:txBody>
      </p:sp>
      <p:sp>
        <p:nvSpPr>
          <p:cNvPr id="318" name="Google Shape;318;p19"/>
          <p:cNvSpPr txBox="1"/>
          <p:nvPr>
            <p:ph idx="1" type="body"/>
          </p:nvPr>
        </p:nvSpPr>
        <p:spPr>
          <a:xfrm>
            <a:off x="644230" y="15485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common security attack</a:t>
            </a:r>
            <a:endParaRPr/>
          </a:p>
          <a:p>
            <a:pPr indent="-228600" lvl="0" marL="228600" rtl="0" algn="l">
              <a:lnSpc>
                <a:spcPct val="90000"/>
              </a:lnSpc>
              <a:spcBef>
                <a:spcPts val="1000"/>
              </a:spcBef>
              <a:spcAft>
                <a:spcPts val="0"/>
              </a:spcAft>
              <a:buClr>
                <a:schemeClr val="dk1"/>
              </a:buClr>
              <a:buSzPts val="2800"/>
              <a:buChar char="•"/>
            </a:pPr>
            <a:r>
              <a:rPr lang="en-US"/>
              <a:t>Need to encrypt data to save it from such attacks</a:t>
            </a:r>
            <a:endParaRPr/>
          </a:p>
        </p:txBody>
      </p:sp>
      <p:pic>
        <p:nvPicPr>
          <p:cNvPr id="319" name="Google Shape;319;p19"/>
          <p:cNvPicPr preferRelativeResize="0"/>
          <p:nvPr/>
        </p:nvPicPr>
        <p:blipFill rotWithShape="1">
          <a:blip r:embed="rId3">
            <a:alphaModFix/>
          </a:blip>
          <a:srcRect b="0" l="0" r="0" t="0"/>
          <a:stretch/>
        </p:blipFill>
        <p:spPr>
          <a:xfrm>
            <a:off x="959440" y="2680001"/>
            <a:ext cx="6477000" cy="3714750"/>
          </a:xfrm>
          <a:prstGeom prst="rect">
            <a:avLst/>
          </a:prstGeom>
          <a:noFill/>
          <a:ln>
            <a:noFill/>
          </a:ln>
        </p:spPr>
      </p:pic>
      <p:sp>
        <p:nvSpPr>
          <p:cNvPr id="320" name="Google Shape;320;p19"/>
          <p:cNvSpPr/>
          <p:nvPr/>
        </p:nvSpPr>
        <p:spPr>
          <a:xfrm>
            <a:off x="399569"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HTTP Secure (HTTPS)</a:t>
            </a:r>
            <a:endParaRPr b="1" i="0" sz="2400" u="none" cap="none" strike="noStrike">
              <a:solidFill>
                <a:srgbClr val="C55A1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cxnSp>
        <p:nvCxnSpPr>
          <p:cNvPr id="325" name="Google Shape;325;p20"/>
          <p:cNvCxnSpPr/>
          <p:nvPr/>
        </p:nvCxnSpPr>
        <p:spPr>
          <a:xfrm flipH="1" rot="10800000">
            <a:off x="5448168" y="2887307"/>
            <a:ext cx="4581449" cy="1"/>
          </a:xfrm>
          <a:prstGeom prst="straightConnector1">
            <a:avLst/>
          </a:prstGeom>
          <a:noFill/>
          <a:ln cap="flat" cmpd="sng" w="38100">
            <a:solidFill>
              <a:srgbClr val="C55A11"/>
            </a:solidFill>
            <a:prstDash val="solid"/>
            <a:miter lim="800000"/>
            <a:headEnd len="sm" w="sm" type="none"/>
            <a:tailEnd len="sm" w="sm" type="none"/>
          </a:ln>
        </p:spPr>
      </p:cxnSp>
      <p:sp>
        <p:nvSpPr>
          <p:cNvPr id="326" name="Google Shape;326;p20"/>
          <p:cNvSpPr/>
          <p:nvPr/>
        </p:nvSpPr>
        <p:spPr>
          <a:xfrm>
            <a:off x="5460537" y="4049738"/>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hlink"/>
                </a:solidFill>
                <a:latin typeface="Calibri"/>
                <a:ea typeface="Calibri"/>
                <a:cs typeface="Calibri"/>
                <a:sym typeface="Calibri"/>
                <a:hlinkClick r:id="rId3"/>
              </a:rPr>
              <a:t>vinayj@pes.edu</a:t>
            </a:r>
            <a:r>
              <a:rPr b="1" i="0" lang="en-US" sz="2400" u="none" cap="none" strike="noStrike">
                <a:solidFill>
                  <a:schemeClr val="dk1"/>
                </a:solidFill>
                <a:latin typeface="Calibri"/>
                <a:ea typeface="Calibri"/>
                <a:cs typeface="Calibri"/>
                <a:sym typeface="Calibri"/>
              </a:rPr>
              <a:t> , </a:t>
            </a:r>
            <a:r>
              <a:rPr b="1" i="0" lang="en-US" sz="2400" u="sng" cap="none" strike="noStrike">
                <a:solidFill>
                  <a:schemeClr val="hlink"/>
                </a:solidFill>
                <a:latin typeface="Calibri"/>
                <a:ea typeface="Calibri"/>
                <a:cs typeface="Calibri"/>
                <a:sym typeface="Calibri"/>
                <a:hlinkClick r:id="rId4"/>
              </a:rPr>
              <a:t>pavithra.s@pes.edu</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sz="2400">
              <a:solidFill>
                <a:schemeClr val="dk1"/>
              </a:solidFill>
              <a:latin typeface="Calibri"/>
              <a:ea typeface="Calibri"/>
              <a:cs typeface="Calibri"/>
              <a:sym typeface="Calibri"/>
            </a:endParaRPr>
          </a:p>
        </p:txBody>
      </p:sp>
      <p:sp>
        <p:nvSpPr>
          <p:cNvPr id="327" name="Google Shape;327;p20"/>
          <p:cNvSpPr/>
          <p:nvPr/>
        </p:nvSpPr>
        <p:spPr>
          <a:xfrm>
            <a:off x="5460537" y="4573019"/>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+91 80 2672 6622</a:t>
            </a:r>
            <a:endParaRPr b="0" i="0" sz="2400" u="none" cap="none" strike="noStrike">
              <a:solidFill>
                <a:schemeClr val="dk1"/>
              </a:solidFill>
              <a:latin typeface="Calibri"/>
              <a:ea typeface="Calibri"/>
              <a:cs typeface="Calibri"/>
              <a:sym typeface="Calibri"/>
            </a:endParaRPr>
          </a:p>
        </p:txBody>
      </p:sp>
      <p:pic>
        <p:nvPicPr>
          <p:cNvPr id="328" name="Google Shape;328;p20"/>
          <p:cNvPicPr preferRelativeResize="0"/>
          <p:nvPr/>
        </p:nvPicPr>
        <p:blipFill rotWithShape="1">
          <a:blip r:embed="rId5">
            <a:alphaModFix/>
          </a:blip>
          <a:srcRect b="0" l="0" r="0" t="0"/>
          <a:stretch/>
        </p:blipFill>
        <p:spPr>
          <a:xfrm>
            <a:off x="2423160" y="1606241"/>
            <a:ext cx="2132109" cy="3550188"/>
          </a:xfrm>
          <a:prstGeom prst="rect">
            <a:avLst/>
          </a:prstGeom>
          <a:noFill/>
          <a:ln>
            <a:noFill/>
          </a:ln>
        </p:spPr>
      </p:pic>
      <p:sp>
        <p:nvSpPr>
          <p:cNvPr id="329" name="Google Shape;329;p20"/>
          <p:cNvSpPr/>
          <p:nvPr/>
        </p:nvSpPr>
        <p:spPr>
          <a:xfrm>
            <a:off x="5448168" y="2049518"/>
            <a:ext cx="4603806" cy="6652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330" name="Google Shape;330;p20"/>
          <p:cNvSpPr/>
          <p:nvPr/>
        </p:nvSpPr>
        <p:spPr>
          <a:xfrm>
            <a:off x="5448168" y="3128242"/>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chemeClr val="dk1"/>
                </a:solidFill>
                <a:latin typeface="Calibri"/>
                <a:ea typeface="Calibri"/>
                <a:cs typeface="Calibri"/>
                <a:sym typeface="Calibri"/>
              </a:rPr>
              <a:t>Prof.</a:t>
            </a:r>
            <a:r>
              <a:rPr b="1" i="0" lang="en-US" sz="2400" u="none" cap="none" strike="noStrike">
                <a:solidFill>
                  <a:schemeClr val="dk1"/>
                </a:solidFill>
                <a:latin typeface="Calibri"/>
                <a:ea typeface="Calibri"/>
                <a:cs typeface="Calibri"/>
                <a:sym typeface="Calibri"/>
              </a:rPr>
              <a:t>Vinay Joshi and Prof.Pavithra S</a:t>
            </a:r>
            <a:endParaRPr b="1" i="0" sz="2400" u="none" cap="none" strike="noStrike">
              <a:solidFill>
                <a:schemeClr val="dk1"/>
              </a:solidFill>
              <a:latin typeface="Calibri"/>
              <a:ea typeface="Calibri"/>
              <a:cs typeface="Calibri"/>
              <a:sym typeface="Calibri"/>
            </a:endParaRPr>
          </a:p>
        </p:txBody>
      </p:sp>
      <p:sp>
        <p:nvSpPr>
          <p:cNvPr id="331" name="Google Shape;331;p20"/>
          <p:cNvSpPr/>
          <p:nvPr/>
        </p:nvSpPr>
        <p:spPr>
          <a:xfrm>
            <a:off x="5448168" y="3525847"/>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
        <p:nvSpPr>
          <p:cNvPr id="332" name="Google Shape;332;p20"/>
          <p:cNvSpPr/>
          <p:nvPr/>
        </p:nvSpPr>
        <p:spPr>
          <a:xfrm>
            <a:off x="10184524" y="0"/>
            <a:ext cx="2007476" cy="16062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33" name="Google Shape;333;p20"/>
          <p:cNvGrpSpPr/>
          <p:nvPr/>
        </p:nvGrpSpPr>
        <p:grpSpPr>
          <a:xfrm>
            <a:off x="259197" y="349466"/>
            <a:ext cx="11518407" cy="6218388"/>
            <a:chOff x="313844" y="349466"/>
            <a:chExt cx="11518407" cy="6218388"/>
          </a:xfrm>
        </p:grpSpPr>
        <p:sp>
          <p:nvSpPr>
            <p:cNvPr id="334" name="Google Shape;334;p20"/>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5" name="Google Shape;335;p20"/>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6" name="Google Shape;336;p20"/>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7" name="Google Shape;337;p20"/>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2019-05-30T23:14:36Z</dcterms:created>
  <dc:creator>Prahallad Nith</dc:creator>
</cp:coreProperties>
</file>