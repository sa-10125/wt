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12192000"/>
  <p:notesSz cx="12192000" cy="6858000"/>
  <p:embeddedFontLst>
    <p:embeddedFont>
      <p:font typeface="Carli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8" roundtripDataSignature="AMtx7miTUI0FP9zlHuAv0lNhNOvhOZ0c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3CE153-8107-4F71-A598-89509236B170}">
  <a:tblStyle styleId="{853CE153-8107-4F71-A598-89509236B170}"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Carlito-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arlito-italic.fntdata"/><Relationship Id="rId25" Type="http://schemas.openxmlformats.org/officeDocument/2006/relationships/font" Target="fonts/Carlito-bold.fntdata"/><Relationship Id="rId28" Type="http://customschemas.google.com/relationships/presentationmetadata" Target="metadata"/><Relationship Id="rId27" Type="http://schemas.openxmlformats.org/officeDocument/2006/relationships/font" Target="fonts/Carli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7b80586276_0_0:notes"/>
          <p:cNvSpPr txBox="1"/>
          <p:nvPr>
            <p:ph idx="1" type="body"/>
          </p:nvPr>
        </p:nvSpPr>
        <p:spPr>
          <a:xfrm>
            <a:off x="1219200" y="3300413"/>
            <a:ext cx="9753600" cy="27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 name="Google Shape;45;g37b80586276_0_0:notes"/>
          <p:cNvSpPr/>
          <p:nvPr>
            <p:ph idx="2" type="sldImg"/>
          </p:nvPr>
        </p:nvSpPr>
        <p:spPr>
          <a:xfrm>
            <a:off x="1219200" y="857250"/>
            <a:ext cx="97536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a:solidFill>
                  <a:srgbClr val="202124"/>
                </a:solidFill>
                <a:latin typeface="Arial"/>
                <a:ea typeface="Arial"/>
                <a:cs typeface="Arial"/>
                <a:sym typeface="Arial"/>
              </a:rPr>
              <a:t>An object is </a:t>
            </a:r>
            <a:r>
              <a:rPr b="0" i="0" lang="en-US">
                <a:solidFill>
                  <a:srgbClr val="040C28"/>
                </a:solidFill>
                <a:latin typeface="Arial"/>
                <a:ea typeface="Arial"/>
                <a:cs typeface="Arial"/>
                <a:sym typeface="Arial"/>
              </a:rPr>
              <a:t>a collection of properties</a:t>
            </a:r>
            <a:r>
              <a:rPr b="0" i="0" lang="en-US">
                <a:solidFill>
                  <a:srgbClr val="202124"/>
                </a:solidFill>
                <a:latin typeface="Arial"/>
                <a:ea typeface="Arial"/>
                <a:cs typeface="Arial"/>
                <a:sym typeface="Arial"/>
              </a:rPr>
              <a:t>, and a property is an association between a name (or key) and a value. A property's value can be a function, in which case the property is known as a method. </a:t>
            </a:r>
            <a:endParaRPr/>
          </a:p>
        </p:txBody>
      </p:sp>
      <p:sp>
        <p:nvSpPr>
          <p:cNvPr id="63" name="Google Shape;63;p2:notes"/>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1219200" y="3300413"/>
            <a:ext cx="97536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1:notes"/>
          <p:cNvSpPr/>
          <p:nvPr>
            <p:ph idx="2" type="sldImg"/>
          </p:nvPr>
        </p:nvSpPr>
        <p:spPr>
          <a:xfrm>
            <a:off x="4038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1219200" y="3300413"/>
            <a:ext cx="97536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2:notes"/>
          <p:cNvSpPr/>
          <p:nvPr>
            <p:ph idx="2" type="sldImg"/>
          </p:nvPr>
        </p:nvSpPr>
        <p:spPr>
          <a:xfrm>
            <a:off x="4038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1219200" y="3300413"/>
            <a:ext cx="97536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13:notes"/>
          <p:cNvSpPr/>
          <p:nvPr>
            <p:ph idx="2" type="sldImg"/>
          </p:nvPr>
        </p:nvSpPr>
        <p:spPr>
          <a:xfrm>
            <a:off x="4038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txBox="1"/>
          <p:nvPr>
            <p:ph idx="1" type="body"/>
          </p:nvPr>
        </p:nvSpPr>
        <p:spPr>
          <a:xfrm>
            <a:off x="1219200" y="3300413"/>
            <a:ext cx="97536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4:notes"/>
          <p:cNvSpPr/>
          <p:nvPr>
            <p:ph idx="2" type="sldImg"/>
          </p:nvPr>
        </p:nvSpPr>
        <p:spPr>
          <a:xfrm>
            <a:off x="4038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txBox="1"/>
          <p:nvPr>
            <p:ph idx="1" type="body"/>
          </p:nvPr>
        </p:nvSpPr>
        <p:spPr>
          <a:xfrm>
            <a:off x="1219200" y="3300413"/>
            <a:ext cx="97536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15:notes"/>
          <p:cNvSpPr/>
          <p:nvPr>
            <p:ph idx="2" type="sldImg"/>
          </p:nvPr>
        </p:nvSpPr>
        <p:spPr>
          <a:xfrm>
            <a:off x="4038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6:notes"/>
          <p:cNvSpPr txBox="1"/>
          <p:nvPr>
            <p:ph idx="1" type="body"/>
          </p:nvPr>
        </p:nvSpPr>
        <p:spPr>
          <a:xfrm>
            <a:off x="1219200" y="3300413"/>
            <a:ext cx="97536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16:notes"/>
          <p:cNvSpPr/>
          <p:nvPr>
            <p:ph idx="2" type="sldImg"/>
          </p:nvPr>
        </p:nvSpPr>
        <p:spPr>
          <a:xfrm>
            <a:off x="4038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7b80586725_0_0:notes"/>
          <p:cNvSpPr txBox="1"/>
          <p:nvPr>
            <p:ph idx="1" type="body"/>
          </p:nvPr>
        </p:nvSpPr>
        <p:spPr>
          <a:xfrm>
            <a:off x="1219200" y="3300413"/>
            <a:ext cx="9753600" cy="27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37b80586725_0_0:notes"/>
          <p:cNvSpPr/>
          <p:nvPr>
            <p:ph idx="2" type="sldImg"/>
          </p:nvPr>
        </p:nvSpPr>
        <p:spPr>
          <a:xfrm>
            <a:off x="1219200" y="857250"/>
            <a:ext cx="97536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9"/>
          <p:cNvSpPr txBox="1"/>
          <p:nvPr>
            <p:ph type="title"/>
          </p:nvPr>
        </p:nvSpPr>
        <p:spPr>
          <a:xfrm>
            <a:off x="4362450" y="2054097"/>
            <a:ext cx="3467100"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600">
                <a:solidFill>
                  <a:srgbClr val="C55A11"/>
                </a:solidFill>
                <a:latin typeface="Carlito"/>
                <a:ea typeface="Carlito"/>
                <a:cs typeface="Carlito"/>
                <a:sym typeface="Carli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body"/>
          </p:nvPr>
        </p:nvSpPr>
        <p:spPr>
          <a:xfrm>
            <a:off x="318008" y="1616455"/>
            <a:ext cx="11555983" cy="33185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 name="Google Shape;18;p1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1" name="Shape 21"/>
        <p:cNvGrpSpPr/>
        <p:nvPr/>
      </p:nvGrpSpPr>
      <p:grpSpPr>
        <a:xfrm>
          <a:off x="0" y="0"/>
          <a:ext cx="0" cy="0"/>
          <a:chOff x="0" y="0"/>
          <a:chExt cx="0" cy="0"/>
        </a:xfrm>
      </p:grpSpPr>
      <p:sp>
        <p:nvSpPr>
          <p:cNvPr id="22" name="Google Shape;22;p2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21"/>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22"/>
          <p:cNvSpPr txBox="1"/>
          <p:nvPr>
            <p:ph type="title"/>
          </p:nvPr>
        </p:nvSpPr>
        <p:spPr>
          <a:xfrm>
            <a:off x="4362450" y="2054097"/>
            <a:ext cx="3467100"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600">
                <a:solidFill>
                  <a:srgbClr val="C55A11"/>
                </a:solidFill>
                <a:latin typeface="Carlito"/>
                <a:ea typeface="Carlito"/>
                <a:cs typeface="Carlito"/>
                <a:sym typeface="Carli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2"/>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22"/>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2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23"/>
          <p:cNvSpPr txBox="1"/>
          <p:nvPr>
            <p:ph type="title"/>
          </p:nvPr>
        </p:nvSpPr>
        <p:spPr>
          <a:xfrm>
            <a:off x="4362450" y="2054097"/>
            <a:ext cx="3467100"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600">
                <a:solidFill>
                  <a:srgbClr val="C55A11"/>
                </a:solidFill>
                <a:latin typeface="Carlito"/>
                <a:ea typeface="Carlito"/>
                <a:cs typeface="Carlito"/>
                <a:sym typeface="Carli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4362450" y="2054097"/>
            <a:ext cx="3467100" cy="57403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3600" u="none" cap="none" strike="noStrike">
                <a:solidFill>
                  <a:srgbClr val="C55A11"/>
                </a:solidFill>
                <a:latin typeface="Carlito"/>
                <a:ea typeface="Carlito"/>
                <a:cs typeface="Carlito"/>
                <a:sym typeface="Carli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318008" y="1616455"/>
            <a:ext cx="11555983" cy="331851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1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jp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g37b80586276_0_0"/>
          <p:cNvSpPr/>
          <p:nvPr/>
        </p:nvSpPr>
        <p:spPr>
          <a:xfrm>
            <a:off x="4793761" y="1688267"/>
            <a:ext cx="74973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Calibri"/>
                <a:ea typeface="Calibri"/>
                <a:cs typeface="Calibri"/>
                <a:sym typeface="Calibri"/>
              </a:rPr>
              <a:t>WEB TECHNOLOGIES</a:t>
            </a:r>
            <a:endParaRPr b="1" i="0" sz="3600" u="none" cap="none" strike="noStrike">
              <a:solidFill>
                <a:srgbClr val="C55A11"/>
              </a:solidFill>
              <a:latin typeface="Calibri"/>
              <a:ea typeface="Calibri"/>
              <a:cs typeface="Calibri"/>
              <a:sym typeface="Calibri"/>
            </a:endParaRPr>
          </a:p>
        </p:txBody>
      </p:sp>
      <p:sp>
        <p:nvSpPr>
          <p:cNvPr id="48" name="Google Shape;48;g37b80586276_0_0"/>
          <p:cNvSpPr/>
          <p:nvPr/>
        </p:nvSpPr>
        <p:spPr>
          <a:xfrm>
            <a:off x="4781916" y="2841955"/>
            <a:ext cx="6994500" cy="1200300"/>
          </a:xfrm>
          <a:prstGeom prst="rect">
            <a:avLst/>
          </a:prstGeom>
          <a:noFill/>
          <a:ln>
            <a:noFill/>
          </a:ln>
        </p:spPr>
        <p:txBody>
          <a:bodyPr anchorCtr="0" anchor="t" bIns="45700" lIns="91425" spcFirstLastPara="1" rIns="91425" wrap="square" tIns="45700">
            <a:noAutofit/>
          </a:bodyPr>
          <a:lstStyle/>
          <a:p>
            <a:pPr indent="0" lvl="0" marL="12700" rtl="0" algn="l">
              <a:spcBef>
                <a:spcPts val="0"/>
              </a:spcBef>
              <a:spcAft>
                <a:spcPts val="0"/>
              </a:spcAft>
              <a:buClr>
                <a:schemeClr val="dk1"/>
              </a:buClr>
              <a:buSzPts val="3600"/>
              <a:buFont typeface="Arial"/>
              <a:buNone/>
            </a:pPr>
            <a:r>
              <a:rPr b="1" lang="en-US" sz="3600">
                <a:solidFill>
                  <a:srgbClr val="2E5496"/>
                </a:solidFill>
                <a:latin typeface="Carlito"/>
                <a:ea typeface="Carlito"/>
                <a:cs typeface="Carlito"/>
                <a:sym typeface="Carlito"/>
              </a:rPr>
              <a:t>JavaScript Objects</a:t>
            </a:r>
            <a:endParaRPr sz="3600">
              <a:solidFill>
                <a:schemeClr val="dk1"/>
              </a:solidFill>
              <a:latin typeface="Carlito"/>
              <a:ea typeface="Carlito"/>
              <a:cs typeface="Carlito"/>
              <a:sym typeface="Carlito"/>
            </a:endParaRPr>
          </a:p>
          <a:p>
            <a:pPr indent="0" lvl="0" marL="0" rtl="0" algn="l">
              <a:spcBef>
                <a:spcPts val="0"/>
              </a:spcBef>
              <a:spcAft>
                <a:spcPts val="0"/>
              </a:spcAft>
              <a:buClr>
                <a:schemeClr val="dk1"/>
              </a:buClr>
              <a:buSzPts val="3600"/>
              <a:buFont typeface="Arial"/>
              <a:buNone/>
            </a:pPr>
            <a:r>
              <a:t/>
            </a:r>
            <a:endParaRPr b="1" sz="3600">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1" sz="3600">
              <a:solidFill>
                <a:srgbClr val="2F5496"/>
              </a:solidFill>
              <a:latin typeface="Calibri"/>
              <a:ea typeface="Calibri"/>
              <a:cs typeface="Calibri"/>
              <a:sym typeface="Calibri"/>
            </a:endParaRPr>
          </a:p>
        </p:txBody>
      </p:sp>
      <p:sp>
        <p:nvSpPr>
          <p:cNvPr id="49" name="Google Shape;49;g37b80586276_0_0"/>
          <p:cNvSpPr/>
          <p:nvPr/>
        </p:nvSpPr>
        <p:spPr>
          <a:xfrm>
            <a:off x="4781916" y="4415503"/>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Prof.</a:t>
            </a:r>
            <a:r>
              <a:rPr b="1" lang="en-US" sz="2400">
                <a:solidFill>
                  <a:schemeClr val="dk1"/>
                </a:solidFill>
                <a:latin typeface="Calibri"/>
                <a:ea typeface="Calibri"/>
                <a:cs typeface="Calibri"/>
                <a:sym typeface="Calibri"/>
              </a:rPr>
              <a:t> Pavan A C</a:t>
            </a:r>
            <a:endParaRPr b="1" i="0" sz="2400" u="none" cap="none" strike="noStrike">
              <a:solidFill>
                <a:schemeClr val="dk1"/>
              </a:solidFill>
              <a:latin typeface="Calibri"/>
              <a:ea typeface="Calibri"/>
              <a:cs typeface="Calibri"/>
              <a:sym typeface="Calibri"/>
            </a:endParaRPr>
          </a:p>
        </p:txBody>
      </p:sp>
      <p:sp>
        <p:nvSpPr>
          <p:cNvPr id="50" name="Google Shape;50;g37b80586276_0_0"/>
          <p:cNvSpPr/>
          <p:nvPr/>
        </p:nvSpPr>
        <p:spPr>
          <a:xfrm>
            <a:off x="4781916" y="4813108"/>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Department of Computer Science and Engineering</a:t>
            </a:r>
            <a:endParaRPr b="0" i="0" sz="2400" u="none" cap="none" strike="noStrike">
              <a:solidFill>
                <a:schemeClr val="dk1"/>
              </a:solidFill>
              <a:latin typeface="Calibri"/>
              <a:ea typeface="Calibri"/>
              <a:cs typeface="Calibri"/>
              <a:sym typeface="Calibri"/>
            </a:endParaRPr>
          </a:p>
        </p:txBody>
      </p:sp>
      <p:cxnSp>
        <p:nvCxnSpPr>
          <p:cNvPr id="51" name="Google Shape;51;g37b80586276_0_0"/>
          <p:cNvCxnSpPr/>
          <p:nvPr/>
        </p:nvCxnSpPr>
        <p:spPr>
          <a:xfrm>
            <a:off x="4781916" y="4112437"/>
            <a:ext cx="4581300" cy="0"/>
          </a:xfrm>
          <a:prstGeom prst="straightConnector1">
            <a:avLst/>
          </a:prstGeom>
          <a:noFill/>
          <a:ln cap="flat" cmpd="sng" w="38100">
            <a:solidFill>
              <a:srgbClr val="C55A11"/>
            </a:solidFill>
            <a:prstDash val="solid"/>
            <a:miter lim="800000"/>
            <a:headEnd len="sm" w="sm" type="none"/>
            <a:tailEnd len="sm" w="sm" type="none"/>
          </a:ln>
        </p:spPr>
      </p:cxnSp>
      <p:pic>
        <p:nvPicPr>
          <p:cNvPr id="52" name="Google Shape;52;g37b80586276_0_0"/>
          <p:cNvPicPr preferRelativeResize="0"/>
          <p:nvPr/>
        </p:nvPicPr>
        <p:blipFill rotWithShape="1">
          <a:blip r:embed="rId3">
            <a:alphaModFix/>
          </a:blip>
          <a:srcRect b="0" l="0" r="0" t="0"/>
          <a:stretch/>
        </p:blipFill>
        <p:spPr>
          <a:xfrm>
            <a:off x="1767840" y="1606241"/>
            <a:ext cx="2121177" cy="3550188"/>
          </a:xfrm>
          <a:prstGeom prst="rect">
            <a:avLst/>
          </a:prstGeom>
          <a:noFill/>
          <a:ln>
            <a:noFill/>
          </a:ln>
        </p:spPr>
      </p:pic>
      <p:sp>
        <p:nvSpPr>
          <p:cNvPr id="53" name="Google Shape;53;g37b80586276_0_0"/>
          <p:cNvSpPr/>
          <p:nvPr/>
        </p:nvSpPr>
        <p:spPr>
          <a:xfrm>
            <a:off x="10184524" y="0"/>
            <a:ext cx="2007600" cy="1606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54" name="Google Shape;54;g37b80586276_0_0"/>
          <p:cNvGrpSpPr/>
          <p:nvPr/>
        </p:nvGrpSpPr>
        <p:grpSpPr>
          <a:xfrm>
            <a:off x="259292" y="349466"/>
            <a:ext cx="11518312" cy="6218269"/>
            <a:chOff x="313939" y="349466"/>
            <a:chExt cx="11518312" cy="6218269"/>
          </a:xfrm>
        </p:grpSpPr>
        <p:sp>
          <p:nvSpPr>
            <p:cNvPr id="55" name="Google Shape;55;g37b80586276_0_0"/>
            <p:cNvSpPr/>
            <p:nvPr/>
          </p:nvSpPr>
          <p:spPr>
            <a:xfrm>
              <a:off x="11786532" y="360726"/>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 name="Google Shape;56;g37b80586276_0_0"/>
            <p:cNvSpPr/>
            <p:nvPr/>
          </p:nvSpPr>
          <p:spPr>
            <a:xfrm rot="5400000">
              <a:off x="11276051" y="-161134"/>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 name="Google Shape;57;g37b80586276_0_0"/>
            <p:cNvSpPr/>
            <p:nvPr/>
          </p:nvSpPr>
          <p:spPr>
            <a:xfrm rot="5400000">
              <a:off x="824539" y="6011535"/>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 name="Google Shape;58;g37b80586276_0_0"/>
            <p:cNvSpPr/>
            <p:nvPr/>
          </p:nvSpPr>
          <p:spPr>
            <a:xfrm rot="10800000">
              <a:off x="313963" y="5489794"/>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59" name="Google Shape;59;g37b80586276_0_0"/>
          <p:cNvSpPr txBox="1"/>
          <p:nvPr/>
        </p:nvSpPr>
        <p:spPr>
          <a:xfrm>
            <a:off x="1767850" y="5470625"/>
            <a:ext cx="7085100" cy="9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Calibri"/>
                <a:ea typeface="Calibri"/>
                <a:cs typeface="Calibri"/>
                <a:sym typeface="Calibri"/>
              </a:rPr>
              <a:t>Acknowledgement:</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Teaching Assistants(Samved Suresh Jain and Sathyajit P)</a:t>
            </a:r>
            <a:endParaRPr sz="24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2"/>
          <p:cNvSpPr txBox="1"/>
          <p:nvPr>
            <p:ph type="title"/>
          </p:nvPr>
        </p:nvSpPr>
        <p:spPr>
          <a:xfrm>
            <a:off x="450595" y="231732"/>
            <a:ext cx="3992879" cy="825500"/>
          </a:xfrm>
          <a:prstGeom prst="rect">
            <a:avLst/>
          </a:prstGeom>
          <a:noFill/>
          <a:ln>
            <a:noFill/>
          </a:ln>
        </p:spPr>
        <p:txBody>
          <a:bodyPr anchorCtr="0" anchor="t" bIns="0" lIns="0" spcFirstLastPara="1" rIns="0" wrap="square" tIns="46350">
            <a:spAutoFit/>
          </a:bodyPr>
          <a:lstStyle/>
          <a:p>
            <a:pPr indent="0" lvl="0" marL="33655" rtl="0" algn="l">
              <a:lnSpc>
                <a:spcPct val="100000"/>
              </a:lnSpc>
              <a:spcBef>
                <a:spcPts val="0"/>
              </a:spcBef>
              <a:spcAft>
                <a:spcPts val="0"/>
              </a:spcAft>
              <a:buSzPts val="1400"/>
              <a:buNone/>
            </a:pPr>
            <a:r>
              <a:rPr lang="en-US" sz="2400">
                <a:solidFill>
                  <a:srgbClr val="2E5496"/>
                </a:solidFill>
              </a:rPr>
              <a:t>Javascript Objects</a:t>
            </a:r>
            <a:endParaRPr sz="2400"/>
          </a:p>
          <a:p>
            <a:pPr indent="0" lvl="0" marL="12700" rtl="0" algn="l">
              <a:lnSpc>
                <a:spcPct val="100000"/>
              </a:lnSpc>
              <a:spcBef>
                <a:spcPts val="270"/>
              </a:spcBef>
              <a:spcAft>
                <a:spcPts val="0"/>
              </a:spcAft>
              <a:buSzPts val="1400"/>
              <a:buNone/>
            </a:pPr>
            <a:r>
              <a:rPr lang="en-US" sz="2400"/>
              <a:t>Basic Object Oriented Concepts</a:t>
            </a:r>
            <a:endParaRPr sz="2400"/>
          </a:p>
        </p:txBody>
      </p:sp>
      <p:sp>
        <p:nvSpPr>
          <p:cNvPr id="66" name="Google Shape;66;p2"/>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 name="Google Shape;67;p2"/>
          <p:cNvSpPr txBox="1"/>
          <p:nvPr/>
        </p:nvSpPr>
        <p:spPr>
          <a:xfrm>
            <a:off x="297891" y="1302500"/>
            <a:ext cx="9381000" cy="1782900"/>
          </a:xfrm>
          <a:prstGeom prst="rect">
            <a:avLst/>
          </a:prstGeom>
          <a:noFill/>
          <a:ln>
            <a:noFill/>
          </a:ln>
        </p:spPr>
        <p:txBody>
          <a:bodyPr anchorCtr="0" anchor="t" bIns="0" lIns="0" spcFirstLastPara="1" rIns="0" wrap="square" tIns="88900">
            <a:spAutoFit/>
          </a:bodyPr>
          <a:lstStyle/>
          <a:p>
            <a:pPr indent="-445133"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An object in JavaScript is a reference data type.</a:t>
            </a:r>
            <a:endParaRPr b="0" i="0" sz="2000" u="none" cap="none" strike="noStrike">
              <a:solidFill>
                <a:schemeClr val="dk1"/>
              </a:solidFill>
              <a:latin typeface="Arial"/>
              <a:ea typeface="Arial"/>
              <a:cs typeface="Arial"/>
              <a:sym typeface="Arial"/>
            </a:endParaRPr>
          </a:p>
          <a:p>
            <a:pPr indent="-445133" lvl="0" marL="457200" marR="0" rtl="0" algn="l">
              <a:lnSpc>
                <a:spcPct val="10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An object can be compared to any real world entity.</a:t>
            </a:r>
            <a:endParaRPr b="0" i="0" sz="2000" u="none" cap="none" strike="noStrike">
              <a:solidFill>
                <a:schemeClr val="dk1"/>
              </a:solidFill>
              <a:latin typeface="Arial"/>
              <a:ea typeface="Arial"/>
              <a:cs typeface="Arial"/>
              <a:sym typeface="Arial"/>
            </a:endParaRPr>
          </a:p>
          <a:p>
            <a:pPr indent="-445133" lvl="0" marL="457200" marR="5080" rtl="0" algn="l">
              <a:lnSpc>
                <a:spcPct val="10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An object is an unordered list of properties consisting of a name (always a string) and a value. When the value of a property is a function, it is called a method.</a:t>
            </a:r>
            <a:endParaRPr b="0" i="0" sz="2000" u="none" cap="none" strike="noStrike">
              <a:solidFill>
                <a:schemeClr val="dk1"/>
              </a:solidFill>
              <a:latin typeface="Arial"/>
              <a:ea typeface="Arial"/>
              <a:cs typeface="Arial"/>
              <a:sym typeface="Arial"/>
            </a:endParaRPr>
          </a:p>
        </p:txBody>
      </p:sp>
      <p:sp>
        <p:nvSpPr>
          <p:cNvPr id="68" name="Google Shape;68;p2"/>
          <p:cNvSpPr txBox="1"/>
          <p:nvPr/>
        </p:nvSpPr>
        <p:spPr>
          <a:xfrm>
            <a:off x="297903" y="5434375"/>
            <a:ext cx="2685900" cy="289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Fig 1:Object Structure</a:t>
            </a:r>
            <a:endParaRPr b="0" i="0" sz="1800" u="none" cap="none" strike="noStrike">
              <a:solidFill>
                <a:schemeClr val="dk1"/>
              </a:solidFill>
              <a:latin typeface="Arial"/>
              <a:ea typeface="Arial"/>
              <a:cs typeface="Arial"/>
              <a:sym typeface="Arial"/>
            </a:endParaRPr>
          </a:p>
        </p:txBody>
      </p:sp>
      <p:sp>
        <p:nvSpPr>
          <p:cNvPr id="69" name="Google Shape;69;p2"/>
          <p:cNvSpPr txBox="1"/>
          <p:nvPr/>
        </p:nvSpPr>
        <p:spPr>
          <a:xfrm>
            <a:off x="3419398" y="5434375"/>
            <a:ext cx="3286800" cy="289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Fig 2:Object Reference</a:t>
            </a:r>
            <a:endParaRPr b="0" i="0" sz="1800" u="none" cap="none" strike="noStrike">
              <a:solidFill>
                <a:schemeClr val="dk1"/>
              </a:solidFill>
              <a:latin typeface="Arial"/>
              <a:ea typeface="Arial"/>
              <a:cs typeface="Arial"/>
              <a:sym typeface="Arial"/>
            </a:endParaRPr>
          </a:p>
        </p:txBody>
      </p:sp>
      <p:sp>
        <p:nvSpPr>
          <p:cNvPr id="70" name="Google Shape;70;p2"/>
          <p:cNvSpPr txBox="1"/>
          <p:nvPr/>
        </p:nvSpPr>
        <p:spPr>
          <a:xfrm>
            <a:off x="6053875" y="5724175"/>
            <a:ext cx="5958900" cy="9363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000"/>
              <a:buFont typeface="Arial"/>
              <a:buNone/>
            </a:pPr>
            <a:r>
              <a:rPr b="0" i="0" lang="en-US" sz="2000" u="none" cap="none" strike="noStrike">
                <a:solidFill>
                  <a:srgbClr val="6F2F9F"/>
                </a:solidFill>
                <a:latin typeface="Arial"/>
                <a:ea typeface="Arial"/>
                <a:cs typeface="Arial"/>
                <a:sym typeface="Arial"/>
              </a:rPr>
              <a:t>Code equivalent:</a:t>
            </a:r>
            <a:endParaRPr b="0" i="0" sz="2000" u="none" cap="none" strike="noStrike">
              <a:solidFill>
                <a:srgbClr val="6F2F9F"/>
              </a:solidFill>
              <a:latin typeface="Arial"/>
              <a:ea typeface="Arial"/>
              <a:cs typeface="Arial"/>
              <a:sym typeface="Arial"/>
            </a:endParaRPr>
          </a:p>
          <a:p>
            <a:pPr indent="0" lvl="0" marL="12700" marR="5080" rtl="0" algn="l">
              <a:lnSpc>
                <a:spcPct val="100000"/>
              </a:lnSpc>
              <a:spcBef>
                <a:spcPts val="0"/>
              </a:spcBef>
              <a:spcAft>
                <a:spcPts val="0"/>
              </a:spcAft>
              <a:buClr>
                <a:srgbClr val="000000"/>
              </a:buClr>
              <a:buSzPts val="2000"/>
              <a:buFont typeface="Arial"/>
              <a:buNone/>
            </a:pPr>
            <a:r>
              <a:rPr b="0" i="0" lang="en-US" sz="2000" u="none" cap="none" strike="noStrike">
                <a:solidFill>
                  <a:srgbClr val="6F2F9F"/>
                </a:solidFill>
                <a:latin typeface="Arial"/>
                <a:ea typeface="Arial"/>
                <a:cs typeface="Arial"/>
                <a:sym typeface="Arial"/>
              </a:rPr>
              <a:t>Var object1= new Object();  //Not common nowadays</a:t>
            </a:r>
            <a:endParaRPr b="0" i="0" sz="2000" u="none" cap="none" strike="noStrike">
              <a:solidFill>
                <a:srgbClr val="6F2F9F"/>
              </a:solidFill>
              <a:latin typeface="Arial"/>
              <a:ea typeface="Arial"/>
              <a:cs typeface="Arial"/>
              <a:sym typeface="Arial"/>
            </a:endParaRPr>
          </a:p>
          <a:p>
            <a:pPr indent="0" lvl="0" marL="12700" marR="5080" rtl="0" algn="l">
              <a:lnSpc>
                <a:spcPct val="100000"/>
              </a:lnSpc>
              <a:spcBef>
                <a:spcPts val="0"/>
              </a:spcBef>
              <a:spcAft>
                <a:spcPts val="0"/>
              </a:spcAft>
              <a:buClr>
                <a:srgbClr val="000000"/>
              </a:buClr>
              <a:buSzPts val="2000"/>
              <a:buFont typeface="Arial"/>
              <a:buNone/>
            </a:pPr>
            <a:r>
              <a:rPr b="0" i="0" lang="en-US" sz="2000" u="none" cap="none" strike="noStrike">
                <a:solidFill>
                  <a:srgbClr val="6F2F9F"/>
                </a:solidFill>
                <a:latin typeface="Arial"/>
                <a:ea typeface="Arial"/>
                <a:cs typeface="Arial"/>
                <a:sym typeface="Arial"/>
              </a:rPr>
              <a:t>Var object2 = object1;</a:t>
            </a:r>
            <a:endParaRPr b="0" i="0" sz="2000" u="none" cap="none" strike="noStrike">
              <a:solidFill>
                <a:schemeClr val="dk1"/>
              </a:solidFill>
              <a:latin typeface="Arial"/>
              <a:ea typeface="Arial"/>
              <a:cs typeface="Arial"/>
              <a:sym typeface="Arial"/>
            </a:endParaRPr>
          </a:p>
        </p:txBody>
      </p:sp>
      <p:grpSp>
        <p:nvGrpSpPr>
          <p:cNvPr id="71" name="Google Shape;71;p2"/>
          <p:cNvGrpSpPr/>
          <p:nvPr/>
        </p:nvGrpSpPr>
        <p:grpSpPr>
          <a:xfrm>
            <a:off x="3299205" y="2894964"/>
            <a:ext cx="6531737" cy="2623185"/>
            <a:chOff x="3299205" y="2894964"/>
            <a:chExt cx="6531737" cy="2623185"/>
          </a:xfrm>
        </p:grpSpPr>
        <p:sp>
          <p:nvSpPr>
            <p:cNvPr id="72" name="Google Shape;72;p2"/>
            <p:cNvSpPr/>
            <p:nvPr/>
          </p:nvSpPr>
          <p:spPr>
            <a:xfrm>
              <a:off x="3299205" y="3055746"/>
              <a:ext cx="3366134" cy="198958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 name="Google Shape;73;p2"/>
            <p:cNvSpPr/>
            <p:nvPr/>
          </p:nvSpPr>
          <p:spPr>
            <a:xfrm>
              <a:off x="7159497" y="2894964"/>
              <a:ext cx="2671191" cy="2622677"/>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2"/>
            <p:cNvSpPr/>
            <p:nvPr/>
          </p:nvSpPr>
          <p:spPr>
            <a:xfrm>
              <a:off x="7159497" y="2894964"/>
              <a:ext cx="2671445" cy="2623185"/>
            </a:xfrm>
            <a:custGeom>
              <a:rect b="b" l="l" r="r" t="t"/>
              <a:pathLst>
                <a:path extrusionOk="0" h="2623185" w="2671445">
                  <a:moveTo>
                    <a:pt x="0" y="2622677"/>
                  </a:moveTo>
                  <a:lnTo>
                    <a:pt x="2671191" y="2622677"/>
                  </a:lnTo>
                  <a:lnTo>
                    <a:pt x="2671191" y="0"/>
                  </a:lnTo>
                  <a:lnTo>
                    <a:pt x="0" y="0"/>
                  </a:lnTo>
                  <a:lnTo>
                    <a:pt x="0" y="2622677"/>
                  </a:lnTo>
                  <a:close/>
                </a:path>
              </a:pathLst>
            </a:custGeom>
            <a:noFill/>
            <a:ln cap="flat" cmpd="sng" w="12700">
              <a:solidFill>
                <a:srgbClr val="A4A4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2"/>
            <p:cNvSpPr/>
            <p:nvPr/>
          </p:nvSpPr>
          <p:spPr>
            <a:xfrm>
              <a:off x="7630033" y="3940047"/>
              <a:ext cx="1919605" cy="824230"/>
            </a:xfrm>
            <a:custGeom>
              <a:rect b="b" l="l" r="r" t="t"/>
              <a:pathLst>
                <a:path extrusionOk="0" h="824229" w="1919604">
                  <a:moveTo>
                    <a:pt x="1781937" y="0"/>
                  </a:moveTo>
                  <a:lnTo>
                    <a:pt x="137287" y="0"/>
                  </a:lnTo>
                  <a:lnTo>
                    <a:pt x="93894" y="6999"/>
                  </a:lnTo>
                  <a:lnTo>
                    <a:pt x="56208" y="26489"/>
                  </a:lnTo>
                  <a:lnTo>
                    <a:pt x="26489" y="56208"/>
                  </a:lnTo>
                  <a:lnTo>
                    <a:pt x="6999" y="93894"/>
                  </a:lnTo>
                  <a:lnTo>
                    <a:pt x="0" y="137287"/>
                  </a:lnTo>
                  <a:lnTo>
                    <a:pt x="0" y="686562"/>
                  </a:lnTo>
                  <a:lnTo>
                    <a:pt x="6999" y="730016"/>
                  </a:lnTo>
                  <a:lnTo>
                    <a:pt x="26489" y="767740"/>
                  </a:lnTo>
                  <a:lnTo>
                    <a:pt x="56208" y="797478"/>
                  </a:lnTo>
                  <a:lnTo>
                    <a:pt x="93894" y="816975"/>
                  </a:lnTo>
                  <a:lnTo>
                    <a:pt x="137287" y="823976"/>
                  </a:lnTo>
                  <a:lnTo>
                    <a:pt x="1781937" y="823976"/>
                  </a:lnTo>
                  <a:lnTo>
                    <a:pt x="1825329" y="816975"/>
                  </a:lnTo>
                  <a:lnTo>
                    <a:pt x="1863015" y="797478"/>
                  </a:lnTo>
                  <a:lnTo>
                    <a:pt x="1892734" y="767740"/>
                  </a:lnTo>
                  <a:lnTo>
                    <a:pt x="1912224" y="730016"/>
                  </a:lnTo>
                  <a:lnTo>
                    <a:pt x="1919224" y="686562"/>
                  </a:lnTo>
                  <a:lnTo>
                    <a:pt x="1919224" y="137287"/>
                  </a:lnTo>
                  <a:lnTo>
                    <a:pt x="1912224" y="93894"/>
                  </a:lnTo>
                  <a:lnTo>
                    <a:pt x="1892734" y="56208"/>
                  </a:lnTo>
                  <a:lnTo>
                    <a:pt x="1863015" y="26489"/>
                  </a:lnTo>
                  <a:lnTo>
                    <a:pt x="1825329" y="6999"/>
                  </a:lnTo>
                  <a:lnTo>
                    <a:pt x="1781937" y="0"/>
                  </a:lnTo>
                  <a:close/>
                </a:path>
              </a:pathLst>
            </a:custGeom>
            <a:solidFill>
              <a:srgbClr val="FFC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 name="Google Shape;76;p2"/>
            <p:cNvSpPr/>
            <p:nvPr/>
          </p:nvSpPr>
          <p:spPr>
            <a:xfrm>
              <a:off x="7630033" y="3940047"/>
              <a:ext cx="1919605" cy="824230"/>
            </a:xfrm>
            <a:custGeom>
              <a:rect b="b" l="l" r="r" t="t"/>
              <a:pathLst>
                <a:path extrusionOk="0" h="824229" w="1919604">
                  <a:moveTo>
                    <a:pt x="0" y="137287"/>
                  </a:moveTo>
                  <a:lnTo>
                    <a:pt x="6999" y="93894"/>
                  </a:lnTo>
                  <a:lnTo>
                    <a:pt x="26489" y="56208"/>
                  </a:lnTo>
                  <a:lnTo>
                    <a:pt x="56208" y="26489"/>
                  </a:lnTo>
                  <a:lnTo>
                    <a:pt x="93894" y="6999"/>
                  </a:lnTo>
                  <a:lnTo>
                    <a:pt x="137287" y="0"/>
                  </a:lnTo>
                  <a:lnTo>
                    <a:pt x="1781937" y="0"/>
                  </a:lnTo>
                  <a:lnTo>
                    <a:pt x="1825329" y="6999"/>
                  </a:lnTo>
                  <a:lnTo>
                    <a:pt x="1863015" y="26489"/>
                  </a:lnTo>
                  <a:lnTo>
                    <a:pt x="1892734" y="56208"/>
                  </a:lnTo>
                  <a:lnTo>
                    <a:pt x="1912224" y="93894"/>
                  </a:lnTo>
                  <a:lnTo>
                    <a:pt x="1919224" y="137287"/>
                  </a:lnTo>
                  <a:lnTo>
                    <a:pt x="1919224" y="686562"/>
                  </a:lnTo>
                  <a:lnTo>
                    <a:pt x="1912224" y="730016"/>
                  </a:lnTo>
                  <a:lnTo>
                    <a:pt x="1892734" y="767740"/>
                  </a:lnTo>
                  <a:lnTo>
                    <a:pt x="1863015" y="797478"/>
                  </a:lnTo>
                  <a:lnTo>
                    <a:pt x="1825329" y="816975"/>
                  </a:lnTo>
                  <a:lnTo>
                    <a:pt x="1781937" y="823976"/>
                  </a:lnTo>
                  <a:lnTo>
                    <a:pt x="137287" y="823976"/>
                  </a:lnTo>
                  <a:lnTo>
                    <a:pt x="93894" y="816975"/>
                  </a:lnTo>
                  <a:lnTo>
                    <a:pt x="56208" y="797478"/>
                  </a:lnTo>
                  <a:lnTo>
                    <a:pt x="26489" y="767740"/>
                  </a:lnTo>
                  <a:lnTo>
                    <a:pt x="6999" y="730016"/>
                  </a:lnTo>
                  <a:lnTo>
                    <a:pt x="0" y="686562"/>
                  </a:lnTo>
                  <a:lnTo>
                    <a:pt x="0" y="137287"/>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7" name="Google Shape;77;p2"/>
          <p:cNvSpPr txBox="1"/>
          <p:nvPr/>
        </p:nvSpPr>
        <p:spPr>
          <a:xfrm>
            <a:off x="8265032" y="4187774"/>
            <a:ext cx="651510"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rlito"/>
                <a:ea typeface="Carlito"/>
                <a:cs typeface="Carlito"/>
                <a:sym typeface="Carlito"/>
              </a:rPr>
              <a:t>Object</a:t>
            </a:r>
            <a:endParaRPr b="0" i="0" sz="1800" u="none" cap="none" strike="noStrike">
              <a:solidFill>
                <a:schemeClr val="dk1"/>
              </a:solidFill>
              <a:latin typeface="Carlito"/>
              <a:ea typeface="Carlito"/>
              <a:cs typeface="Carlito"/>
              <a:sym typeface="Carlito"/>
            </a:endParaRPr>
          </a:p>
        </p:txBody>
      </p:sp>
      <p:grpSp>
        <p:nvGrpSpPr>
          <p:cNvPr id="78" name="Google Shape;78;p2"/>
          <p:cNvGrpSpPr/>
          <p:nvPr/>
        </p:nvGrpSpPr>
        <p:grpSpPr>
          <a:xfrm>
            <a:off x="3505200" y="3832847"/>
            <a:ext cx="4114799" cy="1034415"/>
            <a:chOff x="3505200" y="3832847"/>
            <a:chExt cx="4114799" cy="1034415"/>
          </a:xfrm>
        </p:grpSpPr>
        <p:sp>
          <p:nvSpPr>
            <p:cNvPr id="79" name="Google Shape;79;p2"/>
            <p:cNvSpPr/>
            <p:nvPr/>
          </p:nvSpPr>
          <p:spPr>
            <a:xfrm>
              <a:off x="3513581" y="3832847"/>
              <a:ext cx="1366520" cy="369570"/>
            </a:xfrm>
            <a:custGeom>
              <a:rect b="b" l="l" r="r" t="t"/>
              <a:pathLst>
                <a:path extrusionOk="0" h="369570" w="1366520">
                  <a:moveTo>
                    <a:pt x="1366519" y="0"/>
                  </a:moveTo>
                  <a:lnTo>
                    <a:pt x="0" y="0"/>
                  </a:lnTo>
                  <a:lnTo>
                    <a:pt x="0" y="369328"/>
                  </a:lnTo>
                  <a:lnTo>
                    <a:pt x="1366519" y="369328"/>
                  </a:lnTo>
                  <a:lnTo>
                    <a:pt x="1366519" y="0"/>
                  </a:lnTo>
                  <a:close/>
                </a:path>
              </a:pathLst>
            </a:custGeom>
            <a:solidFill>
              <a:srgbClr val="FFC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 name="Google Shape;80;p2"/>
            <p:cNvSpPr/>
            <p:nvPr/>
          </p:nvSpPr>
          <p:spPr>
            <a:xfrm>
              <a:off x="3513581" y="3832847"/>
              <a:ext cx="1366520" cy="369570"/>
            </a:xfrm>
            <a:custGeom>
              <a:rect b="b" l="l" r="r" t="t"/>
              <a:pathLst>
                <a:path extrusionOk="0" h="369570" w="1366520">
                  <a:moveTo>
                    <a:pt x="0" y="369328"/>
                  </a:moveTo>
                  <a:lnTo>
                    <a:pt x="1366519" y="369328"/>
                  </a:lnTo>
                  <a:lnTo>
                    <a:pt x="1366519" y="0"/>
                  </a:lnTo>
                  <a:lnTo>
                    <a:pt x="0" y="0"/>
                  </a:lnTo>
                  <a:lnTo>
                    <a:pt x="0" y="369328"/>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 name="Google Shape;81;p2"/>
            <p:cNvSpPr/>
            <p:nvPr/>
          </p:nvSpPr>
          <p:spPr>
            <a:xfrm>
              <a:off x="3505200" y="4497692"/>
              <a:ext cx="1366520" cy="369570"/>
            </a:xfrm>
            <a:custGeom>
              <a:rect b="b" l="l" r="r" t="t"/>
              <a:pathLst>
                <a:path extrusionOk="0" h="369570" w="1366520">
                  <a:moveTo>
                    <a:pt x="1366520" y="0"/>
                  </a:moveTo>
                  <a:lnTo>
                    <a:pt x="0" y="0"/>
                  </a:lnTo>
                  <a:lnTo>
                    <a:pt x="0" y="369328"/>
                  </a:lnTo>
                  <a:lnTo>
                    <a:pt x="1366520" y="369328"/>
                  </a:lnTo>
                  <a:lnTo>
                    <a:pt x="1366520" y="0"/>
                  </a:lnTo>
                  <a:close/>
                </a:path>
              </a:pathLst>
            </a:custGeom>
            <a:solidFill>
              <a:srgbClr val="FFC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2"/>
            <p:cNvSpPr/>
            <p:nvPr/>
          </p:nvSpPr>
          <p:spPr>
            <a:xfrm>
              <a:off x="3505200" y="4497692"/>
              <a:ext cx="1366520" cy="369570"/>
            </a:xfrm>
            <a:custGeom>
              <a:rect b="b" l="l" r="r" t="t"/>
              <a:pathLst>
                <a:path extrusionOk="0" h="369570" w="1366520">
                  <a:moveTo>
                    <a:pt x="0" y="369328"/>
                  </a:moveTo>
                  <a:lnTo>
                    <a:pt x="1366520" y="369328"/>
                  </a:lnTo>
                  <a:lnTo>
                    <a:pt x="1366520" y="0"/>
                  </a:lnTo>
                  <a:lnTo>
                    <a:pt x="0" y="0"/>
                  </a:lnTo>
                  <a:lnTo>
                    <a:pt x="0" y="369328"/>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2"/>
            <p:cNvSpPr/>
            <p:nvPr/>
          </p:nvSpPr>
          <p:spPr>
            <a:xfrm>
              <a:off x="5712460" y="3985133"/>
              <a:ext cx="1907539" cy="715645"/>
            </a:xfrm>
            <a:custGeom>
              <a:rect b="b" l="l" r="r" t="t"/>
              <a:pathLst>
                <a:path extrusionOk="0" h="715645" w="1907540">
                  <a:moveTo>
                    <a:pt x="1899158" y="659892"/>
                  </a:moveTo>
                  <a:lnTo>
                    <a:pt x="1882787" y="650367"/>
                  </a:lnTo>
                  <a:lnTo>
                    <a:pt x="1808861" y="607314"/>
                  </a:lnTo>
                  <a:lnTo>
                    <a:pt x="1804416" y="604647"/>
                  </a:lnTo>
                  <a:lnTo>
                    <a:pt x="1798574" y="606171"/>
                  </a:lnTo>
                  <a:lnTo>
                    <a:pt x="1795907" y="610743"/>
                  </a:lnTo>
                  <a:lnTo>
                    <a:pt x="1793240" y="615188"/>
                  </a:lnTo>
                  <a:lnTo>
                    <a:pt x="1794764" y="621030"/>
                  </a:lnTo>
                  <a:lnTo>
                    <a:pt x="1845043" y="650367"/>
                  </a:lnTo>
                  <a:lnTo>
                    <a:pt x="0" y="650367"/>
                  </a:lnTo>
                  <a:lnTo>
                    <a:pt x="0" y="669417"/>
                  </a:lnTo>
                  <a:lnTo>
                    <a:pt x="1845259" y="669417"/>
                  </a:lnTo>
                  <a:lnTo>
                    <a:pt x="1799336" y="696214"/>
                  </a:lnTo>
                  <a:lnTo>
                    <a:pt x="1794764" y="698754"/>
                  </a:lnTo>
                  <a:lnTo>
                    <a:pt x="1793240" y="704596"/>
                  </a:lnTo>
                  <a:lnTo>
                    <a:pt x="1798574" y="713740"/>
                  </a:lnTo>
                  <a:lnTo>
                    <a:pt x="1804416" y="715264"/>
                  </a:lnTo>
                  <a:lnTo>
                    <a:pt x="1808861" y="712597"/>
                  </a:lnTo>
                  <a:lnTo>
                    <a:pt x="1882838" y="669417"/>
                  </a:lnTo>
                  <a:lnTo>
                    <a:pt x="1899158" y="659892"/>
                  </a:lnTo>
                  <a:close/>
                </a:path>
                <a:path extrusionOk="0" h="715645" w="1907540">
                  <a:moveTo>
                    <a:pt x="1907540" y="55372"/>
                  </a:moveTo>
                  <a:lnTo>
                    <a:pt x="1891220" y="45847"/>
                  </a:lnTo>
                  <a:lnTo>
                    <a:pt x="1812671" y="0"/>
                  </a:lnTo>
                  <a:lnTo>
                    <a:pt x="1806956" y="1524"/>
                  </a:lnTo>
                  <a:lnTo>
                    <a:pt x="1801622" y="10668"/>
                  </a:lnTo>
                  <a:lnTo>
                    <a:pt x="1803146" y="16510"/>
                  </a:lnTo>
                  <a:lnTo>
                    <a:pt x="1853425" y="45847"/>
                  </a:lnTo>
                  <a:lnTo>
                    <a:pt x="8382" y="45847"/>
                  </a:lnTo>
                  <a:lnTo>
                    <a:pt x="8382" y="64897"/>
                  </a:lnTo>
                  <a:lnTo>
                    <a:pt x="1853425" y="64897"/>
                  </a:lnTo>
                  <a:lnTo>
                    <a:pt x="1803146" y="94234"/>
                  </a:lnTo>
                  <a:lnTo>
                    <a:pt x="1801622" y="100076"/>
                  </a:lnTo>
                  <a:lnTo>
                    <a:pt x="1806956" y="109220"/>
                  </a:lnTo>
                  <a:lnTo>
                    <a:pt x="1812671" y="110744"/>
                  </a:lnTo>
                  <a:lnTo>
                    <a:pt x="1891220" y="64897"/>
                  </a:lnTo>
                  <a:lnTo>
                    <a:pt x="1907540" y="5537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4" name="Google Shape;84;p2"/>
          <p:cNvGrpSpPr/>
          <p:nvPr/>
        </p:nvGrpSpPr>
        <p:grpSpPr>
          <a:xfrm>
            <a:off x="3771519" y="3186417"/>
            <a:ext cx="2582545" cy="369570"/>
            <a:chOff x="3771519" y="3186417"/>
            <a:chExt cx="2582545" cy="369570"/>
          </a:xfrm>
        </p:grpSpPr>
        <p:sp>
          <p:nvSpPr>
            <p:cNvPr id="85" name="Google Shape;85;p2"/>
            <p:cNvSpPr/>
            <p:nvPr/>
          </p:nvSpPr>
          <p:spPr>
            <a:xfrm>
              <a:off x="3771519" y="3186417"/>
              <a:ext cx="2582545" cy="369570"/>
            </a:xfrm>
            <a:custGeom>
              <a:rect b="b" l="l" r="r" t="t"/>
              <a:pathLst>
                <a:path extrusionOk="0" h="369570" w="2582545">
                  <a:moveTo>
                    <a:pt x="2582418" y="0"/>
                  </a:moveTo>
                  <a:lnTo>
                    <a:pt x="0" y="0"/>
                  </a:lnTo>
                  <a:lnTo>
                    <a:pt x="0" y="369328"/>
                  </a:lnTo>
                  <a:lnTo>
                    <a:pt x="2582418" y="369328"/>
                  </a:lnTo>
                  <a:lnTo>
                    <a:pt x="2582418" y="0"/>
                  </a:lnTo>
                  <a:close/>
                </a:path>
              </a:pathLst>
            </a:custGeom>
            <a:solidFill>
              <a:srgbClr val="FFC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2"/>
            <p:cNvSpPr/>
            <p:nvPr/>
          </p:nvSpPr>
          <p:spPr>
            <a:xfrm>
              <a:off x="3771519" y="3186417"/>
              <a:ext cx="2582545" cy="369570"/>
            </a:xfrm>
            <a:custGeom>
              <a:rect b="b" l="l" r="r" t="t"/>
              <a:pathLst>
                <a:path extrusionOk="0" h="369570" w="2582545">
                  <a:moveTo>
                    <a:pt x="0" y="369328"/>
                  </a:moveTo>
                  <a:lnTo>
                    <a:pt x="2582418" y="369328"/>
                  </a:lnTo>
                  <a:lnTo>
                    <a:pt x="2582418" y="0"/>
                  </a:lnTo>
                  <a:lnTo>
                    <a:pt x="0" y="0"/>
                  </a:lnTo>
                  <a:lnTo>
                    <a:pt x="0" y="369328"/>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aphicFrame>
        <p:nvGraphicFramePr>
          <p:cNvPr id="87" name="Google Shape;87;p2"/>
          <p:cNvGraphicFramePr/>
          <p:nvPr/>
        </p:nvGraphicFramePr>
        <p:xfrm>
          <a:off x="3292855" y="3049397"/>
          <a:ext cx="3000000" cy="3000000"/>
        </p:xfrm>
        <a:graphic>
          <a:graphicData uri="http://schemas.openxmlformats.org/drawingml/2006/table">
            <a:tbl>
              <a:tblPr bandRow="1" firstRow="1">
                <a:noFill/>
                <a:tableStyleId>{853CE153-8107-4F71-A598-89509236B170}</a:tableStyleId>
              </a:tblPr>
              <a:tblGrid>
                <a:gridCol w="1695450"/>
                <a:gridCol w="1670050"/>
              </a:tblGrid>
              <a:tr h="623050">
                <a:tc gridSpan="2">
                  <a:txBody>
                    <a:bodyPr/>
                    <a:lstStyle/>
                    <a:p>
                      <a:pPr indent="0" lvl="0" marL="1086485" marR="0" rtl="0" algn="l">
                        <a:lnSpc>
                          <a:spcPct val="100000"/>
                        </a:lnSpc>
                        <a:spcBef>
                          <a:spcPts val="0"/>
                        </a:spcBef>
                        <a:spcAft>
                          <a:spcPts val="0"/>
                        </a:spcAft>
                        <a:buClr>
                          <a:srgbClr val="000000"/>
                        </a:buClr>
                        <a:buSzPts val="1800"/>
                        <a:buFont typeface="Arial"/>
                        <a:buNone/>
                      </a:pPr>
                      <a:r>
                        <a:rPr b="1" lang="en-US" sz="1800" u="none" cap="none" strike="noStrike">
                          <a:latin typeface="Carlito"/>
                          <a:ea typeface="Carlito"/>
                          <a:cs typeface="Carlito"/>
                          <a:sym typeface="Carlito"/>
                        </a:rPr>
                        <a:t>Variable Object</a:t>
                      </a:r>
                      <a:endParaRPr sz="1800" u="none" cap="none" strike="noStrike">
                        <a:latin typeface="Carlito"/>
                        <a:ea typeface="Carlito"/>
                        <a:cs typeface="Carlito"/>
                        <a:sym typeface="Carlito"/>
                      </a:endParaRPr>
                    </a:p>
                  </a:txBody>
                  <a:tcPr marT="161925" marB="0" marR="0" marL="0">
                    <a:lnL cap="flat" cmpd="sng" w="12700">
                      <a:solidFill>
                        <a:srgbClr val="A4A4A4"/>
                      </a:solidFill>
                      <a:prstDash val="solid"/>
                      <a:round/>
                      <a:headEnd len="sm" w="sm" type="none"/>
                      <a:tailEnd len="sm" w="sm" type="none"/>
                    </a:lnL>
                    <a:lnR cap="flat" cmpd="sng" w="12700">
                      <a:solidFill>
                        <a:srgbClr val="A4A4A4"/>
                      </a:solidFill>
                      <a:prstDash val="solid"/>
                      <a:round/>
                      <a:headEnd len="sm" w="sm" type="none"/>
                      <a:tailEnd len="sm" w="sm" type="none"/>
                    </a:lnR>
                    <a:lnT cap="flat" cmpd="sng" w="12700">
                      <a:solidFill>
                        <a:srgbClr val="A4A4A4"/>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674875">
                <a:tc>
                  <a:txBody>
                    <a:bodyPr/>
                    <a:lstStyle/>
                    <a:p>
                      <a:pPr indent="0" lvl="0" marL="306070" marR="0" rtl="0" algn="l">
                        <a:lnSpc>
                          <a:spcPct val="100000"/>
                        </a:lnSpc>
                        <a:spcBef>
                          <a:spcPts val="0"/>
                        </a:spcBef>
                        <a:spcAft>
                          <a:spcPts val="0"/>
                        </a:spcAft>
                        <a:buClr>
                          <a:srgbClr val="000000"/>
                        </a:buClr>
                        <a:buSzPts val="1800"/>
                        <a:buFont typeface="Arial"/>
                        <a:buNone/>
                      </a:pPr>
                      <a:r>
                        <a:rPr b="1" lang="en-US" sz="1800" u="none" cap="none" strike="noStrike">
                          <a:latin typeface="Carlito"/>
                          <a:ea typeface="Carlito"/>
                          <a:cs typeface="Carlito"/>
                          <a:sym typeface="Carlito"/>
                        </a:rPr>
                        <a:t>object1</a:t>
                      </a:r>
                      <a:endParaRPr sz="1800" u="none" cap="none" strike="noStrike">
                        <a:latin typeface="Carlito"/>
                        <a:ea typeface="Carlito"/>
                        <a:cs typeface="Carlito"/>
                        <a:sym typeface="Carlito"/>
                      </a:endParaRPr>
                    </a:p>
                  </a:txBody>
                  <a:tcPr marT="185425" marB="0" marR="0" marL="0">
                    <a:lnL cap="flat" cmpd="sng" w="12700">
                      <a:solidFill>
                        <a:srgbClr val="A4A4A4"/>
                      </a:solidFill>
                      <a:prstDash val="solid"/>
                      <a:round/>
                      <a:headEnd len="sm" w="sm" type="none"/>
                      <a:tailEnd len="sm" w="sm" type="none"/>
                    </a:lnL>
                    <a:lnR cap="flat" cmpd="sng" w="381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38100">
                      <a:solidFill>
                        <a:srgbClr val="000000"/>
                      </a:solidFill>
                      <a:prstDash val="solid"/>
                      <a:round/>
                      <a:headEnd len="sm" w="sm" type="none"/>
                      <a:tailEnd len="sm" w="sm" type="none"/>
                    </a:lnL>
                    <a:lnR cap="flat" cmpd="sng" w="12700">
                      <a:solidFill>
                        <a:srgbClr val="A4A4A4"/>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91650">
                <a:tc>
                  <a:txBody>
                    <a:bodyPr/>
                    <a:lstStyle/>
                    <a:p>
                      <a:pPr indent="0" lvl="0" marL="297180" marR="0" rtl="0" algn="l">
                        <a:lnSpc>
                          <a:spcPct val="100000"/>
                        </a:lnSpc>
                        <a:spcBef>
                          <a:spcPts val="0"/>
                        </a:spcBef>
                        <a:spcAft>
                          <a:spcPts val="0"/>
                        </a:spcAft>
                        <a:buClr>
                          <a:srgbClr val="000000"/>
                        </a:buClr>
                        <a:buSzPts val="1800"/>
                        <a:buFont typeface="Arial"/>
                        <a:buNone/>
                      </a:pPr>
                      <a:r>
                        <a:rPr b="1" lang="en-US" sz="1800" u="none" cap="none" strike="noStrike">
                          <a:latin typeface="Carlito"/>
                          <a:ea typeface="Carlito"/>
                          <a:cs typeface="Carlito"/>
                          <a:sym typeface="Carlito"/>
                        </a:rPr>
                        <a:t>object2</a:t>
                      </a:r>
                      <a:endParaRPr sz="1800" u="none" cap="none" strike="noStrike">
                        <a:latin typeface="Carlito"/>
                        <a:ea typeface="Carlito"/>
                        <a:cs typeface="Carlito"/>
                        <a:sym typeface="Carlito"/>
                      </a:endParaRPr>
                    </a:p>
                  </a:txBody>
                  <a:tcPr marT="175250" marB="0" marR="0" marL="0">
                    <a:lnL cap="flat" cmpd="sng" w="12700">
                      <a:solidFill>
                        <a:srgbClr val="A4A4A4"/>
                      </a:solidFill>
                      <a:prstDash val="solid"/>
                      <a:round/>
                      <a:headEnd len="sm" w="sm" type="none"/>
                      <a:tailEnd len="sm" w="sm" type="none"/>
                    </a:lnL>
                    <a:lnR cap="flat" cmpd="sng" w="381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A4A4A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38100">
                      <a:solidFill>
                        <a:srgbClr val="000000"/>
                      </a:solidFill>
                      <a:prstDash val="solid"/>
                      <a:round/>
                      <a:headEnd len="sm" w="sm" type="none"/>
                      <a:tailEnd len="sm" w="sm" type="none"/>
                    </a:lnL>
                    <a:lnR cap="flat" cmpd="sng" w="12700">
                      <a:solidFill>
                        <a:srgbClr val="A4A4A4"/>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A4A4A4"/>
                      </a:solidFill>
                      <a:prstDash val="solid"/>
                      <a:round/>
                      <a:headEnd len="sm" w="sm" type="none"/>
                      <a:tailEnd len="sm" w="sm" type="none"/>
                    </a:lnB>
                  </a:tcPr>
                </a:tc>
              </a:tr>
            </a:tbl>
          </a:graphicData>
        </a:graphic>
      </p:graphicFrame>
      <p:grpSp>
        <p:nvGrpSpPr>
          <p:cNvPr id="88" name="Google Shape;88;p2"/>
          <p:cNvGrpSpPr/>
          <p:nvPr/>
        </p:nvGrpSpPr>
        <p:grpSpPr>
          <a:xfrm>
            <a:off x="7742301" y="3178035"/>
            <a:ext cx="1676400" cy="369570"/>
            <a:chOff x="7742301" y="3178035"/>
            <a:chExt cx="1676400" cy="369570"/>
          </a:xfrm>
        </p:grpSpPr>
        <p:sp>
          <p:nvSpPr>
            <p:cNvPr id="89" name="Google Shape;89;p2"/>
            <p:cNvSpPr/>
            <p:nvPr/>
          </p:nvSpPr>
          <p:spPr>
            <a:xfrm>
              <a:off x="7742301" y="3178035"/>
              <a:ext cx="1676400" cy="369570"/>
            </a:xfrm>
            <a:custGeom>
              <a:rect b="b" l="l" r="r" t="t"/>
              <a:pathLst>
                <a:path extrusionOk="0" h="369570" w="1676400">
                  <a:moveTo>
                    <a:pt x="1676400" y="0"/>
                  </a:moveTo>
                  <a:lnTo>
                    <a:pt x="0" y="0"/>
                  </a:lnTo>
                  <a:lnTo>
                    <a:pt x="0" y="369328"/>
                  </a:lnTo>
                  <a:lnTo>
                    <a:pt x="1676400" y="369328"/>
                  </a:lnTo>
                  <a:lnTo>
                    <a:pt x="1676400" y="0"/>
                  </a:lnTo>
                  <a:close/>
                </a:path>
              </a:pathLst>
            </a:custGeom>
            <a:solidFill>
              <a:srgbClr val="FFC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2"/>
            <p:cNvSpPr/>
            <p:nvPr/>
          </p:nvSpPr>
          <p:spPr>
            <a:xfrm>
              <a:off x="7742301" y="3178035"/>
              <a:ext cx="1676400" cy="369570"/>
            </a:xfrm>
            <a:custGeom>
              <a:rect b="b" l="l" r="r" t="t"/>
              <a:pathLst>
                <a:path extrusionOk="0" h="369570" w="1676400">
                  <a:moveTo>
                    <a:pt x="0" y="369328"/>
                  </a:moveTo>
                  <a:lnTo>
                    <a:pt x="1676400" y="369328"/>
                  </a:lnTo>
                  <a:lnTo>
                    <a:pt x="1676400" y="0"/>
                  </a:lnTo>
                  <a:lnTo>
                    <a:pt x="0" y="0"/>
                  </a:lnTo>
                  <a:lnTo>
                    <a:pt x="0" y="369328"/>
                  </a:lnTo>
                  <a:close/>
                </a:path>
              </a:pathLst>
            </a:custGeom>
            <a:noFill/>
            <a:ln cap="flat" cmpd="sng" w="190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1" name="Google Shape;91;p2"/>
          <p:cNvSpPr txBox="1"/>
          <p:nvPr/>
        </p:nvSpPr>
        <p:spPr>
          <a:xfrm>
            <a:off x="7742301" y="3178035"/>
            <a:ext cx="1676400" cy="369570"/>
          </a:xfrm>
          <a:prstGeom prst="rect">
            <a:avLst/>
          </a:prstGeom>
          <a:noFill/>
          <a:ln>
            <a:noFill/>
          </a:ln>
        </p:spPr>
        <p:txBody>
          <a:bodyPr anchorCtr="0" anchor="t" bIns="0" lIns="0" spcFirstLastPara="1" rIns="0" wrap="square" tIns="31100">
            <a:spAutoFit/>
          </a:bodyPr>
          <a:lstStyle/>
          <a:p>
            <a:pPr indent="0" lvl="0" marL="404495"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rlito"/>
                <a:ea typeface="Carlito"/>
                <a:cs typeface="Carlito"/>
                <a:sym typeface="Carlito"/>
              </a:rPr>
              <a:t>MEMORY</a:t>
            </a:r>
            <a:endParaRPr b="0" i="0" sz="1800" u="none" cap="none" strike="noStrike">
              <a:solidFill>
                <a:schemeClr val="dk1"/>
              </a:solidFill>
              <a:latin typeface="Carlito"/>
              <a:ea typeface="Carlito"/>
              <a:cs typeface="Carlito"/>
              <a:sym typeface="Carlito"/>
            </a:endParaRPr>
          </a:p>
        </p:txBody>
      </p:sp>
      <p:sp>
        <p:nvSpPr>
          <p:cNvPr id="92" name="Google Shape;92;p2"/>
          <p:cNvSpPr/>
          <p:nvPr/>
        </p:nvSpPr>
        <p:spPr>
          <a:xfrm>
            <a:off x="31785" y="3064636"/>
            <a:ext cx="2685888" cy="189547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3" name="Google Shape;93;p2"/>
          <p:cNvPicPr preferRelativeResize="0"/>
          <p:nvPr/>
        </p:nvPicPr>
        <p:blipFill rotWithShape="1">
          <a:blip r:embed="rId6">
            <a:alphaModFix/>
          </a:blip>
          <a:srcRect b="0" l="0" r="0" t="0"/>
          <a:stretch/>
        </p:blipFill>
        <p:spPr>
          <a:xfrm>
            <a:off x="11125201" y="10586"/>
            <a:ext cx="887582" cy="1398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 name="Shape 97"/>
        <p:cNvGrpSpPr/>
        <p:nvPr/>
      </p:nvGrpSpPr>
      <p:grpSpPr>
        <a:xfrm>
          <a:off x="0" y="0"/>
          <a:ext cx="0" cy="0"/>
          <a:chOff x="0" y="0"/>
          <a:chExt cx="0" cy="0"/>
        </a:xfrm>
      </p:grpSpPr>
      <p:sp>
        <p:nvSpPr>
          <p:cNvPr id="98" name="Google Shape;98;p3"/>
          <p:cNvSpPr txBox="1"/>
          <p:nvPr/>
        </p:nvSpPr>
        <p:spPr>
          <a:xfrm>
            <a:off x="450595" y="265557"/>
            <a:ext cx="4187190" cy="7493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Clr>
                <a:srgbClr val="000000"/>
              </a:buClr>
              <a:buSzPts val="2400"/>
              <a:buFont typeface="Arial"/>
              <a:buNone/>
            </a:pPr>
            <a:r>
              <a:rPr b="1" i="0" lang="en-US" sz="2400" u="none" cap="none" strike="noStrike">
                <a:solidFill>
                  <a:srgbClr val="2E5496"/>
                </a:solidFill>
                <a:latin typeface="Carlito"/>
                <a:ea typeface="Carlito"/>
                <a:cs typeface="Carlito"/>
                <a:sym typeface="Carlito"/>
              </a:rPr>
              <a:t>Javascript Objects</a:t>
            </a:r>
            <a:endParaRPr b="0" i="0" sz="2400" u="none" cap="none" strike="noStrike">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Clr>
                <a:srgbClr val="000000"/>
              </a:buClr>
              <a:buSzPts val="2400"/>
              <a:buFont typeface="Arial"/>
              <a:buNone/>
            </a:pPr>
            <a:r>
              <a:rPr b="1" i="0" lang="en-US" sz="2400" u="none" cap="none" strike="noStrike">
                <a:solidFill>
                  <a:srgbClr val="C55A11"/>
                </a:solidFill>
                <a:latin typeface="Carlito"/>
                <a:ea typeface="Carlito"/>
                <a:cs typeface="Carlito"/>
                <a:sym typeface="Carlito"/>
              </a:rPr>
              <a:t>Object Literals using {key : value}</a:t>
            </a:r>
            <a:endParaRPr b="0" i="0" sz="2400" u="none" cap="none" strike="noStrike">
              <a:solidFill>
                <a:schemeClr val="dk1"/>
              </a:solidFill>
              <a:latin typeface="Carlito"/>
              <a:ea typeface="Carlito"/>
              <a:cs typeface="Carlito"/>
              <a:sym typeface="Carlito"/>
            </a:endParaRPr>
          </a:p>
        </p:txBody>
      </p:sp>
      <p:sp>
        <p:nvSpPr>
          <p:cNvPr id="99" name="Google Shape;99;p3"/>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 name="Google Shape;100;p3"/>
          <p:cNvSpPr txBox="1"/>
          <p:nvPr/>
        </p:nvSpPr>
        <p:spPr>
          <a:xfrm>
            <a:off x="297900" y="5060275"/>
            <a:ext cx="11596200" cy="1493700"/>
          </a:xfrm>
          <a:prstGeom prst="rect">
            <a:avLst/>
          </a:prstGeom>
          <a:noFill/>
          <a:ln>
            <a:noFill/>
          </a:ln>
        </p:spPr>
        <p:txBody>
          <a:bodyPr anchorCtr="0" anchor="t" bIns="0" lIns="0" spcFirstLastPara="1" rIns="0" wrap="square" tIns="12700">
            <a:spAutoFit/>
          </a:bodyPr>
          <a:lstStyle/>
          <a:p>
            <a:pPr indent="-243203" lvl="0" marL="25527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Output is an alert stating: Aruna Srinivasan</a:t>
            </a:r>
            <a:endParaRPr b="0" i="0" sz="2400" u="none" cap="none" strike="noStrike">
              <a:solidFill>
                <a:schemeClr val="dk1"/>
              </a:solidFill>
              <a:latin typeface="Arial"/>
              <a:ea typeface="Arial"/>
              <a:cs typeface="Arial"/>
              <a:sym typeface="Arial"/>
            </a:endParaRPr>
          </a:p>
          <a:p>
            <a:pPr indent="-243203" lvl="0" marL="25527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Specifies object members and their values inside the curly brackets as  key-value pairs</a:t>
            </a:r>
            <a:endParaRPr b="0" i="0" sz="2400" u="none" cap="none" strike="noStrike">
              <a:solidFill>
                <a:schemeClr val="dk1"/>
              </a:solidFill>
              <a:latin typeface="Arial"/>
              <a:ea typeface="Arial"/>
              <a:cs typeface="Arial"/>
              <a:sym typeface="Arial"/>
            </a:endParaRPr>
          </a:p>
          <a:p>
            <a:pPr indent="-243204" lvl="0" marL="255270" marR="0" rtl="0" algn="l">
              <a:lnSpc>
                <a:spcPct val="100000"/>
              </a:lnSpc>
              <a:spcBef>
                <a:spcPts val="25"/>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 member and its value are delimited using colon (:) character.</a:t>
            </a:r>
            <a:endParaRPr b="0" i="0" sz="2400" u="none" cap="none" strike="noStrike">
              <a:solidFill>
                <a:schemeClr val="dk1"/>
              </a:solidFill>
              <a:latin typeface="Arial"/>
              <a:ea typeface="Arial"/>
              <a:cs typeface="Arial"/>
              <a:sym typeface="Arial"/>
            </a:endParaRPr>
          </a:p>
        </p:txBody>
      </p:sp>
      <p:sp>
        <p:nvSpPr>
          <p:cNvPr id="101" name="Google Shape;101;p3"/>
          <p:cNvSpPr/>
          <p:nvPr/>
        </p:nvSpPr>
        <p:spPr>
          <a:xfrm>
            <a:off x="543075" y="2186525"/>
            <a:ext cx="7205700" cy="2762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2" name="Google Shape;102;p3"/>
          <p:cNvPicPr preferRelativeResize="0"/>
          <p:nvPr/>
        </p:nvPicPr>
        <p:blipFill rotWithShape="1">
          <a:blip r:embed="rId4">
            <a:alphaModFix/>
          </a:blip>
          <a:srcRect b="0" l="0" r="0" t="0"/>
          <a:stretch/>
        </p:blipFill>
        <p:spPr>
          <a:xfrm>
            <a:off x="11125201" y="10586"/>
            <a:ext cx="887582" cy="1398963"/>
          </a:xfrm>
          <a:prstGeom prst="rect">
            <a:avLst/>
          </a:prstGeom>
          <a:noFill/>
          <a:ln>
            <a:noFill/>
          </a:ln>
        </p:spPr>
      </p:pic>
      <p:sp>
        <p:nvSpPr>
          <p:cNvPr id="103" name="Google Shape;103;p3"/>
          <p:cNvSpPr txBox="1"/>
          <p:nvPr/>
        </p:nvSpPr>
        <p:spPr>
          <a:xfrm>
            <a:off x="543075" y="1483975"/>
            <a:ext cx="57459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Common way to create a JS Object using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p4"/>
          <p:cNvSpPr txBox="1"/>
          <p:nvPr/>
        </p:nvSpPr>
        <p:spPr>
          <a:xfrm>
            <a:off x="450595" y="265557"/>
            <a:ext cx="5743575" cy="7493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Clr>
                <a:srgbClr val="000000"/>
              </a:buClr>
              <a:buSzPts val="2400"/>
              <a:buFont typeface="Arial"/>
              <a:buNone/>
            </a:pPr>
            <a:r>
              <a:rPr b="1" i="0" lang="en-US" sz="2400" u="none" cap="none" strike="noStrike">
                <a:solidFill>
                  <a:srgbClr val="2E5496"/>
                </a:solidFill>
                <a:latin typeface="Carlito"/>
                <a:ea typeface="Carlito"/>
                <a:cs typeface="Carlito"/>
                <a:sym typeface="Carlito"/>
              </a:rPr>
              <a:t>Javascript Objects</a:t>
            </a:r>
            <a:endParaRPr b="0" i="0" sz="2400" u="none" cap="none" strike="noStrike">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Clr>
                <a:srgbClr val="000000"/>
              </a:buClr>
              <a:buSzPts val="2400"/>
              <a:buFont typeface="Arial"/>
              <a:buNone/>
            </a:pPr>
            <a:r>
              <a:rPr b="1" i="0" lang="en-US" sz="2400" u="none" cap="none" strike="noStrike">
                <a:solidFill>
                  <a:srgbClr val="C55A11"/>
                </a:solidFill>
                <a:latin typeface="Carlito"/>
                <a:ea typeface="Carlito"/>
                <a:cs typeface="Carlito"/>
                <a:sym typeface="Carlito"/>
              </a:rPr>
              <a:t>Creating an object using function Constructor</a:t>
            </a:r>
            <a:endParaRPr b="0" i="0" sz="2400" u="none" cap="none" strike="noStrike">
              <a:solidFill>
                <a:schemeClr val="dk1"/>
              </a:solidFill>
              <a:latin typeface="Carlito"/>
              <a:ea typeface="Carlito"/>
              <a:cs typeface="Carlito"/>
              <a:sym typeface="Carlito"/>
            </a:endParaRPr>
          </a:p>
        </p:txBody>
      </p:sp>
      <p:sp>
        <p:nvSpPr>
          <p:cNvPr id="109" name="Google Shape;109;p4"/>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4"/>
          <p:cNvSpPr txBox="1"/>
          <p:nvPr/>
        </p:nvSpPr>
        <p:spPr>
          <a:xfrm>
            <a:off x="635033" y="4527810"/>
            <a:ext cx="7877700" cy="1860000"/>
          </a:xfrm>
          <a:prstGeom prst="rect">
            <a:avLst/>
          </a:prstGeom>
          <a:noFill/>
          <a:ln>
            <a:noFill/>
          </a:ln>
        </p:spPr>
        <p:txBody>
          <a:bodyPr anchorCtr="0" anchor="t" bIns="0" lIns="0" spcFirstLastPara="1" rIns="0" wrap="square" tIns="12700">
            <a:spAutoFit/>
          </a:bodyPr>
          <a:lstStyle/>
          <a:p>
            <a:pPr indent="-12700" lvl="0" marL="12700" marR="508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JavaScript functions are objects themselves. It can be called as a Constructor Function.</a:t>
            </a:r>
            <a:endParaRPr b="0" i="0" sz="2400" u="none" cap="none" strike="noStrike">
              <a:solidFill>
                <a:schemeClr val="dk1"/>
              </a:solidFill>
              <a:latin typeface="Arial"/>
              <a:ea typeface="Arial"/>
              <a:cs typeface="Arial"/>
              <a:sym typeface="Arial"/>
            </a:endParaRPr>
          </a:p>
          <a:p>
            <a:pPr indent="-12700" lvl="0" marL="12700" marR="164465"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Once the function constructor is created you create object of that function using new keyword.</a:t>
            </a:r>
            <a:endParaRPr b="0" i="0" sz="2400" u="none" cap="none" strike="noStrike">
              <a:solidFill>
                <a:schemeClr val="dk1"/>
              </a:solidFill>
              <a:latin typeface="Arial"/>
              <a:ea typeface="Arial"/>
              <a:cs typeface="Arial"/>
              <a:sym typeface="Arial"/>
            </a:endParaRPr>
          </a:p>
          <a:p>
            <a:pPr indent="-12700" lvl="0" marL="12700" marR="164465"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function name uses camel case convention</a:t>
            </a:r>
            <a:endParaRPr b="0" i="0" sz="2400" u="none" cap="none" strike="noStrike">
              <a:solidFill>
                <a:schemeClr val="dk1"/>
              </a:solidFill>
              <a:latin typeface="Arial"/>
              <a:ea typeface="Arial"/>
              <a:cs typeface="Arial"/>
              <a:sym typeface="Arial"/>
            </a:endParaRPr>
          </a:p>
        </p:txBody>
      </p:sp>
      <p:sp>
        <p:nvSpPr>
          <p:cNvPr id="111" name="Google Shape;111;p4"/>
          <p:cNvSpPr/>
          <p:nvPr/>
        </p:nvSpPr>
        <p:spPr>
          <a:xfrm>
            <a:off x="195262" y="1539598"/>
            <a:ext cx="8510524" cy="278411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2" name="Google Shape;112;p4"/>
          <p:cNvPicPr preferRelativeResize="0"/>
          <p:nvPr/>
        </p:nvPicPr>
        <p:blipFill rotWithShape="1">
          <a:blip r:embed="rId4">
            <a:alphaModFix/>
          </a:blip>
          <a:srcRect b="0" l="0" r="0" t="0"/>
          <a:stretch/>
        </p:blipFill>
        <p:spPr>
          <a:xfrm>
            <a:off x="11125201" y="10586"/>
            <a:ext cx="887582" cy="139896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6" name="Shape 116"/>
        <p:cNvGrpSpPr/>
        <p:nvPr/>
      </p:nvGrpSpPr>
      <p:grpSpPr>
        <a:xfrm>
          <a:off x="0" y="0"/>
          <a:ext cx="0" cy="0"/>
          <a:chOff x="0" y="0"/>
          <a:chExt cx="0" cy="0"/>
        </a:xfrm>
      </p:grpSpPr>
      <p:sp>
        <p:nvSpPr>
          <p:cNvPr id="117" name="Google Shape;117;p5"/>
          <p:cNvSpPr txBox="1"/>
          <p:nvPr/>
        </p:nvSpPr>
        <p:spPr>
          <a:xfrm>
            <a:off x="450595" y="265557"/>
            <a:ext cx="5734685" cy="7493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Clr>
                <a:srgbClr val="000000"/>
              </a:buClr>
              <a:buSzPts val="2400"/>
              <a:buFont typeface="Arial"/>
              <a:buNone/>
            </a:pPr>
            <a:r>
              <a:rPr b="1" i="0" lang="en-US" sz="2400" u="none" cap="none" strike="noStrike">
                <a:solidFill>
                  <a:srgbClr val="2E5496"/>
                </a:solidFill>
                <a:latin typeface="Carlito"/>
                <a:ea typeface="Carlito"/>
                <a:cs typeface="Carlito"/>
                <a:sym typeface="Carlito"/>
              </a:rPr>
              <a:t>Javascript Objects</a:t>
            </a:r>
            <a:endParaRPr b="0" i="0" sz="2400" u="none" cap="none" strike="noStrike">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Clr>
                <a:srgbClr val="000000"/>
              </a:buClr>
              <a:buSzPts val="2400"/>
              <a:buFont typeface="Arial"/>
              <a:buNone/>
            </a:pPr>
            <a:r>
              <a:rPr b="1" i="0" lang="en-US" sz="2400" u="none" cap="none" strike="noStrike">
                <a:solidFill>
                  <a:srgbClr val="C55A11"/>
                </a:solidFill>
                <a:latin typeface="Carlito"/>
                <a:ea typeface="Carlito"/>
                <a:cs typeface="Carlito"/>
                <a:sym typeface="Carlito"/>
              </a:rPr>
              <a:t>Creating an object using anonymous function</a:t>
            </a:r>
            <a:endParaRPr b="0" i="0" sz="2400" u="none" cap="none" strike="noStrike">
              <a:solidFill>
                <a:schemeClr val="dk1"/>
              </a:solidFill>
              <a:latin typeface="Carlito"/>
              <a:ea typeface="Carlito"/>
              <a:cs typeface="Carlito"/>
              <a:sym typeface="Carlito"/>
            </a:endParaRPr>
          </a:p>
        </p:txBody>
      </p:sp>
      <p:sp>
        <p:nvSpPr>
          <p:cNvPr id="118" name="Google Shape;118;p5"/>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5"/>
          <p:cNvSpPr/>
          <p:nvPr/>
        </p:nvSpPr>
        <p:spPr>
          <a:xfrm>
            <a:off x="204787" y="1605025"/>
            <a:ext cx="7462774" cy="248754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5"/>
          <p:cNvSpPr txBox="1"/>
          <p:nvPr/>
        </p:nvSpPr>
        <p:spPr>
          <a:xfrm>
            <a:off x="311863" y="4682750"/>
            <a:ext cx="7248600" cy="1490400"/>
          </a:xfrm>
          <a:prstGeom prst="rect">
            <a:avLst/>
          </a:prstGeom>
          <a:noFill/>
          <a:ln>
            <a:noFill/>
          </a:ln>
        </p:spPr>
        <p:txBody>
          <a:bodyPr anchorCtr="0" anchor="t" bIns="0" lIns="0" spcFirstLastPara="1" rIns="0" wrap="square" tIns="12700">
            <a:spAutoFit/>
          </a:bodyPr>
          <a:lstStyle/>
          <a:p>
            <a:pPr indent="-346075" lvl="0" marL="35814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Two steps are performed here</a:t>
            </a:r>
            <a:endParaRPr b="0" i="0" sz="2400" u="none" cap="none" strike="noStrike">
              <a:solidFill>
                <a:schemeClr val="dk1"/>
              </a:solidFill>
              <a:latin typeface="Arial"/>
              <a:ea typeface="Arial"/>
              <a:cs typeface="Arial"/>
              <a:sym typeface="Arial"/>
            </a:endParaRPr>
          </a:p>
          <a:p>
            <a:pPr indent="-291465" lvl="1" marL="760730" marR="0" rtl="0" algn="l">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Firstly, it creates an anonymous constructor function</a:t>
            </a:r>
            <a:endParaRPr b="0" i="0" sz="2400" u="none" cap="none" strike="noStrike">
              <a:solidFill>
                <a:schemeClr val="dk1"/>
              </a:solidFill>
              <a:latin typeface="Arial"/>
              <a:ea typeface="Arial"/>
              <a:cs typeface="Arial"/>
              <a:sym typeface="Arial"/>
            </a:endParaRPr>
          </a:p>
          <a:p>
            <a:pPr indent="-291465" lvl="1" marL="760730" marR="0" rtl="0" algn="l">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Secondly, it calls new on it to create its object.</a:t>
            </a:r>
            <a:endParaRPr b="0" i="0" sz="2400" u="none" cap="none" strike="noStrike">
              <a:solidFill>
                <a:schemeClr val="dk1"/>
              </a:solidFill>
              <a:latin typeface="Arial"/>
              <a:ea typeface="Arial"/>
              <a:cs typeface="Arial"/>
              <a:sym typeface="Arial"/>
            </a:endParaRPr>
          </a:p>
        </p:txBody>
      </p:sp>
      <p:pic>
        <p:nvPicPr>
          <p:cNvPr id="121" name="Google Shape;121;p5"/>
          <p:cNvPicPr preferRelativeResize="0"/>
          <p:nvPr/>
        </p:nvPicPr>
        <p:blipFill rotWithShape="1">
          <a:blip r:embed="rId4">
            <a:alphaModFix/>
          </a:blip>
          <a:srcRect b="0" l="0" r="0" t="0"/>
          <a:stretch/>
        </p:blipFill>
        <p:spPr>
          <a:xfrm>
            <a:off x="11125201" y="10586"/>
            <a:ext cx="887582" cy="13989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5" name="Shape 125"/>
        <p:cNvGrpSpPr/>
        <p:nvPr/>
      </p:nvGrpSpPr>
      <p:grpSpPr>
        <a:xfrm>
          <a:off x="0" y="0"/>
          <a:ext cx="0" cy="0"/>
          <a:chOff x="0" y="0"/>
          <a:chExt cx="0" cy="0"/>
        </a:xfrm>
      </p:grpSpPr>
      <p:sp>
        <p:nvSpPr>
          <p:cNvPr id="126" name="Google Shape;126;p6"/>
          <p:cNvSpPr txBox="1"/>
          <p:nvPr>
            <p:ph type="title"/>
          </p:nvPr>
        </p:nvSpPr>
        <p:spPr>
          <a:xfrm>
            <a:off x="450595" y="265557"/>
            <a:ext cx="2467610" cy="749300"/>
          </a:xfrm>
          <a:prstGeom prst="rect">
            <a:avLst/>
          </a:prstGeom>
          <a:noFill/>
          <a:ln>
            <a:noFill/>
          </a:ln>
        </p:spPr>
        <p:txBody>
          <a:bodyPr anchorCtr="0" anchor="t" bIns="0" lIns="0" spcFirstLastPara="1" rIns="0" wrap="square" tIns="31100">
            <a:spAutoFit/>
          </a:bodyPr>
          <a:lstStyle/>
          <a:p>
            <a:pPr indent="20955" lvl="0" marL="12700" marR="5080" rtl="0" algn="l">
              <a:lnSpc>
                <a:spcPct val="117499"/>
              </a:lnSpc>
              <a:spcBef>
                <a:spcPts val="0"/>
              </a:spcBef>
              <a:spcAft>
                <a:spcPts val="0"/>
              </a:spcAft>
              <a:buSzPts val="1400"/>
              <a:buNone/>
            </a:pPr>
            <a:r>
              <a:rPr lang="en-US" sz="2400">
                <a:solidFill>
                  <a:srgbClr val="2E5496"/>
                </a:solidFill>
              </a:rPr>
              <a:t>Javascript Objects  </a:t>
            </a:r>
            <a:r>
              <a:rPr lang="en-US" sz="2400"/>
              <a:t>Prototype property</a:t>
            </a:r>
            <a:endParaRPr sz="2400"/>
          </a:p>
        </p:txBody>
      </p:sp>
      <p:sp>
        <p:nvSpPr>
          <p:cNvPr id="127" name="Google Shape;127;p6"/>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6"/>
          <p:cNvSpPr txBox="1"/>
          <p:nvPr/>
        </p:nvSpPr>
        <p:spPr>
          <a:xfrm>
            <a:off x="318008" y="1616455"/>
            <a:ext cx="9438600" cy="3354300"/>
          </a:xfrm>
          <a:prstGeom prst="rect">
            <a:avLst/>
          </a:prstGeom>
          <a:noFill/>
          <a:ln>
            <a:noFill/>
          </a:ln>
        </p:spPr>
        <p:txBody>
          <a:bodyPr anchorCtr="0" anchor="t" bIns="0" lIns="0" spcFirstLastPara="1" rIns="0" wrap="square" tIns="12700">
            <a:spAutoFit/>
          </a:bodyPr>
          <a:lstStyle/>
          <a:p>
            <a:pPr indent="-346075" lvl="0" marL="35814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Prototype property of an object holds the structure of that object</a:t>
            </a:r>
            <a:endParaRPr b="0" i="0" sz="2400" u="none" cap="none" strike="noStrike">
              <a:solidFill>
                <a:schemeClr val="dk1"/>
              </a:solidFill>
              <a:latin typeface="Arial"/>
              <a:ea typeface="Arial"/>
              <a:cs typeface="Arial"/>
              <a:sym typeface="Arial"/>
            </a:endParaRPr>
          </a:p>
          <a:p>
            <a:pPr indent="-346075" lvl="0" marL="35814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It is shared by all object instances created using that constructor</a:t>
            </a:r>
            <a:endParaRPr b="0" i="0" sz="2400" u="none" cap="none" strike="noStrike">
              <a:solidFill>
                <a:schemeClr val="dk1"/>
              </a:solidFill>
              <a:latin typeface="Arial"/>
              <a:ea typeface="Arial"/>
              <a:cs typeface="Arial"/>
              <a:sym typeface="Arial"/>
            </a:endParaRPr>
          </a:p>
          <a:p>
            <a:pPr indent="-346075" lvl="0" marL="358140" marR="508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This can be used to modify/add properties to all instances after they have been created</a:t>
            </a:r>
            <a:endParaRPr b="0" i="0" sz="2400" u="none" cap="none" strike="noStrike">
              <a:solidFill>
                <a:schemeClr val="dk1"/>
              </a:solidFill>
              <a:latin typeface="Arial"/>
              <a:ea typeface="Arial"/>
              <a:cs typeface="Arial"/>
              <a:sym typeface="Arial"/>
            </a:endParaRPr>
          </a:p>
          <a:p>
            <a:pPr indent="-346075" lvl="0" marL="358140" marR="668655" rtl="0" algn="l">
              <a:lnSpc>
                <a:spcPct val="100000"/>
              </a:lnSpc>
              <a:spcBef>
                <a:spcPts val="5"/>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Methods should be added to prototype since only one copy of the method is created. If methods are added to constructor, each object instance holds its own copy of the method.</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5"/>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Employee.prototype.showName = function(){…}</a:t>
            </a:r>
            <a:endParaRPr b="0" i="0" sz="2400" u="none" cap="none" strike="noStrike">
              <a:solidFill>
                <a:schemeClr val="dk1"/>
              </a:solidFill>
              <a:latin typeface="Arial"/>
              <a:ea typeface="Arial"/>
              <a:cs typeface="Arial"/>
              <a:sym typeface="Arial"/>
            </a:endParaRPr>
          </a:p>
        </p:txBody>
      </p:sp>
      <p:pic>
        <p:nvPicPr>
          <p:cNvPr id="129" name="Google Shape;129;p6"/>
          <p:cNvPicPr preferRelativeResize="0"/>
          <p:nvPr/>
        </p:nvPicPr>
        <p:blipFill rotWithShape="1">
          <a:blip r:embed="rId3">
            <a:alphaModFix/>
          </a:blip>
          <a:srcRect b="0" l="0" r="0" t="0"/>
          <a:stretch/>
        </p:blipFill>
        <p:spPr>
          <a:xfrm>
            <a:off x="11125201" y="-66532"/>
            <a:ext cx="887582" cy="13989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838200" y="720451"/>
            <a:ext cx="10515600" cy="7749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1400"/>
              <a:buNone/>
            </a:pPr>
            <a:r>
              <a:rPr b="1" lang="en-US" sz="2400">
                <a:solidFill>
                  <a:srgbClr val="953734"/>
                </a:solidFill>
                <a:latin typeface="Calibri"/>
                <a:ea typeface="Calibri"/>
                <a:cs typeface="Calibri"/>
                <a:sym typeface="Calibri"/>
              </a:rPr>
              <a:t>Prototype property</a:t>
            </a:r>
            <a:endParaRPr/>
          </a:p>
        </p:txBody>
      </p:sp>
      <p:pic>
        <p:nvPicPr>
          <p:cNvPr id="135" name="Google Shape;135;p7"/>
          <p:cNvPicPr preferRelativeResize="0"/>
          <p:nvPr>
            <p:ph idx="1" type="body"/>
          </p:nvPr>
        </p:nvPicPr>
        <p:blipFill rotWithShape="1">
          <a:blip r:embed="rId3">
            <a:alphaModFix/>
          </a:blip>
          <a:srcRect b="0" l="0" r="0" t="0"/>
          <a:stretch/>
        </p:blipFill>
        <p:spPr>
          <a:xfrm>
            <a:off x="1594695" y="1707037"/>
            <a:ext cx="8410500" cy="4835400"/>
          </a:xfrm>
          <a:prstGeom prst="rect">
            <a:avLst/>
          </a:prstGeom>
          <a:noFill/>
          <a:ln>
            <a:noFill/>
          </a:ln>
        </p:spPr>
      </p:pic>
      <p:cxnSp>
        <p:nvCxnSpPr>
          <p:cNvPr id="136" name="Google Shape;136;p7"/>
          <p:cNvCxnSpPr/>
          <p:nvPr/>
        </p:nvCxnSpPr>
        <p:spPr>
          <a:xfrm>
            <a:off x="0" y="1316458"/>
            <a:ext cx="8300052" cy="0"/>
          </a:xfrm>
          <a:prstGeom prst="straightConnector1">
            <a:avLst/>
          </a:prstGeom>
          <a:noFill/>
          <a:ln cap="flat" cmpd="sng" w="38100">
            <a:solidFill>
              <a:srgbClr val="953734"/>
            </a:solidFill>
            <a:prstDash val="solid"/>
            <a:round/>
            <a:headEnd len="sm" w="sm" type="none"/>
            <a:tailEnd len="sm" w="sm" type="none"/>
          </a:ln>
        </p:spPr>
      </p:cxnSp>
      <p:sp>
        <p:nvSpPr>
          <p:cNvPr id="137" name="Google Shape;137;p7"/>
          <p:cNvSpPr txBox="1"/>
          <p:nvPr/>
        </p:nvSpPr>
        <p:spPr>
          <a:xfrm>
            <a:off x="719750" y="154565"/>
            <a:ext cx="609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366092"/>
                </a:solidFill>
                <a:latin typeface="Calibri"/>
                <a:ea typeface="Calibri"/>
                <a:cs typeface="Calibri"/>
                <a:sym typeface="Calibri"/>
              </a:rPr>
              <a:t>Javascript Objects</a:t>
            </a:r>
            <a:endParaRPr b="0" i="0" sz="1400" u="none" cap="none" strike="noStrike">
              <a:solidFill>
                <a:srgbClr val="000000"/>
              </a:solidFill>
              <a:latin typeface="Arial"/>
              <a:ea typeface="Arial"/>
              <a:cs typeface="Arial"/>
              <a:sym typeface="Arial"/>
            </a:endParaRPr>
          </a:p>
        </p:txBody>
      </p:sp>
      <p:pic>
        <p:nvPicPr>
          <p:cNvPr id="138" name="Google Shape;138;p7"/>
          <p:cNvPicPr preferRelativeResize="0"/>
          <p:nvPr/>
        </p:nvPicPr>
        <p:blipFill rotWithShape="1">
          <a:blip r:embed="rId4">
            <a:alphaModFix/>
          </a:blip>
          <a:srcRect b="0" l="0" r="0" t="0"/>
          <a:stretch/>
        </p:blipFill>
        <p:spPr>
          <a:xfrm>
            <a:off x="11125201" y="-66532"/>
            <a:ext cx="887582" cy="13989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txBox="1"/>
          <p:nvPr>
            <p:ph type="title"/>
          </p:nvPr>
        </p:nvSpPr>
        <p:spPr>
          <a:xfrm>
            <a:off x="891450" y="539551"/>
            <a:ext cx="10515600" cy="7749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1400"/>
              <a:buNone/>
            </a:pPr>
            <a:r>
              <a:rPr b="1" lang="en-US" sz="2400">
                <a:solidFill>
                  <a:srgbClr val="953734"/>
                </a:solidFill>
                <a:latin typeface="Calibri"/>
                <a:ea typeface="Calibri"/>
                <a:cs typeface="Calibri"/>
                <a:sym typeface="Calibri"/>
              </a:rPr>
              <a:t>Prototype property</a:t>
            </a:r>
            <a:endParaRPr/>
          </a:p>
        </p:txBody>
      </p:sp>
      <p:cxnSp>
        <p:nvCxnSpPr>
          <p:cNvPr id="144" name="Google Shape;144;p8"/>
          <p:cNvCxnSpPr/>
          <p:nvPr/>
        </p:nvCxnSpPr>
        <p:spPr>
          <a:xfrm>
            <a:off x="0" y="1316458"/>
            <a:ext cx="8300052" cy="0"/>
          </a:xfrm>
          <a:prstGeom prst="straightConnector1">
            <a:avLst/>
          </a:prstGeom>
          <a:noFill/>
          <a:ln cap="flat" cmpd="sng" w="38100">
            <a:solidFill>
              <a:srgbClr val="953734"/>
            </a:solidFill>
            <a:prstDash val="solid"/>
            <a:round/>
            <a:headEnd len="sm" w="sm" type="none"/>
            <a:tailEnd len="sm" w="sm" type="none"/>
          </a:ln>
        </p:spPr>
      </p:cxnSp>
      <p:sp>
        <p:nvSpPr>
          <p:cNvPr id="145" name="Google Shape;145;p8"/>
          <p:cNvSpPr txBox="1"/>
          <p:nvPr/>
        </p:nvSpPr>
        <p:spPr>
          <a:xfrm>
            <a:off x="838200" y="77877"/>
            <a:ext cx="609771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366092"/>
                </a:solidFill>
                <a:latin typeface="Calibri"/>
                <a:ea typeface="Calibri"/>
                <a:cs typeface="Calibri"/>
                <a:sym typeface="Calibri"/>
              </a:rPr>
              <a:t>Javascript Objects</a:t>
            </a:r>
            <a:endParaRPr b="0" i="0" sz="1400" u="none" cap="none" strike="noStrike">
              <a:solidFill>
                <a:srgbClr val="000000"/>
              </a:solidFill>
              <a:latin typeface="Arial"/>
              <a:ea typeface="Arial"/>
              <a:cs typeface="Arial"/>
              <a:sym typeface="Arial"/>
            </a:endParaRPr>
          </a:p>
        </p:txBody>
      </p:sp>
      <p:pic>
        <p:nvPicPr>
          <p:cNvPr id="146" name="Google Shape;146;p8"/>
          <p:cNvPicPr preferRelativeResize="0"/>
          <p:nvPr>
            <p:ph idx="1" type="body"/>
          </p:nvPr>
        </p:nvPicPr>
        <p:blipFill rotWithShape="1">
          <a:blip r:embed="rId3">
            <a:alphaModFix/>
          </a:blip>
          <a:srcRect b="0" l="0" r="0" t="0"/>
          <a:stretch/>
        </p:blipFill>
        <p:spPr>
          <a:xfrm>
            <a:off x="891443" y="4435381"/>
            <a:ext cx="5991300" cy="1714500"/>
          </a:xfrm>
          <a:prstGeom prst="rect">
            <a:avLst/>
          </a:prstGeom>
          <a:noFill/>
          <a:ln>
            <a:noFill/>
          </a:ln>
        </p:spPr>
      </p:pic>
      <p:pic>
        <p:nvPicPr>
          <p:cNvPr id="147" name="Google Shape;147;p8"/>
          <p:cNvPicPr preferRelativeResize="0"/>
          <p:nvPr/>
        </p:nvPicPr>
        <p:blipFill rotWithShape="1">
          <a:blip r:embed="rId4">
            <a:alphaModFix/>
          </a:blip>
          <a:srcRect b="0" l="0" r="0" t="0"/>
          <a:stretch/>
        </p:blipFill>
        <p:spPr>
          <a:xfrm>
            <a:off x="656983" y="1663540"/>
            <a:ext cx="10487025" cy="1647825"/>
          </a:xfrm>
          <a:prstGeom prst="rect">
            <a:avLst/>
          </a:prstGeom>
          <a:noFill/>
          <a:ln>
            <a:noFill/>
          </a:ln>
        </p:spPr>
      </p:pic>
      <p:sp>
        <p:nvSpPr>
          <p:cNvPr id="148" name="Google Shape;148;p8"/>
          <p:cNvSpPr txBox="1"/>
          <p:nvPr/>
        </p:nvSpPr>
        <p:spPr>
          <a:xfrm>
            <a:off x="838207" y="3532140"/>
            <a:ext cx="90414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Verdana"/>
                <a:ea typeface="Verdana"/>
                <a:cs typeface="Verdana"/>
                <a:sym typeface="Verdana"/>
              </a:rPr>
              <a:t>JavaScript </a:t>
            </a:r>
            <a:r>
              <a:rPr b="0" i="0" lang="en-US" sz="1800" u="none" cap="none" strike="noStrike">
                <a:solidFill>
                  <a:srgbClr val="DC143C"/>
                </a:solidFill>
                <a:latin typeface="Consolas"/>
                <a:ea typeface="Consolas"/>
                <a:cs typeface="Consolas"/>
                <a:sym typeface="Consolas"/>
              </a:rPr>
              <a:t>prototype</a:t>
            </a:r>
            <a:r>
              <a:rPr b="0" i="0" lang="en-US" sz="1800" u="none" cap="none" strike="noStrike">
                <a:solidFill>
                  <a:srgbClr val="000000"/>
                </a:solidFill>
                <a:latin typeface="Verdana"/>
                <a:ea typeface="Verdana"/>
                <a:cs typeface="Verdana"/>
                <a:sym typeface="Verdana"/>
              </a:rPr>
              <a:t> property allows you to add new properties to object constructors:</a:t>
            </a:r>
            <a:r>
              <a:rPr b="0" i="0" lang="en-US" sz="1100" u="none" cap="none" strike="noStrike">
                <a:solidFill>
                  <a:schemeClr val="dk1"/>
                </a:solidFill>
                <a:latin typeface="Calibri"/>
                <a:ea typeface="Calibri"/>
                <a:cs typeface="Calibri"/>
                <a:sym typeface="Calibri"/>
              </a:rPr>
              <a:t> </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B1B1B"/>
                </a:solidFill>
                <a:latin typeface="Arial"/>
                <a:ea typeface="Arial"/>
                <a:cs typeface="Arial"/>
                <a:sym typeface="Arial"/>
              </a:rPr>
              <a:t> </a:t>
            </a:r>
            <a:r>
              <a:rPr b="0" i="0" lang="en-US" sz="1050" u="none" cap="none" strike="noStrike">
                <a:solidFill>
                  <a:schemeClr val="dk1"/>
                </a:solidFill>
                <a:latin typeface="Calibri"/>
                <a:ea typeface="Calibri"/>
                <a:cs typeface="Calibri"/>
                <a:sym typeface="Calibri"/>
              </a:rPr>
              <a:t>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49" name="Google Shape;149;p8"/>
          <p:cNvPicPr preferRelativeResize="0"/>
          <p:nvPr/>
        </p:nvPicPr>
        <p:blipFill rotWithShape="1">
          <a:blip r:embed="rId5">
            <a:alphaModFix/>
          </a:blip>
          <a:srcRect b="0" l="0" r="0" t="0"/>
          <a:stretch/>
        </p:blipFill>
        <p:spPr>
          <a:xfrm>
            <a:off x="11125201" y="-66532"/>
            <a:ext cx="887582"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type="title"/>
          </p:nvPr>
        </p:nvSpPr>
        <p:spPr>
          <a:xfrm>
            <a:off x="838200" y="656176"/>
            <a:ext cx="10515600" cy="7749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1400"/>
              <a:buNone/>
            </a:pPr>
            <a:r>
              <a:rPr b="1" lang="en-US" sz="2400">
                <a:solidFill>
                  <a:srgbClr val="953734"/>
                </a:solidFill>
                <a:latin typeface="Calibri"/>
                <a:ea typeface="Calibri"/>
                <a:cs typeface="Calibri"/>
                <a:sym typeface="Calibri"/>
              </a:rPr>
              <a:t>Prototype property</a:t>
            </a:r>
            <a:endParaRPr/>
          </a:p>
        </p:txBody>
      </p:sp>
      <p:cxnSp>
        <p:nvCxnSpPr>
          <p:cNvPr id="155" name="Google Shape;155;p9"/>
          <p:cNvCxnSpPr/>
          <p:nvPr/>
        </p:nvCxnSpPr>
        <p:spPr>
          <a:xfrm>
            <a:off x="0" y="1316458"/>
            <a:ext cx="8300052" cy="0"/>
          </a:xfrm>
          <a:prstGeom prst="straightConnector1">
            <a:avLst/>
          </a:prstGeom>
          <a:noFill/>
          <a:ln cap="flat" cmpd="sng" w="38100">
            <a:solidFill>
              <a:srgbClr val="953734"/>
            </a:solidFill>
            <a:prstDash val="solid"/>
            <a:round/>
            <a:headEnd len="sm" w="sm" type="none"/>
            <a:tailEnd len="sm" w="sm" type="none"/>
          </a:ln>
        </p:spPr>
      </p:cxnSp>
      <p:sp>
        <p:nvSpPr>
          <p:cNvPr id="156" name="Google Shape;156;p9"/>
          <p:cNvSpPr txBox="1"/>
          <p:nvPr/>
        </p:nvSpPr>
        <p:spPr>
          <a:xfrm>
            <a:off x="838200" y="77877"/>
            <a:ext cx="609771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366092"/>
                </a:solidFill>
                <a:latin typeface="Calibri"/>
                <a:ea typeface="Calibri"/>
                <a:cs typeface="Calibri"/>
                <a:sym typeface="Calibri"/>
              </a:rPr>
              <a:t>Javascript Objects</a:t>
            </a:r>
            <a:endParaRPr b="0" i="0" sz="1400" u="none" cap="none" strike="noStrike">
              <a:solidFill>
                <a:srgbClr val="000000"/>
              </a:solidFill>
              <a:latin typeface="Arial"/>
              <a:ea typeface="Arial"/>
              <a:cs typeface="Arial"/>
              <a:sym typeface="Arial"/>
            </a:endParaRPr>
          </a:p>
        </p:txBody>
      </p:sp>
      <p:pic>
        <p:nvPicPr>
          <p:cNvPr id="157" name="Google Shape;157;p9"/>
          <p:cNvPicPr preferRelativeResize="0"/>
          <p:nvPr/>
        </p:nvPicPr>
        <p:blipFill rotWithShape="1">
          <a:blip r:embed="rId3">
            <a:alphaModFix/>
          </a:blip>
          <a:srcRect b="0" l="0" r="0" t="0"/>
          <a:stretch/>
        </p:blipFill>
        <p:spPr>
          <a:xfrm>
            <a:off x="755298" y="2155387"/>
            <a:ext cx="8300052" cy="3958313"/>
          </a:xfrm>
          <a:prstGeom prst="rect">
            <a:avLst/>
          </a:prstGeom>
          <a:noFill/>
          <a:ln>
            <a:noFill/>
          </a:ln>
        </p:spPr>
      </p:pic>
      <p:pic>
        <p:nvPicPr>
          <p:cNvPr id="158" name="Google Shape;158;p9"/>
          <p:cNvPicPr preferRelativeResize="0"/>
          <p:nvPr/>
        </p:nvPicPr>
        <p:blipFill rotWithShape="1">
          <a:blip r:embed="rId4">
            <a:alphaModFix/>
          </a:blip>
          <a:srcRect b="0" l="0" r="0" t="0"/>
          <a:stretch/>
        </p:blipFill>
        <p:spPr>
          <a:xfrm>
            <a:off x="11125201" y="-66532"/>
            <a:ext cx="887582" cy="1398963"/>
          </a:xfrm>
          <a:prstGeom prst="rect">
            <a:avLst/>
          </a:prstGeom>
          <a:noFill/>
          <a:ln>
            <a:noFill/>
          </a:ln>
        </p:spPr>
      </p:pic>
      <p:sp>
        <p:nvSpPr>
          <p:cNvPr id="159" name="Google Shape;159;p9"/>
          <p:cNvSpPr txBox="1"/>
          <p:nvPr/>
        </p:nvSpPr>
        <p:spPr>
          <a:xfrm>
            <a:off x="676450" y="1547700"/>
            <a:ext cx="822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Code to add a new function to the prototype of object Person</a:t>
            </a:r>
            <a:endParaRPr b="0" i="0" sz="2400" u="none" cap="none" strike="noStrike">
              <a:solidFill>
                <a:schemeClr val="dk1"/>
              </a:solidFill>
              <a:latin typeface="Calibri"/>
              <a:ea typeface="Calibri"/>
              <a:cs typeface="Calibri"/>
              <a:sym typeface="Calibri"/>
            </a:endParaRPr>
          </a:p>
        </p:txBody>
      </p:sp>
      <p:sp>
        <p:nvSpPr>
          <p:cNvPr id="160" name="Google Shape;160;p9"/>
          <p:cNvSpPr txBox="1"/>
          <p:nvPr/>
        </p:nvSpPr>
        <p:spPr>
          <a:xfrm>
            <a:off x="826355" y="6273675"/>
            <a:ext cx="6822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Output: John Doe (in the web page)</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4" name="Shape 164"/>
        <p:cNvGrpSpPr/>
        <p:nvPr/>
      </p:nvGrpSpPr>
      <p:grpSpPr>
        <a:xfrm>
          <a:off x="0" y="0"/>
          <a:ext cx="0" cy="0"/>
          <a:chOff x="0" y="0"/>
          <a:chExt cx="0" cy="0"/>
        </a:xfrm>
      </p:grpSpPr>
      <p:sp>
        <p:nvSpPr>
          <p:cNvPr id="165" name="Google Shape;165;p10"/>
          <p:cNvSpPr txBox="1"/>
          <p:nvPr/>
        </p:nvSpPr>
        <p:spPr>
          <a:xfrm>
            <a:off x="450600" y="265550"/>
            <a:ext cx="7841100" cy="8208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Clr>
                <a:srgbClr val="000000"/>
              </a:buClr>
              <a:buSzPts val="2400"/>
              <a:buFont typeface="Arial"/>
              <a:buNone/>
            </a:pPr>
            <a:r>
              <a:rPr b="1" i="0" lang="en-US" sz="2400" u="none" cap="none" strike="noStrike">
                <a:solidFill>
                  <a:srgbClr val="2E5496"/>
                </a:solidFill>
                <a:latin typeface="Carlito"/>
                <a:ea typeface="Carlito"/>
                <a:cs typeface="Carlito"/>
                <a:sym typeface="Carlito"/>
              </a:rPr>
              <a:t>Javascript Objects</a:t>
            </a:r>
            <a:endParaRPr b="0" i="0" sz="2400" u="none" cap="none" strike="noStrike">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Clr>
                <a:srgbClr val="000000"/>
              </a:buClr>
              <a:buSzPts val="2400"/>
              <a:buFont typeface="Arial"/>
              <a:buNone/>
            </a:pPr>
            <a:r>
              <a:rPr b="1" i="0" lang="en-US" sz="2400" u="none" cap="none" strike="noStrike">
                <a:solidFill>
                  <a:srgbClr val="C55A11"/>
                </a:solidFill>
                <a:latin typeface="Carlito"/>
                <a:ea typeface="Carlito"/>
                <a:cs typeface="Carlito"/>
                <a:sym typeface="Carlito"/>
              </a:rPr>
              <a:t>Creating an object using EcmaScript 6 Class Keyword</a:t>
            </a:r>
            <a:endParaRPr b="0" i="0" sz="2400" u="none" cap="none" strike="noStrike">
              <a:solidFill>
                <a:schemeClr val="dk1"/>
              </a:solidFill>
              <a:latin typeface="Carlito"/>
              <a:ea typeface="Carlito"/>
              <a:cs typeface="Carlito"/>
              <a:sym typeface="Carlito"/>
            </a:endParaRPr>
          </a:p>
        </p:txBody>
      </p:sp>
      <p:grpSp>
        <p:nvGrpSpPr>
          <p:cNvPr id="166" name="Google Shape;166;p10"/>
          <p:cNvGrpSpPr/>
          <p:nvPr/>
        </p:nvGrpSpPr>
        <p:grpSpPr>
          <a:xfrm>
            <a:off x="0" y="1629082"/>
            <a:ext cx="8291830" cy="2693543"/>
            <a:chOff x="0" y="1297432"/>
            <a:chExt cx="8291830" cy="2693543"/>
          </a:xfrm>
        </p:grpSpPr>
        <p:sp>
          <p:nvSpPr>
            <p:cNvPr id="167" name="Google Shape;167;p10"/>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p10"/>
            <p:cNvSpPr/>
            <p:nvPr/>
          </p:nvSpPr>
          <p:spPr>
            <a:xfrm>
              <a:off x="161925" y="1362075"/>
              <a:ext cx="7258050" cy="26289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9" name="Google Shape;169;p10"/>
          <p:cNvSpPr txBox="1"/>
          <p:nvPr/>
        </p:nvSpPr>
        <p:spPr>
          <a:xfrm>
            <a:off x="450600" y="4637450"/>
            <a:ext cx="11204100" cy="1860000"/>
          </a:xfrm>
          <a:prstGeom prst="rect">
            <a:avLst/>
          </a:prstGeom>
          <a:noFill/>
          <a:ln>
            <a:noFill/>
          </a:ln>
        </p:spPr>
        <p:txBody>
          <a:bodyPr anchorCtr="0" anchor="t" bIns="0" lIns="0" spcFirstLastPara="1" rIns="0" wrap="square" tIns="12700">
            <a:spAutoFit/>
          </a:bodyPr>
          <a:lstStyle/>
          <a:p>
            <a:pPr indent="-242569" lvl="0" marL="254634"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Output:</a:t>
            </a:r>
            <a:endParaRPr b="0" i="0" sz="2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Before change, An alert stating: Aruna Srinivasan</a:t>
            </a:r>
            <a:endParaRPr b="0" i="0" sz="2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After change, An alert stating: Sanvi Srinivasan </a:t>
            </a:r>
            <a:endParaRPr b="0" i="0" sz="2400" u="none" cap="none" strike="noStrike">
              <a:solidFill>
                <a:schemeClr val="dk1"/>
              </a:solidFill>
              <a:latin typeface="Arial"/>
              <a:ea typeface="Arial"/>
              <a:cs typeface="Arial"/>
              <a:sym typeface="Arial"/>
            </a:endParaRPr>
          </a:p>
          <a:p>
            <a:pPr indent="-242569" lvl="0" marL="254634"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Class is first defined, then the objects of the class are created.</a:t>
            </a:r>
            <a:endParaRPr b="0" i="0" sz="2400" u="none" cap="none" strike="noStrike">
              <a:solidFill>
                <a:schemeClr val="dk1"/>
              </a:solidFill>
              <a:latin typeface="Arial"/>
              <a:ea typeface="Arial"/>
              <a:cs typeface="Arial"/>
              <a:sym typeface="Arial"/>
            </a:endParaRPr>
          </a:p>
          <a:p>
            <a:pPr indent="-254634" lvl="0" marL="254634" marR="508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It internally uses the constructor/prototype based approach of creating objects.</a:t>
            </a:r>
            <a:endParaRPr b="0" i="0" sz="2400" u="none" cap="none" strike="noStrike">
              <a:solidFill>
                <a:schemeClr val="dk1"/>
              </a:solidFill>
              <a:latin typeface="Arial"/>
              <a:ea typeface="Arial"/>
              <a:cs typeface="Arial"/>
              <a:sym typeface="Arial"/>
            </a:endParaRPr>
          </a:p>
        </p:txBody>
      </p:sp>
      <p:pic>
        <p:nvPicPr>
          <p:cNvPr id="170" name="Google Shape;170;p10"/>
          <p:cNvPicPr preferRelativeResize="0"/>
          <p:nvPr/>
        </p:nvPicPr>
        <p:blipFill rotWithShape="1">
          <a:blip r:embed="rId4">
            <a:alphaModFix/>
          </a:blip>
          <a:srcRect b="0" l="0" r="0" t="0"/>
          <a:stretch/>
        </p:blipFill>
        <p:spPr>
          <a:xfrm>
            <a:off x="11125201" y="10586"/>
            <a:ext cx="887582" cy="13989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id="175" name="Google Shape;175;p11"/>
          <p:cNvSpPr txBox="1"/>
          <p:nvPr/>
        </p:nvSpPr>
        <p:spPr>
          <a:xfrm>
            <a:off x="450600" y="265550"/>
            <a:ext cx="7841100" cy="8208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Clr>
                <a:srgbClr val="000000"/>
              </a:buClr>
              <a:buSzPts val="2400"/>
              <a:buFont typeface="Arial"/>
              <a:buNone/>
            </a:pPr>
            <a:r>
              <a:rPr b="1" i="0" lang="en-US" sz="2400" u="none" cap="none" strike="noStrike">
                <a:solidFill>
                  <a:srgbClr val="2E5496"/>
                </a:solidFill>
                <a:latin typeface="Carlito"/>
                <a:ea typeface="Carlito"/>
                <a:cs typeface="Carlito"/>
                <a:sym typeface="Carlito"/>
              </a:rPr>
              <a:t>Javascript Objects</a:t>
            </a:r>
            <a:endParaRPr b="0" i="0" sz="2400" u="none" cap="none" strike="noStrike">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Clr>
                <a:srgbClr val="000000"/>
              </a:buClr>
              <a:buSzPts val="2400"/>
              <a:buFont typeface="Arial"/>
              <a:buNone/>
            </a:pPr>
            <a:r>
              <a:rPr b="1" i="0" lang="en-US" sz="2400" u="none" cap="none" strike="noStrike">
                <a:solidFill>
                  <a:srgbClr val="C55A11"/>
                </a:solidFill>
                <a:latin typeface="Carlito"/>
                <a:ea typeface="Carlito"/>
                <a:cs typeface="Carlito"/>
                <a:sym typeface="Carlito"/>
              </a:rPr>
              <a:t>MCQ</a:t>
            </a:r>
            <a:endParaRPr b="0" i="0" sz="2400" u="none" cap="none" strike="noStrike">
              <a:solidFill>
                <a:schemeClr val="dk1"/>
              </a:solidFill>
              <a:latin typeface="Carlito"/>
              <a:ea typeface="Carlito"/>
              <a:cs typeface="Carlito"/>
              <a:sym typeface="Carlito"/>
            </a:endParaRPr>
          </a:p>
        </p:txBody>
      </p:sp>
      <p:pic>
        <p:nvPicPr>
          <p:cNvPr id="176" name="Google Shape;176;p11"/>
          <p:cNvPicPr preferRelativeResize="0"/>
          <p:nvPr/>
        </p:nvPicPr>
        <p:blipFill rotWithShape="1">
          <a:blip r:embed="rId3">
            <a:alphaModFix/>
          </a:blip>
          <a:srcRect b="0" l="0" r="0" t="0"/>
          <a:stretch/>
        </p:blipFill>
        <p:spPr>
          <a:xfrm>
            <a:off x="11125201" y="10586"/>
            <a:ext cx="887582" cy="1398963"/>
          </a:xfrm>
          <a:prstGeom prst="rect">
            <a:avLst/>
          </a:prstGeom>
          <a:noFill/>
          <a:ln>
            <a:noFill/>
          </a:ln>
        </p:spPr>
      </p:pic>
      <p:cxnSp>
        <p:nvCxnSpPr>
          <p:cNvPr id="177" name="Google Shape;177;p11"/>
          <p:cNvCxnSpPr/>
          <p:nvPr/>
        </p:nvCxnSpPr>
        <p:spPr>
          <a:xfrm>
            <a:off x="0" y="1316458"/>
            <a:ext cx="8300100" cy="0"/>
          </a:xfrm>
          <a:prstGeom prst="straightConnector1">
            <a:avLst/>
          </a:prstGeom>
          <a:noFill/>
          <a:ln cap="flat" cmpd="sng" w="38100">
            <a:solidFill>
              <a:srgbClr val="953734"/>
            </a:solidFill>
            <a:prstDash val="solid"/>
            <a:round/>
            <a:headEnd len="sm" w="sm" type="none"/>
            <a:tailEnd len="sm" w="sm" type="none"/>
          </a:ln>
        </p:spPr>
      </p:cxnSp>
      <p:sp>
        <p:nvSpPr>
          <p:cNvPr id="178" name="Google Shape;178;p11"/>
          <p:cNvSpPr txBox="1"/>
          <p:nvPr/>
        </p:nvSpPr>
        <p:spPr>
          <a:xfrm>
            <a:off x="450600" y="1684575"/>
            <a:ext cx="10862400" cy="35094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15000"/>
              </a:lnSpc>
              <a:spcBef>
                <a:spcPts val="0"/>
              </a:spcBef>
              <a:spcAft>
                <a:spcPts val="0"/>
              </a:spcAft>
              <a:buClr>
                <a:schemeClr val="dk1"/>
              </a:buClr>
              <a:buSzPts val="3200"/>
              <a:buFont typeface="Calibri"/>
              <a:buAutoNum type="arabicPeriod"/>
            </a:pPr>
            <a:r>
              <a:rPr b="0" i="0" lang="en-US" sz="3200" u="none" cap="none" strike="noStrike">
                <a:solidFill>
                  <a:schemeClr val="dk1"/>
                </a:solidFill>
                <a:latin typeface="Calibri"/>
                <a:ea typeface="Calibri"/>
                <a:cs typeface="Calibri"/>
                <a:sym typeface="Calibri"/>
              </a:rPr>
              <a:t>When a property value is a function, that property is called a:</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A. Field</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B. Accessor</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C. Method</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Closure</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2" name="Shape 182"/>
        <p:cNvGrpSpPr/>
        <p:nvPr/>
      </p:nvGrpSpPr>
      <p:grpSpPr>
        <a:xfrm>
          <a:off x="0" y="0"/>
          <a:ext cx="0" cy="0"/>
          <a:chOff x="0" y="0"/>
          <a:chExt cx="0" cy="0"/>
        </a:xfrm>
      </p:grpSpPr>
      <p:sp>
        <p:nvSpPr>
          <p:cNvPr id="183" name="Google Shape;183;p12"/>
          <p:cNvSpPr txBox="1"/>
          <p:nvPr/>
        </p:nvSpPr>
        <p:spPr>
          <a:xfrm>
            <a:off x="450600" y="265550"/>
            <a:ext cx="7841100" cy="8208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Clr>
                <a:srgbClr val="000000"/>
              </a:buClr>
              <a:buSzPts val="2400"/>
              <a:buFont typeface="Arial"/>
              <a:buNone/>
            </a:pPr>
            <a:r>
              <a:rPr b="1" i="0" lang="en-US" sz="2400" u="none" cap="none" strike="noStrike">
                <a:solidFill>
                  <a:srgbClr val="2E5496"/>
                </a:solidFill>
                <a:latin typeface="Carlito"/>
                <a:ea typeface="Carlito"/>
                <a:cs typeface="Carlito"/>
                <a:sym typeface="Carlito"/>
              </a:rPr>
              <a:t>Javascript Objects</a:t>
            </a:r>
            <a:endParaRPr b="0" i="0" sz="2400" u="none" cap="none" strike="noStrike">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Clr>
                <a:srgbClr val="000000"/>
              </a:buClr>
              <a:buSzPts val="2400"/>
              <a:buFont typeface="Arial"/>
              <a:buNone/>
            </a:pPr>
            <a:r>
              <a:rPr b="1" i="0" lang="en-US" sz="2400" u="none" cap="none" strike="noStrike">
                <a:solidFill>
                  <a:srgbClr val="C55A11"/>
                </a:solidFill>
                <a:latin typeface="Carlito"/>
                <a:ea typeface="Carlito"/>
                <a:cs typeface="Carlito"/>
                <a:sym typeface="Carlito"/>
              </a:rPr>
              <a:t>MCQ</a:t>
            </a:r>
            <a:endParaRPr b="0" i="0" sz="2400" u="none" cap="none" strike="noStrike">
              <a:solidFill>
                <a:schemeClr val="dk1"/>
              </a:solidFill>
              <a:latin typeface="Carlito"/>
              <a:ea typeface="Carlito"/>
              <a:cs typeface="Carlito"/>
              <a:sym typeface="Carlito"/>
            </a:endParaRPr>
          </a:p>
        </p:txBody>
      </p:sp>
      <p:pic>
        <p:nvPicPr>
          <p:cNvPr id="184" name="Google Shape;184;p12"/>
          <p:cNvPicPr preferRelativeResize="0"/>
          <p:nvPr/>
        </p:nvPicPr>
        <p:blipFill rotWithShape="1">
          <a:blip r:embed="rId3">
            <a:alphaModFix/>
          </a:blip>
          <a:srcRect b="0" l="0" r="0" t="0"/>
          <a:stretch/>
        </p:blipFill>
        <p:spPr>
          <a:xfrm>
            <a:off x="11125201" y="10586"/>
            <a:ext cx="887582" cy="1398963"/>
          </a:xfrm>
          <a:prstGeom prst="rect">
            <a:avLst/>
          </a:prstGeom>
          <a:noFill/>
          <a:ln>
            <a:noFill/>
          </a:ln>
        </p:spPr>
      </p:pic>
      <p:cxnSp>
        <p:nvCxnSpPr>
          <p:cNvPr id="185" name="Google Shape;185;p12"/>
          <p:cNvCxnSpPr/>
          <p:nvPr/>
        </p:nvCxnSpPr>
        <p:spPr>
          <a:xfrm>
            <a:off x="0" y="1316458"/>
            <a:ext cx="8300100" cy="0"/>
          </a:xfrm>
          <a:prstGeom prst="straightConnector1">
            <a:avLst/>
          </a:prstGeom>
          <a:noFill/>
          <a:ln cap="flat" cmpd="sng" w="38100">
            <a:solidFill>
              <a:srgbClr val="953734"/>
            </a:solidFill>
            <a:prstDash val="solid"/>
            <a:round/>
            <a:headEnd len="sm" w="sm" type="none"/>
            <a:tailEnd len="sm" w="sm" type="none"/>
          </a:ln>
        </p:spPr>
      </p:cxnSp>
      <p:sp>
        <p:nvSpPr>
          <p:cNvPr id="186" name="Google Shape;186;p12"/>
          <p:cNvSpPr txBox="1"/>
          <p:nvPr/>
        </p:nvSpPr>
        <p:spPr>
          <a:xfrm>
            <a:off x="450600" y="1684575"/>
            <a:ext cx="10862400" cy="35094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15000"/>
              </a:lnSpc>
              <a:spcBef>
                <a:spcPts val="0"/>
              </a:spcBef>
              <a:spcAft>
                <a:spcPts val="0"/>
              </a:spcAft>
              <a:buClr>
                <a:schemeClr val="dk1"/>
              </a:buClr>
              <a:buSzPts val="3200"/>
              <a:buFont typeface="Calibri"/>
              <a:buAutoNum type="arabicPeriod"/>
            </a:pPr>
            <a:r>
              <a:rPr b="0" i="0" lang="en-US" sz="3200" u="none" cap="none" strike="noStrike">
                <a:solidFill>
                  <a:schemeClr val="dk1"/>
                </a:solidFill>
                <a:latin typeface="Calibri"/>
                <a:ea typeface="Calibri"/>
                <a:cs typeface="Calibri"/>
                <a:sym typeface="Calibri"/>
              </a:rPr>
              <a:t>When a property value is a function, that property is called a:</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A. Field</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B. Accessor</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C. </a:t>
            </a:r>
            <a:r>
              <a:rPr b="0" i="0" lang="en-US" sz="3200" u="none" cap="none" strike="noStrike">
                <a:solidFill>
                  <a:srgbClr val="00FF00"/>
                </a:solidFill>
                <a:latin typeface="Calibri"/>
                <a:ea typeface="Calibri"/>
                <a:cs typeface="Calibri"/>
                <a:sym typeface="Calibri"/>
              </a:rPr>
              <a:t>Method</a:t>
            </a:r>
            <a:endParaRPr b="0" i="0" sz="3200" u="none" cap="none" strike="noStrike">
              <a:solidFill>
                <a:srgbClr val="00FF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Closure</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0" name="Shape 190"/>
        <p:cNvGrpSpPr/>
        <p:nvPr/>
      </p:nvGrpSpPr>
      <p:grpSpPr>
        <a:xfrm>
          <a:off x="0" y="0"/>
          <a:ext cx="0" cy="0"/>
          <a:chOff x="0" y="0"/>
          <a:chExt cx="0" cy="0"/>
        </a:xfrm>
      </p:grpSpPr>
      <p:sp>
        <p:nvSpPr>
          <p:cNvPr id="191" name="Google Shape;191;p13"/>
          <p:cNvSpPr txBox="1"/>
          <p:nvPr/>
        </p:nvSpPr>
        <p:spPr>
          <a:xfrm>
            <a:off x="450600" y="265550"/>
            <a:ext cx="7841100" cy="8208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Clr>
                <a:srgbClr val="000000"/>
              </a:buClr>
              <a:buSzPts val="2400"/>
              <a:buFont typeface="Arial"/>
              <a:buNone/>
            </a:pPr>
            <a:r>
              <a:rPr b="1" i="0" lang="en-US" sz="2400" u="none" cap="none" strike="noStrike">
                <a:solidFill>
                  <a:srgbClr val="2E5496"/>
                </a:solidFill>
                <a:latin typeface="Carlito"/>
                <a:ea typeface="Carlito"/>
                <a:cs typeface="Carlito"/>
                <a:sym typeface="Carlito"/>
              </a:rPr>
              <a:t>Javascript Objects</a:t>
            </a:r>
            <a:endParaRPr b="0" i="0" sz="2400" u="none" cap="none" strike="noStrike">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Clr>
                <a:srgbClr val="000000"/>
              </a:buClr>
              <a:buSzPts val="2400"/>
              <a:buFont typeface="Arial"/>
              <a:buNone/>
            </a:pPr>
            <a:r>
              <a:rPr b="1" i="0" lang="en-US" sz="2400" u="none" cap="none" strike="noStrike">
                <a:solidFill>
                  <a:srgbClr val="C55A11"/>
                </a:solidFill>
                <a:latin typeface="Carlito"/>
                <a:ea typeface="Carlito"/>
                <a:cs typeface="Carlito"/>
                <a:sym typeface="Carlito"/>
              </a:rPr>
              <a:t>MCQ</a:t>
            </a:r>
            <a:endParaRPr b="0" i="0" sz="2400" u="none" cap="none" strike="noStrike">
              <a:solidFill>
                <a:schemeClr val="dk1"/>
              </a:solidFill>
              <a:latin typeface="Carlito"/>
              <a:ea typeface="Carlito"/>
              <a:cs typeface="Carlito"/>
              <a:sym typeface="Carlito"/>
            </a:endParaRPr>
          </a:p>
        </p:txBody>
      </p:sp>
      <p:pic>
        <p:nvPicPr>
          <p:cNvPr id="192" name="Google Shape;192;p13"/>
          <p:cNvPicPr preferRelativeResize="0"/>
          <p:nvPr/>
        </p:nvPicPr>
        <p:blipFill rotWithShape="1">
          <a:blip r:embed="rId3">
            <a:alphaModFix/>
          </a:blip>
          <a:srcRect b="0" l="0" r="0" t="0"/>
          <a:stretch/>
        </p:blipFill>
        <p:spPr>
          <a:xfrm>
            <a:off x="11125201" y="10586"/>
            <a:ext cx="887582" cy="1398963"/>
          </a:xfrm>
          <a:prstGeom prst="rect">
            <a:avLst/>
          </a:prstGeom>
          <a:noFill/>
          <a:ln>
            <a:noFill/>
          </a:ln>
        </p:spPr>
      </p:pic>
      <p:cxnSp>
        <p:nvCxnSpPr>
          <p:cNvPr id="193" name="Google Shape;193;p13"/>
          <p:cNvCxnSpPr/>
          <p:nvPr/>
        </p:nvCxnSpPr>
        <p:spPr>
          <a:xfrm>
            <a:off x="0" y="1316458"/>
            <a:ext cx="8300100" cy="0"/>
          </a:xfrm>
          <a:prstGeom prst="straightConnector1">
            <a:avLst/>
          </a:prstGeom>
          <a:noFill/>
          <a:ln cap="flat" cmpd="sng" w="38100">
            <a:solidFill>
              <a:srgbClr val="953734"/>
            </a:solidFill>
            <a:prstDash val="solid"/>
            <a:round/>
            <a:headEnd len="sm" w="sm" type="none"/>
            <a:tailEnd len="sm" w="sm" type="none"/>
          </a:ln>
        </p:spPr>
      </p:cxnSp>
      <p:sp>
        <p:nvSpPr>
          <p:cNvPr id="194" name="Google Shape;194;p13"/>
          <p:cNvSpPr txBox="1"/>
          <p:nvPr/>
        </p:nvSpPr>
        <p:spPr>
          <a:xfrm>
            <a:off x="450600" y="1684575"/>
            <a:ext cx="10862400" cy="407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2. Adding methods to the prototype is preferred because:</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A. It makes them private</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B. It ensures only one shared copy across instances</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C. It forbids reassignment</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It avoids hoisting</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8" name="Shape 198"/>
        <p:cNvGrpSpPr/>
        <p:nvPr/>
      </p:nvGrpSpPr>
      <p:grpSpPr>
        <a:xfrm>
          <a:off x="0" y="0"/>
          <a:ext cx="0" cy="0"/>
          <a:chOff x="0" y="0"/>
          <a:chExt cx="0" cy="0"/>
        </a:xfrm>
      </p:grpSpPr>
      <p:sp>
        <p:nvSpPr>
          <p:cNvPr id="199" name="Google Shape;199;p14"/>
          <p:cNvSpPr txBox="1"/>
          <p:nvPr/>
        </p:nvSpPr>
        <p:spPr>
          <a:xfrm>
            <a:off x="450600" y="265550"/>
            <a:ext cx="7841100" cy="8208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Clr>
                <a:srgbClr val="000000"/>
              </a:buClr>
              <a:buSzPts val="2400"/>
              <a:buFont typeface="Arial"/>
              <a:buNone/>
            </a:pPr>
            <a:r>
              <a:rPr b="1" i="0" lang="en-US" sz="2400" u="none" cap="none" strike="noStrike">
                <a:solidFill>
                  <a:srgbClr val="2E5496"/>
                </a:solidFill>
                <a:latin typeface="Carlito"/>
                <a:ea typeface="Carlito"/>
                <a:cs typeface="Carlito"/>
                <a:sym typeface="Carlito"/>
              </a:rPr>
              <a:t>Javascript Objects</a:t>
            </a:r>
            <a:endParaRPr b="0" i="0" sz="2400" u="none" cap="none" strike="noStrike">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Clr>
                <a:srgbClr val="000000"/>
              </a:buClr>
              <a:buSzPts val="2400"/>
              <a:buFont typeface="Arial"/>
              <a:buNone/>
            </a:pPr>
            <a:r>
              <a:rPr b="1" i="0" lang="en-US" sz="2400" u="none" cap="none" strike="noStrike">
                <a:solidFill>
                  <a:srgbClr val="C55A11"/>
                </a:solidFill>
                <a:latin typeface="Carlito"/>
                <a:ea typeface="Carlito"/>
                <a:cs typeface="Carlito"/>
                <a:sym typeface="Carlito"/>
              </a:rPr>
              <a:t>MCQ</a:t>
            </a:r>
            <a:endParaRPr b="0" i="0" sz="2400" u="none" cap="none" strike="noStrike">
              <a:solidFill>
                <a:schemeClr val="dk1"/>
              </a:solidFill>
              <a:latin typeface="Carlito"/>
              <a:ea typeface="Carlito"/>
              <a:cs typeface="Carlito"/>
              <a:sym typeface="Carlito"/>
            </a:endParaRPr>
          </a:p>
        </p:txBody>
      </p:sp>
      <p:pic>
        <p:nvPicPr>
          <p:cNvPr id="200" name="Google Shape;200;p14"/>
          <p:cNvPicPr preferRelativeResize="0"/>
          <p:nvPr/>
        </p:nvPicPr>
        <p:blipFill rotWithShape="1">
          <a:blip r:embed="rId3">
            <a:alphaModFix/>
          </a:blip>
          <a:srcRect b="0" l="0" r="0" t="0"/>
          <a:stretch/>
        </p:blipFill>
        <p:spPr>
          <a:xfrm>
            <a:off x="11125201" y="10586"/>
            <a:ext cx="887582" cy="1398963"/>
          </a:xfrm>
          <a:prstGeom prst="rect">
            <a:avLst/>
          </a:prstGeom>
          <a:noFill/>
          <a:ln>
            <a:noFill/>
          </a:ln>
        </p:spPr>
      </p:pic>
      <p:cxnSp>
        <p:nvCxnSpPr>
          <p:cNvPr id="201" name="Google Shape;201;p14"/>
          <p:cNvCxnSpPr/>
          <p:nvPr/>
        </p:nvCxnSpPr>
        <p:spPr>
          <a:xfrm>
            <a:off x="0" y="1316458"/>
            <a:ext cx="8300100" cy="0"/>
          </a:xfrm>
          <a:prstGeom prst="straightConnector1">
            <a:avLst/>
          </a:prstGeom>
          <a:noFill/>
          <a:ln cap="flat" cmpd="sng" w="38100">
            <a:solidFill>
              <a:srgbClr val="953734"/>
            </a:solidFill>
            <a:prstDash val="solid"/>
            <a:round/>
            <a:headEnd len="sm" w="sm" type="none"/>
            <a:tailEnd len="sm" w="sm" type="none"/>
          </a:ln>
        </p:spPr>
      </p:cxnSp>
      <p:sp>
        <p:nvSpPr>
          <p:cNvPr id="202" name="Google Shape;202;p14"/>
          <p:cNvSpPr txBox="1"/>
          <p:nvPr/>
        </p:nvSpPr>
        <p:spPr>
          <a:xfrm>
            <a:off x="450600" y="1684575"/>
            <a:ext cx="10862400" cy="407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2. Adding methods to the prototype is preferred because:</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A. It makes them private</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rgbClr val="00FF00"/>
                </a:solidFill>
                <a:latin typeface="Calibri"/>
                <a:ea typeface="Calibri"/>
                <a:cs typeface="Calibri"/>
                <a:sym typeface="Calibri"/>
              </a:rPr>
              <a:t>B. It ensures only one shared copy across instances</a:t>
            </a:r>
            <a:endParaRPr b="0" i="0" sz="3200" u="none" cap="none" strike="noStrike">
              <a:solidFill>
                <a:srgbClr val="00FF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C. It forbids reassignment</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It avoids hoisting</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6" name="Shape 206"/>
        <p:cNvGrpSpPr/>
        <p:nvPr/>
      </p:nvGrpSpPr>
      <p:grpSpPr>
        <a:xfrm>
          <a:off x="0" y="0"/>
          <a:ext cx="0" cy="0"/>
          <a:chOff x="0" y="0"/>
          <a:chExt cx="0" cy="0"/>
        </a:xfrm>
      </p:grpSpPr>
      <p:sp>
        <p:nvSpPr>
          <p:cNvPr id="207" name="Google Shape;207;p15"/>
          <p:cNvSpPr txBox="1"/>
          <p:nvPr/>
        </p:nvSpPr>
        <p:spPr>
          <a:xfrm>
            <a:off x="450600" y="265550"/>
            <a:ext cx="7841100" cy="8208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Clr>
                <a:srgbClr val="000000"/>
              </a:buClr>
              <a:buSzPts val="2400"/>
              <a:buFont typeface="Arial"/>
              <a:buNone/>
            </a:pPr>
            <a:r>
              <a:rPr b="1" i="0" lang="en-US" sz="2400" u="none" cap="none" strike="noStrike">
                <a:solidFill>
                  <a:srgbClr val="2E5496"/>
                </a:solidFill>
                <a:latin typeface="Carlito"/>
                <a:ea typeface="Carlito"/>
                <a:cs typeface="Carlito"/>
                <a:sym typeface="Carlito"/>
              </a:rPr>
              <a:t>Javascript Objects</a:t>
            </a:r>
            <a:endParaRPr b="0" i="0" sz="2400" u="none" cap="none" strike="noStrike">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Clr>
                <a:srgbClr val="000000"/>
              </a:buClr>
              <a:buSzPts val="2400"/>
              <a:buFont typeface="Arial"/>
              <a:buNone/>
            </a:pPr>
            <a:r>
              <a:rPr b="1" i="0" lang="en-US" sz="2400" u="none" cap="none" strike="noStrike">
                <a:solidFill>
                  <a:srgbClr val="C55A11"/>
                </a:solidFill>
                <a:latin typeface="Carlito"/>
                <a:ea typeface="Carlito"/>
                <a:cs typeface="Carlito"/>
                <a:sym typeface="Carlito"/>
              </a:rPr>
              <a:t>MCQ</a:t>
            </a:r>
            <a:endParaRPr b="0" i="0" sz="2400" u="none" cap="none" strike="noStrike">
              <a:solidFill>
                <a:schemeClr val="dk1"/>
              </a:solidFill>
              <a:latin typeface="Carlito"/>
              <a:ea typeface="Carlito"/>
              <a:cs typeface="Carlito"/>
              <a:sym typeface="Carlito"/>
            </a:endParaRPr>
          </a:p>
        </p:txBody>
      </p:sp>
      <p:pic>
        <p:nvPicPr>
          <p:cNvPr id="208" name="Google Shape;208;p15"/>
          <p:cNvPicPr preferRelativeResize="0"/>
          <p:nvPr/>
        </p:nvPicPr>
        <p:blipFill rotWithShape="1">
          <a:blip r:embed="rId3">
            <a:alphaModFix/>
          </a:blip>
          <a:srcRect b="0" l="0" r="0" t="0"/>
          <a:stretch/>
        </p:blipFill>
        <p:spPr>
          <a:xfrm>
            <a:off x="11125201" y="10586"/>
            <a:ext cx="887582" cy="1398963"/>
          </a:xfrm>
          <a:prstGeom prst="rect">
            <a:avLst/>
          </a:prstGeom>
          <a:noFill/>
          <a:ln>
            <a:noFill/>
          </a:ln>
        </p:spPr>
      </p:pic>
      <p:cxnSp>
        <p:nvCxnSpPr>
          <p:cNvPr id="209" name="Google Shape;209;p15"/>
          <p:cNvCxnSpPr/>
          <p:nvPr/>
        </p:nvCxnSpPr>
        <p:spPr>
          <a:xfrm>
            <a:off x="0" y="1316458"/>
            <a:ext cx="8300100" cy="0"/>
          </a:xfrm>
          <a:prstGeom prst="straightConnector1">
            <a:avLst/>
          </a:prstGeom>
          <a:noFill/>
          <a:ln cap="flat" cmpd="sng" w="38100">
            <a:solidFill>
              <a:srgbClr val="953734"/>
            </a:solidFill>
            <a:prstDash val="solid"/>
            <a:round/>
            <a:headEnd len="sm" w="sm" type="none"/>
            <a:tailEnd len="sm" w="sm" type="none"/>
          </a:ln>
        </p:spPr>
      </p:cxnSp>
      <p:sp>
        <p:nvSpPr>
          <p:cNvPr id="210" name="Google Shape;210;p15"/>
          <p:cNvSpPr txBox="1"/>
          <p:nvPr/>
        </p:nvSpPr>
        <p:spPr>
          <a:xfrm>
            <a:off x="450600" y="1684575"/>
            <a:ext cx="10862400" cy="407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3. Constructor functions create objects when called with:</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A. Object()</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B. new</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C. this()</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create()</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4" name="Shape 214"/>
        <p:cNvGrpSpPr/>
        <p:nvPr/>
      </p:nvGrpSpPr>
      <p:grpSpPr>
        <a:xfrm>
          <a:off x="0" y="0"/>
          <a:ext cx="0" cy="0"/>
          <a:chOff x="0" y="0"/>
          <a:chExt cx="0" cy="0"/>
        </a:xfrm>
      </p:grpSpPr>
      <p:sp>
        <p:nvSpPr>
          <p:cNvPr id="215" name="Google Shape;215;p16"/>
          <p:cNvSpPr txBox="1"/>
          <p:nvPr/>
        </p:nvSpPr>
        <p:spPr>
          <a:xfrm>
            <a:off x="450600" y="265550"/>
            <a:ext cx="7841100" cy="8208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Clr>
                <a:srgbClr val="000000"/>
              </a:buClr>
              <a:buSzPts val="2400"/>
              <a:buFont typeface="Arial"/>
              <a:buNone/>
            </a:pPr>
            <a:r>
              <a:rPr b="1" i="0" lang="en-US" sz="2400" u="none" cap="none" strike="noStrike">
                <a:solidFill>
                  <a:srgbClr val="2E5496"/>
                </a:solidFill>
                <a:latin typeface="Carlito"/>
                <a:ea typeface="Carlito"/>
                <a:cs typeface="Carlito"/>
                <a:sym typeface="Carlito"/>
              </a:rPr>
              <a:t>Javascript Objects</a:t>
            </a:r>
            <a:endParaRPr b="0" i="0" sz="2400" u="none" cap="none" strike="noStrike">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Clr>
                <a:srgbClr val="000000"/>
              </a:buClr>
              <a:buSzPts val="2400"/>
              <a:buFont typeface="Arial"/>
              <a:buNone/>
            </a:pPr>
            <a:r>
              <a:rPr b="1" i="0" lang="en-US" sz="2400" u="none" cap="none" strike="noStrike">
                <a:solidFill>
                  <a:srgbClr val="C55A11"/>
                </a:solidFill>
                <a:latin typeface="Carlito"/>
                <a:ea typeface="Carlito"/>
                <a:cs typeface="Carlito"/>
                <a:sym typeface="Carlito"/>
              </a:rPr>
              <a:t>MCQ</a:t>
            </a:r>
            <a:endParaRPr b="0" i="0" sz="2400" u="none" cap="none" strike="noStrike">
              <a:solidFill>
                <a:schemeClr val="dk1"/>
              </a:solidFill>
              <a:latin typeface="Carlito"/>
              <a:ea typeface="Carlito"/>
              <a:cs typeface="Carlito"/>
              <a:sym typeface="Carlito"/>
            </a:endParaRPr>
          </a:p>
        </p:txBody>
      </p:sp>
      <p:pic>
        <p:nvPicPr>
          <p:cNvPr id="216" name="Google Shape;216;p16"/>
          <p:cNvPicPr preferRelativeResize="0"/>
          <p:nvPr/>
        </p:nvPicPr>
        <p:blipFill rotWithShape="1">
          <a:blip r:embed="rId3">
            <a:alphaModFix/>
          </a:blip>
          <a:srcRect b="0" l="0" r="0" t="0"/>
          <a:stretch/>
        </p:blipFill>
        <p:spPr>
          <a:xfrm>
            <a:off x="11125201" y="10586"/>
            <a:ext cx="887582" cy="1398963"/>
          </a:xfrm>
          <a:prstGeom prst="rect">
            <a:avLst/>
          </a:prstGeom>
          <a:noFill/>
          <a:ln>
            <a:noFill/>
          </a:ln>
        </p:spPr>
      </p:pic>
      <p:cxnSp>
        <p:nvCxnSpPr>
          <p:cNvPr id="217" name="Google Shape;217;p16"/>
          <p:cNvCxnSpPr/>
          <p:nvPr/>
        </p:nvCxnSpPr>
        <p:spPr>
          <a:xfrm>
            <a:off x="0" y="1316458"/>
            <a:ext cx="8300100" cy="0"/>
          </a:xfrm>
          <a:prstGeom prst="straightConnector1">
            <a:avLst/>
          </a:prstGeom>
          <a:noFill/>
          <a:ln cap="flat" cmpd="sng" w="38100">
            <a:solidFill>
              <a:srgbClr val="953734"/>
            </a:solidFill>
            <a:prstDash val="solid"/>
            <a:round/>
            <a:headEnd len="sm" w="sm" type="none"/>
            <a:tailEnd len="sm" w="sm" type="none"/>
          </a:ln>
        </p:spPr>
      </p:cxnSp>
      <p:sp>
        <p:nvSpPr>
          <p:cNvPr id="218" name="Google Shape;218;p16"/>
          <p:cNvSpPr txBox="1"/>
          <p:nvPr/>
        </p:nvSpPr>
        <p:spPr>
          <a:xfrm>
            <a:off x="450600" y="1684575"/>
            <a:ext cx="10862400" cy="407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3. Constructor functions create objects when called with:</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A. Object()</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rgbClr val="00FF00"/>
                </a:solidFill>
                <a:latin typeface="Calibri"/>
                <a:ea typeface="Calibri"/>
                <a:cs typeface="Calibri"/>
                <a:sym typeface="Calibri"/>
              </a:rPr>
              <a:t>B. new</a:t>
            </a:r>
            <a:endParaRPr b="0" i="0" sz="3200" u="none" cap="none" strike="noStrike">
              <a:solidFill>
                <a:srgbClr val="00FF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C. this()</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create()</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cxnSp>
        <p:nvCxnSpPr>
          <p:cNvPr id="223" name="Google Shape;223;g37b80586725_0_0"/>
          <p:cNvCxnSpPr/>
          <p:nvPr/>
        </p:nvCxnSpPr>
        <p:spPr>
          <a:xfrm>
            <a:off x="5448168" y="2887308"/>
            <a:ext cx="4581300" cy="0"/>
          </a:xfrm>
          <a:prstGeom prst="straightConnector1">
            <a:avLst/>
          </a:prstGeom>
          <a:noFill/>
          <a:ln cap="flat" cmpd="sng" w="38100">
            <a:solidFill>
              <a:srgbClr val="C55A11"/>
            </a:solidFill>
            <a:prstDash val="solid"/>
            <a:miter lim="800000"/>
            <a:headEnd len="sm" w="sm" type="none"/>
            <a:tailEnd len="sm" w="sm" type="none"/>
          </a:ln>
        </p:spPr>
      </p:cxnSp>
      <p:sp>
        <p:nvSpPr>
          <p:cNvPr id="224" name="Google Shape;224;g37b80586725_0_0"/>
          <p:cNvSpPr/>
          <p:nvPr/>
        </p:nvSpPr>
        <p:spPr>
          <a:xfrm>
            <a:off x="5460537" y="4049738"/>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Calibri"/>
              <a:ea typeface="Calibri"/>
              <a:cs typeface="Calibri"/>
              <a:sym typeface="Calibri"/>
            </a:endParaRPr>
          </a:p>
        </p:txBody>
      </p:sp>
      <p:sp>
        <p:nvSpPr>
          <p:cNvPr id="225" name="Google Shape;225;g37b80586725_0_0"/>
          <p:cNvSpPr/>
          <p:nvPr/>
        </p:nvSpPr>
        <p:spPr>
          <a:xfrm>
            <a:off x="5460537" y="4573019"/>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226" name="Google Shape;226;g37b80586725_0_0"/>
          <p:cNvPicPr preferRelativeResize="0"/>
          <p:nvPr/>
        </p:nvPicPr>
        <p:blipFill rotWithShape="1">
          <a:blip r:embed="rId3">
            <a:alphaModFix/>
          </a:blip>
          <a:srcRect b="0" l="0" r="0" t="0"/>
          <a:stretch/>
        </p:blipFill>
        <p:spPr>
          <a:xfrm>
            <a:off x="2423160" y="1606241"/>
            <a:ext cx="2132109" cy="3550188"/>
          </a:xfrm>
          <a:prstGeom prst="rect">
            <a:avLst/>
          </a:prstGeom>
          <a:noFill/>
          <a:ln>
            <a:noFill/>
          </a:ln>
        </p:spPr>
      </p:pic>
      <p:sp>
        <p:nvSpPr>
          <p:cNvPr id="227" name="Google Shape;227;g37b80586725_0_0"/>
          <p:cNvSpPr/>
          <p:nvPr/>
        </p:nvSpPr>
        <p:spPr>
          <a:xfrm>
            <a:off x="5448168" y="2049518"/>
            <a:ext cx="4603800" cy="6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Calibri"/>
                <a:ea typeface="Calibri"/>
                <a:cs typeface="Calibri"/>
                <a:sym typeface="Calibri"/>
              </a:rPr>
              <a:t>THANK YOU</a:t>
            </a:r>
            <a:endParaRPr b="0" i="0" sz="1400" u="none" cap="none" strike="noStrike">
              <a:solidFill>
                <a:srgbClr val="000000"/>
              </a:solidFill>
              <a:latin typeface="Arial"/>
              <a:ea typeface="Arial"/>
              <a:cs typeface="Arial"/>
              <a:sym typeface="Arial"/>
            </a:endParaRPr>
          </a:p>
        </p:txBody>
      </p:sp>
      <p:sp>
        <p:nvSpPr>
          <p:cNvPr id="228" name="Google Shape;228;g37b80586725_0_0"/>
          <p:cNvSpPr/>
          <p:nvPr/>
        </p:nvSpPr>
        <p:spPr>
          <a:xfrm>
            <a:off x="5448168" y="3128242"/>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Prof.</a:t>
            </a:r>
            <a:r>
              <a:rPr b="1" lang="en-US" sz="2400">
                <a:solidFill>
                  <a:schemeClr val="dk1"/>
                </a:solidFill>
                <a:latin typeface="Calibri"/>
                <a:ea typeface="Calibri"/>
                <a:cs typeface="Calibri"/>
                <a:sym typeface="Calibri"/>
              </a:rPr>
              <a:t> Pavan A C</a:t>
            </a:r>
            <a:endParaRPr b="1" i="0" sz="2400" u="none" cap="none" strike="noStrike">
              <a:solidFill>
                <a:schemeClr val="dk1"/>
              </a:solidFill>
              <a:latin typeface="Calibri"/>
              <a:ea typeface="Calibri"/>
              <a:cs typeface="Calibri"/>
              <a:sym typeface="Calibri"/>
            </a:endParaRPr>
          </a:p>
        </p:txBody>
      </p:sp>
      <p:sp>
        <p:nvSpPr>
          <p:cNvPr id="229" name="Google Shape;229;g37b80586725_0_0"/>
          <p:cNvSpPr/>
          <p:nvPr/>
        </p:nvSpPr>
        <p:spPr>
          <a:xfrm>
            <a:off x="5448168" y="3525847"/>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Department of Computer Science and Engineering</a:t>
            </a:r>
            <a:endParaRPr b="0" i="0" sz="2400" u="none" cap="none" strike="noStrike">
              <a:solidFill>
                <a:schemeClr val="dk1"/>
              </a:solidFill>
              <a:latin typeface="Calibri"/>
              <a:ea typeface="Calibri"/>
              <a:cs typeface="Calibri"/>
              <a:sym typeface="Calibri"/>
            </a:endParaRPr>
          </a:p>
        </p:txBody>
      </p:sp>
      <p:sp>
        <p:nvSpPr>
          <p:cNvPr id="230" name="Google Shape;230;g37b80586725_0_0"/>
          <p:cNvSpPr/>
          <p:nvPr/>
        </p:nvSpPr>
        <p:spPr>
          <a:xfrm>
            <a:off x="10184524" y="0"/>
            <a:ext cx="2007600" cy="1606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231" name="Google Shape;231;g37b80586725_0_0"/>
          <p:cNvGrpSpPr/>
          <p:nvPr/>
        </p:nvGrpSpPr>
        <p:grpSpPr>
          <a:xfrm>
            <a:off x="259292" y="349466"/>
            <a:ext cx="11518312" cy="6218269"/>
            <a:chOff x="313939" y="349466"/>
            <a:chExt cx="11518312" cy="6218269"/>
          </a:xfrm>
        </p:grpSpPr>
        <p:sp>
          <p:nvSpPr>
            <p:cNvPr id="232" name="Google Shape;232;g37b80586725_0_0"/>
            <p:cNvSpPr/>
            <p:nvPr/>
          </p:nvSpPr>
          <p:spPr>
            <a:xfrm>
              <a:off x="11786532" y="360726"/>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3" name="Google Shape;233;g37b80586725_0_0"/>
            <p:cNvSpPr/>
            <p:nvPr/>
          </p:nvSpPr>
          <p:spPr>
            <a:xfrm rot="5400000">
              <a:off x="11276051" y="-161134"/>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4" name="Google Shape;234;g37b80586725_0_0"/>
            <p:cNvSpPr/>
            <p:nvPr/>
          </p:nvSpPr>
          <p:spPr>
            <a:xfrm rot="5400000">
              <a:off x="824539" y="6011535"/>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5" name="Google Shape;235;g37b80586725_0_0"/>
            <p:cNvSpPr/>
            <p:nvPr/>
          </p:nvSpPr>
          <p:spPr>
            <a:xfrm rot="10800000">
              <a:off x="313963" y="5489794"/>
              <a:ext cx="45600" cy="1066800"/>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